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4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C17F00">
              <a:alpha val="20000"/>
            </a:srgbClr>
          </a:solidFill>
        </p:spPr>
        <p:txBody>
          <a:bodyPr wrap="square"/>
          <a:p/>
        </p:txBody>
      </p:sp>
      <p:sp>
        <p:nvSpPr>
          <p:cNvPr id="3" name="Text 1"/>
          <p:cNvSpPr/>
          <p:nvPr/>
        </p:nvSpPr>
        <p:spPr>
          <a:xfrm>
            <a:off x="914400" y="1371600"/>
            <a:ext cx="5486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OwnIt.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6858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Democratizing Real Asset Ownership in Uganda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6400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F4F9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Co-own properties, commodities, minerals, and trade routes from as low as UGX 50,000 with direct Mobile Money returns.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3657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F9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PITCH DECK ·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17F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F1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Investment Barrier for Everyday Ugandans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8463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A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OwnIt Uganda Pitch Deck · www.ownit.ug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F1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High Barriers, Low Incomes, Few Options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457200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High Entry Costs: Traditional real estate, agricultural exports, and infrastructure projects require hundreds of millions of UGX.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Inflation &amp; Currency Risk: Local savings are eaten away by inflation. Everyday Ugandans lack access to high-yielding, inflation-hedging real assets.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Lack of Liquidity &amp; Transparency: Fragmented markets, complex legal procedures, and lack of trust in operators lock out retail investors.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0" y="1371600"/>
            <a:ext cx="2926080" cy="2926080"/>
          </a:xfrm>
          <a:prstGeom prst="roundRect">
            <a:avLst>
              <a:gd name="adj" fmla="val 3125"/>
            </a:avLst>
          </a:prstGeom>
          <a:solidFill>
            <a:srgbClr val="FFEBEB"/>
          </a:solidFill>
          <a:ln w="19050">
            <a:solidFill>
              <a:srgbClr val="FFC1C1"/>
            </a:solidFill>
            <a:prstDash val="solid"/>
          </a:ln>
        </p:spPr>
        <p:txBody>
          <a:bodyPr wrap="square"/>
          <a:p/>
        </p:txBody>
      </p:sp>
      <p:sp>
        <p:nvSpPr>
          <p:cNvPr id="8" name="Text 6"/>
          <p:cNvSpPr/>
          <p:nvPr/>
        </p:nvSpPr>
        <p:spPr>
          <a:xfrm>
            <a:off x="5669280" y="1645920"/>
            <a:ext cx="29260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D1F1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95%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852160" y="2377440"/>
            <a:ext cx="256032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of Ugandans are locked out of institutional-grade investments due to capital constraints.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7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F9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OwnIt Uganda: Fractional Crowd Funding Platform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8463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A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OwnIt Uganda Pitch Deck · www.ownit.ug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Fractional, Direct, and Secure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457200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F4F9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Fractional Ownership: Co-own high-value real assets (apartments, exports, factories) with low-ticket sizes starting at UGX 50,000.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F4F9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Passive Income Stream: Profit shares from rental income, agricultural sales, or trade yields are disbursed automatically to MTN/Airtel Mobile Money.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F4F9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Escrow &amp; Legal Verification: KCCA title deeds and assets are fully vetted by licensed valuers, secured in legal escrow accounts for co-owners.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0" y="1371600"/>
            <a:ext cx="2926080" cy="2926080"/>
          </a:xfrm>
          <a:prstGeom prst="roundRect">
            <a:avLst>
              <a:gd name="adj" fmla="val 3125"/>
            </a:avLst>
          </a:prstGeom>
          <a:solidFill>
            <a:srgbClr val="E6F4EA"/>
          </a:solidFill>
          <a:ln w="19050">
            <a:solidFill>
              <a:srgbClr val="B3E0C1"/>
            </a:solidFill>
            <a:prstDash val="solid"/>
          </a:ln>
        </p:spPr>
        <p:txBody>
          <a:bodyPr wrap="square"/>
          <a:p/>
        </p:txBody>
      </p:sp>
      <p:sp>
        <p:nvSpPr>
          <p:cNvPr id="8" name="Text 6"/>
          <p:cNvSpPr/>
          <p:nvPr/>
        </p:nvSpPr>
        <p:spPr>
          <a:xfrm>
            <a:off x="5669280" y="1645920"/>
            <a:ext cx="29260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UGX 50K</a:t>
            </a:r>
            <a:endParaRPr lang="en-US" sz="3600" b="1" dirty="0">
              <a:solidFill>
                <a:schemeClr val="tx1"/>
              </a:solidFill>
              <a:latin typeface="Georgia" panose="02040502050405020303" pitchFamily="34" charset="0"/>
              <a:ea typeface="Georgia" panose="02040502050405020303" pitchFamily="34" charset="-122"/>
              <a:cs typeface="Georgia" panose="02040502050405020303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852160" y="2377440"/>
            <a:ext cx="256032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Minimum investment ticket, democratizing access to institutional real estate and agriculture yields.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17F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F1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Frictionless and Compliant Onboarding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8463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A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OwnIt Uganda Pitch Deck · www.ownit.ug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Simple Registration &amp; 3-Step Identity Verification</a:t>
            </a:r>
            <a:endParaRPr lang="en-US" sz="1300" dirty="0"/>
          </a:p>
        </p:txBody>
      </p:sp>
      <p:pic>
        <p:nvPicPr>
          <p:cNvPr id="6" name="Image 0" descr="c:\Users\HP\Downloads\Firebase\OwnItapp\screenshots\01_welco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155448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709160"/>
            <a:ext cx="1554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Welcome Slide</a:t>
            </a:r>
            <a:endParaRPr lang="en-US" sz="900" dirty="0"/>
          </a:p>
        </p:txBody>
      </p:sp>
      <p:pic>
        <p:nvPicPr>
          <p:cNvPr id="8" name="Image 1" descr="c:\Users\HP\Downloads\Firebase\OwnItapp\screenshots\03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1554480" cy="3291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286000" y="4709160"/>
            <a:ext cx="1554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Simple Login</a:t>
            </a:r>
            <a:endParaRPr lang="en-US" sz="900" dirty="0"/>
          </a:p>
        </p:txBody>
      </p:sp>
      <p:pic>
        <p:nvPicPr>
          <p:cNvPr id="10" name="Image 2" descr="c:\Users\HP\Downloads\Firebase\OwnItapp\screenshots\06_kyc_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371600"/>
            <a:ext cx="1554480" cy="32918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023360" y="4709160"/>
            <a:ext cx="1554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KYC Step 1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5760720" y="1371600"/>
            <a:ext cx="2834640" cy="3200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Brand Identity: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Modern interface that is mobile-responsive and high contrast green theme.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KYC Compliance: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Fully digital KYC including Date of Birth, ID type/number, ID file upload, and consent selfie verification.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Flexibilty: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Option to "Skip for Now" lets users explore the market before uploading files.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17F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F1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Browse and Filter Diversified Real Assets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8463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A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OwnIt Uganda Pitch Deck · www.ownit.ug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F1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Diverse Asset Classes &amp; Direct Discovery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84048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Discover Tab: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Browse a vetted selection of real-world assets. Funding progress bar showing co-ownership status in real-time.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Asset Diversity: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Properties, agricultural commodities, export trade finance, infrastructure toll-kiosks, solar mini-grids, and mineral sales.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Filtering: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Easy filtering options (All, Apartment, Land, Commercial) for custom portfolios.</a:t>
            </a:r>
            <a:endParaRPr lang="en-US" sz="1100" dirty="0"/>
          </a:p>
        </p:txBody>
      </p:sp>
      <p:pic>
        <p:nvPicPr>
          <p:cNvPr id="7" name="Image 0" descr="c:\Users\HP\Downloads\Firebase\OwnItapp\screenshots\07_investor_hom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914400"/>
            <a:ext cx="182880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54880" y="4800600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Investor Discover Screen</a:t>
            </a:r>
            <a:endParaRPr lang="en-US" sz="900" dirty="0"/>
          </a:p>
        </p:txBody>
      </p:sp>
      <p:pic>
        <p:nvPicPr>
          <p:cNvPr id="9" name="Image 1" descr="c:\Users\HP\Downloads\Firebase\OwnItapp\screenshots\08_property_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914400"/>
            <a:ext cx="1828800" cy="3840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66560" y="4800600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Vetted Asset Details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17F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F1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Seamless Co-Ownership Flow in 4 Steps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8463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A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OwnIt Uganda Pitch Deck · www.ownit.ug</a:t>
            </a:r>
            <a:endParaRPr lang="en-US" sz="900" dirty="0"/>
          </a:p>
        </p:txBody>
      </p:sp>
      <p:pic>
        <p:nvPicPr>
          <p:cNvPr id="5" name="Image 0" descr="c:\Users\HP\Downloads\Firebase\OwnItapp\screenshots\09_investment_step1_amou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155448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526280"/>
            <a:ext cx="1554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Choose Amount</a:t>
            </a:r>
            <a:endParaRPr lang="en-US" sz="900" dirty="0"/>
          </a:p>
        </p:txBody>
      </p:sp>
      <p:pic>
        <p:nvPicPr>
          <p:cNvPr id="7" name="Image 1" descr="c:\Users\HP\Downloads\Firebase\OwnItapp\screenshots\10_investment_step2_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88720"/>
            <a:ext cx="1554480" cy="32918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286000" y="4526280"/>
            <a:ext cx="1554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Review Return</a:t>
            </a:r>
            <a:endParaRPr lang="en-US" sz="900" dirty="0"/>
          </a:p>
        </p:txBody>
      </p:sp>
      <p:pic>
        <p:nvPicPr>
          <p:cNvPr id="9" name="Image 2" descr="c:\Users\HP\Downloads\Firebase\OwnItapp\screenshots\11_investment_step3_pa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188720"/>
            <a:ext cx="1554480" cy="3291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023360" y="4526280"/>
            <a:ext cx="1554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Select Payment</a:t>
            </a:r>
            <a:endParaRPr lang="en-US" sz="900" dirty="0"/>
          </a:p>
        </p:txBody>
      </p:sp>
      <p:pic>
        <p:nvPicPr>
          <p:cNvPr id="11" name="Image 3" descr="c:\Users\HP\Downloads\Firebase\OwnItapp\screenshots\13_investment_succ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188720"/>
            <a:ext cx="1554480" cy="32918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760720" y="4526280"/>
            <a:ext cx="1554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Co-owner Confirmed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7406640" y="1371600"/>
            <a:ext cx="146304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Interactive Yield Slider:</a:t>
            </a:r>
            <a:endParaRPr lang="en-US" sz="9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Select amount and view real-time monthly return and ownership projection.</a:t>
            </a:r>
            <a:endParaRPr lang="en-US" sz="900" dirty="0"/>
          </a:p>
          <a:p>
            <a:pPr marL="0" indent="0">
              <a:lnSpc>
                <a:spcPts val="1400"/>
              </a:lnSpc>
              <a:buNone/>
            </a:pPr>
            <a:endParaRPr lang="en-US" sz="9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Mobile Money Integration:</a:t>
            </a:r>
            <a:endParaRPr lang="en-US" sz="9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Supports MTN Mobile Money and Airtel Money for instant local payments.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17F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F1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Track Portfolio Growth and Passive Yields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8463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A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OwnIt Uganda Pitch Deck · www.ownit.ug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F15"/>
                </a:solidFill>
                <a:latin typeface="Arial" panose="020B0604020202020204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Real-time Portfolio Ledger &amp; Digital Wallet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84048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Portfolio Tab: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Tracks your exact co-owned share across multiple properties and commodities, showing combined passive income and average yield.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Smart Wallet: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Deposit or withdraw funds securely. Supports scheduled monthly disbursements directly to your active Mobile Money number.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Transaction Ledger: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Fully transparent ledger logs all investments, deposits, withdrawals, and payouts.</a:t>
            </a:r>
            <a:endParaRPr lang="en-US" sz="1100" dirty="0"/>
          </a:p>
        </p:txBody>
      </p:sp>
      <p:pic>
        <p:nvPicPr>
          <p:cNvPr id="7" name="Image 0" descr="c:\Users\HP\Downloads\Firebase\OwnItapp\screenshots\15_portfolio_ta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914400"/>
            <a:ext cx="182880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54880" y="4800600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Co-ownership Portfolio</a:t>
            </a:r>
            <a:endParaRPr lang="en-US" sz="900" dirty="0"/>
          </a:p>
        </p:txBody>
      </p:sp>
      <p:pic>
        <p:nvPicPr>
          <p:cNvPr id="9" name="Image 1" descr="c:\Users\HP\Downloads\Firebase\OwnItapp\screenshots\16_wallet_t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914400"/>
            <a:ext cx="1828800" cy="3840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66560" y="4800600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Integrated Local Wallet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17F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 DEMO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F1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Lister Dashboard: Manage Assets &amp; Payouts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8463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A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OwnIt Uganda Pitch Deck · www.ownit.ug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F15"/>
                </a:solidFill>
                <a:latin typeface="Arial" panose="020B0604020202020204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 Specialized Interface for Asset Listers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840480" cy="2926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Lister Portal Overview: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Asset listers get a custom dashboard showing total asset value listed, funded status, co-investor count, and pending payouts.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Co-owners Management: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Check details of all fractional co-owners holding equity in your projects.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Scheduled Disbursements: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Set up and trigger payouts directly to co-owners in a single step.</a:t>
            </a:r>
            <a:endParaRPr lang="en-US" sz="1100" dirty="0"/>
          </a:p>
        </p:txBody>
      </p:sp>
      <p:pic>
        <p:nvPicPr>
          <p:cNvPr id="7" name="Image 0" descr="c:\Users\HP\Downloads\Firebase\OwnItapp\screenshots\21_lister_overvie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914400"/>
            <a:ext cx="182880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54880" y="4800600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Lister Home Dashboard</a:t>
            </a:r>
            <a:endParaRPr lang="en-US" sz="900" dirty="0"/>
          </a:p>
        </p:txBody>
      </p:sp>
      <p:pic>
        <p:nvPicPr>
          <p:cNvPr id="9" name="Image 1" descr="c:\Users\HP\Downloads\Firebase\OwnItapp\screenshots\25_lister_payo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914400"/>
            <a:ext cx="1828800" cy="3840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66560" y="4800600"/>
            <a:ext cx="18288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Co-owner Payouts Portal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17F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F1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Attractive Real-world Asset Class Yields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8463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7A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OwnIt Uganda Pitch Deck · www.ownit.ug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E6F4EA"/>
          </a:solidFill>
          <a:ln w="12700">
            <a:solidFill>
              <a:srgbClr val="B3E0C1"/>
            </a:solidFill>
            <a:prstDash val="solid"/>
          </a:ln>
        </p:spPr>
        <p:txBody>
          <a:bodyPr wrap="square"/>
          <a:p/>
        </p:txBody>
      </p:sp>
      <p:sp>
        <p:nvSpPr>
          <p:cNvPr id="6" name="Text 4"/>
          <p:cNvSpPr/>
          <p:nvPr/>
        </p:nvSpPr>
        <p:spPr>
          <a:xfrm>
            <a:off x="548640" y="164592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F1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Real Estate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201168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15% - 20%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Annual Yield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Stable commercial and residential apartments (Muyenga, Ntinda, Entebbe Road).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  <p:txBody>
          <a:bodyPr wrap="square"/>
          <a:p/>
        </p:txBody>
      </p:sp>
      <p:sp>
        <p:nvSpPr>
          <p:cNvPr id="9" name="Text 7"/>
          <p:cNvSpPr/>
          <p:nvPr/>
        </p:nvSpPr>
        <p:spPr>
          <a:xfrm>
            <a:off x="3291840" y="164592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F1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Agriculture &amp; Trade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2194560"/>
            <a:ext cx="201168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23% - 32%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Turnaround Yield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Fast export cycles (Lira sesame, Bugisu Arabica coffee, Guangzhou trade imports).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371600"/>
            <a:ext cx="2377440" cy="2926080"/>
          </a:xfrm>
          <a:prstGeom prst="roundRect">
            <a:avLst>
              <a:gd name="adj" fmla="val 3846"/>
            </a:avLst>
          </a:prstGeom>
          <a:solidFill>
            <a:srgbClr val="EBF3FE"/>
          </a:solidFill>
          <a:ln w="12700">
            <a:solidFill>
              <a:srgbClr val="BBDEFB"/>
            </a:solidFill>
            <a:prstDash val="solid"/>
          </a:ln>
        </p:spPr>
        <p:txBody>
          <a:bodyPr wrap="square"/>
          <a:p/>
        </p:txBody>
      </p:sp>
      <p:sp>
        <p:nvSpPr>
          <p:cNvPr id="12" name="Text 10"/>
          <p:cNvSpPr/>
          <p:nvPr/>
        </p:nvSpPr>
        <p:spPr>
          <a:xfrm>
            <a:off x="6035040" y="164592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F1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Energy &amp; Minerals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2194560"/>
            <a:ext cx="201168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21% - 36%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Premium Yield</a:t>
            </a:r>
            <a:endParaRPr lang="en-US" sz="1200" dirty="0"/>
          </a:p>
          <a:p>
            <a:pPr marL="0" indent="0" algn="ctr">
              <a:buNone/>
            </a:pP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D1F1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High utility assets (solar grids, toll roads) &amp; bulk refined mineral sales (Busia lithium, gold).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4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C17F00">
              <a:alpha val="20000"/>
            </a:srgbClr>
          </a:solidFill>
        </p:spPr>
        <p:txBody>
          <a:bodyPr wrap="square"/>
          <a:p/>
        </p:txBody>
      </p:sp>
      <p:sp>
        <p:nvSpPr>
          <p:cNvPr id="3" name="Text 1"/>
          <p:cNvSpPr/>
          <p:nvPr/>
        </p:nvSpPr>
        <p:spPr>
          <a:xfrm>
            <a:off x="914400" y="1371600"/>
            <a:ext cx="54864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OwnIt.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anose="02040502050405020303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Join the Crowd Funding Revolution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54864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850" dirty="0">
                <a:solidFill>
                  <a:srgbClr val="5A7A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Email: contact@ownit.ug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850" dirty="0">
                <a:solidFill>
                  <a:srgbClr val="5A7A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Phone: +256 772 123 456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850" dirty="0">
                <a:solidFill>
                  <a:srgbClr val="5A7A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Website: www.ownit.ug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850" dirty="0">
                <a:solidFill>
                  <a:srgbClr val="5A7A6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Address: Plot 4, Kampala Road, Kampala, Uganda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F9F5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Co-Own Vetted Assets · Earn Real Profit Share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990" y="1005840"/>
            <a:ext cx="2426020" cy="38404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3234" y="1005840"/>
            <a:ext cx="2449532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0D1F15"/>
                </a:solidFill>
                <a:latin typeface="Arial" panose="020B0604020202020204"/>
              </a:rPr>
              <a:t>APP FLOW DEMO</a:t>
            </a:r>
            <a:endParaRPr sz="1000" b="1">
              <a:solidFill>
                <a:srgbClr val="0D1F15"/>
              </a:solidFill>
              <a:latin typeface="Arial" panose="020B0604020202020204"/>
            </a:endParaRPr>
          </a:p>
          <a:p>
            <a:pPr>
              <a:spcAft>
                <a:spcPts val="0"/>
              </a:spcAft>
            </a:pPr>
            <a:r>
              <a:rPr sz="2000" b="1">
                <a:solidFill>
                  <a:srgbClr val="0D1F15"/>
                </a:solidFill>
                <a:latin typeface="Arial" panose="020B0604020202020204"/>
              </a:rPr>
              <a:t>1. User Registration &amp; Compliance Onboarding</a:t>
            </a:r>
            <a:endParaRPr sz="2000" b="1">
              <a:solidFill>
                <a:srgbClr val="0D1F15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12" y="1005840"/>
            <a:ext cx="2444576" cy="38404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265" y="1005840"/>
            <a:ext cx="245947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0D1F15"/>
                </a:solidFill>
                <a:latin typeface="Arial" panose="020B0604020202020204"/>
              </a:rPr>
              <a:t>APP FLOW DEMO</a:t>
            </a:r>
            <a:endParaRPr sz="1000" b="1">
              <a:solidFill>
                <a:srgbClr val="0D1F15"/>
              </a:solidFill>
              <a:latin typeface="Arial" panose="020B0604020202020204"/>
            </a:endParaRPr>
          </a:p>
          <a:p>
            <a:pPr>
              <a:spcAft>
                <a:spcPts val="0"/>
              </a:spcAft>
            </a:pPr>
            <a:r>
              <a:rPr sz="2000" b="1">
                <a:solidFill>
                  <a:srgbClr val="0D1F15"/>
                </a:solidFill>
                <a:latin typeface="Arial" panose="020B0604020202020204"/>
              </a:rPr>
              <a:t>2. Document Upload &amp; Automated OCR Verification</a:t>
            </a:r>
            <a:endParaRPr sz="2000" b="1">
              <a:solidFill>
                <a:srgbClr val="0D1F15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644" y="1005840"/>
            <a:ext cx="2466711" cy="38404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8044" y="1005840"/>
            <a:ext cx="2419911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0D1F15"/>
                </a:solidFill>
                <a:latin typeface="Arial" panose="020B0604020202020204"/>
              </a:rPr>
              <a:t>APP FLOW DEMO</a:t>
            </a:r>
            <a:endParaRPr sz="1000" b="1">
              <a:solidFill>
                <a:srgbClr val="0D1F15"/>
              </a:solidFill>
              <a:latin typeface="Arial" panose="020B0604020202020204"/>
            </a:endParaRPr>
          </a:p>
          <a:p>
            <a:pPr>
              <a:spcAft>
                <a:spcPts val="0"/>
              </a:spcAft>
            </a:pPr>
            <a:r>
              <a:rPr sz="2000" b="1">
                <a:solidFill>
                  <a:srgbClr val="0D1F15"/>
                </a:solidFill>
                <a:latin typeface="Arial" panose="020B0604020202020204"/>
              </a:rPr>
              <a:t>3. NIRA NIN Database API &amp; NSSF Registry Sync</a:t>
            </a:r>
            <a:endParaRPr sz="2000" b="1">
              <a:solidFill>
                <a:srgbClr val="0D1F15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82276" y="1005840"/>
            <a:ext cx="5336552" cy="38404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042" y="1005840"/>
            <a:ext cx="2483915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0D1F15"/>
                </a:solidFill>
                <a:latin typeface="Arial" panose="020B0604020202020204"/>
              </a:rPr>
              <a:t>APP FLOW DEMO</a:t>
            </a:r>
            <a:endParaRPr sz="1000" b="1">
              <a:solidFill>
                <a:srgbClr val="0D1F15"/>
              </a:solidFill>
              <a:latin typeface="Arial" panose="020B0604020202020204"/>
            </a:endParaRPr>
          </a:p>
          <a:p>
            <a:pPr>
              <a:spcAft>
                <a:spcPts val="0"/>
              </a:spcAft>
            </a:pPr>
            <a:r>
              <a:rPr sz="2000" b="1">
                <a:solidFill>
                  <a:srgbClr val="0D1F15"/>
                </a:solidFill>
                <a:latin typeface="Arial" panose="020B0604020202020204"/>
              </a:rPr>
              <a:t>4. Browse and Filter Diversified Asset Listings</a:t>
            </a:r>
            <a:endParaRPr sz="2000" b="1">
              <a:solidFill>
                <a:srgbClr val="0D1F15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753" y="1005840"/>
            <a:ext cx="2502493" cy="38404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027" y="1005840"/>
            <a:ext cx="2445946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0D1F15"/>
                </a:solidFill>
                <a:latin typeface="Arial" panose="020B0604020202020204"/>
              </a:rPr>
              <a:t>APP FLOW DEMO</a:t>
            </a:r>
            <a:endParaRPr sz="1000" b="1">
              <a:solidFill>
                <a:srgbClr val="0D1F15"/>
              </a:solidFill>
              <a:latin typeface="Arial" panose="020B0604020202020204"/>
            </a:endParaRPr>
          </a:p>
          <a:p>
            <a:pPr>
              <a:spcAft>
                <a:spcPts val="0"/>
              </a:spcAft>
            </a:pPr>
            <a:r>
              <a:rPr sz="2000" b="1">
                <a:solidFill>
                  <a:srgbClr val="0D1F15"/>
                </a:solidFill>
                <a:latin typeface="Arial" panose="020B0604020202020204"/>
              </a:rPr>
              <a:t>5. Fractional Hisa Selection &amp; Yield Calculator</a:t>
            </a:r>
            <a:endParaRPr sz="2000" b="1">
              <a:solidFill>
                <a:srgbClr val="0D1F15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579" y="1005840"/>
            <a:ext cx="2438841" cy="38404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5425" y="1005840"/>
            <a:ext cx="2465149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0D1F15"/>
                </a:solidFill>
                <a:latin typeface="Arial" panose="020B0604020202020204"/>
              </a:rPr>
              <a:t>APP FLOW DEMO</a:t>
            </a:r>
            <a:endParaRPr sz="1000" b="1">
              <a:solidFill>
                <a:srgbClr val="0D1F15"/>
              </a:solidFill>
              <a:latin typeface="Arial" panose="020B0604020202020204"/>
            </a:endParaRPr>
          </a:p>
          <a:p>
            <a:pPr>
              <a:spcAft>
                <a:spcPts val="0"/>
              </a:spcAft>
            </a:pPr>
            <a:r>
              <a:rPr sz="2000" b="1">
                <a:solidFill>
                  <a:srgbClr val="0D1F15"/>
                </a:solidFill>
                <a:latin typeface="Arial" panose="020B0604020202020204"/>
              </a:rPr>
              <a:t>6. Mobile Money Payment &amp; Escrow Deposits</a:t>
            </a:r>
            <a:endParaRPr sz="2000" b="1">
              <a:solidFill>
                <a:srgbClr val="0D1F15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422" y="1005840"/>
            <a:ext cx="2435156" cy="38404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5892" y="1005840"/>
            <a:ext cx="2444216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0D1F15"/>
                </a:solidFill>
                <a:latin typeface="Arial" panose="020B0604020202020204"/>
              </a:rPr>
              <a:t>APP FLOW DEMO</a:t>
            </a:r>
            <a:endParaRPr sz="1000" b="1">
              <a:solidFill>
                <a:srgbClr val="0D1F15"/>
              </a:solidFill>
              <a:latin typeface="Arial" panose="020B0604020202020204"/>
            </a:endParaRPr>
          </a:p>
          <a:p>
            <a:pPr>
              <a:spcAft>
                <a:spcPts val="0"/>
              </a:spcAft>
            </a:pPr>
            <a:r>
              <a:rPr sz="2000" b="1">
                <a:solidFill>
                  <a:srgbClr val="0D1F15"/>
                </a:solidFill>
                <a:latin typeface="Arial" panose="020B0604020202020204"/>
              </a:rPr>
              <a:t>7. Real-Time Portfolio Ledger &amp; Wallet Balance</a:t>
            </a:r>
            <a:endParaRPr sz="2000" b="1">
              <a:solidFill>
                <a:srgbClr val="0D1F15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868" y="1005840"/>
            <a:ext cx="2418264" cy="38404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871" y="1005840"/>
            <a:ext cx="2476257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0D1F15"/>
                </a:solidFill>
                <a:latin typeface="Arial" panose="020B0604020202020204"/>
              </a:rPr>
              <a:t>APP FLOW DEMO</a:t>
            </a:r>
            <a:endParaRPr sz="1000" b="1">
              <a:solidFill>
                <a:srgbClr val="0D1F15"/>
              </a:solidFill>
              <a:latin typeface="Arial" panose="020B0604020202020204"/>
            </a:endParaRPr>
          </a:p>
          <a:p>
            <a:pPr>
              <a:spcAft>
                <a:spcPts val="0"/>
              </a:spcAft>
            </a:pPr>
            <a:r>
              <a:rPr sz="2000" b="1">
                <a:solidFill>
                  <a:srgbClr val="0D1F15"/>
                </a:solidFill>
                <a:latin typeface="Arial" panose="020B0604020202020204"/>
              </a:rPr>
              <a:t>8. SmartLife Flexi NSSF Pension Auto-Sweeps</a:t>
            </a:r>
            <a:endParaRPr sz="2000" b="1">
              <a:solidFill>
                <a:srgbClr val="0D1F15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373" y="1005840"/>
            <a:ext cx="2451254" cy="38404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736" y="1005840"/>
            <a:ext cx="2454527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0D1F15"/>
                </a:solidFill>
                <a:latin typeface="Arial" panose="020B0604020202020204"/>
              </a:rPr>
              <a:t>APP FLOW DEMO</a:t>
            </a:r>
            <a:endParaRPr sz="1000" b="1">
              <a:solidFill>
                <a:srgbClr val="0D1F15"/>
              </a:solidFill>
              <a:latin typeface="Arial" panose="020B0604020202020204"/>
            </a:endParaRPr>
          </a:p>
          <a:p>
            <a:pPr>
              <a:spcAft>
                <a:spcPts val="0"/>
              </a:spcAft>
            </a:pPr>
            <a:r>
              <a:rPr sz="2000" b="1">
                <a:solidFill>
                  <a:srgbClr val="0D1F15"/>
                </a:solidFill>
                <a:latin typeface="Arial" panose="020B0604020202020204"/>
              </a:rPr>
              <a:t>9. Lister Dashboard &amp; Real Property Performance</a:t>
            </a:r>
            <a:endParaRPr sz="2000" b="1">
              <a:solidFill>
                <a:srgbClr val="0D1F15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663" y="1005840"/>
            <a:ext cx="2444673" cy="38404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895" y="1005840"/>
            <a:ext cx="2426209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0D1F15"/>
                </a:solidFill>
                <a:latin typeface="Arial" panose="020B0604020202020204"/>
              </a:rPr>
              <a:t>APP FLOW DEMO</a:t>
            </a:r>
            <a:endParaRPr sz="1000" b="1">
              <a:solidFill>
                <a:srgbClr val="0D1F15"/>
              </a:solidFill>
              <a:latin typeface="Arial" panose="020B0604020202020204"/>
            </a:endParaRPr>
          </a:p>
          <a:p>
            <a:pPr>
              <a:spcAft>
                <a:spcPts val="0"/>
              </a:spcAft>
            </a:pPr>
            <a:r>
              <a:rPr sz="2000" b="1">
                <a:solidFill>
                  <a:srgbClr val="0D1F15"/>
                </a:solidFill>
                <a:latin typeface="Arial" panose="020B0604020202020204"/>
              </a:rPr>
              <a:t>10. Asset Admission Submission &amp; Vetting Flow</a:t>
            </a:r>
            <a:endParaRPr sz="2000" b="1">
              <a:solidFill>
                <a:srgbClr val="0D1F15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5189</Words>
  <Application>WPS Presentation</Application>
  <PresentationFormat>On-screen Show (16:9)</PresentationFormat>
  <Paragraphs>214</Paragraphs>
  <Slides>20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Arial</vt:lpstr>
      <vt:lpstr>SimSun</vt:lpstr>
      <vt:lpstr>Wingdings</vt:lpstr>
      <vt:lpstr>Georgia</vt:lpstr>
      <vt:lpstr>Georgia</vt:lpstr>
      <vt:lpstr>Georgia</vt:lpstr>
      <vt:lpstr>Arial</vt:lpstr>
      <vt:lpstr>Arial</vt:lpstr>
      <vt:lpstr>Calibri</vt:lpstr>
      <vt:lpstr>Microsoft YaHei</vt:lpstr>
      <vt:lpstr>Arial Unicode MS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HP</cp:lastModifiedBy>
  <cp:revision>3</cp:revision>
  <dcterms:created xsi:type="dcterms:W3CDTF">2026-06-26T12:15:00Z</dcterms:created>
  <dcterms:modified xsi:type="dcterms:W3CDTF">2026-06-27T20:12:41Z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2C2468FA06E74816847616445F6C0557_12</vt:lpwstr>
  </property>
</Properties>
</file>
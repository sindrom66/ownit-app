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66" r:id="rId3"/>
    <p:sldId id="267" r:id="rId4"/>
    <p:sldId id="257" r:id="rId5"/>
    <p:sldId id="268" r:id="rId7"/>
    <p:sldId id="269" r:id="rId8"/>
    <p:sldId id="271" r:id="rId9"/>
    <p:sldId id="272" r:id="rId10"/>
    <p:sldId id="273" r:id="rId11"/>
    <p:sldId id="274" r:id="rId12"/>
    <p:sldId id="263" r:id="rId13"/>
    <p:sldId id="276" r:id="rId14"/>
    <p:sldId id="277" r:id="rId15"/>
    <p:sldId id="278" r:id="rId16"/>
    <p:sldId id="279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80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A3C34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3C34"/>
                </a:solidFill>
                <a:latin typeface="Arial" panose="020B0604020202020204"/>
              </a:rPr>
              <a:t>Active Investors (12M+)</a:t>
            </a:r>
            <a:endParaRPr sz="1200" b="0" i="0" u="none" strike="noStrike">
              <a:solidFill>
                <a:srgbClr val="1A3C34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Investors (000s)</c:v>
                </c:pt>
              </c:strCache>
            </c:strRef>
          </c:tx>
          <c:spPr>
            <a:solidFill>
              <a:srgbClr val="1A3C34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A3C34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A3C34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3M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A3C34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5M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A3C34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000" b="0" i="0" u="none" strike="noStrike" kern="1200" baseline="0">
                        <a:solidFill>
                          <a:srgbClr val="1A3C34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12M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A3C3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30</c:v>
                </c:pt>
                <c:pt idx="2">
                  <c:v>100</c:v>
                </c:pt>
                <c:pt idx="3">
                  <c:v>280</c:v>
                </c:pt>
                <c:pt idx="4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7bbd59b-8745-4894-b956-5e1027f488ce}"/>
      </c:ext>
    </c:extLst>
  </c:chart>
  <c:spPr>
    <a:solidFill>
      <a:srgbClr val="F7F3E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0" descr="/home/claude/ownit/hi-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400" b="1" kern="0" spc="300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100" b="1" kern="0" spc="300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100" b="1" kern="0" spc="300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80% of Uganda's workers are locked out of wealth creation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28016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entry barriers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/>
              <a:t>T-Bills, property, and commodity trading require UGX 1M+. Most Ugandans are permanently priced out.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32120" y="128016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Mobile-first, product-last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691640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/>
              <a:t>Uganda has 30M+ Mobile Money accounts — yet zero crowd-investment products are natively built on mobile money.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315468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time horizons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/>
              <a:t>80% of Uganda's workforce is informal. They cannot lock savings for 5+ years — they need returns within months.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315468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Profits stay at the top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566160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/>
              <a:t>Bond yields of 16–18%, agri margins of 25–45%, mineral export margins of 20–60%. Only institutions and high networth individuals benefit.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NSSF has ~3.4M active members from a 14M+ workforce — </a:t>
            </a:r>
            <a:r>
              <a:rPr lang="en-US" sz="1000" b="1" dirty="0">
                <a:solidFill>
                  <a:srgbClr val="D9A44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below 15% penetration. Its 2035 target of 15M members is at risk without a breakthrough product.</a:t>
            </a:r>
            <a:endParaRPr lang="en-US" sz="10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685800" cy="57912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76985"/>
            <a:ext cx="701040" cy="5715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723900" cy="58674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rcRect l="22794" t="19928" r="13725" b="1533"/>
          <a:stretch>
            <a:fillRect/>
          </a:stretch>
        </p:blipFill>
        <p:spPr>
          <a:xfrm>
            <a:off x="5038725" y="3168650"/>
            <a:ext cx="493395" cy="553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0" descr="/home/claude/ownit/hi-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73845" cy="5160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0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" y="1489710"/>
            <a:ext cx="295910" cy="2702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03055" cy="5176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5-year platform &amp; NSSF revenue model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480560" y="914400"/>
            <a:ext cx="4679950" cy="530225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26280" y="914400"/>
            <a:ext cx="1547495" cy="547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73775" y="9144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15150" y="9144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65415" y="9144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88375" y="9144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80560" y="1463040"/>
            <a:ext cx="4662805" cy="530225"/>
          </a:xfrm>
          <a:prstGeom prst="rect">
            <a:avLst/>
          </a:prstGeom>
          <a:solidFill>
            <a:srgbClr val="F0F4F2"/>
          </a:solidFill>
          <a:ln w="12700">
            <a:solidFill>
              <a:srgbClr val="F0F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463040"/>
            <a:ext cx="1547495" cy="547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Investors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73775" y="14630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15150" y="14630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65415" y="14630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5M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88375" y="14630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80560" y="2011680"/>
            <a:ext cx="4662805" cy="5302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011680"/>
            <a:ext cx="1548130" cy="5505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AUM (UGX B)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73775" y="201168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10B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15150" y="201168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50B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65415" y="201168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200B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88375" y="201168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80560" y="2560320"/>
            <a:ext cx="4671695" cy="530225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560320"/>
            <a:ext cx="1547495" cy="547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NSSF Operating Revenue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073775" y="256032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153M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15150" y="256032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678M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65415" y="256032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2.59M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588375" y="256032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6.71B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480560" y="3108960"/>
            <a:ext cx="4662805" cy="5302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108960"/>
            <a:ext cx="1547495" cy="547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Savings Levy (AUM add)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073775" y="310896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40M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915150" y="310896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65415" y="310896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588375" y="310896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2.0B+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480560" y="3657600"/>
            <a:ext cx="4662805" cy="530225"/>
          </a:xfrm>
          <a:prstGeom prst="rect">
            <a:avLst/>
          </a:prstGeom>
          <a:solidFill>
            <a:srgbClr val="F0F4F2"/>
          </a:solidFill>
          <a:ln w="12700">
            <a:solidFill>
              <a:srgbClr val="F0F4F2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526280" y="3657600"/>
            <a:ext cx="1547495" cy="547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SmartLife Flexi Deposits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073775" y="36576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15150" y="36576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500M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765415" y="36576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2.0B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588375" y="365760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5.3B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480560" y="4206240"/>
            <a:ext cx="4662805" cy="5302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26280" y="4206240"/>
            <a:ext cx="1547495" cy="547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NSSF Members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073775" y="42062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1M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15150" y="42062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3M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765415" y="42062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588375" y="4206240"/>
            <a:ext cx="53213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12M+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74320" y="38404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A3C34"/>
          </a:solidFill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274320" y="393192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UGX 500B+</a:t>
            </a:r>
            <a:endParaRPr lang="en-US" sz="3000" dirty="0"/>
          </a:p>
        </p:txBody>
      </p:sp>
      <p:sp>
        <p:nvSpPr>
          <p:cNvPr id="50" name="Text 47"/>
          <p:cNvSpPr/>
          <p:nvPr/>
        </p:nvSpPr>
        <p:spPr>
          <a:xfrm>
            <a:off x="274320" y="4434840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NSSF revenue by Year 5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50680" cy="5203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12580" cy="5182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home/claude/ownit/hi-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82430" cy="52216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12580" cy="5182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wnit/hi-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WPS Presentation</Application>
  <PresentationFormat>On-screen Show (16:9)</PresentationFormat>
  <Paragraphs>107</Paragraphs>
  <Slides>30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Microsoft YaHei</vt:lpstr>
      <vt:lpstr>Arial Unicode MS</vt:lpstr>
      <vt:lpstr>Arial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OwnIt Uganda — Investor Pitch</dc:title>
  <dc:creator>PptxGenJS</dc:creator>
  <dc:subject>PptxGenJS Presentation</dc:subject>
  <cp:lastModifiedBy>HP</cp:lastModifiedBy>
  <cp:revision>9</cp:revision>
  <dcterms:created xsi:type="dcterms:W3CDTF">2026-06-27T16:01:00Z</dcterms:created>
  <dcterms:modified xsi:type="dcterms:W3CDTF">2026-07-19T17:56:35Z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B33D8344351140C4ADF737B665746345_12</vt:lpwstr>
  </property>
</Properties>
</file>
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3C3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3C34"/>
                </a:solidFill>
                <a:latin typeface="Arial"/>
              </a:rPr>
              <a:t>Active Investors (000s)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Investors (000s)</c:v>
                </c:pt>
              </c:strCache>
            </c:strRef>
          </c:tx>
          <c:spPr>
            <a:solidFill>
              <a:srgbClr val="1A3C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3C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30</c:v>
                </c:pt>
                <c:pt idx="2">
                  <c:v>100</c:v>
                </c:pt>
                <c:pt idx="3">
                  <c:v>280</c:v>
                </c:pt>
                <c:pt idx="4">
                  <c:v>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3C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7F3E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22503F"/>
          </a:solidFill>
          <a:ln w="12700">
            <a:solidFill>
              <a:srgbClr val="2250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0"/>
            <a:ext cx="3657600" cy="5486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502920"/>
            <a:ext cx="1005840" cy="1005840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5029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3C34"/>
                </a:solidFill>
              </a:rPr>
              <a:t>O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OwnIt Uganda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Uganda's First Multi-Asset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Crowd-Investment Platform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3474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 piece of everything.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UGX 50,000.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0" y="640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669280" y="135331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Classes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10512"/>
            <a:ext cx="1828800" cy="0"/>
          </a:xfrm>
          <a:prstGeom prst="line">
            <a:avLst/>
          </a:prstGeom>
          <a:noFill/>
          <a:ln w="12700">
            <a:solidFill>
              <a:srgbClr val="3366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20574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UGX 50K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0" y="27706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Entry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3227832"/>
            <a:ext cx="1828800" cy="0"/>
          </a:xfrm>
          <a:prstGeom prst="line">
            <a:avLst/>
          </a:prstGeom>
          <a:noFill/>
          <a:ln w="12700">
            <a:solidFill>
              <a:srgbClr val="3366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0" y="34747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500K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669280" y="418795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Members Yr 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Kampala, Uganda  •  2026  •  INVESTOR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 of Uganda's workers are locked out of wealth creation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307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128016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accessible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6916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entry to T-Bills, property, or stocks is UGX 1M+. Gen Z is priced out.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307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32120" y="128016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product-last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32120" y="16916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30M+ MoMo accounts exist. Zero investment products natively built for them.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017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3182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7280" y="315468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time horizons don't work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56616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informal workforce can't lock savings for 30 years. They need returns now.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182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32120" y="315468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stays at the top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32120" y="356616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yields of 16–18%, agri margins of 25–45%. But only institutions can access them.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4663440"/>
            <a:ext cx="8503920" cy="347472"/>
          </a:xfrm>
          <a:prstGeom prst="roundRect">
            <a:avLst>
              <a:gd name="adj" fmla="val 13158"/>
            </a:avLst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66344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has ~2M active members from a 14M+ workforce — less than 15% penetration. Its 2035 target of 5M is at risk without a new strategy.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Any asset. From UGX 50,000.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3080" y="2468880"/>
            <a:ext cx="246888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1463040" cy="3429000"/>
          </a:xfrm>
          <a:prstGeom prst="roundRect">
            <a:avLst>
              <a:gd name="adj" fmla="val 5000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536192"/>
            <a:ext cx="694944" cy="694944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536192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C34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480" y="23317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200">
                <a:latin typeface="Arial"/>
              </a:rPr>
              <a:t>NSSF Vets the Assets</a:t>
            </a:r>
          </a:p>
        </p:txBody>
      </p:sp>
      <p:sp>
        <p:nvSpPr>
          <p:cNvPr id="9" name="Text 7"/>
          <p:cNvSpPr/>
          <p:nvPr/>
        </p:nvSpPr>
        <p:spPr>
          <a:xfrm>
            <a:off x="411480" y="2926080"/>
            <a:ext cx="1280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NSSF acts as a platform vetting and filtering assets based on their authenticity, business applicability and revenue generation ability.</a:t>
            </a:r>
          </a:p>
        </p:txBody>
      </p:sp>
      <p:sp>
        <p:nvSpPr>
          <p:cNvPr id="10" name="Shape 8"/>
          <p:cNvSpPr/>
          <p:nvPr/>
        </p:nvSpPr>
        <p:spPr>
          <a:xfrm>
            <a:off x="3493008" y="2468880"/>
            <a:ext cx="246888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29968" y="1417320"/>
            <a:ext cx="1463040" cy="3429000"/>
          </a:xfrm>
          <a:prstGeom prst="roundRect">
            <a:avLst>
              <a:gd name="adj" fmla="val 5000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14016" y="1536192"/>
            <a:ext cx="694944" cy="694944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14016" y="1536192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C34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121408" y="23317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200">
                <a:latin typeface="Arial"/>
              </a:rPr>
              <a:t>Crowd Pools Capital</a:t>
            </a:r>
          </a:p>
        </p:txBody>
      </p:sp>
      <p:sp>
        <p:nvSpPr>
          <p:cNvPr id="15" name="Text 13"/>
          <p:cNvSpPr/>
          <p:nvPr/>
        </p:nvSpPr>
        <p:spPr>
          <a:xfrm>
            <a:off x="2121408" y="2926080"/>
            <a:ext cx="1280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OwnIt is a Crowd based Funding model that operates as a product of NSSF.</a:t>
            </a:r>
          </a:p>
        </p:txBody>
      </p:sp>
      <p:sp>
        <p:nvSpPr>
          <p:cNvPr id="16" name="Shape 14"/>
          <p:cNvSpPr/>
          <p:nvPr/>
        </p:nvSpPr>
        <p:spPr>
          <a:xfrm>
            <a:off x="5202936" y="2468880"/>
            <a:ext cx="246888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39896" y="1417320"/>
            <a:ext cx="1463040" cy="3429000"/>
          </a:xfrm>
          <a:prstGeom prst="roundRect">
            <a:avLst>
              <a:gd name="adj" fmla="val 5000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3944" y="1536192"/>
            <a:ext cx="694944" cy="694944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23944" y="1536192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C34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831336" y="23317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200">
                <a:latin typeface="Arial"/>
              </a:rPr>
              <a:t>Asset Generates Profit</a:t>
            </a:r>
          </a:p>
        </p:txBody>
      </p:sp>
      <p:sp>
        <p:nvSpPr>
          <p:cNvPr id="21" name="Text 19"/>
          <p:cNvSpPr/>
          <p:nvPr/>
        </p:nvSpPr>
        <p:spPr>
          <a:xfrm>
            <a:off x="3831336" y="2926080"/>
            <a:ext cx="1280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Pulling money towards ownership of real estate, commodities, minerals, and equities.</a:t>
            </a:r>
          </a:p>
        </p:txBody>
      </p:sp>
      <p:sp>
        <p:nvSpPr>
          <p:cNvPr id="22" name="Shape 20"/>
          <p:cNvSpPr/>
          <p:nvPr/>
        </p:nvSpPr>
        <p:spPr>
          <a:xfrm>
            <a:off x="6912864" y="2468880"/>
            <a:ext cx="246888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9824" y="1417320"/>
            <a:ext cx="1463040" cy="3429000"/>
          </a:xfrm>
          <a:prstGeom prst="roundRect">
            <a:avLst>
              <a:gd name="adj" fmla="val 5000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33872" y="1536192"/>
            <a:ext cx="694944" cy="694944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33872" y="1536192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C34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41264" y="23317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200">
                <a:latin typeface="Arial"/>
              </a:rPr>
              <a:t>Proportional Payouts</a:t>
            </a:r>
          </a:p>
        </p:txBody>
      </p:sp>
      <p:sp>
        <p:nvSpPr>
          <p:cNvPr id="27" name="Text 25"/>
          <p:cNvSpPr/>
          <p:nvPr/>
        </p:nvSpPr>
        <p:spPr>
          <a:xfrm>
            <a:off x="5541264" y="2926080"/>
            <a:ext cx="1280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Profits are paid out based on percentage ownership derived from how much an investor contributed.</a:t>
            </a:r>
          </a:p>
        </p:txBody>
      </p:sp>
      <p:sp>
        <p:nvSpPr>
          <p:cNvPr id="28" name="Shape 26"/>
          <p:cNvSpPr/>
          <p:nvPr/>
        </p:nvSpPr>
        <p:spPr>
          <a:xfrm>
            <a:off x="7159752" y="1417320"/>
            <a:ext cx="1463040" cy="3429000"/>
          </a:xfrm>
          <a:prstGeom prst="roundRect">
            <a:avLst>
              <a:gd name="adj" fmla="val 5000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43800" y="1536192"/>
            <a:ext cx="694944" cy="694944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1536192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C34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251192" y="233172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200">
                <a:latin typeface="Arial"/>
              </a:rPr>
              <a:t>NSSF Sweeps &amp; Levies</a:t>
            </a:r>
          </a:p>
        </p:txBody>
      </p:sp>
      <p:sp>
        <p:nvSpPr>
          <p:cNvPr id="32" name="Text 30"/>
          <p:cNvSpPr/>
          <p:nvPr/>
        </p:nvSpPr>
        <p:spPr>
          <a:xfrm>
            <a:off x="7251192" y="2926080"/>
            <a:ext cx="1280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Profits are automatically subject to NSSF service and locked savings Levies before final distribution.</a:t>
            </a:r>
          </a:p>
        </p:txBody>
      </p:sp>
      <p:sp>
        <p:nvSpPr>
          <p:cNvPr id="33" name="Text 31"/>
          <p:cNvSpPr/>
          <p:nvPr/>
        </p:nvSpPr>
        <p:spPr>
          <a:xfrm>
            <a:off x="457200" y="48006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Pulling money from the crowd towards part ownership of an asset class that Listers can verify applicability and profit generation 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ASSET CLASSES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0" y="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wallet. Maximum diversification.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241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🏢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10058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13533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10–35%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16093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Solar farms, Hospitals, factories etc.</a:t>
            </a:r>
          </a:p>
        </p:txBody>
      </p:sp>
      <p:sp>
        <p:nvSpPr>
          <p:cNvPr id="10" name="Shape 8"/>
          <p:cNvSpPr/>
          <p:nvPr/>
        </p:nvSpPr>
        <p:spPr>
          <a:xfrm>
            <a:off x="3200400" y="9144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0241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🛢️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94760" y="10058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Petroleum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94760" y="13533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8–40%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794760" y="16093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Downstream trade consignments. Yield: 8-40% / cycle.</a:t>
            </a:r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10241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🌽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720840" y="10058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Agri-Commodities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20840" y="13533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15–45%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720840" y="16093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Maize, Coffee, Copper etc.</a:t>
            </a:r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23957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23774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T-Bills &amp; Bonds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" y="27249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14–20%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68680" y="29809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Stocks, bonds, TBills, Options, Forward contracts etc.</a:t>
            </a:r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291840" y="23957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💱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794760" y="23774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FX &amp; Currency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794760" y="27249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8–30%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794760" y="29809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Med–High  |  7–90 days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17920" y="23957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⛏️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720840" y="23774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Rare Minerals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720840" y="27249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20–60%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720840" y="29809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Oil, Gold, Lithium for sale.</a:t>
            </a:r>
          </a:p>
        </p:txBody>
      </p:sp>
      <p:sp>
        <p:nvSpPr>
          <p:cNvPr id="35" name="Shape 33"/>
          <p:cNvSpPr/>
          <p:nvPr/>
        </p:nvSpPr>
        <p:spPr>
          <a:xfrm>
            <a:off x="274320" y="36576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3767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868680" y="37490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Stocks / Shares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68680" y="40965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4–100%+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68680" y="43525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Med–High  |  Qtrly / Annual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0" y="36576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291840" y="3767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🏭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3794760" y="37490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SME Equity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794760" y="40965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20–300%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794760" y="43525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High  |  Qtrly / Exit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126480" y="3657600"/>
            <a:ext cx="27432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17920" y="3767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6720840" y="374904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3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Open Assets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20840" y="409651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6B4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Return: Variable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720840" y="43525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900">
                <a:latin typeface="Arial"/>
              </a:rPr>
              <a:t>Other open asset classes that Listers can verify their applicability and profit generation ability.</a:t>
            </a:r>
          </a:p>
        </p:txBody>
      </p:sp>
      <p:sp>
        <p:nvSpPr>
          <p:cNvPr id="50" name="Text 48"/>
          <p:cNvSpPr/>
          <p:nvPr/>
        </p:nvSpPr>
        <p:spPr>
          <a:xfrm>
            <a:off x="274320" y="482803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investment: UGX 50,000 (~USD 14) — the lowest entry point of any investment product in Uganda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revenue layers — every payout, every listing, every investment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8412480" cy="1051560"/>
          </a:xfrm>
          <a:prstGeom prst="roundRect">
            <a:avLst>
              <a:gd name="adj" fmla="val 6087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35024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093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400">
                <a:latin typeface="Arial"/>
              </a:rPr>
              <a:t>3% Profit Service Fee</a:t>
            </a:r>
          </a:p>
        </p:txBody>
      </p:sp>
      <p:sp>
        <p:nvSpPr>
          <p:cNvPr id="7" name="Text 5"/>
          <p:cNvSpPr/>
          <p:nvPr/>
        </p:nvSpPr>
        <p:spPr>
          <a:xfrm>
            <a:off x="2926080" y="1335024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100">
                <a:latin typeface="Arial"/>
              </a:rPr>
              <a:t>A service fee Levi of 3% of profits from each investor.</a:t>
            </a:r>
          </a:p>
        </p:txBody>
      </p:sp>
      <p:sp>
        <p:nvSpPr>
          <p:cNvPr id="8" name="Shape 6"/>
          <p:cNvSpPr/>
          <p:nvPr/>
        </p:nvSpPr>
        <p:spPr>
          <a:xfrm>
            <a:off x="6583680" y="1490472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90472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gets 60% → Lister + Investor sides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432304"/>
            <a:ext cx="8412480" cy="1051560"/>
          </a:xfrm>
          <a:prstGeom prst="roundRect">
            <a:avLst>
              <a:gd name="adj" fmla="val 6087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0545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77977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400">
                <a:latin typeface="Arial"/>
              </a:rPr>
              <a:t>2% Locked Savings Levy</a:t>
            </a:r>
          </a:p>
        </p:txBody>
      </p:sp>
      <p:sp>
        <p:nvSpPr>
          <p:cNvPr id="13" name="Text 11"/>
          <p:cNvSpPr/>
          <p:nvPr/>
        </p:nvSpPr>
        <p:spPr>
          <a:xfrm>
            <a:off x="2926080" y="2505456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100">
                <a:latin typeface="Arial"/>
              </a:rPr>
              <a:t>A Locked saving Levi of 2% of profits from each investor, saved on their behalf for a period of time.</a:t>
            </a:r>
          </a:p>
        </p:txBody>
      </p:sp>
      <p:sp>
        <p:nvSpPr>
          <p:cNvPr id="14" name="Shape 12"/>
          <p:cNvSpPr/>
          <p:nvPr/>
        </p:nvSpPr>
        <p:spPr>
          <a:xfrm>
            <a:off x="6583680" y="2660904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660904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gets 30% of all listing fees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8412480" cy="1051560"/>
          </a:xfrm>
          <a:prstGeom prst="roundRect">
            <a:avLst>
              <a:gd name="adj" fmla="val 6087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67588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9502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400">
                <a:latin typeface="Arial"/>
              </a:rPr>
              <a:t>5% Lister Profit Levy</a:t>
            </a:r>
          </a:p>
        </p:txBody>
      </p:sp>
      <p:sp>
        <p:nvSpPr>
          <p:cNvPr id="19" name="Text 17"/>
          <p:cNvSpPr/>
          <p:nvPr/>
        </p:nvSpPr>
        <p:spPr>
          <a:xfrm>
            <a:off x="2926080" y="3675888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100">
                <a:latin typeface="Arial"/>
              </a:rPr>
              <a:t>A 5% Levi on profits that each Lister makes from the sale or crowd funding of their asset class/type.</a:t>
            </a:r>
          </a:p>
        </p:txBody>
      </p:sp>
      <p:sp>
        <p:nvSpPr>
          <p:cNvPr id="20" name="Shape 18"/>
          <p:cNvSpPr/>
          <p:nvPr/>
        </p:nvSpPr>
        <p:spPr>
          <a:xfrm>
            <a:off x="6583680" y="3831336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831336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retained by OwnIt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4709160"/>
            <a:ext cx="8412480" cy="347472"/>
          </a:xfrm>
          <a:prstGeom prst="roundRect">
            <a:avLst>
              <a:gd name="adj" fmla="val 15789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7091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100">
                <a:latin typeface="Arial"/>
              </a:rPr>
              <a:t>Benefiting from Memberships acquisition as Investors are mandated to register as NSSF members as they register on OWNIT.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PARTNERSHIP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0" y="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capital required to start.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77640" cy="402336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241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CONTRIBUTES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Brand endorsement &amp; co-marketing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011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Registry API for auto-enrollment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5146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SmartLife Flexi API (one-tap sweep)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  NSSF operates by acting as a platform vetting and filtering assets based on their authenticity, business applicability and revenue generation ability.</a:t>
            </a:r>
          </a:p>
        </p:txBody>
      </p:sp>
      <p:sp>
        <p:nvSpPr>
          <p:cNvPr id="11" name="Text 9"/>
          <p:cNvSpPr/>
          <p:nvPr/>
        </p:nvSpPr>
        <p:spPr>
          <a:xfrm>
            <a:off x="411480" y="35204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Regulatory facilitation (CMA, BoU, URBRA)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Optional: NSSF property/bond listings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440740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E8F0EC"/>
          </a:solidFill>
          <a:ln w="12700">
            <a:solidFill>
              <a:srgbClr val="E8F0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40740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required from NSSF: NONE (Tiers 1 &amp; 2)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92040" y="914400"/>
            <a:ext cx="3977640" cy="4023360"/>
          </a:xfrm>
          <a:prstGeom prst="roundRect">
            <a:avLst>
              <a:gd name="adj" fmla="val 1839"/>
            </a:avLst>
          </a:prstGeom>
          <a:solidFill>
            <a:srgbClr val="1A3C34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0" y="10241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RECEIVES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1508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  Memberships acquisition as Investor are mandated to register as NSSF members</a:t>
            </a:r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  A service fee Levi of 3% of profits from each investor</a:t>
            </a:r>
          </a:p>
        </p:txBody>
      </p:sp>
      <p:sp>
        <p:nvSpPr>
          <p:cNvPr id="19" name="Text 17"/>
          <p:cNvSpPr/>
          <p:nvPr/>
        </p:nvSpPr>
        <p:spPr>
          <a:xfrm>
            <a:off x="5029200" y="25146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  A Locked saving Levi of 2% of profits from each investor</a:t>
            </a:r>
          </a:p>
        </p:txBody>
      </p:sp>
      <p:sp>
        <p:nvSpPr>
          <p:cNvPr id="20" name="Text 18"/>
          <p:cNvSpPr/>
          <p:nvPr/>
        </p:nvSpPr>
        <p:spPr>
          <a:xfrm>
            <a:off x="5029200" y="3017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>
                <a:latin typeface="Arial"/>
              </a:rPr>
              <a:t>  A 5% Levi on profits that each Lister makes from the sale or crowd funding</a:t>
            </a:r>
          </a:p>
        </p:txBody>
      </p:sp>
      <p:sp>
        <p:nvSpPr>
          <p:cNvPr id="21" name="Text 19"/>
          <p:cNvSpPr/>
          <p:nvPr/>
        </p:nvSpPr>
        <p:spPr>
          <a:xfrm>
            <a:off x="5029200" y="35204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✓  60% of 3% service charge every payout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40233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✓  30% of all listing fees — 9 asset classes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0" y="440740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440740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Compelling Gen Z product — at zero development cost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Greenfield. No direct competitor in Uganda.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9844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14M+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workforce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23444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29844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468880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sector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29844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30M+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72000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MoMo accounts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0" y="123444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129844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competitors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8412480" cy="38404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974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17520" y="269748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0" y="269748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Appetite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0936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Asset Classes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154680"/>
            <a:ext cx="8412480" cy="438912"/>
          </a:xfrm>
          <a:prstGeom prst="rect">
            <a:avLst/>
          </a:prstGeom>
          <a:solidFill>
            <a:srgbClr val="22503F"/>
          </a:solidFill>
          <a:ln w="12700">
            <a:solidFill>
              <a:srgbClr val="2250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15468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Z (18–29)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7520" y="3154680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~4.5M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315468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31546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Agri, Oil, FX, T-Bills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611880"/>
            <a:ext cx="8412480" cy="438912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61188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/ Informal Workers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017520" y="3611880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361188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09360" y="36118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Agri, Real Estate, Bonds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069080"/>
            <a:ext cx="8412480" cy="438912"/>
          </a:xfrm>
          <a:prstGeom prst="rect">
            <a:avLst/>
          </a:prstGeom>
          <a:solidFill>
            <a:srgbClr val="22503F"/>
          </a:solidFill>
          <a:ln w="12700">
            <a:solidFill>
              <a:srgbClr val="22503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06908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NSSF Members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017520" y="4069080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54880" y="406908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0" y="40690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Bonds, Stocks, Real Estate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526280"/>
            <a:ext cx="8412480" cy="438912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52628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Savers / SACCOs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017520" y="4526280"/>
            <a:ext cx="1554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54880" y="452628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09360" y="45262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Agri, Minerals, Bonds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platform in Uganda currently offers multi-asset fractional investment with MTN/Airtel MoMo integration and sub-UGX 50K minimums.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0" y="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platform &amp; NSSF revenue model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914400"/>
          <a:ext cx="41148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480560" y="914400"/>
            <a:ext cx="4572000" cy="530352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26280" y="91440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537960" y="9144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79208" y="9144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9144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052560" y="9144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480560" y="1463040"/>
            <a:ext cx="4572000" cy="530352"/>
          </a:xfrm>
          <a:prstGeom prst="rect">
            <a:avLst/>
          </a:prstGeom>
          <a:solidFill>
            <a:srgbClr val="F0F4F2"/>
          </a:solidFill>
          <a:ln w="12700">
            <a:solidFill>
              <a:srgbClr val="F0F4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146304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Investors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37960" y="14630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79208" y="14630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0" y="14630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052560" y="14630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480560" y="2011680"/>
            <a:ext cx="4572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1168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AUM (UGX B)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37960" y="201168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4.5B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79208" y="201168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27B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229600" y="201168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90B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052560" y="201168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300B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480560" y="2560320"/>
            <a:ext cx="4572000" cy="530352"/>
          </a:xfrm>
          <a:prstGeom prst="rect">
            <a:avLst/>
          </a:prstGeom>
          <a:solidFill>
            <a:srgbClr val="E8F0EC"/>
          </a:solidFill>
          <a:ln w="12700">
            <a:solidFill>
              <a:srgbClr val="E8F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56032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 Operating Revenue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537960" y="256032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379208" y="256032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366M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229600" y="256032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1.16B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052560" y="256032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4.02B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80560" y="3108960"/>
            <a:ext cx="4572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310896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Pension Levy (AUM add)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37960" y="310896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379208" y="310896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108M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229600" y="310896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360M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9052560" y="310896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1.2B+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480560" y="3657600"/>
            <a:ext cx="4572000" cy="530352"/>
          </a:xfrm>
          <a:prstGeom prst="rect">
            <a:avLst/>
          </a:prstGeom>
          <a:solidFill>
            <a:srgbClr val="F0F4F2"/>
          </a:solidFill>
          <a:ln w="12700">
            <a:solidFill>
              <a:srgbClr val="F0F4F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365760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SmartLife Flexi Deposits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537960" y="36576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45M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379208" y="36576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270M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8229600" y="36576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900M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052560" y="36576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3.2B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480560" y="4206240"/>
            <a:ext cx="4572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26280" y="420624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NSSF Members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37960" y="42062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379208" y="42062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8229600" y="42062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9052560" y="420624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500,000+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274320" y="384048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A3C34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274320" y="3931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UGX 4.2B+</a:t>
            </a:r>
            <a:endParaRPr lang="en-US" sz="3000" dirty="0"/>
          </a:p>
        </p:txBody>
      </p:sp>
      <p:sp>
        <p:nvSpPr>
          <p:cNvPr id="50" name="Text 47"/>
          <p:cNvSpPr/>
          <p:nvPr/>
        </p:nvSpPr>
        <p:spPr>
          <a:xfrm>
            <a:off x="274320" y="44348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NSSF revenue by Year 5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within 6 months of MOU signing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2011680" cy="3749040"/>
          </a:xfrm>
          <a:prstGeom prst="roundRect">
            <a:avLst>
              <a:gd name="adj" fmla="val 3636"/>
            </a:avLst>
          </a:prstGeom>
          <a:solidFill>
            <a:srgbClr val="22503F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234440"/>
            <a:ext cx="2011680" cy="6583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618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15087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51460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MOU signing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30449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Regulatory pre-engagement (CMA/URBRA/BoU)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35753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lister agreements signed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410565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NIN &amp; SFL API test live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68880" y="1234440"/>
            <a:ext cx="2011680" cy="3749040"/>
          </a:xfrm>
          <a:prstGeom prst="roundRect">
            <a:avLst>
              <a:gd name="adj" fmla="val 3636"/>
            </a:avLst>
          </a:prstGeom>
          <a:solidFill>
            <a:srgbClr val="296B4A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1234440"/>
            <a:ext cx="2011680" cy="6583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12618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5087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60320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 Launch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251460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estate + Agri + T-Bill assets live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60320" y="30449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NSSF auto-enrollment live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560320" y="35753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MTN &amp; Airtel MoMo integrated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60320" y="410565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payouts processed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1234440"/>
            <a:ext cx="2011680" cy="3749040"/>
          </a:xfrm>
          <a:prstGeom prst="roundRect">
            <a:avLst>
              <a:gd name="adj" fmla="val 3636"/>
            </a:avLst>
          </a:prstGeom>
          <a:solidFill>
            <a:srgbClr val="2F7A55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1234440"/>
            <a:ext cx="2011680" cy="6583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12618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17720" y="15087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9160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Expansion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09160" y="251460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Petroleum + FX + Stocks + Minerals live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0449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USSD channel for feature phones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09160" y="35753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NSSF Hisa branded product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09160" y="410565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UGX 1B+ NSSF revenue run-rate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66560" y="1234440"/>
            <a:ext cx="2011680" cy="3749040"/>
          </a:xfrm>
          <a:prstGeom prst="roundRect">
            <a:avLst>
              <a:gd name="adj" fmla="val 3636"/>
            </a:avLst>
          </a:prstGeom>
          <a:solidFill>
            <a:srgbClr val="336655"/>
          </a:solidFill>
          <a:ln w="12700">
            <a:solidFill>
              <a:srgbClr val="3366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0" y="1234440"/>
            <a:ext cx="2011680" cy="6583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12618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15087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18–36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0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Scale + JV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0" y="251460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9 asset classes live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58000" y="30449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500,000+ users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858000" y="35753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NSSF equity stake / JV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58000" y="410565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East Africa expansion scoped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C34"/>
          </a:solidFill>
          <a:ln w="12700">
            <a:solidFill>
              <a:srgbClr val="1A3C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&amp; PROPOSED NEXT STEPS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87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1554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infrastructure is ready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011680"/>
            <a:ext cx="2523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30M+ MoMo accounts. UGX 200T+ transacted annually. The rails exist today.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91440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987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37560" y="1554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proven by SmartLife Flexi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10128" y="2011680"/>
            <a:ext cx="2523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UGX 5B in 3 months with 70% micro-savers. Informal Uganda is ready to invest.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91440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987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NSSF's 2035 clock is running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6208" y="2011680"/>
            <a:ext cx="2523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300,000 new members/year needed for 9 years. OwnIt's auto-enrollment is the only scalable path.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8595360" cy="2011680"/>
          </a:xfrm>
          <a:prstGeom prst="roundRect">
            <a:avLst>
              <a:gd name="adj" fmla="val 3636"/>
            </a:avLst>
          </a:prstGeom>
          <a:solidFill>
            <a:srgbClr val="1A3C34"/>
          </a:solidFill>
          <a:ln/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29992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NEXT STEPS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3474720"/>
            <a:ext cx="347472" cy="347472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34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0392" y="342900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live OwnIt product demo for leadership team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0392" y="384962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3474720"/>
            <a:ext cx="347472" cy="347472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34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93792" y="342900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Joint Working Group (2 NSSF + 2 OwnIt) to review API, legal, and SFL integration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93792" y="384962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2–6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1480" y="4114800"/>
            <a:ext cx="347472" cy="347472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34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0392" y="406908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non-binding MOU formalising Tier 1 partnership — no capital required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0392" y="448970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6–10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4114800"/>
            <a:ext cx="347472" cy="347472"/>
          </a:xfrm>
          <a:prstGeom prst="ellipse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34"/>
                </a:solidFill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93792" y="406908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platform launch with NSSF co-brand, first 3 asset listings, auto-enrollment live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93792" y="448970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4–6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OwnIt Uganda Ltd.  |  info@ownituganda.com  |  www.ownituganda.com  |  Kampala, Uganda  |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OwnIt Uganda — Investor Pitch</dc:title>
  <dc:subject>PptxGenJS Presentation</dc:subject>
  <dc:creator>PptxGenJS</dc:creator>
  <cp:lastModifiedBy>PptxGenJS</cp:lastModifiedBy>
  <cp:revision>1</cp:revision>
  <dcterms:created xsi:type="dcterms:W3CDTF">2026-06-27T16:01:17Z</dcterms:created>
  <dcterms:modified xsi:type="dcterms:W3CDTF">2026-06-27T16:01:17Z</dcterms:modified>
</cp:coreProperties>
</file>
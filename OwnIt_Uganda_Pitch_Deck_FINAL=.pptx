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Gross Platform Revenue (UGX M)</c:v>
                </c:pt>
              </c:strCache>
            </c:strRef>
          </c:tx>
          <c:spPr>
            <a:solidFill>
              <a:srgbClr val="1A7A4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0D1F15"/>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Yr1</c:v>
                </c:pt>
                <c:pt idx="1">
                  <c:v>Yr2</c:v>
                </c:pt>
                <c:pt idx="2">
                  <c:v>Yr3</c:v>
                </c:pt>
                <c:pt idx="3">
                  <c:v>Yr4</c:v>
                </c:pt>
                <c:pt idx="4">
                  <c:v>Yr5</c:v>
                </c:pt>
              </c:strCache>
            </c:strRef>
          </c:cat>
          <c:val>
            <c:numRef>
              <c:f>Sheet1!$B$2:$B$6</c:f>
              <c:numCache>
                <c:formatCode>General</c:formatCode>
                <c:ptCount val="5"/>
                <c:pt idx="0">
                  <c:v>130</c:v>
                </c:pt>
                <c:pt idx="1">
                  <c:v>780</c:v>
                </c:pt>
                <c:pt idx="2">
                  <c:v>2600</c:v>
                </c:pt>
                <c:pt idx="3">
                  <c:v>5800</c:v>
                </c:pt>
                <c:pt idx="4">
                  <c:v>10500</c:v>
                </c:pt>
              </c:numCache>
            </c:numRef>
          </c:val>
        </c:ser>
        <c:ser>
          <c:idx val="1"/>
          <c:order val="1"/>
          <c:tx>
            <c:strRef>
              <c:f>Sheet1!$C$1</c:f>
              <c:strCache>
                <c:ptCount val="1"/>
                <c:pt idx="0">
                  <c:v>NSSF Operating Revenue (UGX M)</c:v>
                </c:pt>
              </c:strCache>
            </c:strRef>
          </c:tx>
          <c:spPr>
            <a:solidFill>
              <a:srgbClr val="028090"/>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0D1F15"/>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Yr1</c:v>
                </c:pt>
                <c:pt idx="1">
                  <c:v>Yr2</c:v>
                </c:pt>
                <c:pt idx="2">
                  <c:v>Yr3</c:v>
                </c:pt>
                <c:pt idx="3">
                  <c:v>Yr4</c:v>
                </c:pt>
                <c:pt idx="4">
                  <c:v>Yr5</c:v>
                </c:pt>
              </c:strCache>
            </c:strRef>
          </c:cat>
          <c:val>
            <c:numRef>
              <c:f>Sheet1!$C$2:$C$6</c:f>
              <c:numCache>
                <c:formatCode>General</c:formatCode>
                <c:ptCount val="5"/>
                <c:pt idx="0">
                  <c:v>69</c:v>
                </c:pt>
                <c:pt idx="1">
                  <c:v>366</c:v>
                </c:pt>
                <c:pt idx="2">
                  <c:v>1160</c:v>
                </c:pt>
                <c:pt idx="3">
                  <c:v>2600</c:v>
                </c:pt>
                <c:pt idx="4">
                  <c:v>4020</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5A7A6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12700" cap="flat" cmpd="sng" algn="ctr">
              <a:solidFill>
                <a:srgbClr val="888888"/>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5A7A68"/>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40f448b6-d073-4b3b-9025-b52595dad57c}"/>
      </c:ext>
    </c:extLst>
  </c:chart>
  <c:spPr>
    <a:solidFill>
      <a:srgbClr val="F4F9F5"/>
    </a:solid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4D2B"/>
        </a:solidFill>
        <a:effectLst/>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1A7A45"/>
          </a:solidFill>
        </p:spPr>
      </p:sp>
      <p:sp>
        <p:nvSpPr>
          <p:cNvPr id="3" name="Shape 1"/>
          <p:cNvSpPr/>
          <p:nvPr/>
        </p:nvSpPr>
        <p:spPr>
          <a:xfrm>
            <a:off x="-548640" y="-548640"/>
            <a:ext cx="2377440" cy="2377440"/>
          </a:xfrm>
          <a:prstGeom prst="ellipse">
            <a:avLst/>
          </a:prstGeom>
          <a:solidFill>
            <a:srgbClr val="FFFFFF">
              <a:alpha val="8000"/>
            </a:srgbClr>
          </a:solidFill>
          <a:ln w="12700">
            <a:solidFill>
              <a:srgbClr val="FFFFFF">
                <a:alpha val="8000"/>
              </a:srgbClr>
            </a:solidFill>
            <a:prstDash val="solid"/>
          </a:ln>
        </p:spPr>
      </p:sp>
      <p:sp>
        <p:nvSpPr>
          <p:cNvPr id="4" name="Shape 2"/>
          <p:cNvSpPr/>
          <p:nvPr/>
        </p:nvSpPr>
        <p:spPr>
          <a:xfrm>
            <a:off x="1920240" y="3291840"/>
            <a:ext cx="3108960" cy="3108960"/>
          </a:xfrm>
          <a:prstGeom prst="ellipse">
            <a:avLst/>
          </a:prstGeom>
          <a:solidFill>
            <a:srgbClr val="FFFFFF">
              <a:alpha val="6000"/>
            </a:srgbClr>
          </a:solidFill>
          <a:ln w="12700">
            <a:solidFill>
              <a:srgbClr val="FFFFFF">
                <a:alpha val="6000"/>
              </a:srgbClr>
            </a:solidFill>
            <a:prstDash val="solid"/>
          </a:ln>
        </p:spPr>
      </p:sp>
      <p:sp>
        <p:nvSpPr>
          <p:cNvPr id="5" name="Text 3"/>
          <p:cNvSpPr/>
          <p:nvPr/>
        </p:nvSpPr>
        <p:spPr>
          <a:xfrm>
            <a:off x="320040" y="365760"/>
            <a:ext cx="3108960" cy="868680"/>
          </a:xfrm>
          <a:prstGeom prst="rect">
            <a:avLst/>
          </a:prstGeom>
          <a:noFill/>
        </p:spPr>
        <p:txBody>
          <a:bodyPr wrap="square" rtlCol="0" anchor="ctr"/>
          <a:lstStyle/>
          <a:p>
            <a:pPr marL="0" indent="0">
              <a:buNone/>
            </a:pPr>
            <a:r>
              <a:rPr lang="en-US" sz="5200" b="1" dirty="0">
                <a:solidFill>
                  <a:srgbClr val="FFFFFF"/>
                </a:solidFill>
                <a:latin typeface="Georgia" panose="02040502050405020303" pitchFamily="34" charset="0"/>
                <a:ea typeface="Georgia" panose="02040502050405020303" pitchFamily="34" charset="-122"/>
                <a:cs typeface="Georgia" panose="02040502050405020303" pitchFamily="34" charset="-120"/>
              </a:rPr>
              <a:t>OwnIt</a:t>
            </a:r>
            <a:endParaRPr lang="en-US" sz="5200" dirty="0"/>
          </a:p>
        </p:txBody>
      </p:sp>
      <p:sp>
        <p:nvSpPr>
          <p:cNvPr id="6" name="Text 4"/>
          <p:cNvSpPr/>
          <p:nvPr/>
        </p:nvSpPr>
        <p:spPr>
          <a:xfrm>
            <a:off x="320040" y="1207008"/>
            <a:ext cx="3108960" cy="365760"/>
          </a:xfrm>
          <a:prstGeom prst="rect">
            <a:avLst/>
          </a:prstGeom>
          <a:noFill/>
        </p:spPr>
        <p:txBody>
          <a:bodyPr wrap="square" rtlCol="0" anchor="ctr"/>
          <a:lstStyle/>
          <a:p>
            <a:pPr marL="0" indent="0">
              <a:buNone/>
            </a:pPr>
            <a:r>
              <a:rPr lang="en-US" sz="1400" b="1" kern="0" spc="600" dirty="0">
                <a:solidFill>
                  <a:srgbClr val="D4EFE0"/>
                </a:solidFill>
              </a:rPr>
              <a:t>UGANDA</a:t>
            </a:r>
            <a:endParaRPr lang="en-US" sz="1400" dirty="0"/>
          </a:p>
        </p:txBody>
      </p:sp>
      <p:sp>
        <p:nvSpPr>
          <p:cNvPr id="7" name="Shape 5"/>
          <p:cNvSpPr/>
          <p:nvPr/>
        </p:nvSpPr>
        <p:spPr>
          <a:xfrm>
            <a:off x="320040" y="1737360"/>
            <a:ext cx="3108960" cy="384048"/>
          </a:xfrm>
          <a:prstGeom prst="rect">
            <a:avLst/>
          </a:prstGeom>
          <a:solidFill>
            <a:srgbClr val="C17F00"/>
          </a:solidFill>
        </p:spPr>
      </p:sp>
      <p:sp>
        <p:nvSpPr>
          <p:cNvPr id="8" name="Text 6"/>
          <p:cNvSpPr/>
          <p:nvPr/>
        </p:nvSpPr>
        <p:spPr>
          <a:xfrm>
            <a:off x="320040" y="1737360"/>
            <a:ext cx="3108960" cy="384048"/>
          </a:xfrm>
          <a:prstGeom prst="rect">
            <a:avLst/>
          </a:prstGeom>
          <a:noFill/>
        </p:spPr>
        <p:txBody>
          <a:bodyPr wrap="square" rtlCol="0" anchor="ctr"/>
          <a:lstStyle/>
          <a:p>
            <a:pPr marL="0" indent="0" algn="ctr">
              <a:buNone/>
            </a:pPr>
            <a:r>
              <a:rPr lang="en-US" sz="950" b="1" dirty="0">
                <a:solidFill>
                  <a:srgbClr val="FFFFFF"/>
                </a:solidFill>
              </a:rPr>
              <a:t>Uganda's First Multi-Asset Crowd-Investment Platform</a:t>
            </a:r>
            <a:endParaRPr lang="en-US" sz="950" dirty="0"/>
          </a:p>
        </p:txBody>
      </p:sp>
      <p:sp>
        <p:nvSpPr>
          <p:cNvPr id="9" name="Text 7"/>
          <p:cNvSpPr/>
          <p:nvPr/>
        </p:nvSpPr>
        <p:spPr>
          <a:xfrm>
            <a:off x="347472" y="2286000"/>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399032" y="2286000"/>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2450592" y="2286000"/>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347472" y="2852928"/>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3" name="Text 11"/>
          <p:cNvSpPr/>
          <p:nvPr/>
        </p:nvSpPr>
        <p:spPr>
          <a:xfrm>
            <a:off x="1399032" y="2852928"/>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2450592" y="2852928"/>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347472" y="3419856"/>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1399032" y="3419856"/>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2450592" y="3419856"/>
            <a:ext cx="9601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320040" y="4025138"/>
            <a:ext cx="3108960" cy="274320"/>
          </a:xfrm>
          <a:prstGeom prst="rect">
            <a:avLst/>
          </a:prstGeom>
          <a:noFill/>
        </p:spPr>
        <p:txBody>
          <a:bodyPr wrap="square" rtlCol="0" anchor="ctr"/>
          <a:lstStyle/>
          <a:p>
            <a:pPr marL="0" indent="0" algn="ctr">
              <a:buNone/>
            </a:pPr>
            <a:r>
              <a:rPr lang="en-US" sz="900" i="1" dirty="0">
                <a:solidFill>
                  <a:srgbClr val="D4EFE0"/>
                </a:solidFill>
              </a:rPr>
              <a:t>10 Asset Classes · 1 Platform · UGX 50,000 Minimum</a:t>
            </a:r>
            <a:endParaRPr lang="en-US" sz="900" dirty="0"/>
          </a:p>
        </p:txBody>
      </p:sp>
      <p:sp>
        <p:nvSpPr>
          <p:cNvPr id="19" name="Text 17"/>
          <p:cNvSpPr/>
          <p:nvPr/>
        </p:nvSpPr>
        <p:spPr>
          <a:xfrm>
            <a:off x="3977640" y="411480"/>
            <a:ext cx="4937760" cy="1600200"/>
          </a:xfrm>
          <a:prstGeom prst="rect">
            <a:avLst/>
          </a:prstGeom>
          <a:noFill/>
        </p:spPr>
        <p:txBody>
          <a:bodyPr wrap="square" rtlCol="0" anchor="ctr"/>
          <a:lstStyle/>
          <a:p>
            <a:pPr marL="0" indent="0">
              <a:buNone/>
            </a:pPr>
            <a:r>
              <a:rPr lang="en-US" sz="3200" b="1" dirty="0">
                <a:solidFill>
                  <a:srgbClr val="FFFFFF"/>
                </a:solidFill>
                <a:latin typeface="Georgia" panose="02040502050405020303" pitchFamily="34" charset="0"/>
                <a:ea typeface="Georgia" panose="02040502050405020303" pitchFamily="34" charset="-122"/>
                <a:cs typeface="Georgia" panose="02040502050405020303" pitchFamily="34" charset="-120"/>
              </a:rPr>
              <a:t>Own a Piece of Everything.</a:t>
            </a:r>
            <a:endParaRPr lang="en-US" sz="3200" dirty="0"/>
          </a:p>
          <a:p>
            <a:pPr marL="0" indent="0">
              <a:buNone/>
            </a:pPr>
            <a:r>
              <a:rPr lang="en-US" sz="3200" b="1" dirty="0">
                <a:solidFill>
                  <a:srgbClr val="FFFFFF"/>
                </a:solidFill>
                <a:latin typeface="Georgia" panose="02040502050405020303" pitchFamily="34" charset="0"/>
                <a:ea typeface="Georgia" panose="02040502050405020303" pitchFamily="34" charset="-122"/>
                <a:cs typeface="Georgia" panose="02040502050405020303" pitchFamily="34" charset="-120"/>
              </a:rPr>
              <a:t>Start with UGX 50,000.</a:t>
            </a:r>
            <a:endParaRPr lang="en-US" sz="3200" dirty="0"/>
          </a:p>
        </p:txBody>
      </p:sp>
      <p:sp>
        <p:nvSpPr>
          <p:cNvPr id="20" name="Text 18"/>
          <p:cNvSpPr/>
          <p:nvPr/>
        </p:nvSpPr>
        <p:spPr>
          <a:xfrm>
            <a:off x="3977640" y="2148967"/>
            <a:ext cx="4937760" cy="1115568"/>
          </a:xfrm>
          <a:prstGeom prst="rect">
            <a:avLst/>
          </a:prstGeom>
          <a:noFill/>
        </p:spPr>
        <p:txBody>
          <a:bodyPr wrap="square" rtlCol="0" anchor="ctr"/>
          <a:lstStyle/>
          <a:p>
            <a:pPr marL="0" indent="0">
              <a:buNone/>
            </a:pPr>
            <a:r>
              <a:rPr lang="en-US" sz="1200" dirty="0">
                <a:solidFill>
                  <a:srgbClr val="D4EFE0"/>
                </a:solidFill>
              </a:rPr>
              <a:t>OwnIt Uganda is the country's first regulated multi-asset crowd-investment marketplace — allowing any Ugandan with a mobile phone to invest fractionally in real estate, petroleum tanker trades, agri-export lots, T-bills, FX, minerals, stocks, SME equity, and crowd loans. Every user is automatically enrolled as an NSSF member from Day 1.</a:t>
            </a:r>
            <a:endParaRPr lang="en-US" sz="1200" dirty="0"/>
          </a:p>
        </p:txBody>
      </p:sp>
      <p:sp>
        <p:nvSpPr>
          <p:cNvPr id="21" name="Shape 19"/>
          <p:cNvSpPr/>
          <p:nvPr/>
        </p:nvSpPr>
        <p:spPr>
          <a:xfrm>
            <a:off x="3977640" y="3401568"/>
            <a:ext cx="2359152" cy="868680"/>
          </a:xfrm>
          <a:prstGeom prst="rect">
            <a:avLst/>
          </a:prstGeom>
          <a:solidFill>
            <a:srgbClr val="0F4D2B"/>
          </a:solidFill>
        </p:spPr>
      </p:sp>
      <p:sp>
        <p:nvSpPr>
          <p:cNvPr id="22" name="Text 20"/>
          <p:cNvSpPr/>
          <p:nvPr/>
        </p:nvSpPr>
        <p:spPr>
          <a:xfrm>
            <a:off x="3977640" y="3447288"/>
            <a:ext cx="2359152" cy="475488"/>
          </a:xfrm>
          <a:prstGeom prst="rect">
            <a:avLst/>
          </a:prstGeom>
          <a:noFill/>
        </p:spPr>
        <p:txBody>
          <a:bodyPr wrap="square" rtlCol="0" anchor="ctr"/>
          <a:lstStyle/>
          <a:p>
            <a:pPr marL="0" indent="0" algn="ctr">
              <a:buNone/>
            </a:pPr>
            <a:r>
              <a:rPr lang="en-US" sz="2200" b="1" dirty="0">
                <a:solidFill>
                  <a:srgbClr val="C17F00"/>
                </a:solidFill>
                <a:latin typeface="Georgia" panose="02040502050405020303" pitchFamily="34" charset="0"/>
                <a:ea typeface="Georgia" panose="02040502050405020303" pitchFamily="34" charset="-122"/>
                <a:cs typeface="Georgia" panose="02040502050405020303" pitchFamily="34" charset="-120"/>
              </a:rPr>
              <a:t>10</a:t>
            </a:r>
            <a:endParaRPr lang="en-US" sz="2200" dirty="0"/>
          </a:p>
        </p:txBody>
      </p:sp>
      <p:sp>
        <p:nvSpPr>
          <p:cNvPr id="23" name="Text 21"/>
          <p:cNvSpPr/>
          <p:nvPr/>
        </p:nvSpPr>
        <p:spPr>
          <a:xfrm>
            <a:off x="3977640" y="3950208"/>
            <a:ext cx="2359152" cy="274320"/>
          </a:xfrm>
          <a:prstGeom prst="rect">
            <a:avLst/>
          </a:prstGeom>
          <a:noFill/>
        </p:spPr>
        <p:txBody>
          <a:bodyPr wrap="square" rtlCol="0" anchor="ctr"/>
          <a:lstStyle/>
          <a:p>
            <a:pPr marL="0" indent="0" algn="ctr">
              <a:buNone/>
            </a:pPr>
            <a:r>
              <a:rPr lang="en-US" sz="1000" dirty="0">
                <a:solidFill>
                  <a:srgbClr val="D4EFE0"/>
                </a:solidFill>
              </a:rPr>
              <a:t>Asset Classes</a:t>
            </a:r>
            <a:endParaRPr lang="en-US" sz="1000" dirty="0"/>
          </a:p>
        </p:txBody>
      </p:sp>
      <p:sp>
        <p:nvSpPr>
          <p:cNvPr id="24" name="Shape 22"/>
          <p:cNvSpPr/>
          <p:nvPr/>
        </p:nvSpPr>
        <p:spPr>
          <a:xfrm>
            <a:off x="6464808" y="3401568"/>
            <a:ext cx="2359152" cy="868680"/>
          </a:xfrm>
          <a:prstGeom prst="rect">
            <a:avLst/>
          </a:prstGeom>
          <a:solidFill>
            <a:srgbClr val="0F4D2B"/>
          </a:solidFill>
        </p:spPr>
      </p:sp>
      <p:sp>
        <p:nvSpPr>
          <p:cNvPr id="25" name="Text 23"/>
          <p:cNvSpPr/>
          <p:nvPr/>
        </p:nvSpPr>
        <p:spPr>
          <a:xfrm>
            <a:off x="6464808" y="3447288"/>
            <a:ext cx="2359152" cy="475488"/>
          </a:xfrm>
          <a:prstGeom prst="rect">
            <a:avLst/>
          </a:prstGeom>
          <a:noFill/>
        </p:spPr>
        <p:txBody>
          <a:bodyPr wrap="square" rtlCol="0" anchor="ctr"/>
          <a:lstStyle/>
          <a:p>
            <a:pPr marL="0" indent="0" algn="ctr">
              <a:buNone/>
            </a:pPr>
            <a:r>
              <a:rPr lang="en-US" sz="2200" b="1" dirty="0">
                <a:solidFill>
                  <a:srgbClr val="C17F00"/>
                </a:solidFill>
                <a:latin typeface="Georgia" panose="02040502050405020303" pitchFamily="34" charset="0"/>
                <a:ea typeface="Georgia" panose="02040502050405020303" pitchFamily="34" charset="-122"/>
                <a:cs typeface="Georgia" panose="02040502050405020303" pitchFamily="34" charset="-120"/>
              </a:rPr>
              <a:t>UGX 50K</a:t>
            </a:r>
            <a:endParaRPr lang="en-US" sz="2200" dirty="0"/>
          </a:p>
        </p:txBody>
      </p:sp>
      <p:sp>
        <p:nvSpPr>
          <p:cNvPr id="26" name="Text 24"/>
          <p:cNvSpPr/>
          <p:nvPr/>
        </p:nvSpPr>
        <p:spPr>
          <a:xfrm>
            <a:off x="6464808" y="3950208"/>
            <a:ext cx="2359152" cy="274320"/>
          </a:xfrm>
          <a:prstGeom prst="rect">
            <a:avLst/>
          </a:prstGeom>
          <a:noFill/>
        </p:spPr>
        <p:txBody>
          <a:bodyPr wrap="square" rtlCol="0" anchor="ctr"/>
          <a:lstStyle/>
          <a:p>
            <a:pPr marL="0" indent="0" algn="ctr">
              <a:buNone/>
            </a:pPr>
            <a:r>
              <a:rPr lang="en-US" sz="1000" dirty="0">
                <a:solidFill>
                  <a:srgbClr val="D4EFE0"/>
                </a:solidFill>
              </a:rPr>
              <a:t>Min. Investment</a:t>
            </a:r>
            <a:endParaRPr lang="en-US" sz="1000" dirty="0"/>
          </a:p>
        </p:txBody>
      </p:sp>
      <p:sp>
        <p:nvSpPr>
          <p:cNvPr id="27" name="Shape 25"/>
          <p:cNvSpPr/>
          <p:nvPr/>
        </p:nvSpPr>
        <p:spPr>
          <a:xfrm>
            <a:off x="3977640" y="4361688"/>
            <a:ext cx="2359152" cy="868680"/>
          </a:xfrm>
          <a:prstGeom prst="rect">
            <a:avLst/>
          </a:prstGeom>
          <a:solidFill>
            <a:srgbClr val="0F4D2B"/>
          </a:solidFill>
        </p:spPr>
      </p:sp>
      <p:sp>
        <p:nvSpPr>
          <p:cNvPr id="28" name="Text 26"/>
          <p:cNvSpPr/>
          <p:nvPr/>
        </p:nvSpPr>
        <p:spPr>
          <a:xfrm>
            <a:off x="3977640" y="4407408"/>
            <a:ext cx="2359152" cy="475488"/>
          </a:xfrm>
          <a:prstGeom prst="rect">
            <a:avLst/>
          </a:prstGeom>
          <a:noFill/>
        </p:spPr>
        <p:txBody>
          <a:bodyPr wrap="square" rtlCol="0" anchor="ctr"/>
          <a:lstStyle/>
          <a:p>
            <a:pPr marL="0" indent="0" algn="ctr">
              <a:buNone/>
            </a:pPr>
            <a:r>
              <a:rPr lang="en-US" sz="2200" b="1" dirty="0">
                <a:solidFill>
                  <a:srgbClr val="C17F00"/>
                </a:solidFill>
                <a:latin typeface="Georgia" panose="02040502050405020303" pitchFamily="34" charset="0"/>
                <a:ea typeface="Georgia" panose="02040502050405020303" pitchFamily="34" charset="-122"/>
                <a:cs typeface="Georgia" panose="02040502050405020303" pitchFamily="34" charset="-120"/>
              </a:rPr>
              <a:t>NSSF</a:t>
            </a:r>
            <a:endParaRPr lang="en-US" sz="2200" dirty="0"/>
          </a:p>
        </p:txBody>
      </p:sp>
      <p:sp>
        <p:nvSpPr>
          <p:cNvPr id="29" name="Text 27"/>
          <p:cNvSpPr/>
          <p:nvPr/>
        </p:nvSpPr>
        <p:spPr>
          <a:xfrm>
            <a:off x="3977640" y="4869053"/>
            <a:ext cx="2359152" cy="274320"/>
          </a:xfrm>
          <a:prstGeom prst="rect">
            <a:avLst/>
          </a:prstGeom>
          <a:noFill/>
        </p:spPr>
        <p:txBody>
          <a:bodyPr wrap="square" rtlCol="0" anchor="ctr"/>
          <a:lstStyle/>
          <a:p>
            <a:pPr marL="0" indent="0" algn="ctr">
              <a:buNone/>
            </a:pPr>
            <a:r>
              <a:rPr lang="en-US" sz="1000" dirty="0">
                <a:solidFill>
                  <a:srgbClr val="D4EFE0"/>
                </a:solidFill>
              </a:rPr>
              <a:t>Auto-Enrolment</a:t>
            </a:r>
            <a:endParaRPr lang="en-US" sz="1000" dirty="0"/>
          </a:p>
        </p:txBody>
      </p:sp>
      <p:sp>
        <p:nvSpPr>
          <p:cNvPr id="30" name="Shape 28"/>
          <p:cNvSpPr/>
          <p:nvPr/>
        </p:nvSpPr>
        <p:spPr>
          <a:xfrm>
            <a:off x="6464808" y="4361688"/>
            <a:ext cx="2359152" cy="868680"/>
          </a:xfrm>
          <a:prstGeom prst="rect">
            <a:avLst/>
          </a:prstGeom>
          <a:solidFill>
            <a:srgbClr val="0F4D2B"/>
          </a:solidFill>
        </p:spPr>
      </p:sp>
      <p:sp>
        <p:nvSpPr>
          <p:cNvPr id="31" name="Text 29"/>
          <p:cNvSpPr/>
          <p:nvPr/>
        </p:nvSpPr>
        <p:spPr>
          <a:xfrm>
            <a:off x="6464808" y="4407408"/>
            <a:ext cx="2359152" cy="475488"/>
          </a:xfrm>
          <a:prstGeom prst="rect">
            <a:avLst/>
          </a:prstGeom>
          <a:noFill/>
        </p:spPr>
        <p:txBody>
          <a:bodyPr wrap="square" rtlCol="0" anchor="ctr"/>
          <a:lstStyle/>
          <a:p>
            <a:pPr marL="0" indent="0" algn="ctr">
              <a:buNone/>
            </a:pPr>
            <a:r>
              <a:rPr lang="en-US" sz="2200" b="1" dirty="0">
                <a:solidFill>
                  <a:srgbClr val="C17F00"/>
                </a:solidFill>
                <a:latin typeface="Georgia" panose="02040502050405020303" pitchFamily="34" charset="0"/>
                <a:ea typeface="Georgia" panose="02040502050405020303" pitchFamily="34" charset="-122"/>
                <a:cs typeface="Georgia" panose="02040502050405020303" pitchFamily="34" charset="-120"/>
              </a:rPr>
              <a:t>500K</a:t>
            </a:r>
            <a:endParaRPr lang="en-US" sz="2200" dirty="0"/>
          </a:p>
        </p:txBody>
      </p:sp>
      <p:sp>
        <p:nvSpPr>
          <p:cNvPr id="32" name="Text 30"/>
          <p:cNvSpPr/>
          <p:nvPr/>
        </p:nvSpPr>
        <p:spPr>
          <a:xfrm>
            <a:off x="6464808" y="4869053"/>
            <a:ext cx="2359152" cy="274320"/>
          </a:xfrm>
          <a:prstGeom prst="rect">
            <a:avLst/>
          </a:prstGeom>
          <a:noFill/>
        </p:spPr>
        <p:txBody>
          <a:bodyPr wrap="square" rtlCol="0" anchor="ctr"/>
          <a:lstStyle/>
          <a:p>
            <a:pPr marL="0" indent="0" algn="ctr">
              <a:buNone/>
            </a:pPr>
            <a:r>
              <a:rPr lang="en-US" sz="1000" dirty="0">
                <a:solidFill>
                  <a:srgbClr val="D4EFE0"/>
                </a:solidFill>
              </a:rPr>
              <a:t>Users by 2031</a:t>
            </a:r>
            <a:endParaRPr lang="en-US" sz="1000" dirty="0"/>
          </a:p>
        </p:txBody>
      </p:sp>
      <p:sp>
        <p:nvSpPr>
          <p:cNvPr id="33" name="Text 31"/>
          <p:cNvSpPr/>
          <p:nvPr/>
        </p:nvSpPr>
        <p:spPr>
          <a:xfrm>
            <a:off x="320040" y="4299585"/>
            <a:ext cx="3416935" cy="742315"/>
          </a:xfrm>
          <a:prstGeom prst="rect">
            <a:avLst/>
          </a:prstGeom>
          <a:noFill/>
        </p:spPr>
        <p:txBody>
          <a:bodyPr wrap="square" rtlCol="0" anchor="ctr"/>
          <a:lstStyle/>
          <a:p>
            <a:pPr marL="0" indent="0">
              <a:buNone/>
            </a:pPr>
            <a:r>
              <a:rPr lang="en-US" sz="850" kern="0" spc="150" dirty="0">
                <a:solidFill>
                  <a:srgbClr val="D4EFE0"/>
                </a:solidFill>
              </a:rPr>
              <a:t>INVESTOR &amp; NSSF PARTNERSHIP PITCH DECK  ·  SERIES SEED  ·  2026  ·  STRICTLY CONFIDENTIAL</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THE PROBLEM</a:t>
            </a:r>
            <a:endParaRPr lang="en-US" sz="1100" dirty="0"/>
          </a:p>
        </p:txBody>
      </p:sp>
      <p:sp>
        <p:nvSpPr>
          <p:cNvPr id="4" name="Text 2"/>
          <p:cNvSpPr/>
          <p:nvPr/>
        </p:nvSpPr>
        <p:spPr>
          <a:xfrm>
            <a:off x="457200" y="749808"/>
            <a:ext cx="8229600" cy="658368"/>
          </a:xfrm>
          <a:prstGeom prst="rect">
            <a:avLst/>
          </a:prstGeom>
          <a:noFill/>
        </p:spPr>
        <p:txBody>
          <a:bodyPr wrap="square" rtlCol="0" anchor="ctr"/>
          <a:lstStyle/>
          <a:p>
            <a:pPr marL="0" indent="0">
              <a:buNone/>
            </a:pPr>
            <a:r>
              <a:rPr lang="en-US" sz="2400" b="1" dirty="0">
                <a:solidFill>
                  <a:srgbClr val="0D1F15"/>
                </a:solidFill>
                <a:latin typeface="Georgia" panose="02040502050405020303" pitchFamily="34" charset="0"/>
                <a:ea typeface="Georgia" panose="02040502050405020303" pitchFamily="34" charset="-122"/>
                <a:cs typeface="Georgia" panose="02040502050405020303" pitchFamily="34" charset="-120"/>
              </a:rPr>
              <a:t>Ugandans — especially Gen Z — are locked out of every major wealth-building asset class.</a:t>
            </a:r>
            <a:endParaRPr lang="en-US" sz="2400" dirty="0"/>
          </a:p>
        </p:txBody>
      </p:sp>
      <p:sp>
        <p:nvSpPr>
          <p:cNvPr id="5" name="Shape 3"/>
          <p:cNvSpPr/>
          <p:nvPr/>
        </p:nvSpPr>
        <p:spPr>
          <a:xfrm>
            <a:off x="320040" y="1508760"/>
            <a:ext cx="4160520" cy="841248"/>
          </a:xfrm>
          <a:prstGeom prst="rect">
            <a:avLst/>
          </a:prstGeom>
          <a:solidFill>
            <a:srgbClr val="F4F9F5"/>
          </a:solidFill>
          <a:effectLst>
            <a:outerShdw blurRad="101600" dist="38100" dir="8100000" algn="bl" rotWithShape="0">
              <a:srgbClr val="000000">
                <a:alpha val="12000"/>
              </a:srgbClr>
            </a:outerShdw>
          </a:effectLst>
        </p:spPr>
      </p:sp>
      <p:sp>
        <p:nvSpPr>
          <p:cNvPr id="6" name="Shape 4"/>
          <p:cNvSpPr/>
          <p:nvPr/>
        </p:nvSpPr>
        <p:spPr>
          <a:xfrm>
            <a:off x="320040" y="1508760"/>
            <a:ext cx="64008" cy="841248"/>
          </a:xfrm>
          <a:prstGeom prst="rect">
            <a:avLst/>
          </a:prstGeom>
          <a:solidFill>
            <a:srgbClr val="990011"/>
          </a:solidFill>
        </p:spPr>
      </p:sp>
      <p:sp>
        <p:nvSpPr>
          <p:cNvPr id="7" name="Text 5"/>
          <p:cNvSpPr/>
          <p:nvPr/>
        </p:nvSpPr>
        <p:spPr>
          <a:xfrm>
            <a:off x="502920" y="1581912"/>
            <a:ext cx="1280160" cy="548640"/>
          </a:xfrm>
          <a:prstGeom prst="rect">
            <a:avLst/>
          </a:prstGeom>
          <a:noFill/>
        </p:spPr>
        <p:txBody>
          <a:bodyPr wrap="square" rtlCol="0" anchor="ctr"/>
          <a:lstStyle/>
          <a:p>
            <a:pPr marL="0" indent="0">
              <a:buNone/>
            </a:pPr>
            <a:r>
              <a:rPr lang="en-US" sz="2800" b="1" dirty="0">
                <a:solidFill>
                  <a:srgbClr val="990011"/>
                </a:solidFill>
                <a:latin typeface="Georgia" panose="02040502050405020303" pitchFamily="34" charset="0"/>
                <a:ea typeface="Georgia" panose="02040502050405020303" pitchFamily="34" charset="-122"/>
                <a:cs typeface="Georgia" panose="02040502050405020303" pitchFamily="34" charset="-120"/>
              </a:rPr>
              <a:t>80%+</a:t>
            </a:r>
            <a:endParaRPr lang="en-US" sz="2800" dirty="0"/>
          </a:p>
        </p:txBody>
      </p:sp>
      <p:sp>
        <p:nvSpPr>
          <p:cNvPr id="8" name="Text 6"/>
          <p:cNvSpPr/>
          <p:nvPr/>
        </p:nvSpPr>
        <p:spPr>
          <a:xfrm>
            <a:off x="1828800" y="1636776"/>
            <a:ext cx="2514600" cy="594360"/>
          </a:xfrm>
          <a:prstGeom prst="rect">
            <a:avLst/>
          </a:prstGeom>
          <a:noFill/>
        </p:spPr>
        <p:txBody>
          <a:bodyPr wrap="square" rtlCol="0" anchor="ctr"/>
          <a:lstStyle/>
          <a:p>
            <a:pPr marL="0" indent="0">
              <a:buNone/>
            </a:pPr>
            <a:r>
              <a:rPr lang="en-US" sz="1000" dirty="0">
                <a:solidFill>
                  <a:srgbClr val="0D1F15"/>
                </a:solidFill>
              </a:rPr>
              <a:t>Informal workforce — no payslip, no employer, no PAYE access</a:t>
            </a:r>
            <a:endParaRPr lang="en-US" sz="1000" dirty="0"/>
          </a:p>
        </p:txBody>
      </p:sp>
      <p:sp>
        <p:nvSpPr>
          <p:cNvPr id="9" name="Shape 7"/>
          <p:cNvSpPr/>
          <p:nvPr/>
        </p:nvSpPr>
        <p:spPr>
          <a:xfrm>
            <a:off x="4690872" y="1508760"/>
            <a:ext cx="4160520" cy="841248"/>
          </a:xfrm>
          <a:prstGeom prst="rect">
            <a:avLst/>
          </a:prstGeom>
          <a:solidFill>
            <a:srgbClr val="F4F9F5"/>
          </a:solidFill>
          <a:effectLst>
            <a:outerShdw blurRad="101600" dist="38100" dir="8100000" algn="bl" rotWithShape="0">
              <a:srgbClr val="000000">
                <a:alpha val="12000"/>
              </a:srgbClr>
            </a:outerShdw>
          </a:effectLst>
        </p:spPr>
      </p:sp>
      <p:sp>
        <p:nvSpPr>
          <p:cNvPr id="10" name="Shape 8"/>
          <p:cNvSpPr/>
          <p:nvPr/>
        </p:nvSpPr>
        <p:spPr>
          <a:xfrm>
            <a:off x="4690872" y="1508760"/>
            <a:ext cx="64008" cy="841248"/>
          </a:xfrm>
          <a:prstGeom prst="rect">
            <a:avLst/>
          </a:prstGeom>
          <a:solidFill>
            <a:srgbClr val="F59E0B"/>
          </a:solidFill>
        </p:spPr>
      </p:sp>
      <p:sp>
        <p:nvSpPr>
          <p:cNvPr id="11" name="Text 9"/>
          <p:cNvSpPr/>
          <p:nvPr/>
        </p:nvSpPr>
        <p:spPr>
          <a:xfrm>
            <a:off x="4690745" y="1527810"/>
            <a:ext cx="1710055" cy="703580"/>
          </a:xfrm>
          <a:prstGeom prst="rect">
            <a:avLst/>
          </a:prstGeom>
          <a:noFill/>
        </p:spPr>
        <p:txBody>
          <a:bodyPr wrap="square" rtlCol="0" anchor="ctr"/>
          <a:lstStyle/>
          <a:p>
            <a:pPr marL="0" indent="0">
              <a:buNone/>
            </a:pPr>
            <a:r>
              <a:rPr lang="en-US" sz="2800" b="1" dirty="0">
                <a:solidFill>
                  <a:srgbClr val="F59E0B"/>
                </a:solidFill>
                <a:latin typeface="Georgia" panose="02040502050405020303" pitchFamily="34" charset="0"/>
                <a:ea typeface="Georgia" panose="02040502050405020303" pitchFamily="34" charset="-122"/>
                <a:cs typeface="Georgia" panose="02040502050405020303" pitchFamily="34" charset="-120"/>
              </a:rPr>
              <a:t>60–65%</a:t>
            </a:r>
            <a:endParaRPr lang="en-US" sz="2800" dirty="0"/>
          </a:p>
        </p:txBody>
      </p:sp>
      <p:sp>
        <p:nvSpPr>
          <p:cNvPr id="12" name="Text 10"/>
          <p:cNvSpPr/>
          <p:nvPr/>
        </p:nvSpPr>
        <p:spPr>
          <a:xfrm>
            <a:off x="6258560" y="1637030"/>
            <a:ext cx="2455545" cy="594360"/>
          </a:xfrm>
          <a:prstGeom prst="rect">
            <a:avLst/>
          </a:prstGeom>
          <a:noFill/>
        </p:spPr>
        <p:txBody>
          <a:bodyPr wrap="square" rtlCol="0" anchor="ctr"/>
          <a:lstStyle/>
          <a:p>
            <a:pPr marL="0" indent="0">
              <a:buNone/>
            </a:pPr>
            <a:r>
              <a:rPr lang="en-US" sz="1000" dirty="0">
                <a:solidFill>
                  <a:srgbClr val="0D1F15"/>
                </a:solidFill>
              </a:rPr>
              <a:t>Youth unemployment — Gen Z locked out of formal investment products</a:t>
            </a:r>
            <a:endParaRPr lang="en-US" sz="1000" dirty="0"/>
          </a:p>
        </p:txBody>
      </p:sp>
      <p:sp>
        <p:nvSpPr>
          <p:cNvPr id="13" name="Shape 11"/>
          <p:cNvSpPr/>
          <p:nvPr/>
        </p:nvSpPr>
        <p:spPr>
          <a:xfrm>
            <a:off x="320040" y="2468880"/>
            <a:ext cx="4160520" cy="841248"/>
          </a:xfrm>
          <a:prstGeom prst="rect">
            <a:avLst/>
          </a:prstGeom>
          <a:solidFill>
            <a:srgbClr val="F4F9F5"/>
          </a:solidFill>
          <a:effectLst>
            <a:outerShdw blurRad="101600" dist="38100" dir="8100000" algn="bl" rotWithShape="0">
              <a:srgbClr val="000000">
                <a:alpha val="12000"/>
              </a:srgbClr>
            </a:outerShdw>
          </a:effectLst>
        </p:spPr>
      </p:sp>
      <p:sp>
        <p:nvSpPr>
          <p:cNvPr id="14" name="Shape 12"/>
          <p:cNvSpPr/>
          <p:nvPr/>
        </p:nvSpPr>
        <p:spPr>
          <a:xfrm>
            <a:off x="320040" y="2468880"/>
            <a:ext cx="64008" cy="841248"/>
          </a:xfrm>
          <a:prstGeom prst="rect">
            <a:avLst/>
          </a:prstGeom>
          <a:solidFill>
            <a:srgbClr val="1E2761"/>
          </a:solidFill>
        </p:spPr>
      </p:sp>
      <p:sp>
        <p:nvSpPr>
          <p:cNvPr id="15" name="Text 13"/>
          <p:cNvSpPr/>
          <p:nvPr/>
        </p:nvSpPr>
        <p:spPr>
          <a:xfrm>
            <a:off x="502920" y="2542032"/>
            <a:ext cx="1280160" cy="548640"/>
          </a:xfrm>
          <a:prstGeom prst="rect">
            <a:avLst/>
          </a:prstGeom>
          <a:noFill/>
        </p:spPr>
        <p:txBody>
          <a:bodyPr wrap="square" rtlCol="0" anchor="ctr"/>
          <a:lstStyle/>
          <a:p>
            <a:pPr marL="0" indent="0">
              <a:buNone/>
            </a:pPr>
            <a:r>
              <a:rPr lang="en-US" sz="2800" b="1" dirty="0">
                <a:solidFill>
                  <a:srgbClr val="1E2761"/>
                </a:solidFill>
                <a:latin typeface="Georgia" panose="02040502050405020303" pitchFamily="34" charset="0"/>
                <a:ea typeface="Georgia" panose="02040502050405020303" pitchFamily="34" charset="-122"/>
                <a:cs typeface="Georgia" panose="02040502050405020303" pitchFamily="34" charset="-120"/>
              </a:rPr>
              <a:t>&lt;3%</a:t>
            </a:r>
            <a:endParaRPr lang="en-US" sz="2800" dirty="0"/>
          </a:p>
        </p:txBody>
      </p:sp>
      <p:sp>
        <p:nvSpPr>
          <p:cNvPr id="16" name="Text 14"/>
          <p:cNvSpPr/>
          <p:nvPr/>
        </p:nvSpPr>
        <p:spPr>
          <a:xfrm>
            <a:off x="1828800" y="2596896"/>
            <a:ext cx="2514600" cy="594360"/>
          </a:xfrm>
          <a:prstGeom prst="rect">
            <a:avLst/>
          </a:prstGeom>
          <a:noFill/>
        </p:spPr>
        <p:txBody>
          <a:bodyPr wrap="square" rtlCol="0" anchor="ctr"/>
          <a:lstStyle/>
          <a:p>
            <a:pPr marL="0" indent="0">
              <a:buNone/>
            </a:pPr>
            <a:r>
              <a:rPr lang="en-US" sz="1000" dirty="0">
                <a:solidFill>
                  <a:srgbClr val="0D1F15"/>
                </a:solidFill>
              </a:rPr>
              <a:t>of eligible Ugandans participate in T-Bills despite 16–18% yields</a:t>
            </a:r>
            <a:endParaRPr lang="en-US" sz="1000" dirty="0"/>
          </a:p>
        </p:txBody>
      </p:sp>
      <p:sp>
        <p:nvSpPr>
          <p:cNvPr id="17" name="Shape 15"/>
          <p:cNvSpPr/>
          <p:nvPr/>
        </p:nvSpPr>
        <p:spPr>
          <a:xfrm>
            <a:off x="4690872" y="2468880"/>
            <a:ext cx="4160520" cy="841248"/>
          </a:xfrm>
          <a:prstGeom prst="rect">
            <a:avLst/>
          </a:prstGeom>
          <a:solidFill>
            <a:srgbClr val="F4F9F5"/>
          </a:solidFill>
          <a:effectLst>
            <a:outerShdw blurRad="101600" dist="38100" dir="8100000" algn="bl" rotWithShape="0">
              <a:srgbClr val="000000">
                <a:alpha val="12000"/>
              </a:srgbClr>
            </a:outerShdw>
          </a:effectLst>
        </p:spPr>
      </p:sp>
      <p:sp>
        <p:nvSpPr>
          <p:cNvPr id="18" name="Shape 16"/>
          <p:cNvSpPr/>
          <p:nvPr/>
        </p:nvSpPr>
        <p:spPr>
          <a:xfrm>
            <a:off x="4690872" y="2468880"/>
            <a:ext cx="64008" cy="841248"/>
          </a:xfrm>
          <a:prstGeom prst="rect">
            <a:avLst/>
          </a:prstGeom>
          <a:solidFill>
            <a:srgbClr val="5A2D82"/>
          </a:solidFill>
        </p:spPr>
      </p:sp>
      <p:sp>
        <p:nvSpPr>
          <p:cNvPr id="19" name="Text 17"/>
          <p:cNvSpPr/>
          <p:nvPr/>
        </p:nvSpPr>
        <p:spPr>
          <a:xfrm>
            <a:off x="4873752" y="2542032"/>
            <a:ext cx="1280160" cy="548640"/>
          </a:xfrm>
          <a:prstGeom prst="rect">
            <a:avLst/>
          </a:prstGeom>
          <a:noFill/>
        </p:spPr>
        <p:txBody>
          <a:bodyPr wrap="square" rtlCol="0" anchor="ctr"/>
          <a:lstStyle/>
          <a:p>
            <a:pPr marL="0" indent="0">
              <a:buNone/>
            </a:pPr>
            <a:r>
              <a:rPr lang="en-US" sz="2800" b="1" dirty="0">
                <a:solidFill>
                  <a:srgbClr val="5A2D82"/>
                </a:solidFill>
                <a:latin typeface="Georgia" panose="02040502050405020303" pitchFamily="34" charset="0"/>
                <a:ea typeface="Georgia" panose="02040502050405020303" pitchFamily="34" charset="-122"/>
                <a:cs typeface="Georgia" panose="02040502050405020303" pitchFamily="34" charset="-120"/>
              </a:rPr>
              <a:t>35K</a:t>
            </a:r>
            <a:endParaRPr lang="en-US" sz="2800" dirty="0"/>
          </a:p>
        </p:txBody>
      </p:sp>
      <p:sp>
        <p:nvSpPr>
          <p:cNvPr id="20" name="Text 18"/>
          <p:cNvSpPr/>
          <p:nvPr/>
        </p:nvSpPr>
        <p:spPr>
          <a:xfrm>
            <a:off x="6199632" y="2596896"/>
            <a:ext cx="2514600" cy="594360"/>
          </a:xfrm>
          <a:prstGeom prst="rect">
            <a:avLst/>
          </a:prstGeom>
          <a:noFill/>
        </p:spPr>
        <p:txBody>
          <a:bodyPr wrap="square" rtlCol="0" anchor="ctr"/>
          <a:lstStyle/>
          <a:p>
            <a:pPr marL="0" indent="0">
              <a:buNone/>
            </a:pPr>
            <a:r>
              <a:rPr lang="en-US" sz="1000" dirty="0">
                <a:solidFill>
                  <a:srgbClr val="0D1F15"/>
                </a:solidFill>
              </a:rPr>
              <a:t>Ugandans hold USE stock accounts from a market of 45 million people</a:t>
            </a:r>
            <a:endParaRPr lang="en-US" sz="1000" dirty="0"/>
          </a:p>
        </p:txBody>
      </p:sp>
      <p:sp>
        <p:nvSpPr>
          <p:cNvPr id="21" name="Text 19"/>
          <p:cNvSpPr/>
          <p:nvPr/>
        </p:nvSpPr>
        <p:spPr>
          <a:xfrm>
            <a:off x="457200" y="3493008"/>
            <a:ext cx="8229600" cy="320040"/>
          </a:xfrm>
          <a:prstGeom prst="rect">
            <a:avLst/>
          </a:prstGeom>
          <a:noFill/>
        </p:spPr>
        <p:txBody>
          <a:bodyPr wrap="square" rtlCol="0" anchor="ctr"/>
          <a:lstStyle/>
          <a:p>
            <a:pPr marL="0" indent="0">
              <a:buNone/>
            </a:pPr>
            <a:r>
              <a:rPr lang="en-US" sz="1200" b="1" dirty="0">
                <a:solidFill>
                  <a:srgbClr val="0F4D2B"/>
                </a:solidFill>
              </a:rPr>
              <a:t>The Gen Z – NSSF Structural Mismatch</a:t>
            </a:r>
            <a:endParaRPr lang="en-US" sz="1200" dirty="0"/>
          </a:p>
        </p:txBody>
      </p:sp>
      <p:sp>
        <p:nvSpPr>
          <p:cNvPr id="22" name="Shape 20"/>
          <p:cNvSpPr/>
          <p:nvPr/>
        </p:nvSpPr>
        <p:spPr>
          <a:xfrm>
            <a:off x="457200" y="3858768"/>
            <a:ext cx="8229600" cy="274320"/>
          </a:xfrm>
          <a:prstGeom prst="rect">
            <a:avLst/>
          </a:prstGeom>
          <a:solidFill>
            <a:srgbClr val="F4F9F5"/>
          </a:solidFill>
        </p:spPr>
      </p:sp>
      <p:sp>
        <p:nvSpPr>
          <p:cNvPr id="23" name="Text 21"/>
          <p:cNvSpPr/>
          <p:nvPr/>
        </p:nvSpPr>
        <p:spPr>
          <a:xfrm>
            <a:off x="530352" y="3895344"/>
            <a:ext cx="3474720" cy="201168"/>
          </a:xfrm>
          <a:prstGeom prst="rect">
            <a:avLst/>
          </a:prstGeom>
          <a:noFill/>
        </p:spPr>
        <p:txBody>
          <a:bodyPr wrap="square" rtlCol="0" anchor="ctr"/>
          <a:lstStyle/>
          <a:p>
            <a:pPr marL="0" indent="0">
              <a:buNone/>
            </a:pPr>
            <a:r>
              <a:rPr lang="en-US" sz="950" b="1" dirty="0">
                <a:solidFill>
                  <a:srgbClr val="990011"/>
                </a:solidFill>
              </a:rPr>
              <a:t>⚠  Payout locked until age 55</a:t>
            </a:r>
            <a:endParaRPr lang="en-US" sz="950" dirty="0"/>
          </a:p>
        </p:txBody>
      </p:sp>
      <p:sp>
        <p:nvSpPr>
          <p:cNvPr id="24" name="Text 22"/>
          <p:cNvSpPr/>
          <p:nvPr/>
        </p:nvSpPr>
        <p:spPr>
          <a:xfrm>
            <a:off x="4114800" y="3895344"/>
            <a:ext cx="4480560" cy="201168"/>
          </a:xfrm>
          <a:prstGeom prst="rect">
            <a:avLst/>
          </a:prstGeom>
          <a:noFill/>
        </p:spPr>
        <p:txBody>
          <a:bodyPr wrap="square" rtlCol="0" anchor="ctr"/>
          <a:lstStyle/>
          <a:p>
            <a:pPr marL="0" indent="0">
              <a:buNone/>
            </a:pPr>
            <a:r>
              <a:rPr lang="en-US" sz="950" i="1" dirty="0">
                <a:solidFill>
                  <a:srgbClr val="5A7A68"/>
                </a:solidFill>
              </a:rPr>
              <a:t>"I am 24. That is 31 years away. I need income now."</a:t>
            </a:r>
            <a:endParaRPr lang="en-US" sz="950" dirty="0"/>
          </a:p>
        </p:txBody>
      </p:sp>
      <p:sp>
        <p:nvSpPr>
          <p:cNvPr id="25" name="Shape 23"/>
          <p:cNvSpPr/>
          <p:nvPr/>
        </p:nvSpPr>
        <p:spPr>
          <a:xfrm>
            <a:off x="457200" y="4160520"/>
            <a:ext cx="8229600" cy="274320"/>
          </a:xfrm>
          <a:prstGeom prst="rect">
            <a:avLst/>
          </a:prstGeom>
          <a:solidFill>
            <a:srgbClr val="FFFFFF"/>
          </a:solidFill>
        </p:spPr>
      </p:sp>
      <p:sp>
        <p:nvSpPr>
          <p:cNvPr id="26" name="Text 24"/>
          <p:cNvSpPr/>
          <p:nvPr/>
        </p:nvSpPr>
        <p:spPr>
          <a:xfrm>
            <a:off x="530352" y="4197096"/>
            <a:ext cx="3474720" cy="201168"/>
          </a:xfrm>
          <a:prstGeom prst="rect">
            <a:avLst/>
          </a:prstGeom>
          <a:noFill/>
        </p:spPr>
        <p:txBody>
          <a:bodyPr wrap="square" rtlCol="0" anchor="ctr"/>
          <a:lstStyle/>
          <a:p>
            <a:pPr marL="0" indent="0">
              <a:buNone/>
            </a:pPr>
            <a:r>
              <a:rPr lang="en-US" sz="950" b="1" dirty="0">
                <a:solidFill>
                  <a:srgbClr val="990011"/>
                </a:solidFill>
              </a:rPr>
              <a:t>⚠  Employer-linked mandatory registration</a:t>
            </a:r>
            <a:endParaRPr lang="en-US" sz="950" dirty="0"/>
          </a:p>
        </p:txBody>
      </p:sp>
      <p:sp>
        <p:nvSpPr>
          <p:cNvPr id="27" name="Text 25"/>
          <p:cNvSpPr/>
          <p:nvPr/>
        </p:nvSpPr>
        <p:spPr>
          <a:xfrm>
            <a:off x="4114800" y="4197096"/>
            <a:ext cx="4480560" cy="201168"/>
          </a:xfrm>
          <a:prstGeom prst="rect">
            <a:avLst/>
          </a:prstGeom>
          <a:noFill/>
        </p:spPr>
        <p:txBody>
          <a:bodyPr wrap="square" rtlCol="0" anchor="ctr"/>
          <a:lstStyle/>
          <a:p>
            <a:pPr marL="0" indent="0">
              <a:buNone/>
            </a:pPr>
            <a:r>
              <a:rPr lang="en-US" sz="950" i="1" dirty="0">
                <a:solidFill>
                  <a:srgbClr val="5A7A68"/>
                </a:solidFill>
              </a:rPr>
              <a:t>"I am self-employed — I work in Owino Market."</a:t>
            </a:r>
            <a:endParaRPr lang="en-US" sz="950" dirty="0"/>
          </a:p>
        </p:txBody>
      </p:sp>
      <p:sp>
        <p:nvSpPr>
          <p:cNvPr id="28" name="Shape 26"/>
          <p:cNvSpPr/>
          <p:nvPr/>
        </p:nvSpPr>
        <p:spPr>
          <a:xfrm>
            <a:off x="457200" y="4462272"/>
            <a:ext cx="8229600" cy="274320"/>
          </a:xfrm>
          <a:prstGeom prst="rect">
            <a:avLst/>
          </a:prstGeom>
          <a:solidFill>
            <a:srgbClr val="F4F9F5"/>
          </a:solidFill>
        </p:spPr>
      </p:sp>
      <p:sp>
        <p:nvSpPr>
          <p:cNvPr id="29" name="Text 27"/>
          <p:cNvSpPr/>
          <p:nvPr/>
        </p:nvSpPr>
        <p:spPr>
          <a:xfrm>
            <a:off x="530352" y="4498848"/>
            <a:ext cx="3474720" cy="201168"/>
          </a:xfrm>
          <a:prstGeom prst="rect">
            <a:avLst/>
          </a:prstGeom>
          <a:noFill/>
        </p:spPr>
        <p:txBody>
          <a:bodyPr wrap="square" rtlCol="0" anchor="ctr"/>
          <a:lstStyle/>
          <a:p>
            <a:pPr marL="0" indent="0">
              <a:buNone/>
            </a:pPr>
            <a:r>
              <a:rPr lang="en-US" sz="950" b="1" dirty="0">
                <a:solidFill>
                  <a:srgbClr val="990011"/>
                </a:solidFill>
              </a:rPr>
              <a:t>⚠  Salary-based monthly contributions</a:t>
            </a:r>
            <a:endParaRPr lang="en-US" sz="950" dirty="0"/>
          </a:p>
        </p:txBody>
      </p:sp>
      <p:sp>
        <p:nvSpPr>
          <p:cNvPr id="30" name="Text 28"/>
          <p:cNvSpPr/>
          <p:nvPr/>
        </p:nvSpPr>
        <p:spPr>
          <a:xfrm>
            <a:off x="4114800" y="4498848"/>
            <a:ext cx="4480560" cy="201168"/>
          </a:xfrm>
          <a:prstGeom prst="rect">
            <a:avLst/>
          </a:prstGeom>
          <a:noFill/>
        </p:spPr>
        <p:txBody>
          <a:bodyPr wrap="square" rtlCol="0" anchor="ctr"/>
          <a:lstStyle/>
          <a:p>
            <a:pPr marL="0" indent="0">
              <a:buNone/>
            </a:pPr>
            <a:r>
              <a:rPr lang="en-US" sz="950" i="1" dirty="0">
                <a:solidFill>
                  <a:srgbClr val="5A7A68"/>
                </a:solidFill>
              </a:rPr>
              <a:t>"My income is irregular — I cannot commit monthly."</a:t>
            </a:r>
            <a:endParaRPr lang="en-US" sz="950" dirty="0"/>
          </a:p>
        </p:txBody>
      </p:sp>
      <p:sp>
        <p:nvSpPr>
          <p:cNvPr id="31" name="Shape 29"/>
          <p:cNvSpPr/>
          <p:nvPr/>
        </p:nvSpPr>
        <p:spPr>
          <a:xfrm>
            <a:off x="457200" y="4764024"/>
            <a:ext cx="8229600" cy="274320"/>
          </a:xfrm>
          <a:prstGeom prst="rect">
            <a:avLst/>
          </a:prstGeom>
          <a:solidFill>
            <a:srgbClr val="FFFFFF"/>
          </a:solidFill>
        </p:spPr>
      </p:sp>
      <p:sp>
        <p:nvSpPr>
          <p:cNvPr id="32" name="Text 30"/>
          <p:cNvSpPr/>
          <p:nvPr/>
        </p:nvSpPr>
        <p:spPr>
          <a:xfrm>
            <a:off x="530352" y="4800600"/>
            <a:ext cx="3474720" cy="201168"/>
          </a:xfrm>
          <a:prstGeom prst="rect">
            <a:avLst/>
          </a:prstGeom>
          <a:noFill/>
        </p:spPr>
        <p:txBody>
          <a:bodyPr wrap="square" rtlCol="0" anchor="ctr"/>
          <a:lstStyle/>
          <a:p>
            <a:pPr marL="0" indent="0">
              <a:buNone/>
            </a:pPr>
            <a:r>
              <a:rPr lang="en-US" sz="950" b="1" dirty="0">
                <a:solidFill>
                  <a:srgbClr val="990011"/>
                </a:solidFill>
              </a:rPr>
              <a:t>⚠  Branch-based processes only</a:t>
            </a:r>
            <a:endParaRPr lang="en-US" sz="950" dirty="0"/>
          </a:p>
        </p:txBody>
      </p:sp>
      <p:sp>
        <p:nvSpPr>
          <p:cNvPr id="33" name="Text 31"/>
          <p:cNvSpPr/>
          <p:nvPr/>
        </p:nvSpPr>
        <p:spPr>
          <a:xfrm>
            <a:off x="4114800" y="4800600"/>
            <a:ext cx="4480560" cy="201168"/>
          </a:xfrm>
          <a:prstGeom prst="rect">
            <a:avLst/>
          </a:prstGeom>
          <a:noFill/>
        </p:spPr>
        <p:txBody>
          <a:bodyPr wrap="square" rtlCol="0" anchor="ctr"/>
          <a:lstStyle/>
          <a:p>
            <a:pPr marL="0" indent="0">
              <a:buNone/>
            </a:pPr>
            <a:r>
              <a:rPr lang="en-US" sz="950" i="1" dirty="0">
                <a:solidFill>
                  <a:srgbClr val="5A7A68"/>
                </a:solidFill>
              </a:rPr>
              <a:t>"I do everything on my phone."</a:t>
            </a:r>
            <a:endParaRPr lang="en-US" sz="950" dirty="0"/>
          </a:p>
        </p:txBody>
      </p:sp>
      <p:sp>
        <p:nvSpPr>
          <p:cNvPr id="34" name="Shape 32"/>
          <p:cNvSpPr/>
          <p:nvPr/>
        </p:nvSpPr>
        <p:spPr>
          <a:xfrm>
            <a:off x="457200" y="5074920"/>
            <a:ext cx="8229600" cy="292608"/>
          </a:xfrm>
          <a:prstGeom prst="rect">
            <a:avLst/>
          </a:prstGeom>
          <a:solidFill>
            <a:srgbClr val="0F4D2B"/>
          </a:solidFill>
        </p:spPr>
      </p:sp>
      <p:sp>
        <p:nvSpPr>
          <p:cNvPr id="35" name="Text 33"/>
          <p:cNvSpPr/>
          <p:nvPr/>
        </p:nvSpPr>
        <p:spPr>
          <a:xfrm>
            <a:off x="566928" y="5074920"/>
            <a:ext cx="8046720" cy="292608"/>
          </a:xfrm>
          <a:prstGeom prst="rect">
            <a:avLst/>
          </a:prstGeom>
          <a:noFill/>
        </p:spPr>
        <p:txBody>
          <a:bodyPr wrap="square" rtlCol="0" anchor="ctr"/>
          <a:lstStyle/>
          <a:p>
            <a:pPr marL="0" indent="0">
              <a:buNone/>
            </a:pPr>
            <a:r>
              <a:rPr lang="en-US" sz="950" dirty="0">
                <a:solidFill>
                  <a:srgbClr val="D4EFE0"/>
                </a:solidFill>
              </a:rPr>
              <a:t>NSSF has ~2M active members from a 14M+ workforce — under 15% penetration. The 2035 target is 5M. At current growth, this will not be achieved without a new product vehicle.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7A4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p:spPr>
        <p:txBody>
          <a:bodyPr wrap="square" rtlCol="0" anchor="ctr"/>
          <a:lstStyle/>
          <a:p>
            <a:pPr marL="0" indent="0">
              <a:buNone/>
            </a:pPr>
            <a:r>
              <a:rPr lang="en-US" sz="1100" b="1" kern="0" spc="400" dirty="0">
                <a:solidFill>
                  <a:srgbClr val="D4EFE0"/>
                </a:solidFill>
              </a:rPr>
              <a:t>THE SOLUTION</a:t>
            </a:r>
            <a:endParaRPr lang="en-US" sz="1100" dirty="0"/>
          </a:p>
        </p:txBody>
      </p:sp>
      <p:sp>
        <p:nvSpPr>
          <p:cNvPr id="3" name="Text 1"/>
          <p:cNvSpPr/>
          <p:nvPr/>
        </p:nvSpPr>
        <p:spPr>
          <a:xfrm>
            <a:off x="457200" y="566928"/>
            <a:ext cx="8229600" cy="658368"/>
          </a:xfrm>
          <a:prstGeom prst="rect">
            <a:avLst/>
          </a:prstGeom>
          <a:noFill/>
        </p:spPr>
        <p:txBody>
          <a:bodyPr wrap="square" rtlCol="0" anchor="ctr"/>
          <a:lstStyle/>
          <a:p>
            <a:pPr marL="0" indent="0">
              <a:buNone/>
            </a:pPr>
            <a:r>
              <a:rPr lang="en-US" sz="2800" b="1" dirty="0">
                <a:solidFill>
                  <a:srgbClr val="FFFFFF"/>
                </a:solidFill>
                <a:latin typeface="Georgia" panose="02040502050405020303" pitchFamily="34" charset="0"/>
                <a:ea typeface="Georgia" panose="02040502050405020303" pitchFamily="34" charset="-122"/>
                <a:cs typeface="Georgia" panose="02040502050405020303" pitchFamily="34" charset="-120"/>
              </a:rPr>
              <a:t>One app. Ten asset classes. Any amount.</a:t>
            </a:r>
            <a:endParaRPr lang="en-US" sz="2800" dirty="0"/>
          </a:p>
        </p:txBody>
      </p:sp>
      <p:sp>
        <p:nvSpPr>
          <p:cNvPr id="4" name="Text 2"/>
          <p:cNvSpPr/>
          <p:nvPr/>
        </p:nvSpPr>
        <p:spPr>
          <a:xfrm>
            <a:off x="457200" y="1280160"/>
            <a:ext cx="8229600" cy="804672"/>
          </a:xfrm>
          <a:prstGeom prst="rect">
            <a:avLst/>
          </a:prstGeom>
          <a:noFill/>
        </p:spPr>
        <p:txBody>
          <a:bodyPr wrap="square" rtlCol="0" anchor="ctr"/>
          <a:lstStyle/>
          <a:p>
            <a:pPr marL="0" indent="0">
              <a:buNone/>
            </a:pPr>
            <a:r>
              <a:rPr lang="en-US" sz="1200" dirty="0">
                <a:solidFill>
                  <a:srgbClr val="D4EFE0"/>
                </a:solidFill>
              </a:rPr>
              <a:t>OwnIt Uganda is a regulated crowd-investment marketplace. Any income-generating asset — a building, petroleum tanker consignment sold to petrol stations, agri-export lot (e.g. 10 tonnes of maize to a foreign buyer), government bond, FX position, mineral lot, company stake, or a crowd loan from a licensed bank — is fractionalised into digital shares called Hisa, and made accessible to any Ugandan with UGX 50,000. Every user is automatically enrolled as an NSSF member via API from the moment they register.</a:t>
            </a:r>
            <a:endParaRPr lang="en-US" sz="1200" dirty="0"/>
          </a:p>
        </p:txBody>
      </p:sp>
      <p:sp>
        <p:nvSpPr>
          <p:cNvPr id="5" name="Shape 3"/>
          <p:cNvSpPr/>
          <p:nvPr/>
        </p:nvSpPr>
        <p:spPr>
          <a:xfrm>
            <a:off x="274320" y="217627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6" name="Shape 4"/>
          <p:cNvSpPr/>
          <p:nvPr/>
        </p:nvSpPr>
        <p:spPr>
          <a:xfrm>
            <a:off x="274320" y="2176272"/>
            <a:ext cx="1600200" cy="64008"/>
          </a:xfrm>
          <a:prstGeom prst="rect">
            <a:avLst/>
          </a:prstGeom>
          <a:solidFill>
            <a:srgbClr val="C17F00"/>
          </a:solidFill>
        </p:spPr>
      </p:sp>
      <p:sp>
        <p:nvSpPr>
          <p:cNvPr id="7" name="Text 5"/>
          <p:cNvSpPr/>
          <p:nvPr/>
        </p:nvSpPr>
        <p:spPr>
          <a:xfrm>
            <a:off x="777240" y="228600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8" name="Text 6"/>
          <p:cNvSpPr/>
          <p:nvPr/>
        </p:nvSpPr>
        <p:spPr>
          <a:xfrm>
            <a:off x="347472" y="2770632"/>
            <a:ext cx="1463040" cy="292608"/>
          </a:xfrm>
          <a:prstGeom prst="rect">
            <a:avLst/>
          </a:prstGeom>
          <a:noFill/>
        </p:spPr>
        <p:txBody>
          <a:bodyPr wrap="square" rtlCol="0" anchor="ctr"/>
          <a:lstStyle/>
          <a:p>
            <a:pPr marL="0" indent="0" algn="ctr">
              <a:buNone/>
            </a:pPr>
            <a:r>
              <a:rPr lang="en-US" sz="1000" b="1" dirty="0">
                <a:solidFill>
                  <a:srgbClr val="C17F00"/>
                </a:solidFill>
              </a:rPr>
              <a:t>Real Estate</a:t>
            </a:r>
            <a:endParaRPr lang="en-US" sz="1000" dirty="0"/>
          </a:p>
        </p:txBody>
      </p:sp>
      <p:sp>
        <p:nvSpPr>
          <p:cNvPr id="9" name="Text 7"/>
          <p:cNvSpPr/>
          <p:nvPr/>
        </p:nvSpPr>
        <p:spPr>
          <a:xfrm>
            <a:off x="347472" y="3063240"/>
            <a:ext cx="1463040" cy="201168"/>
          </a:xfrm>
          <a:prstGeom prst="rect">
            <a:avLst/>
          </a:prstGeom>
          <a:noFill/>
        </p:spPr>
        <p:txBody>
          <a:bodyPr wrap="square" rtlCol="0" anchor="ctr"/>
          <a:lstStyle/>
          <a:p>
            <a:pPr marL="0" indent="0" algn="ctr">
              <a:buNone/>
            </a:pPr>
            <a:r>
              <a:rPr lang="en-US" sz="900" dirty="0">
                <a:solidFill>
                  <a:srgbClr val="FFFFFF"/>
                </a:solidFill>
              </a:rPr>
              <a:t>10–35%</a:t>
            </a:r>
            <a:endParaRPr lang="en-US" sz="900" dirty="0"/>
          </a:p>
        </p:txBody>
      </p:sp>
      <p:sp>
        <p:nvSpPr>
          <p:cNvPr id="10" name="Text 8"/>
          <p:cNvSpPr/>
          <p:nvPr/>
        </p:nvSpPr>
        <p:spPr>
          <a:xfrm>
            <a:off x="347472" y="3236976"/>
            <a:ext cx="1463040" cy="201168"/>
          </a:xfrm>
          <a:prstGeom prst="rect">
            <a:avLst/>
          </a:prstGeom>
          <a:noFill/>
        </p:spPr>
        <p:txBody>
          <a:bodyPr wrap="square" rtlCol="0" anchor="ctr"/>
          <a:lstStyle/>
          <a:p>
            <a:pPr marL="0" indent="0" algn="ctr">
              <a:buNone/>
            </a:pPr>
            <a:r>
              <a:rPr lang="en-US" sz="800" dirty="0">
                <a:solidFill>
                  <a:srgbClr val="D4EFE0"/>
                </a:solidFill>
              </a:rPr>
              <a:t>Monthly/12–24m</a:t>
            </a:r>
            <a:endParaRPr lang="en-US" sz="800" dirty="0"/>
          </a:p>
        </p:txBody>
      </p:sp>
      <p:sp>
        <p:nvSpPr>
          <p:cNvPr id="11" name="Shape 9"/>
          <p:cNvSpPr/>
          <p:nvPr/>
        </p:nvSpPr>
        <p:spPr>
          <a:xfrm>
            <a:off x="1993392" y="217627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12" name="Shape 10"/>
          <p:cNvSpPr/>
          <p:nvPr/>
        </p:nvSpPr>
        <p:spPr>
          <a:xfrm>
            <a:off x="1993392" y="2176272"/>
            <a:ext cx="1600200" cy="64008"/>
          </a:xfrm>
          <a:prstGeom prst="rect">
            <a:avLst/>
          </a:prstGeom>
          <a:solidFill>
            <a:srgbClr val="C17F00"/>
          </a:solidFill>
        </p:spPr>
      </p:sp>
      <p:sp>
        <p:nvSpPr>
          <p:cNvPr id="13" name="Text 11"/>
          <p:cNvSpPr/>
          <p:nvPr/>
        </p:nvSpPr>
        <p:spPr>
          <a:xfrm>
            <a:off x="2496312" y="2399665"/>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14" name="Text 12"/>
          <p:cNvSpPr/>
          <p:nvPr/>
        </p:nvSpPr>
        <p:spPr>
          <a:xfrm>
            <a:off x="2066544" y="2770632"/>
            <a:ext cx="1463040" cy="292608"/>
          </a:xfrm>
          <a:prstGeom prst="rect">
            <a:avLst/>
          </a:prstGeom>
          <a:noFill/>
        </p:spPr>
        <p:txBody>
          <a:bodyPr wrap="square" rtlCol="0" anchor="ctr"/>
          <a:lstStyle/>
          <a:p>
            <a:pPr marL="0" indent="0" algn="ctr">
              <a:buNone/>
            </a:pPr>
            <a:r>
              <a:rPr lang="en-US" sz="1000" b="1" dirty="0">
                <a:solidFill>
                  <a:srgbClr val="C17F00"/>
                </a:solidFill>
              </a:rPr>
              <a:t>Petroleum Tankers</a:t>
            </a:r>
            <a:endParaRPr lang="en-US" sz="1000" dirty="0"/>
          </a:p>
        </p:txBody>
      </p:sp>
      <p:sp>
        <p:nvSpPr>
          <p:cNvPr id="15" name="Text 13"/>
          <p:cNvSpPr/>
          <p:nvPr/>
        </p:nvSpPr>
        <p:spPr>
          <a:xfrm>
            <a:off x="2066544" y="3063240"/>
            <a:ext cx="1463040" cy="201168"/>
          </a:xfrm>
          <a:prstGeom prst="rect">
            <a:avLst/>
          </a:prstGeom>
          <a:noFill/>
        </p:spPr>
        <p:txBody>
          <a:bodyPr wrap="square" rtlCol="0" anchor="ctr"/>
          <a:lstStyle/>
          <a:p>
            <a:pPr marL="0" indent="0" algn="ctr">
              <a:buNone/>
            </a:pPr>
            <a:r>
              <a:rPr lang="en-US" sz="900" dirty="0">
                <a:solidFill>
                  <a:srgbClr val="FFFFFF"/>
                </a:solidFill>
              </a:rPr>
              <a:t>8–40%</a:t>
            </a:r>
            <a:endParaRPr lang="en-US" sz="900" dirty="0"/>
          </a:p>
        </p:txBody>
      </p:sp>
      <p:sp>
        <p:nvSpPr>
          <p:cNvPr id="16" name="Text 14"/>
          <p:cNvSpPr/>
          <p:nvPr/>
        </p:nvSpPr>
        <p:spPr>
          <a:xfrm>
            <a:off x="2066544" y="3236976"/>
            <a:ext cx="1463040" cy="201168"/>
          </a:xfrm>
          <a:prstGeom prst="rect">
            <a:avLst/>
          </a:prstGeom>
          <a:noFill/>
        </p:spPr>
        <p:txBody>
          <a:bodyPr wrap="square" rtlCol="0" anchor="ctr"/>
          <a:lstStyle/>
          <a:p>
            <a:pPr marL="0" indent="0" algn="ctr">
              <a:buNone/>
            </a:pPr>
            <a:r>
              <a:rPr lang="en-US" sz="800" dirty="0">
                <a:solidFill>
                  <a:srgbClr val="D4EFE0"/>
                </a:solidFill>
              </a:rPr>
              <a:t>7–90 days</a:t>
            </a:r>
            <a:endParaRPr lang="en-US" sz="800" dirty="0"/>
          </a:p>
        </p:txBody>
      </p:sp>
      <p:sp>
        <p:nvSpPr>
          <p:cNvPr id="17" name="Shape 15"/>
          <p:cNvSpPr/>
          <p:nvPr/>
        </p:nvSpPr>
        <p:spPr>
          <a:xfrm>
            <a:off x="3712464" y="217627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18" name="Shape 16"/>
          <p:cNvSpPr/>
          <p:nvPr/>
        </p:nvSpPr>
        <p:spPr>
          <a:xfrm>
            <a:off x="3712464" y="2176272"/>
            <a:ext cx="1600200" cy="64008"/>
          </a:xfrm>
          <a:prstGeom prst="rect">
            <a:avLst/>
          </a:prstGeom>
          <a:solidFill>
            <a:srgbClr val="C17F00"/>
          </a:solidFill>
        </p:spPr>
      </p:sp>
      <p:sp>
        <p:nvSpPr>
          <p:cNvPr id="19" name="Text 17"/>
          <p:cNvSpPr/>
          <p:nvPr/>
        </p:nvSpPr>
        <p:spPr>
          <a:xfrm>
            <a:off x="4215384" y="228600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0" name="Text 18"/>
          <p:cNvSpPr/>
          <p:nvPr/>
        </p:nvSpPr>
        <p:spPr>
          <a:xfrm>
            <a:off x="3785616" y="2770632"/>
            <a:ext cx="1463040" cy="292608"/>
          </a:xfrm>
          <a:prstGeom prst="rect">
            <a:avLst/>
          </a:prstGeom>
          <a:noFill/>
        </p:spPr>
        <p:txBody>
          <a:bodyPr wrap="square" rtlCol="0" anchor="ctr"/>
          <a:lstStyle/>
          <a:p>
            <a:pPr marL="0" indent="0" algn="ctr">
              <a:buNone/>
            </a:pPr>
            <a:r>
              <a:rPr lang="en-US" sz="1000" b="1" dirty="0">
                <a:solidFill>
                  <a:srgbClr val="C17F00"/>
                </a:solidFill>
              </a:rPr>
              <a:t>Agri-Commodities</a:t>
            </a:r>
            <a:endParaRPr lang="en-US" sz="1000" dirty="0"/>
          </a:p>
        </p:txBody>
      </p:sp>
      <p:sp>
        <p:nvSpPr>
          <p:cNvPr id="21" name="Text 19"/>
          <p:cNvSpPr/>
          <p:nvPr/>
        </p:nvSpPr>
        <p:spPr>
          <a:xfrm>
            <a:off x="3785616" y="3063240"/>
            <a:ext cx="1463040" cy="201168"/>
          </a:xfrm>
          <a:prstGeom prst="rect">
            <a:avLst/>
          </a:prstGeom>
          <a:noFill/>
        </p:spPr>
        <p:txBody>
          <a:bodyPr wrap="square" rtlCol="0" anchor="ctr"/>
          <a:lstStyle/>
          <a:p>
            <a:pPr marL="0" indent="0" algn="ctr">
              <a:buNone/>
            </a:pPr>
            <a:r>
              <a:rPr lang="en-US" sz="900" dirty="0">
                <a:solidFill>
                  <a:srgbClr val="FFFFFF"/>
                </a:solidFill>
              </a:rPr>
              <a:t>15–45%</a:t>
            </a:r>
            <a:endParaRPr lang="en-US" sz="900" dirty="0"/>
          </a:p>
        </p:txBody>
      </p:sp>
      <p:sp>
        <p:nvSpPr>
          <p:cNvPr id="22" name="Text 20"/>
          <p:cNvSpPr/>
          <p:nvPr/>
        </p:nvSpPr>
        <p:spPr>
          <a:xfrm>
            <a:off x="3785616" y="3236976"/>
            <a:ext cx="1463040" cy="201168"/>
          </a:xfrm>
          <a:prstGeom prst="rect">
            <a:avLst/>
          </a:prstGeom>
          <a:noFill/>
        </p:spPr>
        <p:txBody>
          <a:bodyPr wrap="square" rtlCol="0" anchor="ctr"/>
          <a:lstStyle/>
          <a:p>
            <a:pPr marL="0" indent="0" algn="ctr">
              <a:buNone/>
            </a:pPr>
            <a:r>
              <a:rPr lang="en-US" sz="800" dirty="0">
                <a:solidFill>
                  <a:srgbClr val="D4EFE0"/>
                </a:solidFill>
              </a:rPr>
              <a:t>30–120 days</a:t>
            </a:r>
            <a:endParaRPr lang="en-US" sz="800" dirty="0"/>
          </a:p>
        </p:txBody>
      </p:sp>
      <p:sp>
        <p:nvSpPr>
          <p:cNvPr id="23" name="Shape 21"/>
          <p:cNvSpPr/>
          <p:nvPr/>
        </p:nvSpPr>
        <p:spPr>
          <a:xfrm>
            <a:off x="5431536" y="217627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24" name="Shape 22"/>
          <p:cNvSpPr/>
          <p:nvPr/>
        </p:nvSpPr>
        <p:spPr>
          <a:xfrm>
            <a:off x="5431536" y="2176272"/>
            <a:ext cx="1600200" cy="64008"/>
          </a:xfrm>
          <a:prstGeom prst="rect">
            <a:avLst/>
          </a:prstGeom>
          <a:solidFill>
            <a:srgbClr val="C17F00"/>
          </a:solidFill>
        </p:spPr>
      </p:sp>
      <p:sp>
        <p:nvSpPr>
          <p:cNvPr id="25" name="Text 23"/>
          <p:cNvSpPr/>
          <p:nvPr/>
        </p:nvSpPr>
        <p:spPr>
          <a:xfrm>
            <a:off x="5934456" y="228600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6" name="Text 24"/>
          <p:cNvSpPr/>
          <p:nvPr/>
        </p:nvSpPr>
        <p:spPr>
          <a:xfrm>
            <a:off x="5504688" y="2770632"/>
            <a:ext cx="1463040" cy="292608"/>
          </a:xfrm>
          <a:prstGeom prst="rect">
            <a:avLst/>
          </a:prstGeom>
          <a:noFill/>
        </p:spPr>
        <p:txBody>
          <a:bodyPr wrap="square" rtlCol="0" anchor="ctr"/>
          <a:lstStyle/>
          <a:p>
            <a:pPr marL="0" indent="0" algn="ctr">
              <a:buNone/>
            </a:pPr>
            <a:r>
              <a:rPr lang="en-US" sz="1000" b="1" dirty="0">
                <a:solidFill>
                  <a:srgbClr val="C17F00"/>
                </a:solidFill>
              </a:rPr>
              <a:t>T-Bills &amp; Bonds</a:t>
            </a:r>
            <a:endParaRPr lang="en-US" sz="1000" dirty="0"/>
          </a:p>
        </p:txBody>
      </p:sp>
      <p:sp>
        <p:nvSpPr>
          <p:cNvPr id="27" name="Text 25"/>
          <p:cNvSpPr/>
          <p:nvPr/>
        </p:nvSpPr>
        <p:spPr>
          <a:xfrm>
            <a:off x="5504688" y="3063240"/>
            <a:ext cx="1463040" cy="201168"/>
          </a:xfrm>
          <a:prstGeom prst="rect">
            <a:avLst/>
          </a:prstGeom>
          <a:noFill/>
        </p:spPr>
        <p:txBody>
          <a:bodyPr wrap="square" rtlCol="0" anchor="ctr"/>
          <a:lstStyle/>
          <a:p>
            <a:pPr marL="0" indent="0" algn="ctr">
              <a:buNone/>
            </a:pPr>
            <a:r>
              <a:rPr lang="en-US" sz="900" dirty="0">
                <a:solidFill>
                  <a:srgbClr val="FFFFFF"/>
                </a:solidFill>
              </a:rPr>
              <a:t>14–20%</a:t>
            </a:r>
            <a:endParaRPr lang="en-US" sz="900" dirty="0"/>
          </a:p>
        </p:txBody>
      </p:sp>
      <p:sp>
        <p:nvSpPr>
          <p:cNvPr id="28" name="Text 26"/>
          <p:cNvSpPr/>
          <p:nvPr/>
        </p:nvSpPr>
        <p:spPr>
          <a:xfrm>
            <a:off x="5504688" y="3236976"/>
            <a:ext cx="1463040" cy="201168"/>
          </a:xfrm>
          <a:prstGeom prst="rect">
            <a:avLst/>
          </a:prstGeom>
          <a:noFill/>
        </p:spPr>
        <p:txBody>
          <a:bodyPr wrap="square" rtlCol="0" anchor="ctr"/>
          <a:lstStyle/>
          <a:p>
            <a:pPr marL="0" indent="0" algn="ctr">
              <a:buNone/>
            </a:pPr>
            <a:r>
              <a:rPr lang="en-US" sz="800" dirty="0">
                <a:solidFill>
                  <a:srgbClr val="D4EFE0"/>
                </a:solidFill>
              </a:rPr>
              <a:t>91–364 days</a:t>
            </a:r>
            <a:endParaRPr lang="en-US" sz="800" dirty="0"/>
          </a:p>
        </p:txBody>
      </p:sp>
      <p:sp>
        <p:nvSpPr>
          <p:cNvPr id="29" name="Shape 27"/>
          <p:cNvSpPr/>
          <p:nvPr/>
        </p:nvSpPr>
        <p:spPr>
          <a:xfrm>
            <a:off x="7150608" y="217627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30" name="Shape 28"/>
          <p:cNvSpPr/>
          <p:nvPr/>
        </p:nvSpPr>
        <p:spPr>
          <a:xfrm>
            <a:off x="7150608" y="2176272"/>
            <a:ext cx="1600200" cy="64008"/>
          </a:xfrm>
          <a:prstGeom prst="rect">
            <a:avLst/>
          </a:prstGeom>
          <a:solidFill>
            <a:srgbClr val="C17F00"/>
          </a:solidFill>
        </p:spPr>
      </p:sp>
      <p:sp>
        <p:nvSpPr>
          <p:cNvPr id="31" name="Text 29"/>
          <p:cNvSpPr/>
          <p:nvPr/>
        </p:nvSpPr>
        <p:spPr>
          <a:xfrm>
            <a:off x="7653528" y="228600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32" name="Text 30"/>
          <p:cNvSpPr/>
          <p:nvPr/>
        </p:nvSpPr>
        <p:spPr>
          <a:xfrm>
            <a:off x="7223760" y="2770632"/>
            <a:ext cx="1463040" cy="292608"/>
          </a:xfrm>
          <a:prstGeom prst="rect">
            <a:avLst/>
          </a:prstGeom>
          <a:noFill/>
        </p:spPr>
        <p:txBody>
          <a:bodyPr wrap="square" rtlCol="0" anchor="ctr"/>
          <a:lstStyle/>
          <a:p>
            <a:pPr marL="0" indent="0" algn="ctr">
              <a:buNone/>
            </a:pPr>
            <a:r>
              <a:rPr lang="en-US" sz="1000" b="1" dirty="0">
                <a:solidFill>
                  <a:srgbClr val="C17F00"/>
                </a:solidFill>
              </a:rPr>
              <a:t>FX &amp; Derivatives</a:t>
            </a:r>
            <a:endParaRPr lang="en-US" sz="1000" dirty="0"/>
          </a:p>
        </p:txBody>
      </p:sp>
      <p:sp>
        <p:nvSpPr>
          <p:cNvPr id="33" name="Text 31"/>
          <p:cNvSpPr/>
          <p:nvPr/>
        </p:nvSpPr>
        <p:spPr>
          <a:xfrm>
            <a:off x="7223760" y="3063240"/>
            <a:ext cx="1463040" cy="201168"/>
          </a:xfrm>
          <a:prstGeom prst="rect">
            <a:avLst/>
          </a:prstGeom>
          <a:noFill/>
        </p:spPr>
        <p:txBody>
          <a:bodyPr wrap="square" rtlCol="0" anchor="ctr"/>
          <a:lstStyle/>
          <a:p>
            <a:pPr marL="0" indent="0" algn="ctr">
              <a:buNone/>
            </a:pPr>
            <a:r>
              <a:rPr lang="en-US" sz="900" dirty="0">
                <a:solidFill>
                  <a:srgbClr val="FFFFFF"/>
                </a:solidFill>
              </a:rPr>
              <a:t>8–30%</a:t>
            </a:r>
            <a:endParaRPr lang="en-US" sz="900" dirty="0"/>
          </a:p>
        </p:txBody>
      </p:sp>
      <p:sp>
        <p:nvSpPr>
          <p:cNvPr id="34" name="Text 32"/>
          <p:cNvSpPr/>
          <p:nvPr/>
        </p:nvSpPr>
        <p:spPr>
          <a:xfrm>
            <a:off x="7223760" y="3236976"/>
            <a:ext cx="1463040" cy="201168"/>
          </a:xfrm>
          <a:prstGeom prst="rect">
            <a:avLst/>
          </a:prstGeom>
          <a:noFill/>
        </p:spPr>
        <p:txBody>
          <a:bodyPr wrap="square" rtlCol="0" anchor="ctr"/>
          <a:lstStyle/>
          <a:p>
            <a:pPr marL="0" indent="0" algn="ctr">
              <a:buNone/>
            </a:pPr>
            <a:r>
              <a:rPr lang="en-US" sz="800" dirty="0">
                <a:solidFill>
                  <a:srgbClr val="D4EFE0"/>
                </a:solidFill>
              </a:rPr>
              <a:t>7–90 days</a:t>
            </a:r>
            <a:endParaRPr lang="en-US" sz="800" dirty="0"/>
          </a:p>
        </p:txBody>
      </p:sp>
      <p:sp>
        <p:nvSpPr>
          <p:cNvPr id="35" name="Shape 33"/>
          <p:cNvSpPr/>
          <p:nvPr/>
        </p:nvSpPr>
        <p:spPr>
          <a:xfrm>
            <a:off x="274320" y="359359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36" name="Shape 34"/>
          <p:cNvSpPr/>
          <p:nvPr/>
        </p:nvSpPr>
        <p:spPr>
          <a:xfrm>
            <a:off x="274320" y="3593592"/>
            <a:ext cx="1600200" cy="64008"/>
          </a:xfrm>
          <a:prstGeom prst="rect">
            <a:avLst/>
          </a:prstGeom>
          <a:solidFill>
            <a:srgbClr val="C17F00"/>
          </a:solidFill>
        </p:spPr>
      </p:sp>
      <p:sp>
        <p:nvSpPr>
          <p:cNvPr id="37" name="Text 35"/>
          <p:cNvSpPr/>
          <p:nvPr/>
        </p:nvSpPr>
        <p:spPr>
          <a:xfrm>
            <a:off x="777240" y="377952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38" name="Text 36"/>
          <p:cNvSpPr/>
          <p:nvPr/>
        </p:nvSpPr>
        <p:spPr>
          <a:xfrm>
            <a:off x="347472" y="4187952"/>
            <a:ext cx="1463040" cy="292608"/>
          </a:xfrm>
          <a:prstGeom prst="rect">
            <a:avLst/>
          </a:prstGeom>
          <a:noFill/>
        </p:spPr>
        <p:txBody>
          <a:bodyPr wrap="square" rtlCol="0" anchor="ctr"/>
          <a:lstStyle/>
          <a:p>
            <a:pPr marL="0" indent="0" algn="ctr">
              <a:buNone/>
            </a:pPr>
            <a:r>
              <a:rPr lang="en-US" sz="1000" b="1" dirty="0">
                <a:solidFill>
                  <a:srgbClr val="C17F00"/>
                </a:solidFill>
              </a:rPr>
              <a:t>Rare Earth Minerals</a:t>
            </a:r>
            <a:endParaRPr lang="en-US" sz="1000" dirty="0"/>
          </a:p>
        </p:txBody>
      </p:sp>
      <p:sp>
        <p:nvSpPr>
          <p:cNvPr id="39" name="Text 37"/>
          <p:cNvSpPr/>
          <p:nvPr/>
        </p:nvSpPr>
        <p:spPr>
          <a:xfrm>
            <a:off x="347472" y="4480560"/>
            <a:ext cx="1463040" cy="201168"/>
          </a:xfrm>
          <a:prstGeom prst="rect">
            <a:avLst/>
          </a:prstGeom>
          <a:noFill/>
        </p:spPr>
        <p:txBody>
          <a:bodyPr wrap="square" rtlCol="0" anchor="ctr"/>
          <a:lstStyle/>
          <a:p>
            <a:pPr marL="0" indent="0" algn="ctr">
              <a:buNone/>
            </a:pPr>
            <a:r>
              <a:rPr lang="en-US" sz="900" dirty="0">
                <a:solidFill>
                  <a:srgbClr val="FFFFFF"/>
                </a:solidFill>
              </a:rPr>
              <a:t>20–60%</a:t>
            </a:r>
            <a:endParaRPr lang="en-US" sz="900" dirty="0"/>
          </a:p>
        </p:txBody>
      </p:sp>
      <p:sp>
        <p:nvSpPr>
          <p:cNvPr id="40" name="Text 38"/>
          <p:cNvSpPr/>
          <p:nvPr/>
        </p:nvSpPr>
        <p:spPr>
          <a:xfrm>
            <a:off x="347472" y="4654296"/>
            <a:ext cx="1463040" cy="201168"/>
          </a:xfrm>
          <a:prstGeom prst="rect">
            <a:avLst/>
          </a:prstGeom>
          <a:noFill/>
        </p:spPr>
        <p:txBody>
          <a:bodyPr wrap="square" rtlCol="0" anchor="ctr"/>
          <a:lstStyle/>
          <a:p>
            <a:pPr marL="0" indent="0" algn="ctr">
              <a:buNone/>
            </a:pPr>
            <a:r>
              <a:rPr lang="en-US" sz="800" dirty="0">
                <a:solidFill>
                  <a:srgbClr val="D4EFE0"/>
                </a:solidFill>
              </a:rPr>
              <a:t>30–180 days</a:t>
            </a:r>
            <a:endParaRPr lang="en-US" sz="800" dirty="0"/>
          </a:p>
        </p:txBody>
      </p:sp>
      <p:sp>
        <p:nvSpPr>
          <p:cNvPr id="41" name="Shape 39"/>
          <p:cNvSpPr/>
          <p:nvPr/>
        </p:nvSpPr>
        <p:spPr>
          <a:xfrm>
            <a:off x="1993392" y="359359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42" name="Shape 40"/>
          <p:cNvSpPr/>
          <p:nvPr/>
        </p:nvSpPr>
        <p:spPr>
          <a:xfrm>
            <a:off x="1993392" y="3593592"/>
            <a:ext cx="1600200" cy="64008"/>
          </a:xfrm>
          <a:prstGeom prst="rect">
            <a:avLst/>
          </a:prstGeom>
          <a:solidFill>
            <a:srgbClr val="C17F00"/>
          </a:solidFill>
        </p:spPr>
      </p:sp>
      <p:sp>
        <p:nvSpPr>
          <p:cNvPr id="43" name="Text 41"/>
          <p:cNvSpPr/>
          <p:nvPr/>
        </p:nvSpPr>
        <p:spPr>
          <a:xfrm>
            <a:off x="2496312" y="370332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44" name="Text 42"/>
          <p:cNvSpPr/>
          <p:nvPr/>
        </p:nvSpPr>
        <p:spPr>
          <a:xfrm>
            <a:off x="2066544" y="4187952"/>
            <a:ext cx="1463040" cy="292608"/>
          </a:xfrm>
          <a:prstGeom prst="rect">
            <a:avLst/>
          </a:prstGeom>
          <a:noFill/>
        </p:spPr>
        <p:txBody>
          <a:bodyPr wrap="square" rtlCol="0" anchor="ctr"/>
          <a:lstStyle/>
          <a:p>
            <a:pPr marL="0" indent="0" algn="ctr">
              <a:buNone/>
            </a:pPr>
            <a:r>
              <a:rPr lang="en-US" sz="1000" b="1" dirty="0">
                <a:solidFill>
                  <a:srgbClr val="C17F00"/>
                </a:solidFill>
              </a:rPr>
              <a:t>Stocks &amp; Shares</a:t>
            </a:r>
            <a:endParaRPr lang="en-US" sz="1000" dirty="0"/>
          </a:p>
        </p:txBody>
      </p:sp>
      <p:sp>
        <p:nvSpPr>
          <p:cNvPr id="45" name="Text 43"/>
          <p:cNvSpPr/>
          <p:nvPr/>
        </p:nvSpPr>
        <p:spPr>
          <a:xfrm>
            <a:off x="2066544" y="4480560"/>
            <a:ext cx="1463040" cy="201168"/>
          </a:xfrm>
          <a:prstGeom prst="rect">
            <a:avLst/>
          </a:prstGeom>
          <a:noFill/>
        </p:spPr>
        <p:txBody>
          <a:bodyPr wrap="square" rtlCol="0" anchor="ctr"/>
          <a:lstStyle/>
          <a:p>
            <a:pPr marL="0" indent="0" algn="ctr">
              <a:buNone/>
            </a:pPr>
            <a:r>
              <a:rPr lang="en-US" sz="900" dirty="0">
                <a:solidFill>
                  <a:srgbClr val="FFFFFF"/>
                </a:solidFill>
              </a:rPr>
              <a:t>4–15%+</a:t>
            </a:r>
            <a:endParaRPr lang="en-US" sz="900" dirty="0"/>
          </a:p>
        </p:txBody>
      </p:sp>
      <p:sp>
        <p:nvSpPr>
          <p:cNvPr id="46" name="Text 44"/>
          <p:cNvSpPr/>
          <p:nvPr/>
        </p:nvSpPr>
        <p:spPr>
          <a:xfrm>
            <a:off x="2066544" y="4654296"/>
            <a:ext cx="1463040" cy="201168"/>
          </a:xfrm>
          <a:prstGeom prst="rect">
            <a:avLst/>
          </a:prstGeom>
          <a:noFill/>
        </p:spPr>
        <p:txBody>
          <a:bodyPr wrap="square" rtlCol="0" anchor="ctr"/>
          <a:lstStyle/>
          <a:p>
            <a:pPr marL="0" indent="0" algn="ctr">
              <a:buNone/>
            </a:pPr>
            <a:r>
              <a:rPr lang="en-US" sz="800" dirty="0">
                <a:solidFill>
                  <a:srgbClr val="D4EFE0"/>
                </a:solidFill>
              </a:rPr>
              <a:t>Quarterly/Annual</a:t>
            </a:r>
            <a:endParaRPr lang="en-US" sz="800" dirty="0"/>
          </a:p>
        </p:txBody>
      </p:sp>
      <p:sp>
        <p:nvSpPr>
          <p:cNvPr id="47" name="Shape 45"/>
          <p:cNvSpPr/>
          <p:nvPr/>
        </p:nvSpPr>
        <p:spPr>
          <a:xfrm>
            <a:off x="3712464" y="359359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48" name="Shape 46"/>
          <p:cNvSpPr/>
          <p:nvPr/>
        </p:nvSpPr>
        <p:spPr>
          <a:xfrm>
            <a:off x="3712464" y="3593592"/>
            <a:ext cx="1600200" cy="64008"/>
          </a:xfrm>
          <a:prstGeom prst="rect">
            <a:avLst/>
          </a:prstGeom>
          <a:solidFill>
            <a:srgbClr val="C17F00"/>
          </a:solidFill>
        </p:spPr>
      </p:sp>
      <p:sp>
        <p:nvSpPr>
          <p:cNvPr id="49" name="Text 47"/>
          <p:cNvSpPr/>
          <p:nvPr/>
        </p:nvSpPr>
        <p:spPr>
          <a:xfrm>
            <a:off x="4215384" y="370332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50" name="Text 48"/>
          <p:cNvSpPr/>
          <p:nvPr/>
        </p:nvSpPr>
        <p:spPr>
          <a:xfrm>
            <a:off x="3785616" y="4187952"/>
            <a:ext cx="1463040" cy="292608"/>
          </a:xfrm>
          <a:prstGeom prst="rect">
            <a:avLst/>
          </a:prstGeom>
          <a:noFill/>
        </p:spPr>
        <p:txBody>
          <a:bodyPr wrap="square" rtlCol="0" anchor="ctr"/>
          <a:lstStyle/>
          <a:p>
            <a:pPr marL="0" indent="0" algn="ctr">
              <a:buNone/>
            </a:pPr>
            <a:r>
              <a:rPr lang="en-US" sz="1000" b="1" dirty="0">
                <a:solidFill>
                  <a:srgbClr val="C17F00"/>
                </a:solidFill>
              </a:rPr>
              <a:t>SME &amp; Private Equity</a:t>
            </a:r>
            <a:endParaRPr lang="en-US" sz="1000" dirty="0"/>
          </a:p>
        </p:txBody>
      </p:sp>
      <p:sp>
        <p:nvSpPr>
          <p:cNvPr id="51" name="Text 49"/>
          <p:cNvSpPr/>
          <p:nvPr/>
        </p:nvSpPr>
        <p:spPr>
          <a:xfrm>
            <a:off x="3785616" y="4480560"/>
            <a:ext cx="1463040" cy="201168"/>
          </a:xfrm>
          <a:prstGeom prst="rect">
            <a:avLst/>
          </a:prstGeom>
          <a:noFill/>
        </p:spPr>
        <p:txBody>
          <a:bodyPr wrap="square" rtlCol="0" anchor="ctr"/>
          <a:lstStyle/>
          <a:p>
            <a:pPr marL="0" indent="0" algn="ctr">
              <a:buNone/>
            </a:pPr>
            <a:r>
              <a:rPr lang="en-US" sz="900" dirty="0">
                <a:solidFill>
                  <a:srgbClr val="FFFFFF"/>
                </a:solidFill>
              </a:rPr>
              <a:t>20–40%</a:t>
            </a:r>
            <a:endParaRPr lang="en-US" sz="900" dirty="0"/>
          </a:p>
        </p:txBody>
      </p:sp>
      <p:sp>
        <p:nvSpPr>
          <p:cNvPr id="52" name="Text 50"/>
          <p:cNvSpPr/>
          <p:nvPr/>
        </p:nvSpPr>
        <p:spPr>
          <a:xfrm>
            <a:off x="3785616" y="4654296"/>
            <a:ext cx="1463040" cy="201168"/>
          </a:xfrm>
          <a:prstGeom prst="rect">
            <a:avLst/>
          </a:prstGeom>
          <a:noFill/>
        </p:spPr>
        <p:txBody>
          <a:bodyPr wrap="square" rtlCol="0" anchor="ctr"/>
          <a:lstStyle/>
          <a:p>
            <a:pPr marL="0" indent="0" algn="ctr">
              <a:buNone/>
            </a:pPr>
            <a:r>
              <a:rPr lang="en-US" sz="800" dirty="0">
                <a:solidFill>
                  <a:srgbClr val="D4EFE0"/>
                </a:solidFill>
              </a:rPr>
              <a:t>Quarterly/Exit</a:t>
            </a:r>
            <a:endParaRPr lang="en-US" sz="800" dirty="0"/>
          </a:p>
        </p:txBody>
      </p:sp>
      <p:sp>
        <p:nvSpPr>
          <p:cNvPr id="53" name="Shape 51"/>
          <p:cNvSpPr/>
          <p:nvPr/>
        </p:nvSpPr>
        <p:spPr>
          <a:xfrm>
            <a:off x="5431536" y="359359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54" name="Shape 52"/>
          <p:cNvSpPr/>
          <p:nvPr/>
        </p:nvSpPr>
        <p:spPr>
          <a:xfrm>
            <a:off x="5431536" y="3593592"/>
            <a:ext cx="1600200" cy="64008"/>
          </a:xfrm>
          <a:prstGeom prst="rect">
            <a:avLst/>
          </a:prstGeom>
          <a:solidFill>
            <a:srgbClr val="C17F00"/>
          </a:solidFill>
        </p:spPr>
      </p:sp>
      <p:sp>
        <p:nvSpPr>
          <p:cNvPr id="55" name="Text 53"/>
          <p:cNvSpPr/>
          <p:nvPr/>
        </p:nvSpPr>
        <p:spPr>
          <a:xfrm>
            <a:off x="5934456" y="370332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56" name="Text 54"/>
          <p:cNvSpPr/>
          <p:nvPr/>
        </p:nvSpPr>
        <p:spPr>
          <a:xfrm>
            <a:off x="5504688" y="4187952"/>
            <a:ext cx="1463040" cy="292608"/>
          </a:xfrm>
          <a:prstGeom prst="rect">
            <a:avLst/>
          </a:prstGeom>
          <a:noFill/>
        </p:spPr>
        <p:txBody>
          <a:bodyPr wrap="square" rtlCol="0" anchor="ctr"/>
          <a:lstStyle/>
          <a:p>
            <a:pPr marL="0" indent="0" algn="ctr">
              <a:buNone/>
            </a:pPr>
            <a:r>
              <a:rPr lang="en-US" sz="1000" b="1" dirty="0">
                <a:solidFill>
                  <a:srgbClr val="C17F00"/>
                </a:solidFill>
              </a:rPr>
              <a:t>Crowd Loans</a:t>
            </a:r>
            <a:endParaRPr lang="en-US" sz="1000" dirty="0"/>
          </a:p>
        </p:txBody>
      </p:sp>
      <p:sp>
        <p:nvSpPr>
          <p:cNvPr id="57" name="Text 55"/>
          <p:cNvSpPr/>
          <p:nvPr/>
        </p:nvSpPr>
        <p:spPr>
          <a:xfrm>
            <a:off x="5504688" y="4480560"/>
            <a:ext cx="1463040" cy="201168"/>
          </a:xfrm>
          <a:prstGeom prst="rect">
            <a:avLst/>
          </a:prstGeom>
          <a:noFill/>
        </p:spPr>
        <p:txBody>
          <a:bodyPr wrap="square" rtlCol="0" anchor="ctr"/>
          <a:lstStyle/>
          <a:p>
            <a:pPr marL="0" indent="0" algn="ctr">
              <a:buNone/>
            </a:pPr>
            <a:r>
              <a:rPr lang="en-US" sz="900" dirty="0">
                <a:solidFill>
                  <a:srgbClr val="FFFFFF"/>
                </a:solidFill>
              </a:rPr>
              <a:t>8–25%</a:t>
            </a:r>
            <a:endParaRPr lang="en-US" sz="900" dirty="0"/>
          </a:p>
        </p:txBody>
      </p:sp>
      <p:sp>
        <p:nvSpPr>
          <p:cNvPr id="58" name="Text 56"/>
          <p:cNvSpPr/>
          <p:nvPr/>
        </p:nvSpPr>
        <p:spPr>
          <a:xfrm>
            <a:off x="5504688" y="4654296"/>
            <a:ext cx="1463040" cy="201168"/>
          </a:xfrm>
          <a:prstGeom prst="rect">
            <a:avLst/>
          </a:prstGeom>
          <a:noFill/>
        </p:spPr>
        <p:txBody>
          <a:bodyPr wrap="square" rtlCol="0" anchor="ctr"/>
          <a:lstStyle/>
          <a:p>
            <a:pPr marL="0" indent="0" algn="ctr">
              <a:buNone/>
            </a:pPr>
            <a:r>
              <a:rPr lang="en-US" sz="800" dirty="0">
                <a:solidFill>
                  <a:srgbClr val="D4EFE0"/>
                </a:solidFill>
              </a:rPr>
              <a:t>1–24 months</a:t>
            </a:r>
            <a:endParaRPr lang="en-US" sz="800" dirty="0"/>
          </a:p>
        </p:txBody>
      </p:sp>
      <p:sp>
        <p:nvSpPr>
          <p:cNvPr id="59" name="Shape 57"/>
          <p:cNvSpPr/>
          <p:nvPr/>
        </p:nvSpPr>
        <p:spPr>
          <a:xfrm>
            <a:off x="7150608" y="3593592"/>
            <a:ext cx="1600200" cy="1298448"/>
          </a:xfrm>
          <a:prstGeom prst="rect">
            <a:avLst/>
          </a:prstGeom>
          <a:solidFill>
            <a:srgbClr val="0F4D2B"/>
          </a:solidFill>
          <a:effectLst>
            <a:outerShdw blurRad="101600" dist="38100" dir="8100000" algn="bl" rotWithShape="0">
              <a:srgbClr val="000000">
                <a:alpha val="12000"/>
              </a:srgbClr>
            </a:outerShdw>
          </a:effectLst>
        </p:spPr>
      </p:sp>
      <p:sp>
        <p:nvSpPr>
          <p:cNvPr id="60" name="Shape 58"/>
          <p:cNvSpPr/>
          <p:nvPr/>
        </p:nvSpPr>
        <p:spPr>
          <a:xfrm>
            <a:off x="7150608" y="3593592"/>
            <a:ext cx="1600200" cy="64008"/>
          </a:xfrm>
          <a:prstGeom prst="rect">
            <a:avLst/>
          </a:prstGeom>
          <a:solidFill>
            <a:srgbClr val="C17F00"/>
          </a:solidFill>
        </p:spPr>
      </p:sp>
      <p:sp>
        <p:nvSpPr>
          <p:cNvPr id="61" name="Text 59"/>
          <p:cNvSpPr/>
          <p:nvPr/>
        </p:nvSpPr>
        <p:spPr>
          <a:xfrm>
            <a:off x="7653528" y="3703320"/>
            <a:ext cx="621792" cy="475488"/>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62" name="Text 60"/>
          <p:cNvSpPr/>
          <p:nvPr/>
        </p:nvSpPr>
        <p:spPr>
          <a:xfrm>
            <a:off x="7223760" y="4187952"/>
            <a:ext cx="1463040" cy="292608"/>
          </a:xfrm>
          <a:prstGeom prst="rect">
            <a:avLst/>
          </a:prstGeom>
          <a:noFill/>
        </p:spPr>
        <p:txBody>
          <a:bodyPr wrap="square" rtlCol="0" anchor="ctr"/>
          <a:lstStyle/>
          <a:p>
            <a:pPr marL="0" indent="0" algn="ctr">
              <a:buNone/>
            </a:pPr>
            <a:r>
              <a:rPr lang="en-US" sz="1000" b="1" dirty="0">
                <a:solidFill>
                  <a:srgbClr val="C17F00"/>
                </a:solidFill>
              </a:rPr>
              <a:t>Open Asset Class</a:t>
            </a:r>
            <a:endParaRPr lang="en-US" sz="1000" dirty="0"/>
          </a:p>
        </p:txBody>
      </p:sp>
      <p:sp>
        <p:nvSpPr>
          <p:cNvPr id="63" name="Text 61"/>
          <p:cNvSpPr/>
          <p:nvPr/>
        </p:nvSpPr>
        <p:spPr>
          <a:xfrm>
            <a:off x="7223760" y="4480560"/>
            <a:ext cx="1463040" cy="201168"/>
          </a:xfrm>
          <a:prstGeom prst="rect">
            <a:avLst/>
          </a:prstGeom>
          <a:noFill/>
        </p:spPr>
        <p:txBody>
          <a:bodyPr wrap="square" rtlCol="0" anchor="ctr"/>
          <a:lstStyle/>
          <a:p>
            <a:pPr marL="0" indent="0" algn="ctr">
              <a:buNone/>
            </a:pPr>
            <a:r>
              <a:rPr lang="en-US" sz="900" dirty="0">
                <a:solidFill>
                  <a:srgbClr val="FFFFFF"/>
                </a:solidFill>
              </a:rPr>
              <a:t>Variable</a:t>
            </a:r>
            <a:endParaRPr lang="en-US" sz="900" dirty="0"/>
          </a:p>
        </p:txBody>
      </p:sp>
      <p:sp>
        <p:nvSpPr>
          <p:cNvPr id="64" name="Text 62"/>
          <p:cNvSpPr/>
          <p:nvPr/>
        </p:nvSpPr>
        <p:spPr>
          <a:xfrm>
            <a:off x="7223760" y="4654296"/>
            <a:ext cx="1463040" cy="201168"/>
          </a:xfrm>
          <a:prstGeom prst="rect">
            <a:avLst/>
          </a:prstGeom>
          <a:noFill/>
        </p:spPr>
        <p:txBody>
          <a:bodyPr wrap="square" rtlCol="0" anchor="ctr"/>
          <a:lstStyle/>
          <a:p>
            <a:pPr marL="0" indent="0" algn="ctr">
              <a:buNone/>
            </a:pPr>
            <a:r>
              <a:rPr lang="en-US" sz="800" dirty="0">
                <a:solidFill>
                  <a:srgbClr val="D4EFE0"/>
                </a:solidFill>
              </a:rPr>
              <a:t>Per listing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HOW THE CROWD-INVESTMENT MODEL WORKS</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400" b="1" dirty="0">
                <a:solidFill>
                  <a:srgbClr val="0D1F15"/>
                </a:solidFill>
                <a:latin typeface="Georgia" panose="02040502050405020303" pitchFamily="34" charset="0"/>
                <a:ea typeface="Georgia" panose="02040502050405020303" pitchFamily="34" charset="-122"/>
                <a:cs typeface="Georgia" panose="02040502050405020303" pitchFamily="34" charset="-120"/>
              </a:rPr>
              <a:t>From sign-up to passive income — in one mobile app.</a:t>
            </a:r>
            <a:endParaRPr lang="en-US" sz="2400" dirty="0"/>
          </a:p>
        </p:txBody>
      </p:sp>
      <p:sp>
        <p:nvSpPr>
          <p:cNvPr id="5" name="Shape 3"/>
          <p:cNvSpPr/>
          <p:nvPr/>
        </p:nvSpPr>
        <p:spPr>
          <a:xfrm>
            <a:off x="274320" y="1389888"/>
            <a:ext cx="2743200" cy="1664208"/>
          </a:xfrm>
          <a:prstGeom prst="rect">
            <a:avLst/>
          </a:prstGeom>
          <a:solidFill>
            <a:srgbClr val="FFFFFF"/>
          </a:solidFill>
          <a:effectLst>
            <a:outerShdw blurRad="101600" dist="38100" dir="8100000" algn="bl" rotWithShape="0">
              <a:srgbClr val="000000">
                <a:alpha val="12000"/>
              </a:srgbClr>
            </a:outerShdw>
          </a:effectLst>
        </p:spPr>
      </p:sp>
      <p:sp>
        <p:nvSpPr>
          <p:cNvPr id="6" name="Shape 4"/>
          <p:cNvSpPr/>
          <p:nvPr/>
        </p:nvSpPr>
        <p:spPr>
          <a:xfrm>
            <a:off x="274320" y="1389888"/>
            <a:ext cx="2743200" cy="64008"/>
          </a:xfrm>
          <a:prstGeom prst="rect">
            <a:avLst/>
          </a:prstGeom>
          <a:solidFill>
            <a:srgbClr val="1A7A45"/>
          </a:solidFill>
        </p:spPr>
      </p:sp>
      <p:sp>
        <p:nvSpPr>
          <p:cNvPr id="7" name="Shape 5"/>
          <p:cNvSpPr/>
          <p:nvPr/>
        </p:nvSpPr>
        <p:spPr>
          <a:xfrm>
            <a:off x="384048" y="1463167"/>
            <a:ext cx="594360" cy="594360"/>
          </a:xfrm>
          <a:prstGeom prst="ellipse">
            <a:avLst/>
          </a:prstGeom>
          <a:solidFill>
            <a:srgbClr val="1A7A45"/>
          </a:solidFill>
        </p:spPr>
      </p:sp>
      <p:sp>
        <p:nvSpPr>
          <p:cNvPr id="8" name="Text 6"/>
          <p:cNvSpPr/>
          <p:nvPr/>
        </p:nvSpPr>
        <p:spPr>
          <a:xfrm>
            <a:off x="384048" y="1536192"/>
            <a:ext cx="594360" cy="594360"/>
          </a:xfrm>
          <a:prstGeom prst="rect">
            <a:avLst/>
          </a:prstGeom>
          <a:noFill/>
        </p:spPr>
        <p:txBody>
          <a:bodyPr wrap="square" rtlCol="0" anchor="ctr"/>
          <a:lstStyle/>
          <a:p>
            <a:pPr marL="0" indent="0" algn="ctr">
              <a:buNone/>
            </a:pPr>
            <a:r>
              <a:rPr lang="en-US" sz="1200" b="1" dirty="0">
                <a:solidFill>
                  <a:srgbClr val="FFFFFF"/>
                </a:solidFill>
              </a:rPr>
              <a:t>01</a:t>
            </a:r>
            <a:endParaRPr lang="en-US" sz="1200" dirty="0"/>
          </a:p>
        </p:txBody>
      </p:sp>
      <p:sp>
        <p:nvSpPr>
          <p:cNvPr id="9" name="Text 7"/>
          <p:cNvSpPr/>
          <p:nvPr/>
        </p:nvSpPr>
        <p:spPr>
          <a:xfrm>
            <a:off x="1097280" y="1554480"/>
            <a:ext cx="50292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10" name="Text 8"/>
          <p:cNvSpPr/>
          <p:nvPr/>
        </p:nvSpPr>
        <p:spPr>
          <a:xfrm>
            <a:off x="978408" y="1837690"/>
            <a:ext cx="2514600" cy="292608"/>
          </a:xfrm>
          <a:prstGeom prst="rect">
            <a:avLst/>
          </a:prstGeom>
          <a:noFill/>
        </p:spPr>
        <p:txBody>
          <a:bodyPr wrap="square" rtlCol="0" anchor="ctr"/>
          <a:lstStyle/>
          <a:p>
            <a:pPr marL="0" indent="0">
              <a:buNone/>
            </a:pPr>
            <a:r>
              <a:rPr lang="en-US" sz="1100" b="1" dirty="0">
                <a:solidFill>
                  <a:srgbClr val="1A7A45"/>
                </a:solidFill>
              </a:rPr>
              <a:t>Lister Submits Asset</a:t>
            </a:r>
            <a:endParaRPr lang="en-US" sz="1100" dirty="0"/>
          </a:p>
        </p:txBody>
      </p:sp>
      <p:sp>
        <p:nvSpPr>
          <p:cNvPr id="11" name="Text 9"/>
          <p:cNvSpPr/>
          <p:nvPr/>
        </p:nvSpPr>
        <p:spPr>
          <a:xfrm>
            <a:off x="365633" y="2320163"/>
            <a:ext cx="2514600" cy="502920"/>
          </a:xfrm>
          <a:prstGeom prst="rect">
            <a:avLst/>
          </a:prstGeom>
          <a:noFill/>
        </p:spPr>
        <p:txBody>
          <a:bodyPr wrap="square" rtlCol="0" anchor="ctr"/>
          <a:lstStyle/>
          <a:p>
            <a:pPr marL="0" indent="0">
              <a:buNone/>
            </a:pPr>
            <a:r>
              <a:rPr lang="en-US" sz="900" dirty="0">
                <a:solidFill>
                  <a:srgbClr val="5A7A68"/>
                </a:solidFill>
              </a:rPr>
              <a:t>A vetted, licensed commercial partner submits an income-generating asset: a property, petroleum tanker consignment (for sale to petrol stations), agri export lot (e.g. 10 tonnes of maize flour to a foreign buyer), bond pool, FX position, mineral lot, company stake — or a crowd loan facility from a licensed bank or MFI.</a:t>
            </a:r>
            <a:endParaRPr lang="en-US" sz="900" dirty="0"/>
          </a:p>
        </p:txBody>
      </p:sp>
      <p:sp>
        <p:nvSpPr>
          <p:cNvPr id="12" name="Shape 10"/>
          <p:cNvSpPr/>
          <p:nvPr/>
        </p:nvSpPr>
        <p:spPr>
          <a:xfrm>
            <a:off x="3200400" y="1389888"/>
            <a:ext cx="2743200" cy="1664208"/>
          </a:xfrm>
          <a:prstGeom prst="rect">
            <a:avLst/>
          </a:prstGeom>
          <a:solidFill>
            <a:srgbClr val="FFFFFF"/>
          </a:solidFill>
          <a:effectLst>
            <a:outerShdw blurRad="101600" dist="38100" dir="8100000" algn="bl" rotWithShape="0">
              <a:srgbClr val="000000">
                <a:alpha val="12000"/>
              </a:srgbClr>
            </a:outerShdw>
          </a:effectLst>
        </p:spPr>
      </p:sp>
      <p:sp>
        <p:nvSpPr>
          <p:cNvPr id="13" name="Shape 11"/>
          <p:cNvSpPr/>
          <p:nvPr/>
        </p:nvSpPr>
        <p:spPr>
          <a:xfrm>
            <a:off x="3200400" y="1389888"/>
            <a:ext cx="2743200" cy="64008"/>
          </a:xfrm>
          <a:prstGeom prst="rect">
            <a:avLst/>
          </a:prstGeom>
          <a:solidFill>
            <a:srgbClr val="1A7A45"/>
          </a:solidFill>
        </p:spPr>
      </p:sp>
      <p:sp>
        <p:nvSpPr>
          <p:cNvPr id="14" name="Shape 12"/>
          <p:cNvSpPr/>
          <p:nvPr/>
        </p:nvSpPr>
        <p:spPr>
          <a:xfrm>
            <a:off x="3310128" y="1536192"/>
            <a:ext cx="594360" cy="594360"/>
          </a:xfrm>
          <a:prstGeom prst="ellipse">
            <a:avLst/>
          </a:prstGeom>
          <a:solidFill>
            <a:srgbClr val="1A7A45"/>
          </a:solidFill>
        </p:spPr>
      </p:sp>
      <p:sp>
        <p:nvSpPr>
          <p:cNvPr id="15" name="Text 13"/>
          <p:cNvSpPr/>
          <p:nvPr/>
        </p:nvSpPr>
        <p:spPr>
          <a:xfrm>
            <a:off x="3310128" y="1536192"/>
            <a:ext cx="594360" cy="594360"/>
          </a:xfrm>
          <a:prstGeom prst="rect">
            <a:avLst/>
          </a:prstGeom>
          <a:noFill/>
        </p:spPr>
        <p:txBody>
          <a:bodyPr wrap="square" rtlCol="0" anchor="ctr"/>
          <a:lstStyle/>
          <a:p>
            <a:pPr marL="0" indent="0" algn="ctr">
              <a:buNone/>
            </a:pPr>
            <a:r>
              <a:rPr lang="en-US" sz="1200" b="1" dirty="0">
                <a:solidFill>
                  <a:srgbClr val="FFFFFF"/>
                </a:solidFill>
              </a:rPr>
              <a:t>02</a:t>
            </a:r>
            <a:endParaRPr lang="en-US" sz="1200" dirty="0"/>
          </a:p>
        </p:txBody>
      </p:sp>
      <p:sp>
        <p:nvSpPr>
          <p:cNvPr id="16" name="Text 14"/>
          <p:cNvSpPr/>
          <p:nvPr/>
        </p:nvSpPr>
        <p:spPr>
          <a:xfrm>
            <a:off x="4023360" y="1554480"/>
            <a:ext cx="50292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17" name="Text 15"/>
          <p:cNvSpPr/>
          <p:nvPr/>
        </p:nvSpPr>
        <p:spPr>
          <a:xfrm>
            <a:off x="3310128" y="2194560"/>
            <a:ext cx="2514600" cy="292608"/>
          </a:xfrm>
          <a:prstGeom prst="rect">
            <a:avLst/>
          </a:prstGeom>
          <a:noFill/>
        </p:spPr>
        <p:txBody>
          <a:bodyPr wrap="square" rtlCol="0" anchor="ctr"/>
          <a:lstStyle/>
          <a:p>
            <a:pPr marL="0" indent="0">
              <a:buNone/>
            </a:pPr>
            <a:r>
              <a:rPr lang="en-US" sz="1100" b="1" dirty="0">
                <a:solidFill>
                  <a:srgbClr val="1A7A45"/>
                </a:solidFill>
              </a:rPr>
              <a:t>OwnIt Vets &amp; Structures</a:t>
            </a:r>
            <a:endParaRPr lang="en-US" sz="1100" dirty="0"/>
          </a:p>
        </p:txBody>
      </p:sp>
      <p:sp>
        <p:nvSpPr>
          <p:cNvPr id="18" name="Text 16"/>
          <p:cNvSpPr/>
          <p:nvPr/>
        </p:nvSpPr>
        <p:spPr>
          <a:xfrm>
            <a:off x="3310128" y="2487168"/>
            <a:ext cx="2514600" cy="502920"/>
          </a:xfrm>
          <a:prstGeom prst="rect">
            <a:avLst/>
          </a:prstGeom>
          <a:noFill/>
        </p:spPr>
        <p:txBody>
          <a:bodyPr wrap="square" rtlCol="0" anchor="ctr"/>
          <a:lstStyle/>
          <a:p>
            <a:pPr marL="0" indent="0">
              <a:buNone/>
            </a:pPr>
            <a:r>
              <a:rPr lang="en-US" sz="900" dirty="0">
                <a:solidFill>
                  <a:srgbClr val="5A7A68"/>
                </a:solidFill>
              </a:rPr>
              <a:t>OwnIt's compliance team verifies legal documents, commercial viability, projected returns, and payout timeline. Full financial disclosure before funding opens.</a:t>
            </a:r>
            <a:endParaRPr lang="en-US" sz="900" dirty="0"/>
          </a:p>
        </p:txBody>
      </p:sp>
      <p:sp>
        <p:nvSpPr>
          <p:cNvPr id="19" name="Shape 17"/>
          <p:cNvSpPr/>
          <p:nvPr/>
        </p:nvSpPr>
        <p:spPr>
          <a:xfrm>
            <a:off x="6126480" y="1389888"/>
            <a:ext cx="2743200" cy="1664208"/>
          </a:xfrm>
          <a:prstGeom prst="rect">
            <a:avLst/>
          </a:prstGeom>
          <a:solidFill>
            <a:srgbClr val="FFFFFF"/>
          </a:solidFill>
          <a:effectLst>
            <a:outerShdw blurRad="101600" dist="38100" dir="8100000" algn="bl" rotWithShape="0">
              <a:srgbClr val="000000">
                <a:alpha val="12000"/>
              </a:srgbClr>
            </a:outerShdw>
          </a:effectLst>
        </p:spPr>
      </p:sp>
      <p:sp>
        <p:nvSpPr>
          <p:cNvPr id="20" name="Shape 18"/>
          <p:cNvSpPr/>
          <p:nvPr/>
        </p:nvSpPr>
        <p:spPr>
          <a:xfrm>
            <a:off x="6126480" y="1389888"/>
            <a:ext cx="2743200" cy="64008"/>
          </a:xfrm>
          <a:prstGeom prst="rect">
            <a:avLst/>
          </a:prstGeom>
          <a:solidFill>
            <a:srgbClr val="1A7A45"/>
          </a:solidFill>
        </p:spPr>
      </p:sp>
      <p:sp>
        <p:nvSpPr>
          <p:cNvPr id="21" name="Shape 19"/>
          <p:cNvSpPr/>
          <p:nvPr/>
        </p:nvSpPr>
        <p:spPr>
          <a:xfrm>
            <a:off x="6236208" y="1536192"/>
            <a:ext cx="594360" cy="594360"/>
          </a:xfrm>
          <a:prstGeom prst="ellipse">
            <a:avLst/>
          </a:prstGeom>
          <a:solidFill>
            <a:srgbClr val="1A7A45"/>
          </a:solidFill>
        </p:spPr>
      </p:sp>
      <p:sp>
        <p:nvSpPr>
          <p:cNvPr id="22" name="Text 20"/>
          <p:cNvSpPr/>
          <p:nvPr/>
        </p:nvSpPr>
        <p:spPr>
          <a:xfrm>
            <a:off x="6236208" y="1536192"/>
            <a:ext cx="594360" cy="594360"/>
          </a:xfrm>
          <a:prstGeom prst="rect">
            <a:avLst/>
          </a:prstGeom>
          <a:noFill/>
        </p:spPr>
        <p:txBody>
          <a:bodyPr wrap="square" rtlCol="0" anchor="ctr"/>
          <a:lstStyle/>
          <a:p>
            <a:pPr marL="0" indent="0" algn="ctr">
              <a:buNone/>
            </a:pPr>
            <a:r>
              <a:rPr lang="en-US" sz="1200" b="1" dirty="0">
                <a:solidFill>
                  <a:srgbClr val="FFFFFF"/>
                </a:solidFill>
              </a:rPr>
              <a:t>03</a:t>
            </a:r>
            <a:endParaRPr lang="en-US" sz="1200" dirty="0"/>
          </a:p>
        </p:txBody>
      </p:sp>
      <p:sp>
        <p:nvSpPr>
          <p:cNvPr id="23" name="Text 21"/>
          <p:cNvSpPr/>
          <p:nvPr/>
        </p:nvSpPr>
        <p:spPr>
          <a:xfrm>
            <a:off x="6949440" y="1554480"/>
            <a:ext cx="50292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4" name="Text 22"/>
          <p:cNvSpPr/>
          <p:nvPr/>
        </p:nvSpPr>
        <p:spPr>
          <a:xfrm>
            <a:off x="6236208" y="2194560"/>
            <a:ext cx="2514600" cy="292608"/>
          </a:xfrm>
          <a:prstGeom prst="rect">
            <a:avLst/>
          </a:prstGeom>
          <a:noFill/>
        </p:spPr>
        <p:txBody>
          <a:bodyPr wrap="square" rtlCol="0" anchor="ctr"/>
          <a:lstStyle/>
          <a:p>
            <a:pPr marL="0" indent="0">
              <a:buNone/>
            </a:pPr>
            <a:r>
              <a:rPr lang="en-US" sz="1100" b="1" dirty="0">
                <a:solidFill>
                  <a:srgbClr val="1A7A45"/>
                </a:solidFill>
              </a:rPr>
              <a:t>Crowd Funds the Asset</a:t>
            </a:r>
            <a:endParaRPr lang="en-US" sz="1100" dirty="0"/>
          </a:p>
        </p:txBody>
      </p:sp>
      <p:sp>
        <p:nvSpPr>
          <p:cNvPr id="25" name="Text 23"/>
          <p:cNvSpPr/>
          <p:nvPr/>
        </p:nvSpPr>
        <p:spPr>
          <a:xfrm>
            <a:off x="6236208" y="2487168"/>
            <a:ext cx="2514600" cy="502920"/>
          </a:xfrm>
          <a:prstGeom prst="rect">
            <a:avLst/>
          </a:prstGeom>
          <a:noFill/>
        </p:spPr>
        <p:txBody>
          <a:bodyPr wrap="square" rtlCol="0" anchor="ctr"/>
          <a:lstStyle/>
          <a:p>
            <a:pPr marL="0" indent="0">
              <a:buNone/>
            </a:pPr>
            <a:r>
              <a:rPr lang="en-US" sz="900" dirty="0">
                <a:solidFill>
                  <a:srgbClr val="5A7A68"/>
                </a:solidFill>
              </a:rPr>
              <a:t>Investors browse and contribute from UGX 50,000. Contributions pool until the fundraising target is reached. Each investor receives proportional Hisa (digital shares).</a:t>
            </a:r>
            <a:endParaRPr lang="en-US" sz="900" dirty="0"/>
          </a:p>
        </p:txBody>
      </p:sp>
      <p:sp>
        <p:nvSpPr>
          <p:cNvPr id="26" name="Shape 24"/>
          <p:cNvSpPr/>
          <p:nvPr/>
        </p:nvSpPr>
        <p:spPr>
          <a:xfrm>
            <a:off x="274320" y="3218688"/>
            <a:ext cx="2743200" cy="1664208"/>
          </a:xfrm>
          <a:prstGeom prst="rect">
            <a:avLst/>
          </a:prstGeom>
          <a:solidFill>
            <a:srgbClr val="FFFFFF"/>
          </a:solidFill>
          <a:effectLst>
            <a:outerShdw blurRad="101600" dist="38100" dir="8100000" algn="bl" rotWithShape="0">
              <a:srgbClr val="000000">
                <a:alpha val="12000"/>
              </a:srgbClr>
            </a:outerShdw>
          </a:effectLst>
        </p:spPr>
      </p:sp>
      <p:sp>
        <p:nvSpPr>
          <p:cNvPr id="27" name="Shape 25"/>
          <p:cNvSpPr/>
          <p:nvPr/>
        </p:nvSpPr>
        <p:spPr>
          <a:xfrm>
            <a:off x="274320" y="3218688"/>
            <a:ext cx="2743200" cy="64008"/>
          </a:xfrm>
          <a:prstGeom prst="rect">
            <a:avLst/>
          </a:prstGeom>
          <a:solidFill>
            <a:srgbClr val="1A7A45"/>
          </a:solidFill>
        </p:spPr>
      </p:sp>
      <p:sp>
        <p:nvSpPr>
          <p:cNvPr id="28" name="Shape 26"/>
          <p:cNvSpPr/>
          <p:nvPr/>
        </p:nvSpPr>
        <p:spPr>
          <a:xfrm>
            <a:off x="384048" y="3364992"/>
            <a:ext cx="594360" cy="594360"/>
          </a:xfrm>
          <a:prstGeom prst="ellipse">
            <a:avLst/>
          </a:prstGeom>
          <a:solidFill>
            <a:srgbClr val="1A7A45"/>
          </a:solidFill>
        </p:spPr>
      </p:sp>
      <p:sp>
        <p:nvSpPr>
          <p:cNvPr id="29" name="Text 27"/>
          <p:cNvSpPr/>
          <p:nvPr/>
        </p:nvSpPr>
        <p:spPr>
          <a:xfrm>
            <a:off x="384048" y="3364992"/>
            <a:ext cx="594360" cy="594360"/>
          </a:xfrm>
          <a:prstGeom prst="rect">
            <a:avLst/>
          </a:prstGeom>
          <a:noFill/>
        </p:spPr>
        <p:txBody>
          <a:bodyPr wrap="square" rtlCol="0" anchor="ctr"/>
          <a:lstStyle/>
          <a:p>
            <a:pPr marL="0" indent="0" algn="ctr">
              <a:buNone/>
            </a:pPr>
            <a:r>
              <a:rPr lang="en-US" sz="1200" b="1" dirty="0">
                <a:solidFill>
                  <a:srgbClr val="FFFFFF"/>
                </a:solidFill>
              </a:rPr>
              <a:t>04</a:t>
            </a:r>
            <a:endParaRPr lang="en-US" sz="1200" dirty="0"/>
          </a:p>
        </p:txBody>
      </p:sp>
      <p:sp>
        <p:nvSpPr>
          <p:cNvPr id="30" name="Text 28"/>
          <p:cNvSpPr/>
          <p:nvPr/>
        </p:nvSpPr>
        <p:spPr>
          <a:xfrm>
            <a:off x="1097280" y="3383280"/>
            <a:ext cx="50292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31" name="Text 29"/>
          <p:cNvSpPr/>
          <p:nvPr/>
        </p:nvSpPr>
        <p:spPr>
          <a:xfrm>
            <a:off x="384048" y="4023360"/>
            <a:ext cx="2514600" cy="292608"/>
          </a:xfrm>
          <a:prstGeom prst="rect">
            <a:avLst/>
          </a:prstGeom>
          <a:noFill/>
        </p:spPr>
        <p:txBody>
          <a:bodyPr wrap="square" rtlCol="0" anchor="ctr"/>
          <a:lstStyle/>
          <a:p>
            <a:pPr marL="0" indent="0">
              <a:buNone/>
            </a:pPr>
            <a:r>
              <a:rPr lang="en-US" sz="1100" b="1" dirty="0">
                <a:solidFill>
                  <a:srgbClr val="1A7A45"/>
                </a:solidFill>
              </a:rPr>
              <a:t>Asset Generates Profit</a:t>
            </a:r>
            <a:endParaRPr lang="en-US" sz="1100" dirty="0"/>
          </a:p>
        </p:txBody>
      </p:sp>
      <p:sp>
        <p:nvSpPr>
          <p:cNvPr id="32" name="Text 30"/>
          <p:cNvSpPr/>
          <p:nvPr/>
        </p:nvSpPr>
        <p:spPr>
          <a:xfrm>
            <a:off x="384048" y="4315968"/>
            <a:ext cx="2514600" cy="502920"/>
          </a:xfrm>
          <a:prstGeom prst="rect">
            <a:avLst/>
          </a:prstGeom>
          <a:noFill/>
        </p:spPr>
        <p:txBody>
          <a:bodyPr wrap="square" rtlCol="0" anchor="ctr"/>
          <a:lstStyle/>
          <a:p>
            <a:pPr marL="0" indent="0">
              <a:buNone/>
            </a:pPr>
            <a:r>
              <a:rPr lang="en-US" sz="900" dirty="0">
                <a:solidFill>
                  <a:srgbClr val="5A7A68"/>
                </a:solidFill>
              </a:rPr>
              <a:t>The asset produces income — rent, commodity sale, oil trade profit, FX gain, bond coupon, dividend, or mineral sale. Timing disclosed upfront on every listing.</a:t>
            </a:r>
            <a:endParaRPr lang="en-US" sz="900" dirty="0"/>
          </a:p>
        </p:txBody>
      </p:sp>
      <p:sp>
        <p:nvSpPr>
          <p:cNvPr id="33" name="Shape 31"/>
          <p:cNvSpPr/>
          <p:nvPr/>
        </p:nvSpPr>
        <p:spPr>
          <a:xfrm>
            <a:off x="3200400" y="3218688"/>
            <a:ext cx="2743200" cy="1664208"/>
          </a:xfrm>
          <a:prstGeom prst="rect">
            <a:avLst/>
          </a:prstGeom>
          <a:solidFill>
            <a:srgbClr val="FFFFFF"/>
          </a:solidFill>
          <a:effectLst>
            <a:outerShdw blurRad="101600" dist="38100" dir="8100000" algn="bl" rotWithShape="0">
              <a:srgbClr val="000000">
                <a:alpha val="12000"/>
              </a:srgbClr>
            </a:outerShdw>
          </a:effectLst>
        </p:spPr>
      </p:sp>
      <p:sp>
        <p:nvSpPr>
          <p:cNvPr id="34" name="Shape 32"/>
          <p:cNvSpPr/>
          <p:nvPr/>
        </p:nvSpPr>
        <p:spPr>
          <a:xfrm>
            <a:off x="3200400" y="3218688"/>
            <a:ext cx="2743200" cy="64008"/>
          </a:xfrm>
          <a:prstGeom prst="rect">
            <a:avLst/>
          </a:prstGeom>
          <a:solidFill>
            <a:srgbClr val="1A7A45"/>
          </a:solidFill>
        </p:spPr>
      </p:sp>
      <p:sp>
        <p:nvSpPr>
          <p:cNvPr id="35" name="Shape 33"/>
          <p:cNvSpPr/>
          <p:nvPr/>
        </p:nvSpPr>
        <p:spPr>
          <a:xfrm>
            <a:off x="3310128" y="3364992"/>
            <a:ext cx="594360" cy="594360"/>
          </a:xfrm>
          <a:prstGeom prst="ellipse">
            <a:avLst/>
          </a:prstGeom>
          <a:solidFill>
            <a:srgbClr val="1A7A45"/>
          </a:solidFill>
        </p:spPr>
      </p:sp>
      <p:sp>
        <p:nvSpPr>
          <p:cNvPr id="36" name="Text 34"/>
          <p:cNvSpPr/>
          <p:nvPr/>
        </p:nvSpPr>
        <p:spPr>
          <a:xfrm>
            <a:off x="3310128" y="3364992"/>
            <a:ext cx="594360" cy="594360"/>
          </a:xfrm>
          <a:prstGeom prst="rect">
            <a:avLst/>
          </a:prstGeom>
          <a:noFill/>
        </p:spPr>
        <p:txBody>
          <a:bodyPr wrap="square" rtlCol="0" anchor="ctr"/>
          <a:lstStyle/>
          <a:p>
            <a:pPr marL="0" indent="0" algn="ctr">
              <a:buNone/>
            </a:pPr>
            <a:r>
              <a:rPr lang="en-US" sz="1200" b="1" dirty="0">
                <a:solidFill>
                  <a:srgbClr val="FFFFFF"/>
                </a:solidFill>
              </a:rPr>
              <a:t>05</a:t>
            </a:r>
            <a:endParaRPr lang="en-US" sz="1200" dirty="0"/>
          </a:p>
        </p:txBody>
      </p:sp>
      <p:sp>
        <p:nvSpPr>
          <p:cNvPr id="37" name="Text 35"/>
          <p:cNvSpPr/>
          <p:nvPr/>
        </p:nvSpPr>
        <p:spPr>
          <a:xfrm>
            <a:off x="4023360" y="3383280"/>
            <a:ext cx="50292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38" name="Text 36"/>
          <p:cNvSpPr/>
          <p:nvPr/>
        </p:nvSpPr>
        <p:spPr>
          <a:xfrm>
            <a:off x="3310128" y="4023360"/>
            <a:ext cx="2514600" cy="292608"/>
          </a:xfrm>
          <a:prstGeom prst="rect">
            <a:avLst/>
          </a:prstGeom>
          <a:noFill/>
        </p:spPr>
        <p:txBody>
          <a:bodyPr wrap="square" rtlCol="0" anchor="ctr"/>
          <a:lstStyle/>
          <a:p>
            <a:pPr marL="0" indent="0">
              <a:buNone/>
            </a:pPr>
            <a:r>
              <a:rPr lang="en-US" sz="1100" b="1" dirty="0">
                <a:solidFill>
                  <a:srgbClr val="1A7A45"/>
                </a:solidFill>
              </a:rPr>
              <a:t>NSSF Deducts &amp; Distributes</a:t>
            </a:r>
            <a:endParaRPr lang="en-US" sz="1100" dirty="0"/>
          </a:p>
        </p:txBody>
      </p:sp>
      <p:sp>
        <p:nvSpPr>
          <p:cNvPr id="39" name="Text 37"/>
          <p:cNvSpPr/>
          <p:nvPr/>
        </p:nvSpPr>
        <p:spPr>
          <a:xfrm>
            <a:off x="3310128" y="4315968"/>
            <a:ext cx="2514600" cy="502920"/>
          </a:xfrm>
          <a:prstGeom prst="rect">
            <a:avLst/>
          </a:prstGeom>
          <a:noFill/>
        </p:spPr>
        <p:txBody>
          <a:bodyPr wrap="square" rtlCol="0" anchor="ctr"/>
          <a:lstStyle/>
          <a:p>
            <a:pPr marL="0" indent="0">
              <a:buNone/>
            </a:pPr>
            <a:r>
              <a:rPr lang="en-US" sz="900" dirty="0">
                <a:solidFill>
                  <a:srgbClr val="5A7A68"/>
                </a:solidFill>
              </a:rPr>
              <a:t>NSSF deducts 3% service charge + 2% pension levy before any payout leaves. Net returns are sent to each investor's MoMo wallet proportionally — same day.</a:t>
            </a:r>
            <a:endParaRPr lang="en-US" sz="900" dirty="0"/>
          </a:p>
        </p:txBody>
      </p:sp>
      <p:sp>
        <p:nvSpPr>
          <p:cNvPr id="40" name="Shape 38"/>
          <p:cNvSpPr/>
          <p:nvPr/>
        </p:nvSpPr>
        <p:spPr>
          <a:xfrm>
            <a:off x="6126480" y="3218688"/>
            <a:ext cx="2743200" cy="1664208"/>
          </a:xfrm>
          <a:prstGeom prst="rect">
            <a:avLst/>
          </a:prstGeom>
          <a:solidFill>
            <a:srgbClr val="FFFFFF"/>
          </a:solidFill>
          <a:effectLst>
            <a:outerShdw blurRad="101600" dist="38100" dir="8100000" algn="bl" rotWithShape="0">
              <a:srgbClr val="000000">
                <a:alpha val="12000"/>
              </a:srgbClr>
            </a:outerShdw>
          </a:effectLst>
        </p:spPr>
      </p:sp>
      <p:sp>
        <p:nvSpPr>
          <p:cNvPr id="41" name="Shape 39"/>
          <p:cNvSpPr/>
          <p:nvPr/>
        </p:nvSpPr>
        <p:spPr>
          <a:xfrm>
            <a:off x="6126480" y="3218688"/>
            <a:ext cx="2743200" cy="64008"/>
          </a:xfrm>
          <a:prstGeom prst="rect">
            <a:avLst/>
          </a:prstGeom>
          <a:solidFill>
            <a:srgbClr val="1A7A45"/>
          </a:solidFill>
        </p:spPr>
      </p:sp>
      <p:sp>
        <p:nvSpPr>
          <p:cNvPr id="42" name="Shape 40"/>
          <p:cNvSpPr/>
          <p:nvPr/>
        </p:nvSpPr>
        <p:spPr>
          <a:xfrm>
            <a:off x="6236208" y="3364992"/>
            <a:ext cx="594360" cy="594360"/>
          </a:xfrm>
          <a:prstGeom prst="ellipse">
            <a:avLst/>
          </a:prstGeom>
          <a:solidFill>
            <a:srgbClr val="1A7A45"/>
          </a:solidFill>
        </p:spPr>
      </p:sp>
      <p:sp>
        <p:nvSpPr>
          <p:cNvPr id="43" name="Text 41"/>
          <p:cNvSpPr/>
          <p:nvPr/>
        </p:nvSpPr>
        <p:spPr>
          <a:xfrm>
            <a:off x="6236208" y="3364992"/>
            <a:ext cx="594360" cy="594360"/>
          </a:xfrm>
          <a:prstGeom prst="rect">
            <a:avLst/>
          </a:prstGeom>
          <a:noFill/>
        </p:spPr>
        <p:txBody>
          <a:bodyPr wrap="square" rtlCol="0" anchor="ctr"/>
          <a:lstStyle/>
          <a:p>
            <a:pPr marL="0" indent="0" algn="ctr">
              <a:buNone/>
            </a:pPr>
            <a:r>
              <a:rPr lang="en-US" sz="1200" b="1" dirty="0">
                <a:solidFill>
                  <a:srgbClr val="FFFFFF"/>
                </a:solidFill>
              </a:rPr>
              <a:t>06</a:t>
            </a:r>
            <a:endParaRPr lang="en-US" sz="1200" dirty="0"/>
          </a:p>
        </p:txBody>
      </p:sp>
      <p:sp>
        <p:nvSpPr>
          <p:cNvPr id="44" name="Text 42"/>
          <p:cNvSpPr/>
          <p:nvPr/>
        </p:nvSpPr>
        <p:spPr>
          <a:xfrm>
            <a:off x="6949440" y="3383280"/>
            <a:ext cx="50292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45" name="Text 43"/>
          <p:cNvSpPr/>
          <p:nvPr/>
        </p:nvSpPr>
        <p:spPr>
          <a:xfrm>
            <a:off x="6236208" y="4023360"/>
            <a:ext cx="2514600" cy="292608"/>
          </a:xfrm>
          <a:prstGeom prst="rect">
            <a:avLst/>
          </a:prstGeom>
          <a:noFill/>
        </p:spPr>
        <p:txBody>
          <a:bodyPr wrap="square" rtlCol="0" anchor="ctr"/>
          <a:lstStyle/>
          <a:p>
            <a:pPr marL="0" indent="0">
              <a:buNone/>
            </a:pPr>
            <a:r>
              <a:rPr lang="en-US" sz="1100" b="1" dirty="0">
                <a:solidFill>
                  <a:srgbClr val="1A7A45"/>
                </a:solidFill>
              </a:rPr>
              <a:t>Reinvest &amp; Build Wealth</a:t>
            </a:r>
            <a:endParaRPr lang="en-US" sz="1100" dirty="0"/>
          </a:p>
        </p:txBody>
      </p:sp>
      <p:sp>
        <p:nvSpPr>
          <p:cNvPr id="46" name="Text 44"/>
          <p:cNvSpPr/>
          <p:nvPr/>
        </p:nvSpPr>
        <p:spPr>
          <a:xfrm>
            <a:off x="6236208" y="4315968"/>
            <a:ext cx="2514600" cy="502920"/>
          </a:xfrm>
          <a:prstGeom prst="rect">
            <a:avLst/>
          </a:prstGeom>
          <a:noFill/>
        </p:spPr>
        <p:txBody>
          <a:bodyPr wrap="square" rtlCol="0" anchor="ctr"/>
          <a:lstStyle/>
          <a:p>
            <a:pPr marL="0" indent="0">
              <a:buNone/>
            </a:pPr>
            <a:r>
              <a:rPr lang="en-US" sz="900" dirty="0">
                <a:solidFill>
                  <a:srgbClr val="5A7A68"/>
                </a:solidFill>
              </a:rPr>
              <a:t>Investors reinvest returns across 9 asset classes, building diversified portfolios. Their NSSF pension pot grows silently in the background.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PETROLEUM &amp; AGRI-COMMODITIES — HOW THE INVESTMENT MODELS WORK</a:t>
            </a:r>
            <a:endParaRPr lang="en-US" sz="1100" dirty="0"/>
          </a:p>
        </p:txBody>
      </p:sp>
      <p:sp>
        <p:nvSpPr>
          <p:cNvPr id="4" name="Text 2"/>
          <p:cNvSpPr/>
          <p:nvPr/>
        </p:nvSpPr>
        <p:spPr>
          <a:xfrm>
            <a:off x="457200" y="749808"/>
            <a:ext cx="8229600" cy="530352"/>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Not just options. You can co-own the actual tanker load or the export shipment.</a:t>
            </a:r>
            <a:endParaRPr lang="en-US" sz="2200" dirty="0"/>
          </a:p>
        </p:txBody>
      </p:sp>
      <p:sp>
        <p:nvSpPr>
          <p:cNvPr id="5" name="Shape 3"/>
          <p:cNvSpPr/>
          <p:nvPr/>
        </p:nvSpPr>
        <p:spPr>
          <a:xfrm>
            <a:off x="320040" y="1417320"/>
            <a:ext cx="4160520" cy="384048"/>
          </a:xfrm>
          <a:prstGeom prst="rect">
            <a:avLst/>
          </a:prstGeom>
          <a:solidFill>
            <a:srgbClr val="B45309"/>
          </a:solidFill>
        </p:spPr>
      </p:sp>
      <p:sp>
        <p:nvSpPr>
          <p:cNvPr id="6" name="Text 4"/>
          <p:cNvSpPr/>
          <p:nvPr/>
        </p:nvSpPr>
        <p:spPr>
          <a:xfrm>
            <a:off x="411480" y="1417320"/>
            <a:ext cx="4069080" cy="384048"/>
          </a:xfrm>
          <a:prstGeom prst="rect">
            <a:avLst/>
          </a:prstGeom>
          <a:noFill/>
        </p:spPr>
        <p:txBody>
          <a:bodyPr wrap="square" rtlCol="0" anchor="ctr"/>
          <a:lstStyle/>
          <a:p>
            <a:pPr marL="0" indent="0">
              <a:buNone/>
            </a:pPr>
            <a:r>
              <a:rPr lang="en-US" sz="1200" b="1" dirty="0">
                <a:solidFill>
                  <a:srgbClr val="FFFFFF"/>
                </a:solidFill>
              </a:rPr>
              <a:t>🛢️  PETROLEUM &amp; OIL — 2 MODELS</a:t>
            </a:r>
            <a:endParaRPr lang="en-US" sz="1200" dirty="0"/>
          </a:p>
        </p:txBody>
      </p:sp>
      <p:sp>
        <p:nvSpPr>
          <p:cNvPr id="7" name="Shape 5"/>
          <p:cNvSpPr/>
          <p:nvPr/>
        </p:nvSpPr>
        <p:spPr>
          <a:xfrm>
            <a:off x="320040" y="1874520"/>
            <a:ext cx="4160520" cy="1261872"/>
          </a:xfrm>
          <a:prstGeom prst="rect">
            <a:avLst/>
          </a:prstGeom>
          <a:solidFill>
            <a:srgbClr val="FFFFFF"/>
          </a:solidFill>
          <a:effectLst>
            <a:outerShdw blurRad="101600" dist="38100" dir="8100000" algn="bl" rotWithShape="0">
              <a:srgbClr val="000000">
                <a:alpha val="12000"/>
              </a:srgbClr>
            </a:outerShdw>
          </a:effectLst>
        </p:spPr>
      </p:sp>
      <p:sp>
        <p:nvSpPr>
          <p:cNvPr id="8" name="Shape 6"/>
          <p:cNvSpPr/>
          <p:nvPr/>
        </p:nvSpPr>
        <p:spPr>
          <a:xfrm>
            <a:off x="320040" y="1874520"/>
            <a:ext cx="64008" cy="1261872"/>
          </a:xfrm>
          <a:prstGeom prst="rect">
            <a:avLst/>
          </a:prstGeom>
          <a:solidFill>
            <a:srgbClr val="B45309"/>
          </a:solidFill>
        </p:spPr>
      </p:sp>
      <p:sp>
        <p:nvSpPr>
          <p:cNvPr id="9" name="Shape 7"/>
          <p:cNvSpPr/>
          <p:nvPr/>
        </p:nvSpPr>
        <p:spPr>
          <a:xfrm>
            <a:off x="411480" y="1947672"/>
            <a:ext cx="868680" cy="237744"/>
          </a:xfrm>
          <a:prstGeom prst="rect">
            <a:avLst/>
          </a:prstGeom>
          <a:solidFill>
            <a:srgbClr val="B45309"/>
          </a:solidFill>
        </p:spPr>
      </p:sp>
      <p:sp>
        <p:nvSpPr>
          <p:cNvPr id="10" name="Text 8"/>
          <p:cNvSpPr/>
          <p:nvPr/>
        </p:nvSpPr>
        <p:spPr>
          <a:xfrm>
            <a:off x="411480" y="1947672"/>
            <a:ext cx="868680" cy="237744"/>
          </a:xfrm>
          <a:prstGeom prst="rect">
            <a:avLst/>
          </a:prstGeom>
          <a:noFill/>
        </p:spPr>
        <p:txBody>
          <a:bodyPr wrap="square" rtlCol="0" anchor="ctr"/>
          <a:lstStyle/>
          <a:p>
            <a:pPr marL="0" indent="0" algn="ctr">
              <a:buNone/>
            </a:pPr>
            <a:r>
              <a:rPr lang="en-US" sz="900" b="1" dirty="0">
                <a:solidFill>
                  <a:srgbClr val="FFFFFF"/>
                </a:solidFill>
              </a:rPr>
              <a:t>Model A</a:t>
            </a:r>
            <a:endParaRPr lang="en-US" sz="900" dirty="0"/>
          </a:p>
        </p:txBody>
      </p:sp>
      <p:sp>
        <p:nvSpPr>
          <p:cNvPr id="11" name="Text 9"/>
          <p:cNvSpPr/>
          <p:nvPr/>
        </p:nvSpPr>
        <p:spPr>
          <a:xfrm>
            <a:off x="1371600" y="1947672"/>
            <a:ext cx="2999232" cy="256032"/>
          </a:xfrm>
          <a:prstGeom prst="rect">
            <a:avLst/>
          </a:prstGeom>
          <a:noFill/>
        </p:spPr>
        <p:txBody>
          <a:bodyPr wrap="square" rtlCol="0" anchor="ctr"/>
          <a:lstStyle/>
          <a:p>
            <a:pPr marL="0" indent="0">
              <a:buNone/>
            </a:pPr>
            <a:r>
              <a:rPr lang="en-US" sz="1100" b="1" dirty="0">
                <a:solidFill>
                  <a:srgbClr val="0D1F15"/>
                </a:solidFill>
              </a:rPr>
              <a:t>Physical Tanker Purchase</a:t>
            </a:r>
            <a:endParaRPr lang="en-US" sz="1100" dirty="0"/>
          </a:p>
        </p:txBody>
      </p:sp>
      <p:sp>
        <p:nvSpPr>
          <p:cNvPr id="12" name="Text 10"/>
          <p:cNvSpPr/>
          <p:nvPr/>
        </p:nvSpPr>
        <p:spPr>
          <a:xfrm>
            <a:off x="457200" y="2258568"/>
            <a:ext cx="3931920" cy="530352"/>
          </a:xfrm>
          <a:prstGeom prst="rect">
            <a:avLst/>
          </a:prstGeom>
          <a:noFill/>
        </p:spPr>
        <p:txBody>
          <a:bodyPr wrap="square" rtlCol="0" anchor="ctr"/>
          <a:lstStyle/>
          <a:p>
            <a:pPr marL="0" indent="0">
              <a:buNone/>
            </a:pPr>
            <a:r>
              <a:rPr lang="en-US" sz="900" dirty="0">
                <a:solidFill>
                  <a:srgbClr val="5A7A68"/>
                </a:solidFill>
              </a:rPr>
              <a:t>Investors collectively fund the full purchase cost of a petroleum tanker consignment — e.g. one tanker load of diesel (UGX 80M–500M). A PAU-licensed local petroleum importer takes delivery, distributes the fuel to petrol stations and commercial fuel buyers across Uganda, and returns principal + profit to the investor pool within 30–90 days.</a:t>
            </a:r>
            <a:endParaRPr lang="en-US" sz="900" dirty="0"/>
          </a:p>
        </p:txBody>
      </p:sp>
      <p:sp>
        <p:nvSpPr>
          <p:cNvPr id="13" name="Shape 11"/>
          <p:cNvSpPr/>
          <p:nvPr/>
        </p:nvSpPr>
        <p:spPr>
          <a:xfrm>
            <a:off x="411480" y="2825496"/>
            <a:ext cx="3977640" cy="237744"/>
          </a:xfrm>
          <a:prstGeom prst="rect">
            <a:avLst/>
          </a:prstGeom>
          <a:solidFill>
            <a:srgbClr val="F4F9F5"/>
          </a:solidFill>
        </p:spPr>
      </p:sp>
      <p:sp>
        <p:nvSpPr>
          <p:cNvPr id="14" name="Text 12"/>
          <p:cNvSpPr/>
          <p:nvPr/>
        </p:nvSpPr>
        <p:spPr>
          <a:xfrm>
            <a:off x="475488" y="2834640"/>
            <a:ext cx="3858768" cy="201168"/>
          </a:xfrm>
          <a:prstGeom prst="rect">
            <a:avLst/>
          </a:prstGeom>
          <a:noFill/>
        </p:spPr>
        <p:txBody>
          <a:bodyPr wrap="square" rtlCol="0" anchor="ctr"/>
          <a:lstStyle/>
          <a:p>
            <a:pPr marL="0" indent="0">
              <a:buNone/>
            </a:pPr>
            <a:r>
              <a:rPr lang="en-US" sz="850" i="1" dirty="0">
                <a:solidFill>
                  <a:srgbClr val="B45309"/>
                </a:solidFill>
              </a:rPr>
              <a:t>e.g. Tanker of diesel @ UGX 120M crowd-funded → sold to 8 petrol stations → UGX 143M returned → 19.2% return in 60 days</a:t>
            </a:r>
            <a:endParaRPr lang="en-US" sz="850" dirty="0"/>
          </a:p>
        </p:txBody>
      </p:sp>
      <p:sp>
        <p:nvSpPr>
          <p:cNvPr id="15" name="Shape 13"/>
          <p:cNvSpPr/>
          <p:nvPr/>
        </p:nvSpPr>
        <p:spPr>
          <a:xfrm>
            <a:off x="320040" y="3264408"/>
            <a:ext cx="4160520" cy="1261872"/>
          </a:xfrm>
          <a:prstGeom prst="rect">
            <a:avLst/>
          </a:prstGeom>
          <a:solidFill>
            <a:srgbClr val="FFFFFF"/>
          </a:solidFill>
          <a:effectLst>
            <a:outerShdw blurRad="101600" dist="38100" dir="8100000" algn="bl" rotWithShape="0">
              <a:srgbClr val="000000">
                <a:alpha val="12000"/>
              </a:srgbClr>
            </a:outerShdw>
          </a:effectLst>
        </p:spPr>
      </p:sp>
      <p:sp>
        <p:nvSpPr>
          <p:cNvPr id="16" name="Shape 14"/>
          <p:cNvSpPr/>
          <p:nvPr/>
        </p:nvSpPr>
        <p:spPr>
          <a:xfrm>
            <a:off x="320040" y="3264408"/>
            <a:ext cx="64008" cy="1261872"/>
          </a:xfrm>
          <a:prstGeom prst="rect">
            <a:avLst/>
          </a:prstGeom>
          <a:solidFill>
            <a:srgbClr val="F59E0B"/>
          </a:solidFill>
        </p:spPr>
      </p:sp>
      <p:sp>
        <p:nvSpPr>
          <p:cNvPr id="17" name="Shape 15"/>
          <p:cNvSpPr/>
          <p:nvPr/>
        </p:nvSpPr>
        <p:spPr>
          <a:xfrm>
            <a:off x="411480" y="3337560"/>
            <a:ext cx="868680" cy="237744"/>
          </a:xfrm>
          <a:prstGeom prst="rect">
            <a:avLst/>
          </a:prstGeom>
          <a:solidFill>
            <a:srgbClr val="F59E0B"/>
          </a:solidFill>
        </p:spPr>
      </p:sp>
      <p:sp>
        <p:nvSpPr>
          <p:cNvPr id="18" name="Text 16"/>
          <p:cNvSpPr/>
          <p:nvPr/>
        </p:nvSpPr>
        <p:spPr>
          <a:xfrm>
            <a:off x="411480" y="3337560"/>
            <a:ext cx="868680" cy="237744"/>
          </a:xfrm>
          <a:prstGeom prst="rect">
            <a:avLst/>
          </a:prstGeom>
          <a:noFill/>
        </p:spPr>
        <p:txBody>
          <a:bodyPr wrap="square" rtlCol="0" anchor="ctr"/>
          <a:lstStyle/>
          <a:p>
            <a:pPr marL="0" indent="0" algn="ctr">
              <a:buNone/>
            </a:pPr>
            <a:r>
              <a:rPr lang="en-US" sz="900" b="1" dirty="0">
                <a:solidFill>
                  <a:srgbClr val="FFFFFF"/>
                </a:solidFill>
              </a:rPr>
              <a:t>Model B</a:t>
            </a:r>
            <a:endParaRPr lang="en-US" sz="900" dirty="0"/>
          </a:p>
        </p:txBody>
      </p:sp>
      <p:sp>
        <p:nvSpPr>
          <p:cNvPr id="19" name="Text 17"/>
          <p:cNvSpPr/>
          <p:nvPr/>
        </p:nvSpPr>
        <p:spPr>
          <a:xfrm>
            <a:off x="1371600" y="3337560"/>
            <a:ext cx="2999232" cy="256032"/>
          </a:xfrm>
          <a:prstGeom prst="rect">
            <a:avLst/>
          </a:prstGeom>
          <a:noFill/>
        </p:spPr>
        <p:txBody>
          <a:bodyPr wrap="square" rtlCol="0" anchor="ctr"/>
          <a:lstStyle/>
          <a:p>
            <a:pPr marL="0" indent="0">
              <a:buNone/>
            </a:pPr>
            <a:r>
              <a:rPr lang="en-US" sz="1100" b="1" dirty="0">
                <a:solidFill>
                  <a:srgbClr val="0D1F15"/>
                </a:solidFill>
              </a:rPr>
              <a:t>Oil Options (Price Contracts)</a:t>
            </a:r>
            <a:endParaRPr lang="en-US" sz="1100" dirty="0"/>
          </a:p>
        </p:txBody>
      </p:sp>
      <p:sp>
        <p:nvSpPr>
          <p:cNvPr id="20" name="Text 18"/>
          <p:cNvSpPr/>
          <p:nvPr/>
        </p:nvSpPr>
        <p:spPr>
          <a:xfrm>
            <a:off x="457200" y="3648456"/>
            <a:ext cx="3931920" cy="530352"/>
          </a:xfrm>
          <a:prstGeom prst="rect">
            <a:avLst/>
          </a:prstGeom>
          <a:noFill/>
        </p:spPr>
        <p:txBody>
          <a:bodyPr wrap="square" rtlCol="0" anchor="ctr"/>
          <a:lstStyle/>
          <a:p>
            <a:pPr marL="0" indent="0">
              <a:buNone/>
            </a:pPr>
            <a:r>
              <a:rPr lang="en-US" sz="900" dirty="0">
                <a:solidFill>
                  <a:srgbClr val="5A7A68"/>
                </a:solidFill>
              </a:rPr>
              <a:t>Investors hold short-dated contracts on regional fuel price differentials — managed by a licensed petroleum trading firm. No physical ownership of the consignment. Profit is realised on the price movement between the contract entry and exit date. Higher potential return; higher risk.</a:t>
            </a:r>
            <a:endParaRPr lang="en-US" sz="900" dirty="0"/>
          </a:p>
        </p:txBody>
      </p:sp>
      <p:sp>
        <p:nvSpPr>
          <p:cNvPr id="21" name="Shape 19"/>
          <p:cNvSpPr/>
          <p:nvPr/>
        </p:nvSpPr>
        <p:spPr>
          <a:xfrm>
            <a:off x="411480" y="4215384"/>
            <a:ext cx="3977640" cy="237744"/>
          </a:xfrm>
          <a:prstGeom prst="rect">
            <a:avLst/>
          </a:prstGeom>
          <a:solidFill>
            <a:srgbClr val="F4F9F5"/>
          </a:solidFill>
        </p:spPr>
      </p:sp>
      <p:sp>
        <p:nvSpPr>
          <p:cNvPr id="22" name="Text 20"/>
          <p:cNvSpPr/>
          <p:nvPr/>
        </p:nvSpPr>
        <p:spPr>
          <a:xfrm>
            <a:off x="475488" y="4224528"/>
            <a:ext cx="3858768" cy="201168"/>
          </a:xfrm>
          <a:prstGeom prst="rect">
            <a:avLst/>
          </a:prstGeom>
          <a:noFill/>
        </p:spPr>
        <p:txBody>
          <a:bodyPr wrap="square" rtlCol="0" anchor="ctr"/>
          <a:lstStyle/>
          <a:p>
            <a:pPr marL="0" indent="0">
              <a:buNone/>
            </a:pPr>
            <a:r>
              <a:rPr lang="en-US" sz="850" i="1" dirty="0">
                <a:solidFill>
                  <a:srgbClr val="F59E0B"/>
                </a:solidFill>
              </a:rPr>
              <a:t>e.g. Enter diesel option at UGX 4,200/L → exit at UGX 4,850/L within 30 days → 15.5% gross return on contract value</a:t>
            </a:r>
            <a:endParaRPr lang="en-US" sz="850" dirty="0"/>
          </a:p>
        </p:txBody>
      </p:sp>
      <p:sp>
        <p:nvSpPr>
          <p:cNvPr id="23" name="Shape 21"/>
          <p:cNvSpPr/>
          <p:nvPr/>
        </p:nvSpPr>
        <p:spPr>
          <a:xfrm>
            <a:off x="320040" y="4663440"/>
            <a:ext cx="4160520" cy="274320"/>
          </a:xfrm>
          <a:prstGeom prst="rect">
            <a:avLst/>
          </a:prstGeom>
          <a:solidFill>
            <a:srgbClr val="0F4D2B"/>
          </a:solidFill>
        </p:spPr>
      </p:sp>
      <p:sp>
        <p:nvSpPr>
          <p:cNvPr id="24" name="Text 22"/>
          <p:cNvSpPr/>
          <p:nvPr/>
        </p:nvSpPr>
        <p:spPr>
          <a:xfrm>
            <a:off x="411480" y="4663440"/>
            <a:ext cx="4005072" cy="274320"/>
          </a:xfrm>
          <a:prstGeom prst="rect">
            <a:avLst/>
          </a:prstGeom>
          <a:noFill/>
        </p:spPr>
        <p:txBody>
          <a:bodyPr wrap="square" rtlCol="0" anchor="ctr"/>
          <a:lstStyle/>
          <a:p>
            <a:pPr marL="0" indent="0">
              <a:buNone/>
            </a:pPr>
            <a:r>
              <a:rPr lang="en-US" sz="900" dirty="0">
                <a:solidFill>
                  <a:srgbClr val="D4EFE0"/>
                </a:solidFill>
              </a:rPr>
              <a:t>Both models require PAU licence verification. Physical consignment listings carry mandatory commercial insurance.</a:t>
            </a:r>
            <a:endParaRPr lang="en-US" sz="900" dirty="0"/>
          </a:p>
        </p:txBody>
      </p:sp>
      <p:sp>
        <p:nvSpPr>
          <p:cNvPr id="25" name="Shape 23"/>
          <p:cNvSpPr/>
          <p:nvPr/>
        </p:nvSpPr>
        <p:spPr>
          <a:xfrm>
            <a:off x="4663440" y="1417320"/>
            <a:ext cx="4160520" cy="384048"/>
          </a:xfrm>
          <a:prstGeom prst="rect">
            <a:avLst/>
          </a:prstGeom>
          <a:solidFill>
            <a:srgbClr val="1A7A45"/>
          </a:solidFill>
        </p:spPr>
      </p:sp>
      <p:sp>
        <p:nvSpPr>
          <p:cNvPr id="26" name="Text 24"/>
          <p:cNvSpPr/>
          <p:nvPr/>
        </p:nvSpPr>
        <p:spPr>
          <a:xfrm>
            <a:off x="4754880" y="1417320"/>
            <a:ext cx="4069080" cy="384048"/>
          </a:xfrm>
          <a:prstGeom prst="rect">
            <a:avLst/>
          </a:prstGeom>
          <a:noFill/>
        </p:spPr>
        <p:txBody>
          <a:bodyPr wrap="square" rtlCol="0" anchor="ctr"/>
          <a:lstStyle/>
          <a:p>
            <a:pPr marL="0" indent="0">
              <a:buNone/>
            </a:pPr>
            <a:r>
              <a:rPr lang="en-US" sz="1200" b="1" dirty="0">
                <a:solidFill>
                  <a:srgbClr val="FFFFFF"/>
                </a:solidFill>
              </a:rPr>
              <a:t>🌽  AGRI-COMMODITIES — 2 MODELS</a:t>
            </a:r>
            <a:endParaRPr lang="en-US" sz="1200" dirty="0"/>
          </a:p>
        </p:txBody>
      </p:sp>
      <p:sp>
        <p:nvSpPr>
          <p:cNvPr id="27" name="Shape 25"/>
          <p:cNvSpPr/>
          <p:nvPr/>
        </p:nvSpPr>
        <p:spPr>
          <a:xfrm>
            <a:off x="4663440" y="1874520"/>
            <a:ext cx="4160520" cy="1261872"/>
          </a:xfrm>
          <a:prstGeom prst="rect">
            <a:avLst/>
          </a:prstGeom>
          <a:solidFill>
            <a:srgbClr val="FFFFFF"/>
          </a:solidFill>
          <a:effectLst>
            <a:outerShdw blurRad="101600" dist="38100" dir="8100000" algn="bl" rotWithShape="0">
              <a:srgbClr val="000000">
                <a:alpha val="12000"/>
              </a:srgbClr>
            </a:outerShdw>
          </a:effectLst>
        </p:spPr>
      </p:sp>
      <p:sp>
        <p:nvSpPr>
          <p:cNvPr id="28" name="Shape 26"/>
          <p:cNvSpPr/>
          <p:nvPr/>
        </p:nvSpPr>
        <p:spPr>
          <a:xfrm>
            <a:off x="4663440" y="1874520"/>
            <a:ext cx="64008" cy="1261872"/>
          </a:xfrm>
          <a:prstGeom prst="rect">
            <a:avLst/>
          </a:prstGeom>
          <a:solidFill>
            <a:srgbClr val="1A7A45"/>
          </a:solidFill>
        </p:spPr>
      </p:sp>
      <p:sp>
        <p:nvSpPr>
          <p:cNvPr id="29" name="Shape 27"/>
          <p:cNvSpPr/>
          <p:nvPr/>
        </p:nvSpPr>
        <p:spPr>
          <a:xfrm>
            <a:off x="4754880" y="1947672"/>
            <a:ext cx="868680" cy="237744"/>
          </a:xfrm>
          <a:prstGeom prst="rect">
            <a:avLst/>
          </a:prstGeom>
          <a:solidFill>
            <a:srgbClr val="1A7A45"/>
          </a:solidFill>
        </p:spPr>
      </p:sp>
      <p:sp>
        <p:nvSpPr>
          <p:cNvPr id="30" name="Text 28"/>
          <p:cNvSpPr/>
          <p:nvPr/>
        </p:nvSpPr>
        <p:spPr>
          <a:xfrm>
            <a:off x="4754880" y="1947672"/>
            <a:ext cx="868680" cy="237744"/>
          </a:xfrm>
          <a:prstGeom prst="rect">
            <a:avLst/>
          </a:prstGeom>
          <a:noFill/>
        </p:spPr>
        <p:txBody>
          <a:bodyPr wrap="square" rtlCol="0" anchor="ctr"/>
          <a:lstStyle/>
          <a:p>
            <a:pPr marL="0" indent="0" algn="ctr">
              <a:buNone/>
            </a:pPr>
            <a:r>
              <a:rPr lang="en-US" sz="900" b="1" dirty="0">
                <a:solidFill>
                  <a:srgbClr val="FFFFFF"/>
                </a:solidFill>
              </a:rPr>
              <a:t>Model A</a:t>
            </a:r>
            <a:endParaRPr lang="en-US" sz="900" dirty="0"/>
          </a:p>
        </p:txBody>
      </p:sp>
      <p:sp>
        <p:nvSpPr>
          <p:cNvPr id="31" name="Text 29"/>
          <p:cNvSpPr/>
          <p:nvPr/>
        </p:nvSpPr>
        <p:spPr>
          <a:xfrm>
            <a:off x="5715000" y="1947672"/>
            <a:ext cx="2999232" cy="256032"/>
          </a:xfrm>
          <a:prstGeom prst="rect">
            <a:avLst/>
          </a:prstGeom>
          <a:noFill/>
        </p:spPr>
        <p:txBody>
          <a:bodyPr wrap="square" rtlCol="0" anchor="ctr"/>
          <a:lstStyle/>
          <a:p>
            <a:pPr marL="0" indent="0">
              <a:buNone/>
            </a:pPr>
            <a:r>
              <a:rPr lang="en-US" sz="1100" b="1" dirty="0">
                <a:solidFill>
                  <a:srgbClr val="0D1F15"/>
                </a:solidFill>
              </a:rPr>
              <a:t>Domestic Commodity Lot</a:t>
            </a:r>
            <a:endParaRPr lang="en-US" sz="1100" dirty="0"/>
          </a:p>
        </p:txBody>
      </p:sp>
      <p:sp>
        <p:nvSpPr>
          <p:cNvPr id="32" name="Text 30"/>
          <p:cNvSpPr/>
          <p:nvPr/>
        </p:nvSpPr>
        <p:spPr>
          <a:xfrm>
            <a:off x="4800600" y="2258568"/>
            <a:ext cx="3931920" cy="530352"/>
          </a:xfrm>
          <a:prstGeom prst="rect">
            <a:avLst/>
          </a:prstGeom>
          <a:noFill/>
        </p:spPr>
        <p:txBody>
          <a:bodyPr wrap="square" rtlCol="0" anchor="ctr"/>
          <a:lstStyle/>
          <a:p>
            <a:pPr marL="0" indent="0">
              <a:buNone/>
            </a:pPr>
            <a:r>
              <a:rPr lang="en-US" sz="900" dirty="0">
                <a:solidFill>
                  <a:srgbClr val="5A7A68"/>
                </a:solidFill>
              </a:rPr>
              <a:t>Investors fund a defined commodity lot — e.g. 500 bags of maize flour purchased from a local miller or cooperative at harvest price, sold to domestic institutional buyers (supermarket chains, school feeding programmes, relief agencies) within 30–60 days. Storage in a verified, insured warehouse. Proceeds distributed on the sale date.</a:t>
            </a:r>
            <a:endParaRPr lang="en-US" sz="900" dirty="0"/>
          </a:p>
        </p:txBody>
      </p:sp>
      <p:sp>
        <p:nvSpPr>
          <p:cNvPr id="33" name="Shape 31"/>
          <p:cNvSpPr/>
          <p:nvPr/>
        </p:nvSpPr>
        <p:spPr>
          <a:xfrm>
            <a:off x="4754880" y="2825496"/>
            <a:ext cx="3977640" cy="237744"/>
          </a:xfrm>
          <a:prstGeom prst="rect">
            <a:avLst/>
          </a:prstGeom>
          <a:solidFill>
            <a:srgbClr val="F4F9F5"/>
          </a:solidFill>
        </p:spPr>
      </p:sp>
      <p:sp>
        <p:nvSpPr>
          <p:cNvPr id="34" name="Text 32"/>
          <p:cNvSpPr/>
          <p:nvPr/>
        </p:nvSpPr>
        <p:spPr>
          <a:xfrm>
            <a:off x="4828032" y="2834640"/>
            <a:ext cx="3858768" cy="201168"/>
          </a:xfrm>
          <a:prstGeom prst="rect">
            <a:avLst/>
          </a:prstGeom>
          <a:noFill/>
        </p:spPr>
        <p:txBody>
          <a:bodyPr wrap="square" rtlCol="0" anchor="ctr"/>
          <a:lstStyle/>
          <a:p>
            <a:pPr marL="0" indent="0">
              <a:buNone/>
            </a:pPr>
            <a:r>
              <a:rPr lang="en-US" sz="850" i="1" dirty="0">
                <a:solidFill>
                  <a:srgbClr val="1A7A45"/>
                </a:solidFill>
              </a:rPr>
              <a:t>e.g. 500 bags maize flour @ UGX 25M → sold to supermarket chain → UGX 30.5M returned → 22% return in 45 days</a:t>
            </a:r>
            <a:endParaRPr lang="en-US" sz="850" dirty="0"/>
          </a:p>
        </p:txBody>
      </p:sp>
      <p:sp>
        <p:nvSpPr>
          <p:cNvPr id="35" name="Shape 33"/>
          <p:cNvSpPr/>
          <p:nvPr/>
        </p:nvSpPr>
        <p:spPr>
          <a:xfrm>
            <a:off x="4663440" y="3264408"/>
            <a:ext cx="4160520" cy="1261872"/>
          </a:xfrm>
          <a:prstGeom prst="rect">
            <a:avLst/>
          </a:prstGeom>
          <a:solidFill>
            <a:srgbClr val="FFFFFF"/>
          </a:solidFill>
          <a:effectLst>
            <a:outerShdw blurRad="101600" dist="38100" dir="8100000" algn="bl" rotWithShape="0">
              <a:srgbClr val="000000">
                <a:alpha val="12000"/>
              </a:srgbClr>
            </a:outerShdw>
          </a:effectLst>
        </p:spPr>
      </p:sp>
      <p:sp>
        <p:nvSpPr>
          <p:cNvPr id="36" name="Shape 34"/>
          <p:cNvSpPr/>
          <p:nvPr/>
        </p:nvSpPr>
        <p:spPr>
          <a:xfrm>
            <a:off x="4663440" y="3264408"/>
            <a:ext cx="64008" cy="1261872"/>
          </a:xfrm>
          <a:prstGeom prst="rect">
            <a:avLst/>
          </a:prstGeom>
          <a:solidFill>
            <a:srgbClr val="028090"/>
          </a:solidFill>
        </p:spPr>
      </p:sp>
      <p:sp>
        <p:nvSpPr>
          <p:cNvPr id="37" name="Shape 35"/>
          <p:cNvSpPr/>
          <p:nvPr/>
        </p:nvSpPr>
        <p:spPr>
          <a:xfrm>
            <a:off x="4754880" y="3337560"/>
            <a:ext cx="868680" cy="237744"/>
          </a:xfrm>
          <a:prstGeom prst="rect">
            <a:avLst/>
          </a:prstGeom>
          <a:solidFill>
            <a:srgbClr val="028090"/>
          </a:solidFill>
        </p:spPr>
      </p:sp>
      <p:sp>
        <p:nvSpPr>
          <p:cNvPr id="38" name="Text 36"/>
          <p:cNvSpPr/>
          <p:nvPr/>
        </p:nvSpPr>
        <p:spPr>
          <a:xfrm>
            <a:off x="4754880" y="3337560"/>
            <a:ext cx="868680" cy="237744"/>
          </a:xfrm>
          <a:prstGeom prst="rect">
            <a:avLst/>
          </a:prstGeom>
          <a:noFill/>
        </p:spPr>
        <p:txBody>
          <a:bodyPr wrap="square" rtlCol="0" anchor="ctr"/>
          <a:lstStyle/>
          <a:p>
            <a:pPr marL="0" indent="0" algn="ctr">
              <a:buNone/>
            </a:pPr>
            <a:r>
              <a:rPr lang="en-US" sz="900" b="1" dirty="0">
                <a:solidFill>
                  <a:srgbClr val="FFFFFF"/>
                </a:solidFill>
              </a:rPr>
              <a:t>Model B</a:t>
            </a:r>
            <a:endParaRPr lang="en-US" sz="900" dirty="0"/>
          </a:p>
        </p:txBody>
      </p:sp>
      <p:sp>
        <p:nvSpPr>
          <p:cNvPr id="39" name="Text 37"/>
          <p:cNvSpPr/>
          <p:nvPr/>
        </p:nvSpPr>
        <p:spPr>
          <a:xfrm>
            <a:off x="5715000" y="3337560"/>
            <a:ext cx="2999232" cy="256032"/>
          </a:xfrm>
          <a:prstGeom prst="rect">
            <a:avLst/>
          </a:prstGeom>
          <a:noFill/>
        </p:spPr>
        <p:txBody>
          <a:bodyPr wrap="square" rtlCol="0" anchor="ctr"/>
          <a:lstStyle/>
          <a:p>
            <a:pPr marL="0" indent="0">
              <a:buNone/>
            </a:pPr>
            <a:r>
              <a:rPr lang="en-US" sz="1100" b="1" dirty="0">
                <a:solidFill>
                  <a:srgbClr val="0D1F15"/>
                </a:solidFill>
              </a:rPr>
              <a:t>Export Consignment Financing</a:t>
            </a:r>
            <a:endParaRPr lang="en-US" sz="1100" dirty="0"/>
          </a:p>
        </p:txBody>
      </p:sp>
      <p:sp>
        <p:nvSpPr>
          <p:cNvPr id="40" name="Text 38"/>
          <p:cNvSpPr/>
          <p:nvPr/>
        </p:nvSpPr>
        <p:spPr>
          <a:xfrm>
            <a:off x="4800600" y="3648456"/>
            <a:ext cx="3931920" cy="530352"/>
          </a:xfrm>
          <a:prstGeom prst="rect">
            <a:avLst/>
          </a:prstGeom>
          <a:noFill/>
        </p:spPr>
        <p:txBody>
          <a:bodyPr wrap="square" rtlCol="0" anchor="ctr"/>
          <a:lstStyle/>
          <a:p>
            <a:pPr marL="0" indent="0">
              <a:buNone/>
            </a:pPr>
            <a:r>
              <a:rPr lang="en-US" sz="900" dirty="0">
                <a:solidFill>
                  <a:srgbClr val="5A7A68"/>
                </a:solidFill>
              </a:rPr>
              <a:t>Investors fund a verified export lot — e.g. 10 metric tonnes of maize, sesame, coffee, or dried fish bound for Kenya, South Sudan, DRC, the Middle East, or the EU. The lister must present a signed off-take agreement or Letter of Credit from the foreign buyer before the listing opens. Export premium returns reflect the higher international price differential vs Ugandan farm-gate prices.</a:t>
            </a:r>
            <a:endParaRPr lang="en-US" sz="900" dirty="0"/>
          </a:p>
        </p:txBody>
      </p:sp>
      <p:sp>
        <p:nvSpPr>
          <p:cNvPr id="41" name="Shape 39"/>
          <p:cNvSpPr/>
          <p:nvPr/>
        </p:nvSpPr>
        <p:spPr>
          <a:xfrm>
            <a:off x="4754880" y="4215384"/>
            <a:ext cx="3977640" cy="237744"/>
          </a:xfrm>
          <a:prstGeom prst="rect">
            <a:avLst/>
          </a:prstGeom>
          <a:solidFill>
            <a:srgbClr val="F4F9F5"/>
          </a:solidFill>
        </p:spPr>
      </p:sp>
      <p:sp>
        <p:nvSpPr>
          <p:cNvPr id="42" name="Text 40"/>
          <p:cNvSpPr/>
          <p:nvPr/>
        </p:nvSpPr>
        <p:spPr>
          <a:xfrm>
            <a:off x="4828032" y="4224528"/>
            <a:ext cx="3858768" cy="201168"/>
          </a:xfrm>
          <a:prstGeom prst="rect">
            <a:avLst/>
          </a:prstGeom>
          <a:noFill/>
        </p:spPr>
        <p:txBody>
          <a:bodyPr wrap="square" rtlCol="0" anchor="ctr"/>
          <a:lstStyle/>
          <a:p>
            <a:pPr marL="0" indent="0">
              <a:buNone/>
            </a:pPr>
            <a:r>
              <a:rPr lang="en-US" sz="850" i="1" dirty="0">
                <a:solidFill>
                  <a:srgbClr val="028090"/>
                </a:solidFill>
              </a:rPr>
              <a:t>e.g. 10 MT sesame flour @ UGX 18M crowd-funded → LC-backed sale to UAE buyer → UGX 25.6M returned → 42% return in 90 days</a:t>
            </a:r>
            <a:endParaRPr lang="en-US" sz="850" dirty="0"/>
          </a:p>
        </p:txBody>
      </p:sp>
      <p:sp>
        <p:nvSpPr>
          <p:cNvPr id="43" name="Shape 41"/>
          <p:cNvSpPr/>
          <p:nvPr/>
        </p:nvSpPr>
        <p:spPr>
          <a:xfrm>
            <a:off x="4663440" y="4663440"/>
            <a:ext cx="4160520" cy="274320"/>
          </a:xfrm>
          <a:prstGeom prst="rect">
            <a:avLst/>
          </a:prstGeom>
          <a:solidFill>
            <a:srgbClr val="0F4D2B"/>
          </a:solidFill>
        </p:spPr>
      </p:sp>
      <p:sp>
        <p:nvSpPr>
          <p:cNvPr id="44" name="Text 42"/>
          <p:cNvSpPr/>
          <p:nvPr/>
        </p:nvSpPr>
        <p:spPr>
          <a:xfrm>
            <a:off x="4754880" y="4663440"/>
            <a:ext cx="4005072" cy="274320"/>
          </a:xfrm>
          <a:prstGeom prst="rect">
            <a:avLst/>
          </a:prstGeom>
          <a:noFill/>
        </p:spPr>
        <p:txBody>
          <a:bodyPr wrap="square" rtlCol="0" anchor="ctr"/>
          <a:lstStyle/>
          <a:p>
            <a:pPr marL="0" indent="0">
              <a:buNone/>
            </a:pPr>
            <a:r>
              <a:rPr lang="en-US" sz="900" dirty="0">
                <a:solidFill>
                  <a:srgbClr val="D4EFE0"/>
                </a:solidFill>
              </a:rPr>
              <a:t>All agri lots stored in verified, insured warehouses. Export listers must present signed off-take agreement or Letter of Credit.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CROWD LOANS — INSTITUTIONAL &amp; COMMERCIAL LENDING</a:t>
            </a:r>
            <a:endParaRPr lang="en-US" sz="1100" dirty="0"/>
          </a:p>
        </p:txBody>
      </p:sp>
      <p:sp>
        <p:nvSpPr>
          <p:cNvPr id="4" name="Text 2"/>
          <p:cNvSpPr/>
          <p:nvPr/>
        </p:nvSpPr>
        <p:spPr>
          <a:xfrm>
            <a:off x="457200" y="749808"/>
            <a:ext cx="8229600" cy="530352"/>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Banks and MFIs list loans. The crowd funds them. Everyone earns fixed interest.</a:t>
            </a:r>
            <a:endParaRPr lang="en-US" sz="2200" dirty="0"/>
          </a:p>
        </p:txBody>
      </p:sp>
      <p:sp>
        <p:nvSpPr>
          <p:cNvPr id="5" name="Text 3"/>
          <p:cNvSpPr/>
          <p:nvPr/>
        </p:nvSpPr>
        <p:spPr>
          <a:xfrm>
            <a:off x="457200" y="1371600"/>
            <a:ext cx="4114800" cy="274320"/>
          </a:xfrm>
          <a:prstGeom prst="rect">
            <a:avLst/>
          </a:prstGeom>
          <a:noFill/>
        </p:spPr>
        <p:txBody>
          <a:bodyPr wrap="square" rtlCol="0" anchor="ctr"/>
          <a:lstStyle/>
          <a:p>
            <a:pPr marL="0" indent="0">
              <a:buNone/>
            </a:pPr>
            <a:r>
              <a:rPr lang="en-US" sz="1000" b="1" kern="0" spc="300" dirty="0">
                <a:solidFill>
                  <a:srgbClr val="1E2761"/>
                </a:solidFill>
              </a:rPr>
              <a:t>HOW A CROWD LOAN WORKS</a:t>
            </a:r>
            <a:endParaRPr lang="en-US" sz="1000" dirty="0"/>
          </a:p>
        </p:txBody>
      </p:sp>
      <p:sp>
        <p:nvSpPr>
          <p:cNvPr id="6" name="Shape 4"/>
          <p:cNvSpPr/>
          <p:nvPr/>
        </p:nvSpPr>
        <p:spPr>
          <a:xfrm>
            <a:off x="347472" y="1719072"/>
            <a:ext cx="4160520" cy="566928"/>
          </a:xfrm>
          <a:prstGeom prst="rect">
            <a:avLst/>
          </a:prstGeom>
          <a:solidFill>
            <a:srgbClr val="F4F9F5"/>
          </a:solidFill>
          <a:effectLst>
            <a:outerShdw blurRad="101600" dist="38100" dir="8100000" algn="bl" rotWithShape="0">
              <a:srgbClr val="000000">
                <a:alpha val="12000"/>
              </a:srgbClr>
            </a:outerShdw>
          </a:effectLst>
        </p:spPr>
      </p:sp>
      <p:sp>
        <p:nvSpPr>
          <p:cNvPr id="7" name="Shape 5"/>
          <p:cNvSpPr/>
          <p:nvPr/>
        </p:nvSpPr>
        <p:spPr>
          <a:xfrm>
            <a:off x="411480" y="1856232"/>
            <a:ext cx="292608" cy="292608"/>
          </a:xfrm>
          <a:prstGeom prst="ellipse">
            <a:avLst/>
          </a:prstGeom>
          <a:solidFill>
            <a:srgbClr val="1E2761"/>
          </a:solidFill>
        </p:spPr>
      </p:sp>
      <p:sp>
        <p:nvSpPr>
          <p:cNvPr id="8" name="Text 6"/>
          <p:cNvSpPr/>
          <p:nvPr/>
        </p:nvSpPr>
        <p:spPr>
          <a:xfrm>
            <a:off x="411480" y="1856232"/>
            <a:ext cx="292608" cy="292608"/>
          </a:xfrm>
          <a:prstGeom prst="rect">
            <a:avLst/>
          </a:prstGeom>
          <a:noFill/>
        </p:spPr>
        <p:txBody>
          <a:bodyPr wrap="square" rtlCol="0" anchor="ctr"/>
          <a:lstStyle/>
          <a:p>
            <a:pPr marL="0" indent="0" algn="ctr">
              <a:buNone/>
            </a:pPr>
            <a:r>
              <a:rPr lang="en-US" sz="900" b="1" dirty="0">
                <a:solidFill>
                  <a:srgbClr val="FFFFFF"/>
                </a:solidFill>
              </a:rPr>
              <a:t>1</a:t>
            </a:r>
            <a:endParaRPr lang="en-US" sz="900" dirty="0"/>
          </a:p>
        </p:txBody>
      </p:sp>
      <p:sp>
        <p:nvSpPr>
          <p:cNvPr id="9" name="Text 7"/>
          <p:cNvSpPr/>
          <p:nvPr/>
        </p:nvSpPr>
        <p:spPr>
          <a:xfrm>
            <a:off x="777240" y="1810512"/>
            <a:ext cx="347472"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10" name="Text 8"/>
          <p:cNvSpPr/>
          <p:nvPr/>
        </p:nvSpPr>
        <p:spPr>
          <a:xfrm>
            <a:off x="1188720" y="1764792"/>
            <a:ext cx="3218688" cy="237744"/>
          </a:xfrm>
          <a:prstGeom prst="rect">
            <a:avLst/>
          </a:prstGeom>
          <a:noFill/>
        </p:spPr>
        <p:txBody>
          <a:bodyPr wrap="square" rtlCol="0" anchor="ctr"/>
          <a:lstStyle/>
          <a:p>
            <a:pPr marL="0" indent="0">
              <a:buNone/>
            </a:pPr>
            <a:r>
              <a:rPr lang="en-US" sz="1000" b="1" dirty="0">
                <a:solidFill>
                  <a:srgbClr val="0D1F15"/>
                </a:solidFill>
              </a:rPr>
              <a:t>Lister Publishes Loan</a:t>
            </a:r>
            <a:endParaRPr lang="en-US" sz="1000" dirty="0"/>
          </a:p>
        </p:txBody>
      </p:sp>
      <p:sp>
        <p:nvSpPr>
          <p:cNvPr id="11" name="Text 9"/>
          <p:cNvSpPr/>
          <p:nvPr/>
        </p:nvSpPr>
        <p:spPr>
          <a:xfrm>
            <a:off x="1188720" y="1993392"/>
            <a:ext cx="3218688" cy="256032"/>
          </a:xfrm>
          <a:prstGeom prst="rect">
            <a:avLst/>
          </a:prstGeom>
          <a:noFill/>
        </p:spPr>
        <p:txBody>
          <a:bodyPr wrap="square" rtlCol="0" anchor="ctr"/>
          <a:lstStyle/>
          <a:p>
            <a:pPr marL="0" indent="0">
              <a:buNone/>
            </a:pPr>
            <a:r>
              <a:rPr lang="en-US" sz="850" dirty="0">
                <a:solidFill>
                  <a:srgbClr val="5A7A68"/>
                </a:solidFill>
              </a:rPr>
              <a:t>A licensed bank, MFI, or investment firm lists a specific loan facility. They specify: total amount, interest rate, repayment period, loan purpose, and collateral held. Example: "ABC Microfinance — UGX 10,000,000 business loan at 10% interest, payable in 3 months."</a:t>
            </a:r>
            <a:endParaRPr lang="en-US" sz="850" dirty="0"/>
          </a:p>
        </p:txBody>
      </p:sp>
      <p:sp>
        <p:nvSpPr>
          <p:cNvPr id="12" name="Shape 10"/>
          <p:cNvSpPr/>
          <p:nvPr/>
        </p:nvSpPr>
        <p:spPr>
          <a:xfrm>
            <a:off x="347472" y="2340864"/>
            <a:ext cx="4160520" cy="566928"/>
          </a:xfrm>
          <a:prstGeom prst="rect">
            <a:avLst/>
          </a:prstGeom>
          <a:solidFill>
            <a:srgbClr val="FFFFFF"/>
          </a:solidFill>
        </p:spPr>
      </p:sp>
      <p:sp>
        <p:nvSpPr>
          <p:cNvPr id="13" name="Shape 11"/>
          <p:cNvSpPr/>
          <p:nvPr/>
        </p:nvSpPr>
        <p:spPr>
          <a:xfrm>
            <a:off x="411480" y="2478024"/>
            <a:ext cx="292608" cy="292608"/>
          </a:xfrm>
          <a:prstGeom prst="ellipse">
            <a:avLst/>
          </a:prstGeom>
          <a:solidFill>
            <a:srgbClr val="1E2761"/>
          </a:solidFill>
        </p:spPr>
      </p:sp>
      <p:sp>
        <p:nvSpPr>
          <p:cNvPr id="14" name="Text 12"/>
          <p:cNvSpPr/>
          <p:nvPr/>
        </p:nvSpPr>
        <p:spPr>
          <a:xfrm>
            <a:off x="411480" y="2478024"/>
            <a:ext cx="292608" cy="292608"/>
          </a:xfrm>
          <a:prstGeom prst="rect">
            <a:avLst/>
          </a:prstGeom>
          <a:noFill/>
        </p:spPr>
        <p:txBody>
          <a:bodyPr wrap="square" rtlCol="0" anchor="ctr"/>
          <a:lstStyle/>
          <a:p>
            <a:pPr marL="0" indent="0" algn="ctr">
              <a:buNone/>
            </a:pPr>
            <a:r>
              <a:rPr lang="en-US" sz="900" b="1" dirty="0">
                <a:solidFill>
                  <a:srgbClr val="FFFFFF"/>
                </a:solidFill>
              </a:rPr>
              <a:t>2</a:t>
            </a:r>
            <a:endParaRPr lang="en-US" sz="900" dirty="0"/>
          </a:p>
        </p:txBody>
      </p:sp>
      <p:sp>
        <p:nvSpPr>
          <p:cNvPr id="15" name="Text 13"/>
          <p:cNvSpPr/>
          <p:nvPr/>
        </p:nvSpPr>
        <p:spPr>
          <a:xfrm>
            <a:off x="777240" y="2432304"/>
            <a:ext cx="347472"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16" name="Text 14"/>
          <p:cNvSpPr/>
          <p:nvPr/>
        </p:nvSpPr>
        <p:spPr>
          <a:xfrm>
            <a:off x="1188720" y="2386584"/>
            <a:ext cx="3218688" cy="237744"/>
          </a:xfrm>
          <a:prstGeom prst="rect">
            <a:avLst/>
          </a:prstGeom>
          <a:noFill/>
        </p:spPr>
        <p:txBody>
          <a:bodyPr wrap="square" rtlCol="0" anchor="ctr"/>
          <a:lstStyle/>
          <a:p>
            <a:pPr marL="0" indent="0">
              <a:buNone/>
            </a:pPr>
            <a:r>
              <a:rPr lang="en-US" sz="1000" b="1" dirty="0">
                <a:solidFill>
                  <a:srgbClr val="0D1F15"/>
                </a:solidFill>
              </a:rPr>
              <a:t>Crowd Funds the Loan</a:t>
            </a:r>
            <a:endParaRPr lang="en-US" sz="1000" dirty="0"/>
          </a:p>
        </p:txBody>
      </p:sp>
      <p:sp>
        <p:nvSpPr>
          <p:cNvPr id="17" name="Text 15"/>
          <p:cNvSpPr/>
          <p:nvPr/>
        </p:nvSpPr>
        <p:spPr>
          <a:xfrm>
            <a:off x="1188720" y="2615184"/>
            <a:ext cx="3218688" cy="256032"/>
          </a:xfrm>
          <a:prstGeom prst="rect">
            <a:avLst/>
          </a:prstGeom>
          <a:noFill/>
        </p:spPr>
        <p:txBody>
          <a:bodyPr wrap="square" rtlCol="0" anchor="ctr"/>
          <a:lstStyle/>
          <a:p>
            <a:pPr marL="0" indent="0">
              <a:buNone/>
            </a:pPr>
            <a:r>
              <a:rPr lang="en-US" sz="850" dirty="0">
                <a:solidFill>
                  <a:srgbClr val="5A7A68"/>
                </a:solidFill>
              </a:rPr>
              <a:t>Investors contribute from UGX 50,000 into the loan pool. Progress bar shows funding %. Once fully funded, OwnIt releases capital to the lister in escrow tranches tied to milestones.</a:t>
            </a:r>
            <a:endParaRPr lang="en-US" sz="850" dirty="0"/>
          </a:p>
        </p:txBody>
      </p:sp>
      <p:sp>
        <p:nvSpPr>
          <p:cNvPr id="18" name="Shape 16"/>
          <p:cNvSpPr/>
          <p:nvPr/>
        </p:nvSpPr>
        <p:spPr>
          <a:xfrm>
            <a:off x="347472" y="2962656"/>
            <a:ext cx="4160520" cy="566928"/>
          </a:xfrm>
          <a:prstGeom prst="rect">
            <a:avLst/>
          </a:prstGeom>
          <a:solidFill>
            <a:srgbClr val="F4F9F5"/>
          </a:solidFill>
        </p:spPr>
      </p:sp>
      <p:sp>
        <p:nvSpPr>
          <p:cNvPr id="19" name="Shape 17"/>
          <p:cNvSpPr/>
          <p:nvPr/>
        </p:nvSpPr>
        <p:spPr>
          <a:xfrm>
            <a:off x="411480" y="3099816"/>
            <a:ext cx="292608" cy="292608"/>
          </a:xfrm>
          <a:prstGeom prst="ellipse">
            <a:avLst/>
          </a:prstGeom>
          <a:solidFill>
            <a:srgbClr val="1E2761"/>
          </a:solidFill>
        </p:spPr>
      </p:sp>
      <p:sp>
        <p:nvSpPr>
          <p:cNvPr id="20" name="Text 18"/>
          <p:cNvSpPr/>
          <p:nvPr/>
        </p:nvSpPr>
        <p:spPr>
          <a:xfrm>
            <a:off x="411480" y="3099816"/>
            <a:ext cx="292608" cy="292608"/>
          </a:xfrm>
          <a:prstGeom prst="rect">
            <a:avLst/>
          </a:prstGeom>
          <a:noFill/>
        </p:spPr>
        <p:txBody>
          <a:bodyPr wrap="square" rtlCol="0" anchor="ctr"/>
          <a:lstStyle/>
          <a:p>
            <a:pPr marL="0" indent="0" algn="ctr">
              <a:buNone/>
            </a:pPr>
            <a:r>
              <a:rPr lang="en-US" sz="900" b="1" dirty="0">
                <a:solidFill>
                  <a:srgbClr val="FFFFFF"/>
                </a:solidFill>
              </a:rPr>
              <a:t>3</a:t>
            </a:r>
            <a:endParaRPr lang="en-US" sz="900" dirty="0"/>
          </a:p>
        </p:txBody>
      </p:sp>
      <p:sp>
        <p:nvSpPr>
          <p:cNvPr id="21" name="Text 19"/>
          <p:cNvSpPr/>
          <p:nvPr/>
        </p:nvSpPr>
        <p:spPr>
          <a:xfrm>
            <a:off x="777240" y="3054096"/>
            <a:ext cx="347472"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22" name="Text 20"/>
          <p:cNvSpPr/>
          <p:nvPr/>
        </p:nvSpPr>
        <p:spPr>
          <a:xfrm>
            <a:off x="1188720" y="3008376"/>
            <a:ext cx="3218688" cy="237744"/>
          </a:xfrm>
          <a:prstGeom prst="rect">
            <a:avLst/>
          </a:prstGeom>
          <a:noFill/>
        </p:spPr>
        <p:txBody>
          <a:bodyPr wrap="square" rtlCol="0" anchor="ctr"/>
          <a:lstStyle/>
          <a:p>
            <a:pPr marL="0" indent="0">
              <a:buNone/>
            </a:pPr>
            <a:r>
              <a:rPr lang="en-US" sz="1000" b="1" dirty="0">
                <a:solidFill>
                  <a:srgbClr val="0D1F15"/>
                </a:solidFill>
              </a:rPr>
              <a:t>Lister Services the Loan</a:t>
            </a:r>
            <a:endParaRPr lang="en-US" sz="1000" dirty="0"/>
          </a:p>
        </p:txBody>
      </p:sp>
      <p:sp>
        <p:nvSpPr>
          <p:cNvPr id="23" name="Text 21"/>
          <p:cNvSpPr/>
          <p:nvPr/>
        </p:nvSpPr>
        <p:spPr>
          <a:xfrm>
            <a:off x="1188720" y="3236976"/>
            <a:ext cx="3218688" cy="256032"/>
          </a:xfrm>
          <a:prstGeom prst="rect">
            <a:avLst/>
          </a:prstGeom>
          <a:noFill/>
        </p:spPr>
        <p:txBody>
          <a:bodyPr wrap="square" rtlCol="0" anchor="ctr"/>
          <a:lstStyle/>
          <a:p>
            <a:pPr marL="0" indent="0">
              <a:buNone/>
            </a:pPr>
            <a:r>
              <a:rPr lang="en-US" sz="850" dirty="0">
                <a:solidFill>
                  <a:srgbClr val="5A7A68"/>
                </a:solidFill>
              </a:rPr>
              <a:t>The lister (bank/MFI) manages the loan relationship with the end-borrower. Repayments flow back to OwnIt's escrow account on the agreed schedule — monthly instalments or bullet.</a:t>
            </a:r>
            <a:endParaRPr lang="en-US" sz="850" dirty="0"/>
          </a:p>
        </p:txBody>
      </p:sp>
      <p:sp>
        <p:nvSpPr>
          <p:cNvPr id="24" name="Shape 22"/>
          <p:cNvSpPr/>
          <p:nvPr/>
        </p:nvSpPr>
        <p:spPr>
          <a:xfrm>
            <a:off x="347472" y="3584448"/>
            <a:ext cx="4160520" cy="566928"/>
          </a:xfrm>
          <a:prstGeom prst="rect">
            <a:avLst/>
          </a:prstGeom>
          <a:solidFill>
            <a:srgbClr val="FFFFFF"/>
          </a:solidFill>
        </p:spPr>
      </p:sp>
      <p:sp>
        <p:nvSpPr>
          <p:cNvPr id="25" name="Shape 23"/>
          <p:cNvSpPr/>
          <p:nvPr/>
        </p:nvSpPr>
        <p:spPr>
          <a:xfrm>
            <a:off x="411480" y="3721608"/>
            <a:ext cx="292608" cy="292608"/>
          </a:xfrm>
          <a:prstGeom prst="ellipse">
            <a:avLst/>
          </a:prstGeom>
          <a:solidFill>
            <a:srgbClr val="1E2761"/>
          </a:solidFill>
        </p:spPr>
      </p:sp>
      <p:sp>
        <p:nvSpPr>
          <p:cNvPr id="26" name="Text 24"/>
          <p:cNvSpPr/>
          <p:nvPr/>
        </p:nvSpPr>
        <p:spPr>
          <a:xfrm>
            <a:off x="411480" y="3721608"/>
            <a:ext cx="292608" cy="292608"/>
          </a:xfrm>
          <a:prstGeom prst="rect">
            <a:avLst/>
          </a:prstGeom>
          <a:noFill/>
        </p:spPr>
        <p:txBody>
          <a:bodyPr wrap="square" rtlCol="0" anchor="ctr"/>
          <a:lstStyle/>
          <a:p>
            <a:pPr marL="0" indent="0" algn="ctr">
              <a:buNone/>
            </a:pPr>
            <a:r>
              <a:rPr lang="en-US" sz="900" b="1" dirty="0">
                <a:solidFill>
                  <a:srgbClr val="FFFFFF"/>
                </a:solidFill>
              </a:rPr>
              <a:t>4</a:t>
            </a:r>
            <a:endParaRPr lang="en-US" sz="900" dirty="0"/>
          </a:p>
        </p:txBody>
      </p:sp>
      <p:sp>
        <p:nvSpPr>
          <p:cNvPr id="27" name="Text 25"/>
          <p:cNvSpPr/>
          <p:nvPr/>
        </p:nvSpPr>
        <p:spPr>
          <a:xfrm>
            <a:off x="777240" y="3675888"/>
            <a:ext cx="347472"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28" name="Text 26"/>
          <p:cNvSpPr/>
          <p:nvPr/>
        </p:nvSpPr>
        <p:spPr>
          <a:xfrm>
            <a:off x="1188720" y="3630168"/>
            <a:ext cx="3218688" cy="237744"/>
          </a:xfrm>
          <a:prstGeom prst="rect">
            <a:avLst/>
          </a:prstGeom>
          <a:noFill/>
        </p:spPr>
        <p:txBody>
          <a:bodyPr wrap="square" rtlCol="0" anchor="ctr"/>
          <a:lstStyle/>
          <a:p>
            <a:pPr marL="0" indent="0">
              <a:buNone/>
            </a:pPr>
            <a:r>
              <a:rPr lang="en-US" sz="1000" b="1" dirty="0">
                <a:solidFill>
                  <a:srgbClr val="0D1F15"/>
                </a:solidFill>
              </a:rPr>
              <a:t>Investors Receive Returns</a:t>
            </a:r>
            <a:endParaRPr lang="en-US" sz="1000" dirty="0"/>
          </a:p>
        </p:txBody>
      </p:sp>
      <p:sp>
        <p:nvSpPr>
          <p:cNvPr id="29" name="Text 27"/>
          <p:cNvSpPr/>
          <p:nvPr/>
        </p:nvSpPr>
        <p:spPr>
          <a:xfrm>
            <a:off x="1188720" y="3858768"/>
            <a:ext cx="3218688" cy="256032"/>
          </a:xfrm>
          <a:prstGeom prst="rect">
            <a:avLst/>
          </a:prstGeom>
          <a:noFill/>
        </p:spPr>
        <p:txBody>
          <a:bodyPr wrap="square" rtlCol="0" anchor="ctr"/>
          <a:lstStyle/>
          <a:p>
            <a:pPr marL="0" indent="0">
              <a:buNone/>
            </a:pPr>
            <a:r>
              <a:rPr lang="en-US" sz="850" dirty="0">
                <a:solidFill>
                  <a:srgbClr val="5A7A68"/>
                </a:solidFill>
              </a:rPr>
              <a:t>At maturity, OwnIt distributes each investor's proportional share of principal + interest directly to their MoMo wallet — net of the 5% NSSF deduction (3% service charge + 2% pension levy).</a:t>
            </a:r>
            <a:endParaRPr lang="en-US" sz="850" dirty="0"/>
          </a:p>
        </p:txBody>
      </p:sp>
      <p:sp>
        <p:nvSpPr>
          <p:cNvPr id="30" name="Shape 28"/>
          <p:cNvSpPr/>
          <p:nvPr/>
        </p:nvSpPr>
        <p:spPr>
          <a:xfrm>
            <a:off x="347472" y="4206240"/>
            <a:ext cx="4160520" cy="566928"/>
          </a:xfrm>
          <a:prstGeom prst="rect">
            <a:avLst/>
          </a:prstGeom>
          <a:solidFill>
            <a:srgbClr val="F4F9F5"/>
          </a:solidFill>
        </p:spPr>
      </p:sp>
      <p:sp>
        <p:nvSpPr>
          <p:cNvPr id="31" name="Shape 29"/>
          <p:cNvSpPr/>
          <p:nvPr/>
        </p:nvSpPr>
        <p:spPr>
          <a:xfrm>
            <a:off x="411480" y="4343400"/>
            <a:ext cx="292608" cy="292608"/>
          </a:xfrm>
          <a:prstGeom prst="ellipse">
            <a:avLst/>
          </a:prstGeom>
          <a:solidFill>
            <a:srgbClr val="1E2761"/>
          </a:solidFill>
        </p:spPr>
      </p:sp>
      <p:sp>
        <p:nvSpPr>
          <p:cNvPr id="32" name="Text 30"/>
          <p:cNvSpPr/>
          <p:nvPr/>
        </p:nvSpPr>
        <p:spPr>
          <a:xfrm>
            <a:off x="411480" y="4343400"/>
            <a:ext cx="292608" cy="292608"/>
          </a:xfrm>
          <a:prstGeom prst="rect">
            <a:avLst/>
          </a:prstGeom>
          <a:noFill/>
        </p:spPr>
        <p:txBody>
          <a:bodyPr wrap="square" rtlCol="0" anchor="ctr"/>
          <a:lstStyle/>
          <a:p>
            <a:pPr marL="0" indent="0" algn="ctr">
              <a:buNone/>
            </a:pPr>
            <a:r>
              <a:rPr lang="en-US" sz="900" b="1" dirty="0">
                <a:solidFill>
                  <a:srgbClr val="FFFFFF"/>
                </a:solidFill>
              </a:rPr>
              <a:t>5</a:t>
            </a:r>
            <a:endParaRPr lang="en-US" sz="900" dirty="0"/>
          </a:p>
        </p:txBody>
      </p:sp>
      <p:sp>
        <p:nvSpPr>
          <p:cNvPr id="33" name="Text 31"/>
          <p:cNvSpPr/>
          <p:nvPr/>
        </p:nvSpPr>
        <p:spPr>
          <a:xfrm>
            <a:off x="777240" y="4297680"/>
            <a:ext cx="347472"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34" name="Text 32"/>
          <p:cNvSpPr/>
          <p:nvPr/>
        </p:nvSpPr>
        <p:spPr>
          <a:xfrm>
            <a:off x="1188720" y="4251960"/>
            <a:ext cx="3218688" cy="237744"/>
          </a:xfrm>
          <a:prstGeom prst="rect">
            <a:avLst/>
          </a:prstGeom>
          <a:noFill/>
        </p:spPr>
        <p:txBody>
          <a:bodyPr wrap="square" rtlCol="0" anchor="ctr"/>
          <a:lstStyle/>
          <a:p>
            <a:pPr marL="0" indent="0">
              <a:buNone/>
            </a:pPr>
            <a:r>
              <a:rPr lang="en-US" sz="1000" b="1" dirty="0">
                <a:solidFill>
                  <a:srgbClr val="0D1F15"/>
                </a:solidFill>
              </a:rPr>
              <a:t>Default Protection</a:t>
            </a:r>
            <a:endParaRPr lang="en-US" sz="1000" dirty="0"/>
          </a:p>
        </p:txBody>
      </p:sp>
      <p:sp>
        <p:nvSpPr>
          <p:cNvPr id="35" name="Text 33"/>
          <p:cNvSpPr/>
          <p:nvPr/>
        </p:nvSpPr>
        <p:spPr>
          <a:xfrm>
            <a:off x="1188720" y="4480560"/>
            <a:ext cx="3218688" cy="256032"/>
          </a:xfrm>
          <a:prstGeom prst="rect">
            <a:avLst/>
          </a:prstGeom>
          <a:noFill/>
        </p:spPr>
        <p:txBody>
          <a:bodyPr wrap="square" rtlCol="0" anchor="ctr"/>
          <a:lstStyle/>
          <a:p>
            <a:pPr marL="0" indent="0">
              <a:buNone/>
            </a:pPr>
            <a:r>
              <a:rPr lang="en-US" sz="850" dirty="0">
                <a:solidFill>
                  <a:srgbClr val="5A7A68"/>
                </a:solidFill>
              </a:rPr>
              <a:t>If a lister defaults, OwnIt's escrow liquidates available collateral; proceeds distributed pro-rata. Incident report published in-app. All Crowd Loan listings carry a published credit risk grade: A, B, or C.</a:t>
            </a:r>
            <a:endParaRPr lang="en-US" sz="850" dirty="0"/>
          </a:p>
        </p:txBody>
      </p:sp>
      <p:sp>
        <p:nvSpPr>
          <p:cNvPr id="36" name="Shape 34"/>
          <p:cNvSpPr/>
          <p:nvPr/>
        </p:nvSpPr>
        <p:spPr>
          <a:xfrm>
            <a:off x="4709160" y="1371600"/>
            <a:ext cx="4069080" cy="274320"/>
          </a:xfrm>
          <a:prstGeom prst="rect">
            <a:avLst/>
          </a:prstGeom>
          <a:solidFill>
            <a:srgbClr val="1E2761"/>
          </a:solidFill>
        </p:spPr>
      </p:sp>
      <p:sp>
        <p:nvSpPr>
          <p:cNvPr id="37" name="Text 35"/>
          <p:cNvSpPr/>
          <p:nvPr/>
        </p:nvSpPr>
        <p:spPr>
          <a:xfrm>
            <a:off x="4800600" y="1371600"/>
            <a:ext cx="3931920" cy="274320"/>
          </a:xfrm>
          <a:prstGeom prst="rect">
            <a:avLst/>
          </a:prstGeom>
          <a:noFill/>
        </p:spPr>
        <p:txBody>
          <a:bodyPr wrap="square" rtlCol="0" anchor="ctr"/>
          <a:lstStyle/>
          <a:p>
            <a:pPr marL="0" indent="0">
              <a:buNone/>
            </a:pPr>
            <a:r>
              <a:rPr lang="en-US" sz="1000" b="1" dirty="0">
                <a:solidFill>
                  <a:srgbClr val="FFFFFF"/>
                </a:solidFill>
              </a:rPr>
              <a:t>📋  WORKED EXAMPLE</a:t>
            </a:r>
            <a:endParaRPr lang="en-US" sz="1000" dirty="0"/>
          </a:p>
        </p:txBody>
      </p:sp>
      <p:sp>
        <p:nvSpPr>
          <p:cNvPr id="38" name="Shape 36"/>
          <p:cNvSpPr/>
          <p:nvPr/>
        </p:nvSpPr>
        <p:spPr>
          <a:xfrm>
            <a:off x="4709160" y="1664208"/>
            <a:ext cx="4069080" cy="475488"/>
          </a:xfrm>
          <a:prstGeom prst="rect">
            <a:avLst/>
          </a:prstGeom>
          <a:solidFill>
            <a:srgbClr val="F4F9F5"/>
          </a:solidFill>
        </p:spPr>
      </p:sp>
      <p:sp>
        <p:nvSpPr>
          <p:cNvPr id="39" name="Text 37"/>
          <p:cNvSpPr/>
          <p:nvPr/>
        </p:nvSpPr>
        <p:spPr>
          <a:xfrm>
            <a:off x="4800600" y="1682496"/>
            <a:ext cx="3913632" cy="201168"/>
          </a:xfrm>
          <a:prstGeom prst="rect">
            <a:avLst/>
          </a:prstGeom>
          <a:noFill/>
        </p:spPr>
        <p:txBody>
          <a:bodyPr wrap="square" rtlCol="0" anchor="ctr"/>
          <a:lstStyle/>
          <a:p>
            <a:pPr marL="0" indent="0">
              <a:buNone/>
            </a:pPr>
            <a:r>
              <a:rPr lang="en-US" sz="1000" b="1" dirty="0">
                <a:solidFill>
                  <a:srgbClr val="1E2761"/>
                </a:solidFill>
              </a:rPr>
              <a:t>ABC Microfinance Ltd lists:</a:t>
            </a:r>
            <a:endParaRPr lang="en-US" sz="1000" dirty="0"/>
          </a:p>
        </p:txBody>
      </p:sp>
      <p:sp>
        <p:nvSpPr>
          <p:cNvPr id="40" name="Text 38"/>
          <p:cNvSpPr/>
          <p:nvPr/>
        </p:nvSpPr>
        <p:spPr>
          <a:xfrm>
            <a:off x="4800600" y="1883664"/>
            <a:ext cx="3913632" cy="219456"/>
          </a:xfrm>
          <a:prstGeom prst="rect">
            <a:avLst/>
          </a:prstGeom>
          <a:noFill/>
        </p:spPr>
        <p:txBody>
          <a:bodyPr wrap="square" rtlCol="0" anchor="ctr"/>
          <a:lstStyle/>
          <a:p>
            <a:pPr marL="0" indent="0">
              <a:buNone/>
            </a:pPr>
            <a:r>
              <a:rPr lang="en-US" sz="950" i="1" dirty="0">
                <a:solidFill>
                  <a:srgbClr val="0D1F15"/>
                </a:solidFill>
              </a:rPr>
              <a:t>"UGX 10,000,000 business loan at 10% interest, repayable in 3 months"</a:t>
            </a:r>
            <a:endParaRPr lang="en-US" sz="950" dirty="0"/>
          </a:p>
        </p:txBody>
      </p:sp>
      <p:sp>
        <p:nvSpPr>
          <p:cNvPr id="41" name="Shape 39"/>
          <p:cNvSpPr/>
          <p:nvPr/>
        </p:nvSpPr>
        <p:spPr>
          <a:xfrm>
            <a:off x="4709160" y="2212848"/>
            <a:ext cx="4069080" cy="219456"/>
          </a:xfrm>
          <a:prstGeom prst="rect">
            <a:avLst/>
          </a:prstGeom>
          <a:solidFill>
            <a:srgbClr val="FFFFFF"/>
          </a:solidFill>
        </p:spPr>
      </p:sp>
      <p:sp>
        <p:nvSpPr>
          <p:cNvPr id="42" name="Text 40"/>
          <p:cNvSpPr/>
          <p:nvPr/>
        </p:nvSpPr>
        <p:spPr>
          <a:xfrm>
            <a:off x="4773168" y="2249424"/>
            <a:ext cx="2560320" cy="164592"/>
          </a:xfrm>
          <a:prstGeom prst="rect">
            <a:avLst/>
          </a:prstGeom>
          <a:noFill/>
        </p:spPr>
        <p:txBody>
          <a:bodyPr wrap="square" rtlCol="0" anchor="ctr"/>
          <a:lstStyle/>
          <a:p>
            <a:pPr marL="0" indent="0">
              <a:buNone/>
            </a:pPr>
            <a:r>
              <a:rPr lang="en-US" sz="900" dirty="0">
                <a:solidFill>
                  <a:srgbClr val="0D1F15"/>
                </a:solidFill>
              </a:rPr>
              <a:t>Total loan listed</a:t>
            </a:r>
            <a:endParaRPr lang="en-US" sz="900" dirty="0"/>
          </a:p>
        </p:txBody>
      </p:sp>
      <p:sp>
        <p:nvSpPr>
          <p:cNvPr id="43" name="Text 41"/>
          <p:cNvSpPr/>
          <p:nvPr/>
        </p:nvSpPr>
        <p:spPr>
          <a:xfrm>
            <a:off x="7360920" y="2249424"/>
            <a:ext cx="1353312" cy="164592"/>
          </a:xfrm>
          <a:prstGeom prst="rect">
            <a:avLst/>
          </a:prstGeom>
          <a:noFill/>
        </p:spPr>
        <p:txBody>
          <a:bodyPr wrap="square" rtlCol="0" anchor="ctr"/>
          <a:lstStyle/>
          <a:p>
            <a:pPr marL="0" indent="0" algn="r">
              <a:buNone/>
            </a:pPr>
            <a:r>
              <a:rPr lang="en-US" sz="900" dirty="0">
                <a:solidFill>
                  <a:srgbClr val="0D1F15"/>
                </a:solidFill>
              </a:rPr>
              <a:t>UGX 10,000,000</a:t>
            </a:r>
            <a:endParaRPr lang="en-US" sz="900" dirty="0"/>
          </a:p>
        </p:txBody>
      </p:sp>
      <p:sp>
        <p:nvSpPr>
          <p:cNvPr id="44" name="Shape 42"/>
          <p:cNvSpPr/>
          <p:nvPr/>
        </p:nvSpPr>
        <p:spPr>
          <a:xfrm>
            <a:off x="4709160" y="2450592"/>
            <a:ext cx="4069080" cy="219456"/>
          </a:xfrm>
          <a:prstGeom prst="rect">
            <a:avLst/>
          </a:prstGeom>
          <a:solidFill>
            <a:srgbClr val="F4F9F5"/>
          </a:solidFill>
        </p:spPr>
      </p:sp>
      <p:sp>
        <p:nvSpPr>
          <p:cNvPr id="45" name="Text 43"/>
          <p:cNvSpPr/>
          <p:nvPr/>
        </p:nvSpPr>
        <p:spPr>
          <a:xfrm>
            <a:off x="4773168" y="2487168"/>
            <a:ext cx="2560320" cy="164592"/>
          </a:xfrm>
          <a:prstGeom prst="rect">
            <a:avLst/>
          </a:prstGeom>
          <a:noFill/>
        </p:spPr>
        <p:txBody>
          <a:bodyPr wrap="square" rtlCol="0" anchor="ctr"/>
          <a:lstStyle/>
          <a:p>
            <a:pPr marL="0" indent="0">
              <a:buNone/>
            </a:pPr>
            <a:r>
              <a:rPr lang="en-US" sz="900" dirty="0">
                <a:solidFill>
                  <a:srgbClr val="0D1F15"/>
                </a:solidFill>
              </a:rPr>
              <a:t>Min. per investor</a:t>
            </a:r>
            <a:endParaRPr lang="en-US" sz="900" dirty="0"/>
          </a:p>
        </p:txBody>
      </p:sp>
      <p:sp>
        <p:nvSpPr>
          <p:cNvPr id="46" name="Text 44"/>
          <p:cNvSpPr/>
          <p:nvPr/>
        </p:nvSpPr>
        <p:spPr>
          <a:xfrm>
            <a:off x="7360920" y="2487168"/>
            <a:ext cx="1353312" cy="164592"/>
          </a:xfrm>
          <a:prstGeom prst="rect">
            <a:avLst/>
          </a:prstGeom>
          <a:noFill/>
        </p:spPr>
        <p:txBody>
          <a:bodyPr wrap="square" rtlCol="0" anchor="ctr"/>
          <a:lstStyle/>
          <a:p>
            <a:pPr marL="0" indent="0" algn="r">
              <a:buNone/>
            </a:pPr>
            <a:r>
              <a:rPr lang="en-US" sz="900" dirty="0">
                <a:solidFill>
                  <a:srgbClr val="0D1F15"/>
                </a:solidFill>
              </a:rPr>
              <a:t>UGX 50,000</a:t>
            </a:r>
            <a:endParaRPr lang="en-US" sz="900" dirty="0"/>
          </a:p>
        </p:txBody>
      </p:sp>
      <p:sp>
        <p:nvSpPr>
          <p:cNvPr id="47" name="Shape 45"/>
          <p:cNvSpPr/>
          <p:nvPr/>
        </p:nvSpPr>
        <p:spPr>
          <a:xfrm>
            <a:off x="4709160" y="2688336"/>
            <a:ext cx="4069080" cy="219456"/>
          </a:xfrm>
          <a:prstGeom prst="rect">
            <a:avLst/>
          </a:prstGeom>
          <a:solidFill>
            <a:srgbClr val="FFFFFF"/>
          </a:solidFill>
        </p:spPr>
      </p:sp>
      <p:sp>
        <p:nvSpPr>
          <p:cNvPr id="48" name="Text 46"/>
          <p:cNvSpPr/>
          <p:nvPr/>
        </p:nvSpPr>
        <p:spPr>
          <a:xfrm>
            <a:off x="4773168" y="2724912"/>
            <a:ext cx="2560320" cy="164592"/>
          </a:xfrm>
          <a:prstGeom prst="rect">
            <a:avLst/>
          </a:prstGeom>
          <a:noFill/>
        </p:spPr>
        <p:txBody>
          <a:bodyPr wrap="square" rtlCol="0" anchor="ctr"/>
          <a:lstStyle/>
          <a:p>
            <a:pPr marL="0" indent="0">
              <a:buNone/>
            </a:pPr>
            <a:r>
              <a:rPr lang="en-US" sz="900" dirty="0">
                <a:solidFill>
                  <a:srgbClr val="0D1F15"/>
                </a:solidFill>
              </a:rPr>
              <a:t>Max. investors (50K each)</a:t>
            </a:r>
            <a:endParaRPr lang="en-US" sz="900" dirty="0"/>
          </a:p>
        </p:txBody>
      </p:sp>
      <p:sp>
        <p:nvSpPr>
          <p:cNvPr id="49" name="Text 47"/>
          <p:cNvSpPr/>
          <p:nvPr/>
        </p:nvSpPr>
        <p:spPr>
          <a:xfrm>
            <a:off x="7360920" y="2724912"/>
            <a:ext cx="1353312" cy="164592"/>
          </a:xfrm>
          <a:prstGeom prst="rect">
            <a:avLst/>
          </a:prstGeom>
          <a:noFill/>
        </p:spPr>
        <p:txBody>
          <a:bodyPr wrap="square" rtlCol="0" anchor="ctr"/>
          <a:lstStyle/>
          <a:p>
            <a:pPr marL="0" indent="0" algn="r">
              <a:buNone/>
            </a:pPr>
            <a:r>
              <a:rPr lang="en-US" sz="900" dirty="0">
                <a:solidFill>
                  <a:srgbClr val="0D1F15"/>
                </a:solidFill>
              </a:rPr>
              <a:t>200 investors</a:t>
            </a:r>
            <a:endParaRPr lang="en-US" sz="900" dirty="0"/>
          </a:p>
        </p:txBody>
      </p:sp>
      <p:sp>
        <p:nvSpPr>
          <p:cNvPr id="50" name="Shape 48"/>
          <p:cNvSpPr/>
          <p:nvPr/>
        </p:nvSpPr>
        <p:spPr>
          <a:xfrm>
            <a:off x="4709160" y="2926080"/>
            <a:ext cx="4069080" cy="219456"/>
          </a:xfrm>
          <a:prstGeom prst="rect">
            <a:avLst/>
          </a:prstGeom>
          <a:solidFill>
            <a:srgbClr val="F4F9F5"/>
          </a:solidFill>
        </p:spPr>
      </p:sp>
      <p:sp>
        <p:nvSpPr>
          <p:cNvPr id="51" name="Text 49"/>
          <p:cNvSpPr/>
          <p:nvPr/>
        </p:nvSpPr>
        <p:spPr>
          <a:xfrm>
            <a:off x="4773168" y="2962656"/>
            <a:ext cx="2560320" cy="164592"/>
          </a:xfrm>
          <a:prstGeom prst="rect">
            <a:avLst/>
          </a:prstGeom>
          <a:noFill/>
        </p:spPr>
        <p:txBody>
          <a:bodyPr wrap="square" rtlCol="0" anchor="ctr"/>
          <a:lstStyle/>
          <a:p>
            <a:pPr marL="0" indent="0">
              <a:buNone/>
            </a:pPr>
            <a:r>
              <a:rPr lang="en-US" sz="900" dirty="0">
                <a:solidFill>
                  <a:srgbClr val="0D1F15"/>
                </a:solidFill>
              </a:rPr>
              <a:t>Interest earned (10%, 3mo)</a:t>
            </a:r>
            <a:endParaRPr lang="en-US" sz="900" dirty="0"/>
          </a:p>
        </p:txBody>
      </p:sp>
      <p:sp>
        <p:nvSpPr>
          <p:cNvPr id="52" name="Text 50"/>
          <p:cNvSpPr/>
          <p:nvPr/>
        </p:nvSpPr>
        <p:spPr>
          <a:xfrm>
            <a:off x="7360920" y="2962656"/>
            <a:ext cx="1353312" cy="164592"/>
          </a:xfrm>
          <a:prstGeom prst="rect">
            <a:avLst/>
          </a:prstGeom>
          <a:noFill/>
        </p:spPr>
        <p:txBody>
          <a:bodyPr wrap="square" rtlCol="0" anchor="ctr"/>
          <a:lstStyle/>
          <a:p>
            <a:pPr marL="0" indent="0" algn="r">
              <a:buNone/>
            </a:pPr>
            <a:r>
              <a:rPr lang="en-US" sz="900" dirty="0">
                <a:solidFill>
                  <a:srgbClr val="0D1F15"/>
                </a:solidFill>
              </a:rPr>
              <a:t>UGX 1,000,000</a:t>
            </a:r>
            <a:endParaRPr lang="en-US" sz="900" dirty="0"/>
          </a:p>
        </p:txBody>
      </p:sp>
      <p:sp>
        <p:nvSpPr>
          <p:cNvPr id="53" name="Shape 51"/>
          <p:cNvSpPr/>
          <p:nvPr/>
        </p:nvSpPr>
        <p:spPr>
          <a:xfrm>
            <a:off x="4709160" y="3255264"/>
            <a:ext cx="4069080" cy="18288"/>
          </a:xfrm>
          <a:prstGeom prst="rect">
            <a:avLst/>
          </a:prstGeom>
          <a:solidFill>
            <a:srgbClr val="5A7A68"/>
          </a:solidFill>
        </p:spPr>
      </p:sp>
      <p:sp>
        <p:nvSpPr>
          <p:cNvPr id="54" name="Shape 52"/>
          <p:cNvSpPr/>
          <p:nvPr/>
        </p:nvSpPr>
        <p:spPr>
          <a:xfrm>
            <a:off x="4709160" y="3401568"/>
            <a:ext cx="4069080" cy="219456"/>
          </a:xfrm>
          <a:prstGeom prst="rect">
            <a:avLst/>
          </a:prstGeom>
          <a:solidFill>
            <a:srgbClr val="F4F9F5"/>
          </a:solidFill>
        </p:spPr>
      </p:sp>
      <p:sp>
        <p:nvSpPr>
          <p:cNvPr id="55" name="Text 53"/>
          <p:cNvSpPr/>
          <p:nvPr/>
        </p:nvSpPr>
        <p:spPr>
          <a:xfrm>
            <a:off x="4773168" y="3438144"/>
            <a:ext cx="2560320" cy="164592"/>
          </a:xfrm>
          <a:prstGeom prst="rect">
            <a:avLst/>
          </a:prstGeom>
          <a:noFill/>
        </p:spPr>
        <p:txBody>
          <a:bodyPr wrap="square" rtlCol="0" anchor="ctr"/>
          <a:lstStyle/>
          <a:p>
            <a:pPr marL="0" indent="0">
              <a:buNone/>
            </a:pPr>
            <a:r>
              <a:rPr lang="en-US" sz="900" dirty="0">
                <a:solidFill>
                  <a:srgbClr val="028090"/>
                </a:solidFill>
              </a:rPr>
              <a:t>NSSF 3% service charge</a:t>
            </a:r>
            <a:endParaRPr lang="en-US" sz="900" dirty="0"/>
          </a:p>
        </p:txBody>
      </p:sp>
      <p:sp>
        <p:nvSpPr>
          <p:cNvPr id="56" name="Text 54"/>
          <p:cNvSpPr/>
          <p:nvPr/>
        </p:nvSpPr>
        <p:spPr>
          <a:xfrm>
            <a:off x="7360920" y="3438144"/>
            <a:ext cx="1353312" cy="164592"/>
          </a:xfrm>
          <a:prstGeom prst="rect">
            <a:avLst/>
          </a:prstGeom>
          <a:noFill/>
        </p:spPr>
        <p:txBody>
          <a:bodyPr wrap="square" rtlCol="0" anchor="ctr"/>
          <a:lstStyle/>
          <a:p>
            <a:pPr marL="0" indent="0" algn="r">
              <a:buNone/>
            </a:pPr>
            <a:r>
              <a:rPr lang="en-US" sz="900" dirty="0">
                <a:solidFill>
                  <a:srgbClr val="028090"/>
                </a:solidFill>
              </a:rPr>
              <a:t>(UGX 30,000)</a:t>
            </a:r>
            <a:endParaRPr lang="en-US" sz="900" dirty="0"/>
          </a:p>
        </p:txBody>
      </p:sp>
      <p:sp>
        <p:nvSpPr>
          <p:cNvPr id="57" name="Shape 55"/>
          <p:cNvSpPr/>
          <p:nvPr/>
        </p:nvSpPr>
        <p:spPr>
          <a:xfrm>
            <a:off x="4709160" y="3639312"/>
            <a:ext cx="4069080" cy="219456"/>
          </a:xfrm>
          <a:prstGeom prst="rect">
            <a:avLst/>
          </a:prstGeom>
          <a:solidFill>
            <a:srgbClr val="FFFFFF"/>
          </a:solidFill>
        </p:spPr>
      </p:sp>
      <p:sp>
        <p:nvSpPr>
          <p:cNvPr id="58" name="Text 56"/>
          <p:cNvSpPr/>
          <p:nvPr/>
        </p:nvSpPr>
        <p:spPr>
          <a:xfrm>
            <a:off x="4773168" y="3675888"/>
            <a:ext cx="2560320" cy="164592"/>
          </a:xfrm>
          <a:prstGeom prst="rect">
            <a:avLst/>
          </a:prstGeom>
          <a:noFill/>
        </p:spPr>
        <p:txBody>
          <a:bodyPr wrap="square" rtlCol="0" anchor="ctr"/>
          <a:lstStyle/>
          <a:p>
            <a:pPr marL="0" indent="0">
              <a:buNone/>
            </a:pPr>
            <a:r>
              <a:rPr lang="en-US" sz="900" dirty="0">
                <a:solidFill>
                  <a:srgbClr val="028090"/>
                </a:solidFill>
              </a:rPr>
              <a:t>NSSF 2% pension levy</a:t>
            </a:r>
            <a:endParaRPr lang="en-US" sz="900" dirty="0"/>
          </a:p>
        </p:txBody>
      </p:sp>
      <p:sp>
        <p:nvSpPr>
          <p:cNvPr id="59" name="Text 57"/>
          <p:cNvSpPr/>
          <p:nvPr/>
        </p:nvSpPr>
        <p:spPr>
          <a:xfrm>
            <a:off x="7360920" y="3675888"/>
            <a:ext cx="1353312" cy="164592"/>
          </a:xfrm>
          <a:prstGeom prst="rect">
            <a:avLst/>
          </a:prstGeom>
          <a:noFill/>
        </p:spPr>
        <p:txBody>
          <a:bodyPr wrap="square" rtlCol="0" anchor="ctr"/>
          <a:lstStyle/>
          <a:p>
            <a:pPr marL="0" indent="0" algn="r">
              <a:buNone/>
            </a:pPr>
            <a:r>
              <a:rPr lang="en-US" sz="900" dirty="0">
                <a:solidFill>
                  <a:srgbClr val="028090"/>
                </a:solidFill>
              </a:rPr>
              <a:t>(UGX 20,000)</a:t>
            </a:r>
            <a:endParaRPr lang="en-US" sz="900" dirty="0"/>
          </a:p>
        </p:txBody>
      </p:sp>
      <p:sp>
        <p:nvSpPr>
          <p:cNvPr id="60" name="Shape 58"/>
          <p:cNvSpPr/>
          <p:nvPr/>
        </p:nvSpPr>
        <p:spPr>
          <a:xfrm>
            <a:off x="4709160" y="3877056"/>
            <a:ext cx="4069080" cy="219456"/>
          </a:xfrm>
          <a:prstGeom prst="rect">
            <a:avLst/>
          </a:prstGeom>
          <a:solidFill>
            <a:srgbClr val="F4F9F5"/>
          </a:solidFill>
        </p:spPr>
      </p:sp>
      <p:sp>
        <p:nvSpPr>
          <p:cNvPr id="61" name="Text 59"/>
          <p:cNvSpPr/>
          <p:nvPr/>
        </p:nvSpPr>
        <p:spPr>
          <a:xfrm>
            <a:off x="4773168" y="3913632"/>
            <a:ext cx="2560320" cy="164592"/>
          </a:xfrm>
          <a:prstGeom prst="rect">
            <a:avLst/>
          </a:prstGeom>
          <a:noFill/>
        </p:spPr>
        <p:txBody>
          <a:bodyPr wrap="square" rtlCol="0" anchor="ctr"/>
          <a:lstStyle/>
          <a:p>
            <a:pPr marL="0" indent="0">
              <a:buNone/>
            </a:pPr>
            <a:r>
              <a:rPr lang="en-US" sz="900" dirty="0">
                <a:solidFill>
                  <a:srgbClr val="0D1F15"/>
                </a:solidFill>
              </a:rPr>
              <a:t>OwnIt 2% platform fee</a:t>
            </a:r>
            <a:endParaRPr lang="en-US" sz="900" dirty="0"/>
          </a:p>
        </p:txBody>
      </p:sp>
      <p:sp>
        <p:nvSpPr>
          <p:cNvPr id="62" name="Text 60"/>
          <p:cNvSpPr/>
          <p:nvPr/>
        </p:nvSpPr>
        <p:spPr>
          <a:xfrm>
            <a:off x="7360920" y="3913632"/>
            <a:ext cx="1353312" cy="164592"/>
          </a:xfrm>
          <a:prstGeom prst="rect">
            <a:avLst/>
          </a:prstGeom>
          <a:noFill/>
        </p:spPr>
        <p:txBody>
          <a:bodyPr wrap="square" rtlCol="0" anchor="ctr"/>
          <a:lstStyle/>
          <a:p>
            <a:pPr marL="0" indent="0" algn="r">
              <a:buNone/>
            </a:pPr>
            <a:r>
              <a:rPr lang="en-US" sz="900" dirty="0">
                <a:solidFill>
                  <a:srgbClr val="0D1F15"/>
                </a:solidFill>
              </a:rPr>
              <a:t>(UGX 20,000)</a:t>
            </a:r>
            <a:endParaRPr lang="en-US" sz="900" dirty="0"/>
          </a:p>
        </p:txBody>
      </p:sp>
      <p:sp>
        <p:nvSpPr>
          <p:cNvPr id="63" name="Shape 61"/>
          <p:cNvSpPr/>
          <p:nvPr/>
        </p:nvSpPr>
        <p:spPr>
          <a:xfrm>
            <a:off x="4709160" y="4206240"/>
            <a:ext cx="4069080" cy="18288"/>
          </a:xfrm>
          <a:prstGeom prst="rect">
            <a:avLst/>
          </a:prstGeom>
          <a:solidFill>
            <a:srgbClr val="5A7A68"/>
          </a:solidFill>
        </p:spPr>
      </p:sp>
      <p:sp>
        <p:nvSpPr>
          <p:cNvPr id="64" name="Shape 62"/>
          <p:cNvSpPr/>
          <p:nvPr/>
        </p:nvSpPr>
        <p:spPr>
          <a:xfrm>
            <a:off x="4709160" y="4352544"/>
            <a:ext cx="4069080" cy="219456"/>
          </a:xfrm>
          <a:prstGeom prst="rect">
            <a:avLst/>
          </a:prstGeom>
          <a:solidFill>
            <a:srgbClr val="1E2761"/>
          </a:solidFill>
        </p:spPr>
      </p:sp>
      <p:sp>
        <p:nvSpPr>
          <p:cNvPr id="65" name="Text 63"/>
          <p:cNvSpPr/>
          <p:nvPr/>
        </p:nvSpPr>
        <p:spPr>
          <a:xfrm>
            <a:off x="4773168" y="4389120"/>
            <a:ext cx="2560320" cy="164592"/>
          </a:xfrm>
          <a:prstGeom prst="rect">
            <a:avLst/>
          </a:prstGeom>
          <a:noFill/>
        </p:spPr>
        <p:txBody>
          <a:bodyPr wrap="square" rtlCol="0" anchor="ctr"/>
          <a:lstStyle/>
          <a:p>
            <a:pPr marL="0" indent="0">
              <a:buNone/>
            </a:pPr>
            <a:r>
              <a:rPr lang="en-US" sz="900" b="1" dirty="0">
                <a:solidFill>
                  <a:srgbClr val="FFFFFF"/>
                </a:solidFill>
              </a:rPr>
              <a:t>Net interest to investors</a:t>
            </a:r>
            <a:endParaRPr lang="en-US" sz="900" dirty="0"/>
          </a:p>
        </p:txBody>
      </p:sp>
      <p:sp>
        <p:nvSpPr>
          <p:cNvPr id="66" name="Text 64"/>
          <p:cNvSpPr/>
          <p:nvPr/>
        </p:nvSpPr>
        <p:spPr>
          <a:xfrm>
            <a:off x="7360920" y="4389120"/>
            <a:ext cx="1353312" cy="164592"/>
          </a:xfrm>
          <a:prstGeom prst="rect">
            <a:avLst/>
          </a:prstGeom>
          <a:noFill/>
        </p:spPr>
        <p:txBody>
          <a:bodyPr wrap="square" rtlCol="0" anchor="ctr"/>
          <a:lstStyle/>
          <a:p>
            <a:pPr marL="0" indent="0" algn="r">
              <a:buNone/>
            </a:pPr>
            <a:r>
              <a:rPr lang="en-US" sz="900" b="1" dirty="0">
                <a:solidFill>
                  <a:srgbClr val="C17F00"/>
                </a:solidFill>
              </a:rPr>
              <a:t>UGX 930,000</a:t>
            </a:r>
            <a:endParaRPr lang="en-US" sz="900" dirty="0"/>
          </a:p>
        </p:txBody>
      </p:sp>
      <p:sp>
        <p:nvSpPr>
          <p:cNvPr id="67" name="Shape 65"/>
          <p:cNvSpPr/>
          <p:nvPr/>
        </p:nvSpPr>
        <p:spPr>
          <a:xfrm>
            <a:off x="4709160" y="4590288"/>
            <a:ext cx="4069080" cy="219456"/>
          </a:xfrm>
          <a:prstGeom prst="rect">
            <a:avLst/>
          </a:prstGeom>
          <a:solidFill>
            <a:srgbClr val="1E2761"/>
          </a:solidFill>
        </p:spPr>
      </p:sp>
      <p:sp>
        <p:nvSpPr>
          <p:cNvPr id="68" name="Text 66"/>
          <p:cNvSpPr/>
          <p:nvPr/>
        </p:nvSpPr>
        <p:spPr>
          <a:xfrm>
            <a:off x="4773168" y="4626864"/>
            <a:ext cx="2560320" cy="164592"/>
          </a:xfrm>
          <a:prstGeom prst="rect">
            <a:avLst/>
          </a:prstGeom>
          <a:noFill/>
        </p:spPr>
        <p:txBody>
          <a:bodyPr wrap="square" rtlCol="0" anchor="ctr"/>
          <a:lstStyle/>
          <a:p>
            <a:pPr marL="0" indent="0">
              <a:buNone/>
            </a:pPr>
            <a:r>
              <a:rPr lang="en-US" sz="900" b="1" dirty="0">
                <a:solidFill>
                  <a:srgbClr val="FFFFFF"/>
                </a:solidFill>
              </a:rPr>
              <a:t>Effective return (3 months)</a:t>
            </a:r>
            <a:endParaRPr lang="en-US" sz="900" dirty="0"/>
          </a:p>
        </p:txBody>
      </p:sp>
      <p:sp>
        <p:nvSpPr>
          <p:cNvPr id="69" name="Text 67"/>
          <p:cNvSpPr/>
          <p:nvPr/>
        </p:nvSpPr>
        <p:spPr>
          <a:xfrm>
            <a:off x="7360920" y="4626864"/>
            <a:ext cx="1353312" cy="164592"/>
          </a:xfrm>
          <a:prstGeom prst="rect">
            <a:avLst/>
          </a:prstGeom>
          <a:noFill/>
        </p:spPr>
        <p:txBody>
          <a:bodyPr wrap="square" rtlCol="0" anchor="ctr"/>
          <a:lstStyle/>
          <a:p>
            <a:pPr marL="0" indent="0" algn="r">
              <a:buNone/>
            </a:pPr>
            <a:r>
              <a:rPr lang="en-US" sz="900" b="1" dirty="0">
                <a:solidFill>
                  <a:srgbClr val="C17F00"/>
                </a:solidFill>
              </a:rPr>
              <a:t>9.3% net</a:t>
            </a:r>
            <a:endParaRPr lang="en-US" sz="900" dirty="0"/>
          </a:p>
        </p:txBody>
      </p:sp>
      <p:sp>
        <p:nvSpPr>
          <p:cNvPr id="70" name="Shape 68"/>
          <p:cNvSpPr/>
          <p:nvPr/>
        </p:nvSpPr>
        <p:spPr>
          <a:xfrm>
            <a:off x="4709160" y="4828032"/>
            <a:ext cx="4069080" cy="219456"/>
          </a:xfrm>
          <a:prstGeom prst="rect">
            <a:avLst/>
          </a:prstGeom>
          <a:solidFill>
            <a:srgbClr val="1E2761"/>
          </a:solidFill>
        </p:spPr>
      </p:sp>
      <p:sp>
        <p:nvSpPr>
          <p:cNvPr id="71" name="Text 69"/>
          <p:cNvSpPr/>
          <p:nvPr/>
        </p:nvSpPr>
        <p:spPr>
          <a:xfrm>
            <a:off x="4773168" y="4864608"/>
            <a:ext cx="2560320" cy="164592"/>
          </a:xfrm>
          <a:prstGeom prst="rect">
            <a:avLst/>
          </a:prstGeom>
          <a:noFill/>
        </p:spPr>
        <p:txBody>
          <a:bodyPr wrap="square" rtlCol="0" anchor="ctr"/>
          <a:lstStyle/>
          <a:p>
            <a:pPr marL="0" indent="0">
              <a:buNone/>
            </a:pPr>
            <a:r>
              <a:rPr lang="en-US" sz="900" b="1" dirty="0">
                <a:solidFill>
                  <a:srgbClr val="FFFFFF"/>
                </a:solidFill>
              </a:rPr>
              <a:t>Annualised return</a:t>
            </a:r>
            <a:endParaRPr lang="en-US" sz="900" dirty="0"/>
          </a:p>
        </p:txBody>
      </p:sp>
      <p:sp>
        <p:nvSpPr>
          <p:cNvPr id="72" name="Text 70"/>
          <p:cNvSpPr/>
          <p:nvPr/>
        </p:nvSpPr>
        <p:spPr>
          <a:xfrm>
            <a:off x="7360920" y="4864608"/>
            <a:ext cx="1353312" cy="164592"/>
          </a:xfrm>
          <a:prstGeom prst="rect">
            <a:avLst/>
          </a:prstGeom>
          <a:noFill/>
        </p:spPr>
        <p:txBody>
          <a:bodyPr wrap="square" rtlCol="0" anchor="ctr"/>
          <a:lstStyle/>
          <a:p>
            <a:pPr marL="0" indent="0" algn="r">
              <a:buNone/>
            </a:pPr>
            <a:r>
              <a:rPr lang="en-US" sz="900" b="1" dirty="0">
                <a:solidFill>
                  <a:srgbClr val="C17F00"/>
                </a:solidFill>
              </a:rPr>
              <a:t>~37.2% p.a.</a:t>
            </a:r>
            <a:endParaRPr lang="en-US" sz="900" dirty="0"/>
          </a:p>
        </p:txBody>
      </p:sp>
      <p:sp>
        <p:nvSpPr>
          <p:cNvPr id="73" name="Shape 71"/>
          <p:cNvSpPr/>
          <p:nvPr/>
        </p:nvSpPr>
        <p:spPr>
          <a:xfrm>
            <a:off x="4709160" y="5120640"/>
            <a:ext cx="4069080" cy="256032"/>
          </a:xfrm>
          <a:prstGeom prst="rect">
            <a:avLst/>
          </a:prstGeom>
          <a:solidFill>
            <a:srgbClr val="0F4D2B"/>
          </a:solidFill>
        </p:spPr>
      </p:sp>
      <p:sp>
        <p:nvSpPr>
          <p:cNvPr id="74" name="Text 72"/>
          <p:cNvSpPr/>
          <p:nvPr/>
        </p:nvSpPr>
        <p:spPr>
          <a:xfrm>
            <a:off x="4800600" y="5120640"/>
            <a:ext cx="3913632" cy="256032"/>
          </a:xfrm>
          <a:prstGeom prst="rect">
            <a:avLst/>
          </a:prstGeom>
          <a:noFill/>
        </p:spPr>
        <p:txBody>
          <a:bodyPr wrap="square" rtlCol="0" anchor="ctr"/>
          <a:lstStyle/>
          <a:p>
            <a:pPr marL="0" indent="0">
              <a:buNone/>
            </a:pPr>
            <a:r>
              <a:rPr lang="en-US" sz="850" dirty="0">
                <a:solidFill>
                  <a:srgbClr val="D4EFE0"/>
                </a:solidFill>
              </a:rPr>
              <a:t>Eligible Listers: Commercial Banks (Tier I–IV) · MFIs · Insurance Cos. · CMA Investment Firms · SACCO Federations · Verified Corporate Lenders</a:t>
            </a:r>
            <a:endParaRPr lang="en-US" sz="850" dirty="0"/>
          </a:p>
        </p:txBody>
      </p:sp>
      <p:sp>
        <p:nvSpPr>
          <p:cNvPr id="75" name="Shape 73"/>
          <p:cNvSpPr/>
          <p:nvPr/>
        </p:nvSpPr>
        <p:spPr>
          <a:xfrm>
            <a:off x="347472" y="5120640"/>
            <a:ext cx="4160520" cy="256032"/>
          </a:xfrm>
          <a:prstGeom prst="rect">
            <a:avLst/>
          </a:prstGeom>
          <a:solidFill>
            <a:srgbClr val="D4EFE0"/>
          </a:solidFill>
        </p:spPr>
      </p:sp>
      <p:sp>
        <p:nvSpPr>
          <p:cNvPr id="76" name="Text 74"/>
          <p:cNvSpPr/>
          <p:nvPr/>
        </p:nvSpPr>
        <p:spPr>
          <a:xfrm>
            <a:off x="438912" y="5120640"/>
            <a:ext cx="4005072" cy="256032"/>
          </a:xfrm>
          <a:prstGeom prst="rect">
            <a:avLst/>
          </a:prstGeom>
          <a:noFill/>
        </p:spPr>
        <p:txBody>
          <a:bodyPr wrap="square" rtlCol="0" anchor="ctr"/>
          <a:lstStyle/>
          <a:p>
            <a:pPr marL="0" indent="0">
              <a:buNone/>
            </a:pPr>
            <a:r>
              <a:rPr lang="en-US" sz="850" dirty="0">
                <a:solidFill>
                  <a:srgbClr val="0F4D2B"/>
                </a:solidFill>
              </a:rPr>
              <a:t>Risk grades A / B / C assigned before listing goes live. Grade C loans carry mandatory investor risk acknowledgement.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THE TEN ASSET CLASSES — MASTER SUMMARY</a:t>
            </a:r>
            <a:endParaRPr lang="en-US" sz="1100" dirty="0"/>
          </a:p>
        </p:txBody>
      </p:sp>
      <p:sp>
        <p:nvSpPr>
          <p:cNvPr id="4" name="Text 2"/>
          <p:cNvSpPr/>
          <p:nvPr/>
        </p:nvSpPr>
        <p:spPr>
          <a:xfrm>
            <a:off x="457200" y="749808"/>
            <a:ext cx="8229600" cy="475488"/>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Every asset class is independently structured, risk-disclosed, and payout-timed.</a:t>
            </a:r>
            <a:endParaRPr lang="en-US" sz="2200" dirty="0"/>
          </a:p>
        </p:txBody>
      </p:sp>
      <p:sp>
        <p:nvSpPr>
          <p:cNvPr id="5" name="Shape 3"/>
          <p:cNvSpPr/>
          <p:nvPr/>
        </p:nvSpPr>
        <p:spPr>
          <a:xfrm>
            <a:off x="347472" y="1371600"/>
            <a:ext cx="347472" cy="365760"/>
          </a:xfrm>
          <a:prstGeom prst="rect">
            <a:avLst/>
          </a:prstGeom>
          <a:solidFill>
            <a:srgbClr val="0F4D2B"/>
          </a:solidFill>
        </p:spPr>
      </p:sp>
      <p:sp>
        <p:nvSpPr>
          <p:cNvPr id="6" name="Text 4"/>
          <p:cNvSpPr/>
          <p:nvPr/>
        </p:nvSpPr>
        <p:spPr>
          <a:xfrm>
            <a:off x="393192" y="1371600"/>
            <a:ext cx="301752" cy="365760"/>
          </a:xfrm>
          <a:prstGeom prst="rect">
            <a:avLst/>
          </a:prstGeom>
          <a:noFill/>
        </p:spPr>
        <p:txBody>
          <a:bodyPr wrap="square" rtlCol="0" anchor="ctr"/>
          <a:lstStyle/>
          <a:p>
            <a:pPr marL="0" indent="0">
              <a:buNone/>
            </a:pPr>
            <a:r>
              <a:rPr lang="en-US" sz="1000" b="1" dirty="0">
                <a:solidFill>
                  <a:srgbClr val="FFFFFF"/>
                </a:solidFill>
              </a:rPr>
              <a:t>#</a:t>
            </a:r>
            <a:endParaRPr lang="en-US" sz="1000" dirty="0"/>
          </a:p>
        </p:txBody>
      </p:sp>
      <p:sp>
        <p:nvSpPr>
          <p:cNvPr id="7" name="Shape 5"/>
          <p:cNvSpPr/>
          <p:nvPr/>
        </p:nvSpPr>
        <p:spPr>
          <a:xfrm>
            <a:off x="713232" y="1371600"/>
            <a:ext cx="1965960" cy="365760"/>
          </a:xfrm>
          <a:prstGeom prst="rect">
            <a:avLst/>
          </a:prstGeom>
          <a:solidFill>
            <a:srgbClr val="0F4D2B"/>
          </a:solidFill>
        </p:spPr>
      </p:sp>
      <p:sp>
        <p:nvSpPr>
          <p:cNvPr id="8" name="Text 6"/>
          <p:cNvSpPr/>
          <p:nvPr/>
        </p:nvSpPr>
        <p:spPr>
          <a:xfrm>
            <a:off x="758952" y="1371600"/>
            <a:ext cx="1920240" cy="365760"/>
          </a:xfrm>
          <a:prstGeom prst="rect">
            <a:avLst/>
          </a:prstGeom>
          <a:noFill/>
        </p:spPr>
        <p:txBody>
          <a:bodyPr wrap="square" rtlCol="0" anchor="ctr"/>
          <a:lstStyle/>
          <a:p>
            <a:pPr marL="0" indent="0">
              <a:buNone/>
            </a:pPr>
            <a:r>
              <a:rPr lang="en-US" sz="1000" b="1" dirty="0">
                <a:solidFill>
                  <a:srgbClr val="FFFFFF"/>
                </a:solidFill>
              </a:rPr>
              <a:t>Asset Class</a:t>
            </a:r>
            <a:endParaRPr lang="en-US" sz="1000" dirty="0"/>
          </a:p>
        </p:txBody>
      </p:sp>
      <p:sp>
        <p:nvSpPr>
          <p:cNvPr id="9" name="Shape 7"/>
          <p:cNvSpPr/>
          <p:nvPr/>
        </p:nvSpPr>
        <p:spPr>
          <a:xfrm>
            <a:off x="2724912" y="1371600"/>
            <a:ext cx="1261872" cy="365760"/>
          </a:xfrm>
          <a:prstGeom prst="rect">
            <a:avLst/>
          </a:prstGeom>
          <a:solidFill>
            <a:srgbClr val="0F4D2B"/>
          </a:solidFill>
        </p:spPr>
      </p:sp>
      <p:sp>
        <p:nvSpPr>
          <p:cNvPr id="10" name="Text 8"/>
          <p:cNvSpPr/>
          <p:nvPr/>
        </p:nvSpPr>
        <p:spPr>
          <a:xfrm>
            <a:off x="2770632" y="1371600"/>
            <a:ext cx="1216152" cy="365760"/>
          </a:xfrm>
          <a:prstGeom prst="rect">
            <a:avLst/>
          </a:prstGeom>
          <a:noFill/>
        </p:spPr>
        <p:txBody>
          <a:bodyPr wrap="square" rtlCol="0" anchor="ctr"/>
          <a:lstStyle/>
          <a:p>
            <a:pPr marL="0" indent="0">
              <a:buNone/>
            </a:pPr>
            <a:r>
              <a:rPr lang="en-US" sz="1000" b="1" dirty="0">
                <a:solidFill>
                  <a:srgbClr val="FFFFFF"/>
                </a:solidFill>
              </a:rPr>
              <a:t>Min. Invest</a:t>
            </a:r>
            <a:endParaRPr lang="en-US" sz="1000" dirty="0"/>
          </a:p>
        </p:txBody>
      </p:sp>
      <p:sp>
        <p:nvSpPr>
          <p:cNvPr id="11" name="Shape 9"/>
          <p:cNvSpPr/>
          <p:nvPr/>
        </p:nvSpPr>
        <p:spPr>
          <a:xfrm>
            <a:off x="4023360" y="1371600"/>
            <a:ext cx="1627632" cy="365760"/>
          </a:xfrm>
          <a:prstGeom prst="rect">
            <a:avLst/>
          </a:prstGeom>
          <a:solidFill>
            <a:srgbClr val="0F4D2B"/>
          </a:solidFill>
        </p:spPr>
      </p:sp>
      <p:sp>
        <p:nvSpPr>
          <p:cNvPr id="12" name="Text 10"/>
          <p:cNvSpPr/>
          <p:nvPr/>
        </p:nvSpPr>
        <p:spPr>
          <a:xfrm>
            <a:off x="4069080" y="1371600"/>
            <a:ext cx="1581912" cy="365760"/>
          </a:xfrm>
          <a:prstGeom prst="rect">
            <a:avLst/>
          </a:prstGeom>
          <a:noFill/>
        </p:spPr>
        <p:txBody>
          <a:bodyPr wrap="square" rtlCol="0" anchor="ctr"/>
          <a:lstStyle/>
          <a:p>
            <a:pPr marL="0" indent="0">
              <a:buNone/>
            </a:pPr>
            <a:r>
              <a:rPr lang="en-US" sz="1000" b="1" dirty="0">
                <a:solidFill>
                  <a:srgbClr val="FFFFFF"/>
                </a:solidFill>
              </a:rPr>
              <a:t>Expected Return</a:t>
            </a:r>
            <a:endParaRPr lang="en-US" sz="1000" dirty="0"/>
          </a:p>
        </p:txBody>
      </p:sp>
      <p:sp>
        <p:nvSpPr>
          <p:cNvPr id="13" name="Shape 11"/>
          <p:cNvSpPr/>
          <p:nvPr/>
        </p:nvSpPr>
        <p:spPr>
          <a:xfrm>
            <a:off x="5687568" y="1371600"/>
            <a:ext cx="1508760" cy="365760"/>
          </a:xfrm>
          <a:prstGeom prst="rect">
            <a:avLst/>
          </a:prstGeom>
          <a:solidFill>
            <a:srgbClr val="0F4D2B"/>
          </a:solidFill>
        </p:spPr>
      </p:sp>
      <p:sp>
        <p:nvSpPr>
          <p:cNvPr id="14" name="Text 12"/>
          <p:cNvSpPr/>
          <p:nvPr/>
        </p:nvSpPr>
        <p:spPr>
          <a:xfrm>
            <a:off x="5733288" y="1371600"/>
            <a:ext cx="1463040" cy="365760"/>
          </a:xfrm>
          <a:prstGeom prst="rect">
            <a:avLst/>
          </a:prstGeom>
          <a:noFill/>
        </p:spPr>
        <p:txBody>
          <a:bodyPr wrap="square" rtlCol="0" anchor="ctr"/>
          <a:lstStyle/>
          <a:p>
            <a:pPr marL="0" indent="0">
              <a:buNone/>
            </a:pPr>
            <a:r>
              <a:rPr lang="en-US" sz="1000" b="1" dirty="0">
                <a:solidFill>
                  <a:srgbClr val="FFFFFF"/>
                </a:solidFill>
              </a:rPr>
              <a:t>Payout Period</a:t>
            </a:r>
            <a:endParaRPr lang="en-US" sz="1000" dirty="0"/>
          </a:p>
        </p:txBody>
      </p:sp>
      <p:sp>
        <p:nvSpPr>
          <p:cNvPr id="15" name="Shape 13"/>
          <p:cNvSpPr/>
          <p:nvPr/>
        </p:nvSpPr>
        <p:spPr>
          <a:xfrm>
            <a:off x="7242048" y="1371600"/>
            <a:ext cx="1417320" cy="365760"/>
          </a:xfrm>
          <a:prstGeom prst="rect">
            <a:avLst/>
          </a:prstGeom>
          <a:solidFill>
            <a:srgbClr val="0F4D2B"/>
          </a:solidFill>
        </p:spPr>
      </p:sp>
      <p:sp>
        <p:nvSpPr>
          <p:cNvPr id="16" name="Text 14"/>
          <p:cNvSpPr/>
          <p:nvPr/>
        </p:nvSpPr>
        <p:spPr>
          <a:xfrm>
            <a:off x="7287768" y="1371600"/>
            <a:ext cx="1371600" cy="365760"/>
          </a:xfrm>
          <a:prstGeom prst="rect">
            <a:avLst/>
          </a:prstGeom>
          <a:noFill/>
        </p:spPr>
        <p:txBody>
          <a:bodyPr wrap="square" rtlCol="0" anchor="ctr"/>
          <a:lstStyle/>
          <a:p>
            <a:pPr marL="0" indent="0">
              <a:buNone/>
            </a:pPr>
            <a:r>
              <a:rPr lang="en-US" sz="1000" b="1" dirty="0">
                <a:solidFill>
                  <a:srgbClr val="FFFFFF"/>
                </a:solidFill>
              </a:rPr>
              <a:t>Risk</a:t>
            </a:r>
            <a:endParaRPr lang="en-US" sz="1000" dirty="0"/>
          </a:p>
        </p:txBody>
      </p:sp>
      <p:sp>
        <p:nvSpPr>
          <p:cNvPr id="17" name="Shape 15"/>
          <p:cNvSpPr/>
          <p:nvPr/>
        </p:nvSpPr>
        <p:spPr>
          <a:xfrm>
            <a:off x="347472" y="1783080"/>
            <a:ext cx="8339328" cy="320040"/>
          </a:xfrm>
          <a:prstGeom prst="rect">
            <a:avLst/>
          </a:prstGeom>
          <a:solidFill>
            <a:srgbClr val="FFFFFF"/>
          </a:solidFill>
        </p:spPr>
      </p:sp>
      <p:sp>
        <p:nvSpPr>
          <p:cNvPr id="18" name="Text 16"/>
          <p:cNvSpPr/>
          <p:nvPr/>
        </p:nvSpPr>
        <p:spPr>
          <a:xfrm>
            <a:off x="393192" y="1837944"/>
            <a:ext cx="301752" cy="228600"/>
          </a:xfrm>
          <a:prstGeom prst="rect">
            <a:avLst/>
          </a:prstGeom>
          <a:noFill/>
        </p:spPr>
        <p:txBody>
          <a:bodyPr wrap="square" rtlCol="0" anchor="ctr"/>
          <a:lstStyle/>
          <a:p>
            <a:pPr marL="0" indent="0">
              <a:buNone/>
            </a:pPr>
            <a:r>
              <a:rPr lang="en-US" sz="950" dirty="0">
                <a:solidFill>
                  <a:srgbClr val="0D1F15"/>
                </a:solidFill>
              </a:rPr>
              <a:t>1</a:t>
            </a:r>
            <a:endParaRPr lang="en-US" sz="950" dirty="0"/>
          </a:p>
        </p:txBody>
      </p:sp>
      <p:sp>
        <p:nvSpPr>
          <p:cNvPr id="19" name="Text 17"/>
          <p:cNvSpPr/>
          <p:nvPr/>
        </p:nvSpPr>
        <p:spPr>
          <a:xfrm>
            <a:off x="758952" y="1837944"/>
            <a:ext cx="1920240" cy="228600"/>
          </a:xfrm>
          <a:prstGeom prst="rect">
            <a:avLst/>
          </a:prstGeom>
          <a:noFill/>
        </p:spPr>
        <p:txBody>
          <a:bodyPr wrap="square" rtlCol="0" anchor="ctr"/>
          <a:lstStyle/>
          <a:p>
            <a:pPr marL="0" indent="0">
              <a:buNone/>
            </a:pPr>
            <a:r>
              <a:rPr lang="en-US" sz="950" dirty="0">
                <a:solidFill>
                  <a:srgbClr val="0D1F15"/>
                </a:solidFill>
              </a:rPr>
              <a:t>🏢 Real Estate (Rental)</a:t>
            </a:r>
            <a:endParaRPr lang="en-US" sz="950" dirty="0"/>
          </a:p>
        </p:txBody>
      </p:sp>
      <p:sp>
        <p:nvSpPr>
          <p:cNvPr id="20" name="Text 18"/>
          <p:cNvSpPr/>
          <p:nvPr/>
        </p:nvSpPr>
        <p:spPr>
          <a:xfrm>
            <a:off x="2770632" y="1837944"/>
            <a:ext cx="1216152" cy="228600"/>
          </a:xfrm>
          <a:prstGeom prst="rect">
            <a:avLst/>
          </a:prstGeom>
          <a:noFill/>
        </p:spPr>
        <p:txBody>
          <a:bodyPr wrap="square" rtlCol="0" anchor="ctr"/>
          <a:lstStyle/>
          <a:p>
            <a:pPr marL="0" indent="0">
              <a:buNone/>
            </a:pPr>
            <a:r>
              <a:rPr lang="en-US" sz="950" dirty="0">
                <a:solidFill>
                  <a:srgbClr val="0D1F15"/>
                </a:solidFill>
              </a:rPr>
              <a:t>UGX 50K</a:t>
            </a:r>
            <a:endParaRPr lang="en-US" sz="950" dirty="0"/>
          </a:p>
        </p:txBody>
      </p:sp>
      <p:sp>
        <p:nvSpPr>
          <p:cNvPr id="21" name="Text 19"/>
          <p:cNvSpPr/>
          <p:nvPr/>
        </p:nvSpPr>
        <p:spPr>
          <a:xfrm>
            <a:off x="4069080" y="1837944"/>
            <a:ext cx="1581912" cy="228600"/>
          </a:xfrm>
          <a:prstGeom prst="rect">
            <a:avLst/>
          </a:prstGeom>
          <a:noFill/>
        </p:spPr>
        <p:txBody>
          <a:bodyPr wrap="square" rtlCol="0" anchor="ctr"/>
          <a:lstStyle/>
          <a:p>
            <a:pPr marL="0" indent="0">
              <a:buNone/>
            </a:pPr>
            <a:r>
              <a:rPr lang="en-US" sz="950" b="1" dirty="0">
                <a:solidFill>
                  <a:srgbClr val="1A7A45"/>
                </a:solidFill>
              </a:rPr>
              <a:t>10–16% p.a.</a:t>
            </a:r>
            <a:endParaRPr lang="en-US" sz="950" dirty="0"/>
          </a:p>
        </p:txBody>
      </p:sp>
      <p:sp>
        <p:nvSpPr>
          <p:cNvPr id="22" name="Text 20"/>
          <p:cNvSpPr/>
          <p:nvPr/>
        </p:nvSpPr>
        <p:spPr>
          <a:xfrm>
            <a:off x="5733288" y="1837944"/>
            <a:ext cx="1463040" cy="228600"/>
          </a:xfrm>
          <a:prstGeom prst="rect">
            <a:avLst/>
          </a:prstGeom>
          <a:noFill/>
        </p:spPr>
        <p:txBody>
          <a:bodyPr wrap="square" rtlCol="0" anchor="ctr"/>
          <a:lstStyle/>
          <a:p>
            <a:pPr marL="0" indent="0">
              <a:buNone/>
            </a:pPr>
            <a:r>
              <a:rPr lang="en-US" sz="950" dirty="0">
                <a:solidFill>
                  <a:srgbClr val="0D1F15"/>
                </a:solidFill>
              </a:rPr>
              <a:t>Monthly</a:t>
            </a:r>
            <a:endParaRPr lang="en-US" sz="950" dirty="0"/>
          </a:p>
        </p:txBody>
      </p:sp>
      <p:sp>
        <p:nvSpPr>
          <p:cNvPr id="23" name="Text 21"/>
          <p:cNvSpPr/>
          <p:nvPr/>
        </p:nvSpPr>
        <p:spPr>
          <a:xfrm>
            <a:off x="7287768" y="1837944"/>
            <a:ext cx="1371600" cy="228600"/>
          </a:xfrm>
          <a:prstGeom prst="rect">
            <a:avLst/>
          </a:prstGeom>
          <a:noFill/>
        </p:spPr>
        <p:txBody>
          <a:bodyPr wrap="square" rtlCol="0" anchor="ctr"/>
          <a:lstStyle/>
          <a:p>
            <a:pPr marL="0" indent="0">
              <a:buNone/>
            </a:pPr>
            <a:r>
              <a:rPr lang="en-US" sz="950" b="1" dirty="0">
                <a:solidFill>
                  <a:srgbClr val="1A7A45"/>
                </a:solidFill>
              </a:rPr>
              <a:t>Low–Med</a:t>
            </a:r>
            <a:endParaRPr lang="en-US" sz="950" dirty="0"/>
          </a:p>
        </p:txBody>
      </p:sp>
      <p:sp>
        <p:nvSpPr>
          <p:cNvPr id="24" name="Shape 22"/>
          <p:cNvSpPr/>
          <p:nvPr/>
        </p:nvSpPr>
        <p:spPr>
          <a:xfrm>
            <a:off x="347472" y="2130552"/>
            <a:ext cx="8339328" cy="320040"/>
          </a:xfrm>
          <a:prstGeom prst="rect">
            <a:avLst/>
          </a:prstGeom>
          <a:solidFill>
            <a:srgbClr val="F4F9F5"/>
          </a:solidFill>
        </p:spPr>
      </p:sp>
      <p:sp>
        <p:nvSpPr>
          <p:cNvPr id="25" name="Text 23"/>
          <p:cNvSpPr/>
          <p:nvPr/>
        </p:nvSpPr>
        <p:spPr>
          <a:xfrm>
            <a:off x="393192" y="2185416"/>
            <a:ext cx="301752" cy="228600"/>
          </a:xfrm>
          <a:prstGeom prst="rect">
            <a:avLst/>
          </a:prstGeom>
          <a:noFill/>
        </p:spPr>
        <p:txBody>
          <a:bodyPr wrap="square" rtlCol="0" anchor="ctr"/>
          <a:lstStyle/>
          <a:p>
            <a:pPr marL="0" indent="0">
              <a:buNone/>
            </a:pPr>
            <a:r>
              <a:rPr lang="en-US" sz="950" dirty="0">
                <a:solidFill>
                  <a:srgbClr val="0D1F15"/>
                </a:solidFill>
              </a:rPr>
              <a:t>2</a:t>
            </a:r>
            <a:endParaRPr lang="en-US" sz="950" dirty="0"/>
          </a:p>
        </p:txBody>
      </p:sp>
      <p:sp>
        <p:nvSpPr>
          <p:cNvPr id="26" name="Text 24"/>
          <p:cNvSpPr/>
          <p:nvPr/>
        </p:nvSpPr>
        <p:spPr>
          <a:xfrm>
            <a:off x="758952" y="2185416"/>
            <a:ext cx="1920240" cy="228600"/>
          </a:xfrm>
          <a:prstGeom prst="rect">
            <a:avLst/>
          </a:prstGeom>
          <a:noFill/>
        </p:spPr>
        <p:txBody>
          <a:bodyPr wrap="square" rtlCol="0" anchor="ctr"/>
          <a:lstStyle/>
          <a:p>
            <a:pPr marL="0" indent="0">
              <a:buNone/>
            </a:pPr>
            <a:r>
              <a:rPr lang="en-US" sz="950" dirty="0">
                <a:solidFill>
                  <a:srgbClr val="0D1F15"/>
                </a:solidFill>
              </a:rPr>
              <a:t>🏗️ Real Estate (Construction)</a:t>
            </a:r>
            <a:endParaRPr lang="en-US" sz="950" dirty="0"/>
          </a:p>
        </p:txBody>
      </p:sp>
      <p:sp>
        <p:nvSpPr>
          <p:cNvPr id="27" name="Text 25"/>
          <p:cNvSpPr/>
          <p:nvPr/>
        </p:nvSpPr>
        <p:spPr>
          <a:xfrm>
            <a:off x="2770632" y="2185416"/>
            <a:ext cx="1216152" cy="228600"/>
          </a:xfrm>
          <a:prstGeom prst="rect">
            <a:avLst/>
          </a:prstGeom>
          <a:noFill/>
        </p:spPr>
        <p:txBody>
          <a:bodyPr wrap="square" rtlCol="0" anchor="ctr"/>
          <a:lstStyle/>
          <a:p>
            <a:pPr marL="0" indent="0">
              <a:buNone/>
            </a:pPr>
            <a:r>
              <a:rPr lang="en-US" sz="950" dirty="0">
                <a:solidFill>
                  <a:srgbClr val="0D1F15"/>
                </a:solidFill>
              </a:rPr>
              <a:t>UGX 100K</a:t>
            </a:r>
            <a:endParaRPr lang="en-US" sz="950" dirty="0"/>
          </a:p>
        </p:txBody>
      </p:sp>
      <p:sp>
        <p:nvSpPr>
          <p:cNvPr id="28" name="Text 26"/>
          <p:cNvSpPr/>
          <p:nvPr/>
        </p:nvSpPr>
        <p:spPr>
          <a:xfrm>
            <a:off x="4069080" y="2185416"/>
            <a:ext cx="1581912" cy="228600"/>
          </a:xfrm>
          <a:prstGeom prst="rect">
            <a:avLst/>
          </a:prstGeom>
          <a:noFill/>
        </p:spPr>
        <p:txBody>
          <a:bodyPr wrap="square" rtlCol="0" anchor="ctr"/>
          <a:lstStyle/>
          <a:p>
            <a:pPr marL="0" indent="0">
              <a:buNone/>
            </a:pPr>
            <a:r>
              <a:rPr lang="en-US" sz="950" b="1" dirty="0">
                <a:solidFill>
                  <a:srgbClr val="1A7A45"/>
                </a:solidFill>
              </a:rPr>
              <a:t>20–35% total</a:t>
            </a:r>
            <a:endParaRPr lang="en-US" sz="950" dirty="0"/>
          </a:p>
        </p:txBody>
      </p:sp>
      <p:sp>
        <p:nvSpPr>
          <p:cNvPr id="29" name="Text 27"/>
          <p:cNvSpPr/>
          <p:nvPr/>
        </p:nvSpPr>
        <p:spPr>
          <a:xfrm>
            <a:off x="5733288" y="2185416"/>
            <a:ext cx="1463040" cy="228600"/>
          </a:xfrm>
          <a:prstGeom prst="rect">
            <a:avLst/>
          </a:prstGeom>
          <a:noFill/>
        </p:spPr>
        <p:txBody>
          <a:bodyPr wrap="square" rtlCol="0" anchor="ctr"/>
          <a:lstStyle/>
          <a:p>
            <a:pPr marL="0" indent="0">
              <a:buNone/>
            </a:pPr>
            <a:r>
              <a:rPr lang="en-US" sz="950" dirty="0">
                <a:solidFill>
                  <a:srgbClr val="0D1F15"/>
                </a:solidFill>
              </a:rPr>
              <a:t>12–24 months</a:t>
            </a:r>
            <a:endParaRPr lang="en-US" sz="950" dirty="0"/>
          </a:p>
        </p:txBody>
      </p:sp>
      <p:sp>
        <p:nvSpPr>
          <p:cNvPr id="30" name="Text 28"/>
          <p:cNvSpPr/>
          <p:nvPr/>
        </p:nvSpPr>
        <p:spPr>
          <a:xfrm>
            <a:off x="7287768" y="2185416"/>
            <a:ext cx="1371600" cy="228600"/>
          </a:xfrm>
          <a:prstGeom prst="rect">
            <a:avLst/>
          </a:prstGeom>
          <a:noFill/>
        </p:spPr>
        <p:txBody>
          <a:bodyPr wrap="square" rtlCol="0" anchor="ctr"/>
          <a:lstStyle/>
          <a:p>
            <a:pPr marL="0" indent="0">
              <a:buNone/>
            </a:pPr>
            <a:r>
              <a:rPr lang="en-US" sz="950" b="1" dirty="0">
                <a:solidFill>
                  <a:srgbClr val="F59E0B"/>
                </a:solidFill>
              </a:rPr>
              <a:t>Medium</a:t>
            </a:r>
            <a:endParaRPr lang="en-US" sz="950" dirty="0"/>
          </a:p>
        </p:txBody>
      </p:sp>
      <p:sp>
        <p:nvSpPr>
          <p:cNvPr id="31" name="Shape 29"/>
          <p:cNvSpPr/>
          <p:nvPr/>
        </p:nvSpPr>
        <p:spPr>
          <a:xfrm>
            <a:off x="347472" y="2478024"/>
            <a:ext cx="8339328" cy="320040"/>
          </a:xfrm>
          <a:prstGeom prst="rect">
            <a:avLst/>
          </a:prstGeom>
          <a:solidFill>
            <a:srgbClr val="FFFFFF"/>
          </a:solidFill>
        </p:spPr>
      </p:sp>
      <p:sp>
        <p:nvSpPr>
          <p:cNvPr id="32" name="Text 30"/>
          <p:cNvSpPr/>
          <p:nvPr/>
        </p:nvSpPr>
        <p:spPr>
          <a:xfrm>
            <a:off x="393192" y="2532888"/>
            <a:ext cx="301752" cy="228600"/>
          </a:xfrm>
          <a:prstGeom prst="rect">
            <a:avLst/>
          </a:prstGeom>
          <a:noFill/>
        </p:spPr>
        <p:txBody>
          <a:bodyPr wrap="square" rtlCol="0" anchor="ctr"/>
          <a:lstStyle/>
          <a:p>
            <a:pPr marL="0" indent="0">
              <a:buNone/>
            </a:pPr>
            <a:r>
              <a:rPr lang="en-US" sz="950" dirty="0">
                <a:solidFill>
                  <a:srgbClr val="0D1F15"/>
                </a:solidFill>
              </a:rPr>
              <a:t>3a</a:t>
            </a:r>
            <a:endParaRPr lang="en-US" sz="950" dirty="0"/>
          </a:p>
        </p:txBody>
      </p:sp>
      <p:sp>
        <p:nvSpPr>
          <p:cNvPr id="33" name="Text 31"/>
          <p:cNvSpPr/>
          <p:nvPr/>
        </p:nvSpPr>
        <p:spPr>
          <a:xfrm>
            <a:off x="758952" y="2532888"/>
            <a:ext cx="1920240" cy="228600"/>
          </a:xfrm>
          <a:prstGeom prst="rect">
            <a:avLst/>
          </a:prstGeom>
          <a:noFill/>
        </p:spPr>
        <p:txBody>
          <a:bodyPr wrap="square" rtlCol="0" anchor="ctr"/>
          <a:lstStyle/>
          <a:p>
            <a:pPr marL="0" indent="0">
              <a:buNone/>
            </a:pPr>
            <a:r>
              <a:rPr lang="en-US" sz="950" dirty="0">
                <a:solidFill>
                  <a:srgbClr val="0D1F15"/>
                </a:solidFill>
              </a:rPr>
              <a:t>🛢️ Petroleum — Tanker Purchase</a:t>
            </a:r>
            <a:endParaRPr lang="en-US" sz="950" dirty="0"/>
          </a:p>
        </p:txBody>
      </p:sp>
      <p:sp>
        <p:nvSpPr>
          <p:cNvPr id="34" name="Text 32"/>
          <p:cNvSpPr/>
          <p:nvPr/>
        </p:nvSpPr>
        <p:spPr>
          <a:xfrm>
            <a:off x="2770632" y="2532888"/>
            <a:ext cx="1216152" cy="228600"/>
          </a:xfrm>
          <a:prstGeom prst="rect">
            <a:avLst/>
          </a:prstGeom>
          <a:noFill/>
        </p:spPr>
        <p:txBody>
          <a:bodyPr wrap="square" rtlCol="0" anchor="ctr"/>
          <a:lstStyle/>
          <a:p>
            <a:pPr marL="0" indent="0">
              <a:buNone/>
            </a:pPr>
            <a:r>
              <a:rPr lang="en-US" sz="950" dirty="0">
                <a:solidFill>
                  <a:srgbClr val="0D1F15"/>
                </a:solidFill>
              </a:rPr>
              <a:t>UGX 100K</a:t>
            </a:r>
            <a:endParaRPr lang="en-US" sz="950" dirty="0"/>
          </a:p>
        </p:txBody>
      </p:sp>
      <p:sp>
        <p:nvSpPr>
          <p:cNvPr id="35" name="Text 33"/>
          <p:cNvSpPr/>
          <p:nvPr/>
        </p:nvSpPr>
        <p:spPr>
          <a:xfrm>
            <a:off x="4069080" y="2532888"/>
            <a:ext cx="1581912" cy="228600"/>
          </a:xfrm>
          <a:prstGeom prst="rect">
            <a:avLst/>
          </a:prstGeom>
          <a:noFill/>
        </p:spPr>
        <p:txBody>
          <a:bodyPr wrap="square" rtlCol="0" anchor="ctr"/>
          <a:lstStyle/>
          <a:p>
            <a:pPr marL="0" indent="0">
              <a:buNone/>
            </a:pPr>
            <a:r>
              <a:rPr lang="en-US" sz="950" b="1" dirty="0">
                <a:solidFill>
                  <a:srgbClr val="1A7A45"/>
                </a:solidFill>
              </a:rPr>
              <a:t>8–22% per cycle</a:t>
            </a:r>
            <a:endParaRPr lang="en-US" sz="950" dirty="0"/>
          </a:p>
        </p:txBody>
      </p:sp>
      <p:sp>
        <p:nvSpPr>
          <p:cNvPr id="36" name="Text 34"/>
          <p:cNvSpPr/>
          <p:nvPr/>
        </p:nvSpPr>
        <p:spPr>
          <a:xfrm>
            <a:off x="5733288" y="2532888"/>
            <a:ext cx="1463040" cy="228600"/>
          </a:xfrm>
          <a:prstGeom prst="rect">
            <a:avLst/>
          </a:prstGeom>
          <a:noFill/>
        </p:spPr>
        <p:txBody>
          <a:bodyPr wrap="square" rtlCol="0" anchor="ctr"/>
          <a:lstStyle/>
          <a:p>
            <a:pPr marL="0" indent="0">
              <a:buNone/>
            </a:pPr>
            <a:r>
              <a:rPr lang="en-US" sz="950" dirty="0">
                <a:solidFill>
                  <a:srgbClr val="0D1F15"/>
                </a:solidFill>
              </a:rPr>
              <a:t>30–90 days</a:t>
            </a:r>
            <a:endParaRPr lang="en-US" sz="950" dirty="0"/>
          </a:p>
        </p:txBody>
      </p:sp>
      <p:sp>
        <p:nvSpPr>
          <p:cNvPr id="37" name="Text 35"/>
          <p:cNvSpPr/>
          <p:nvPr/>
        </p:nvSpPr>
        <p:spPr>
          <a:xfrm>
            <a:off x="7287768" y="2532888"/>
            <a:ext cx="1371600" cy="228600"/>
          </a:xfrm>
          <a:prstGeom prst="rect">
            <a:avLst/>
          </a:prstGeom>
          <a:noFill/>
        </p:spPr>
        <p:txBody>
          <a:bodyPr wrap="square" rtlCol="0" anchor="ctr"/>
          <a:lstStyle/>
          <a:p>
            <a:pPr marL="0" indent="0">
              <a:buNone/>
            </a:pPr>
            <a:r>
              <a:rPr lang="en-US" sz="950" b="1" dirty="0">
                <a:solidFill>
                  <a:srgbClr val="F59E0B"/>
                </a:solidFill>
              </a:rPr>
              <a:t>Medium</a:t>
            </a:r>
            <a:endParaRPr lang="en-US" sz="950" dirty="0"/>
          </a:p>
        </p:txBody>
      </p:sp>
      <p:sp>
        <p:nvSpPr>
          <p:cNvPr id="38" name="Shape 36"/>
          <p:cNvSpPr/>
          <p:nvPr/>
        </p:nvSpPr>
        <p:spPr>
          <a:xfrm>
            <a:off x="347472" y="2825496"/>
            <a:ext cx="8339328" cy="320040"/>
          </a:xfrm>
          <a:prstGeom prst="rect">
            <a:avLst/>
          </a:prstGeom>
          <a:solidFill>
            <a:srgbClr val="F4F9F5"/>
          </a:solidFill>
        </p:spPr>
      </p:sp>
      <p:sp>
        <p:nvSpPr>
          <p:cNvPr id="39" name="Text 37"/>
          <p:cNvSpPr/>
          <p:nvPr/>
        </p:nvSpPr>
        <p:spPr>
          <a:xfrm>
            <a:off x="393192" y="2880360"/>
            <a:ext cx="301752" cy="228600"/>
          </a:xfrm>
          <a:prstGeom prst="rect">
            <a:avLst/>
          </a:prstGeom>
          <a:noFill/>
        </p:spPr>
        <p:txBody>
          <a:bodyPr wrap="square" rtlCol="0" anchor="ctr"/>
          <a:lstStyle/>
          <a:p>
            <a:pPr marL="0" indent="0">
              <a:buNone/>
            </a:pPr>
            <a:r>
              <a:rPr lang="en-US" sz="950" dirty="0">
                <a:solidFill>
                  <a:srgbClr val="0D1F15"/>
                </a:solidFill>
              </a:rPr>
              <a:t>3b</a:t>
            </a:r>
            <a:endParaRPr lang="en-US" sz="950" dirty="0"/>
          </a:p>
        </p:txBody>
      </p:sp>
      <p:sp>
        <p:nvSpPr>
          <p:cNvPr id="40" name="Text 38"/>
          <p:cNvSpPr/>
          <p:nvPr/>
        </p:nvSpPr>
        <p:spPr>
          <a:xfrm>
            <a:off x="758952" y="2880360"/>
            <a:ext cx="1920240" cy="228600"/>
          </a:xfrm>
          <a:prstGeom prst="rect">
            <a:avLst/>
          </a:prstGeom>
          <a:noFill/>
        </p:spPr>
        <p:txBody>
          <a:bodyPr wrap="square" rtlCol="0" anchor="ctr"/>
          <a:lstStyle/>
          <a:p>
            <a:pPr marL="0" indent="0">
              <a:buNone/>
            </a:pPr>
            <a:r>
              <a:rPr lang="en-US" sz="950" dirty="0">
                <a:solidFill>
                  <a:srgbClr val="0D1F15"/>
                </a:solidFill>
              </a:rPr>
              <a:t>🛢️ Petroleum — Oil Options</a:t>
            </a:r>
            <a:endParaRPr lang="en-US" sz="950" dirty="0"/>
          </a:p>
        </p:txBody>
      </p:sp>
      <p:sp>
        <p:nvSpPr>
          <p:cNvPr id="41" name="Text 39"/>
          <p:cNvSpPr/>
          <p:nvPr/>
        </p:nvSpPr>
        <p:spPr>
          <a:xfrm>
            <a:off x="2770632" y="2880360"/>
            <a:ext cx="1216152" cy="228600"/>
          </a:xfrm>
          <a:prstGeom prst="rect">
            <a:avLst/>
          </a:prstGeom>
          <a:noFill/>
        </p:spPr>
        <p:txBody>
          <a:bodyPr wrap="square" rtlCol="0" anchor="ctr"/>
          <a:lstStyle/>
          <a:p>
            <a:pPr marL="0" indent="0">
              <a:buNone/>
            </a:pPr>
            <a:r>
              <a:rPr lang="en-US" sz="950" dirty="0">
                <a:solidFill>
                  <a:srgbClr val="0D1F15"/>
                </a:solidFill>
              </a:rPr>
              <a:t>UGX 100K</a:t>
            </a:r>
            <a:endParaRPr lang="en-US" sz="950" dirty="0"/>
          </a:p>
        </p:txBody>
      </p:sp>
      <p:sp>
        <p:nvSpPr>
          <p:cNvPr id="42" name="Text 40"/>
          <p:cNvSpPr/>
          <p:nvPr/>
        </p:nvSpPr>
        <p:spPr>
          <a:xfrm>
            <a:off x="4069080" y="2880360"/>
            <a:ext cx="1581912" cy="228600"/>
          </a:xfrm>
          <a:prstGeom prst="rect">
            <a:avLst/>
          </a:prstGeom>
          <a:noFill/>
        </p:spPr>
        <p:txBody>
          <a:bodyPr wrap="square" rtlCol="0" anchor="ctr"/>
          <a:lstStyle/>
          <a:p>
            <a:pPr marL="0" indent="0">
              <a:buNone/>
            </a:pPr>
            <a:r>
              <a:rPr lang="en-US" sz="950" b="1" dirty="0">
                <a:solidFill>
                  <a:srgbClr val="1A7A45"/>
                </a:solidFill>
              </a:rPr>
              <a:t>10–40% per contract</a:t>
            </a:r>
            <a:endParaRPr lang="en-US" sz="950" dirty="0"/>
          </a:p>
        </p:txBody>
      </p:sp>
      <p:sp>
        <p:nvSpPr>
          <p:cNvPr id="43" name="Text 41"/>
          <p:cNvSpPr/>
          <p:nvPr/>
        </p:nvSpPr>
        <p:spPr>
          <a:xfrm>
            <a:off x="5733288" y="2880360"/>
            <a:ext cx="1463040" cy="228600"/>
          </a:xfrm>
          <a:prstGeom prst="rect">
            <a:avLst/>
          </a:prstGeom>
          <a:noFill/>
        </p:spPr>
        <p:txBody>
          <a:bodyPr wrap="square" rtlCol="0" anchor="ctr"/>
          <a:lstStyle/>
          <a:p>
            <a:pPr marL="0" indent="0">
              <a:buNone/>
            </a:pPr>
            <a:r>
              <a:rPr lang="en-US" sz="950" dirty="0">
                <a:solidFill>
                  <a:srgbClr val="0D1F15"/>
                </a:solidFill>
              </a:rPr>
              <a:t>7–90 days</a:t>
            </a:r>
            <a:endParaRPr lang="en-US" sz="950" dirty="0"/>
          </a:p>
        </p:txBody>
      </p:sp>
      <p:sp>
        <p:nvSpPr>
          <p:cNvPr id="44" name="Text 42"/>
          <p:cNvSpPr/>
          <p:nvPr/>
        </p:nvSpPr>
        <p:spPr>
          <a:xfrm>
            <a:off x="7287768" y="2880360"/>
            <a:ext cx="1371600" cy="228600"/>
          </a:xfrm>
          <a:prstGeom prst="rect">
            <a:avLst/>
          </a:prstGeom>
          <a:noFill/>
        </p:spPr>
        <p:txBody>
          <a:bodyPr wrap="square" rtlCol="0" anchor="ctr"/>
          <a:lstStyle/>
          <a:p>
            <a:pPr marL="0" indent="0">
              <a:buNone/>
            </a:pPr>
            <a:r>
              <a:rPr lang="en-US" sz="950" b="1" dirty="0">
                <a:solidFill>
                  <a:srgbClr val="B45309"/>
                </a:solidFill>
              </a:rPr>
              <a:t>Med–High</a:t>
            </a:r>
            <a:endParaRPr lang="en-US" sz="950" dirty="0"/>
          </a:p>
        </p:txBody>
      </p:sp>
      <p:sp>
        <p:nvSpPr>
          <p:cNvPr id="45" name="Shape 43"/>
          <p:cNvSpPr/>
          <p:nvPr/>
        </p:nvSpPr>
        <p:spPr>
          <a:xfrm>
            <a:off x="347472" y="3172968"/>
            <a:ext cx="8339328" cy="320040"/>
          </a:xfrm>
          <a:prstGeom prst="rect">
            <a:avLst/>
          </a:prstGeom>
          <a:solidFill>
            <a:srgbClr val="FFFFFF"/>
          </a:solidFill>
        </p:spPr>
      </p:sp>
      <p:sp>
        <p:nvSpPr>
          <p:cNvPr id="46" name="Text 44"/>
          <p:cNvSpPr/>
          <p:nvPr/>
        </p:nvSpPr>
        <p:spPr>
          <a:xfrm>
            <a:off x="393192" y="3227832"/>
            <a:ext cx="301752" cy="228600"/>
          </a:xfrm>
          <a:prstGeom prst="rect">
            <a:avLst/>
          </a:prstGeom>
          <a:noFill/>
        </p:spPr>
        <p:txBody>
          <a:bodyPr wrap="square" rtlCol="0" anchor="ctr"/>
          <a:lstStyle/>
          <a:p>
            <a:pPr marL="0" indent="0">
              <a:buNone/>
            </a:pPr>
            <a:r>
              <a:rPr lang="en-US" sz="950" dirty="0">
                <a:solidFill>
                  <a:srgbClr val="0D1F15"/>
                </a:solidFill>
              </a:rPr>
              <a:t>4a</a:t>
            </a:r>
            <a:endParaRPr lang="en-US" sz="950" dirty="0"/>
          </a:p>
        </p:txBody>
      </p:sp>
      <p:sp>
        <p:nvSpPr>
          <p:cNvPr id="47" name="Text 45"/>
          <p:cNvSpPr/>
          <p:nvPr/>
        </p:nvSpPr>
        <p:spPr>
          <a:xfrm>
            <a:off x="758952" y="3227832"/>
            <a:ext cx="1920240" cy="228600"/>
          </a:xfrm>
          <a:prstGeom prst="rect">
            <a:avLst/>
          </a:prstGeom>
          <a:noFill/>
        </p:spPr>
        <p:txBody>
          <a:bodyPr wrap="square" rtlCol="0" anchor="ctr"/>
          <a:lstStyle/>
          <a:p>
            <a:pPr marL="0" indent="0">
              <a:buNone/>
            </a:pPr>
            <a:r>
              <a:rPr lang="en-US" sz="950" dirty="0">
                <a:solidFill>
                  <a:srgbClr val="0D1F15"/>
                </a:solidFill>
              </a:rPr>
              <a:t>🌽 Agri — Domestic Commodity Lot</a:t>
            </a:r>
            <a:endParaRPr lang="en-US" sz="950" dirty="0"/>
          </a:p>
        </p:txBody>
      </p:sp>
      <p:sp>
        <p:nvSpPr>
          <p:cNvPr id="48" name="Text 46"/>
          <p:cNvSpPr/>
          <p:nvPr/>
        </p:nvSpPr>
        <p:spPr>
          <a:xfrm>
            <a:off x="2770632" y="3227832"/>
            <a:ext cx="1216152" cy="228600"/>
          </a:xfrm>
          <a:prstGeom prst="rect">
            <a:avLst/>
          </a:prstGeom>
          <a:noFill/>
        </p:spPr>
        <p:txBody>
          <a:bodyPr wrap="square" rtlCol="0" anchor="ctr"/>
          <a:lstStyle/>
          <a:p>
            <a:pPr marL="0" indent="0">
              <a:buNone/>
            </a:pPr>
            <a:r>
              <a:rPr lang="en-US" sz="950" dirty="0">
                <a:solidFill>
                  <a:srgbClr val="0D1F15"/>
                </a:solidFill>
              </a:rPr>
              <a:t>UGX 50K</a:t>
            </a:r>
            <a:endParaRPr lang="en-US" sz="950" dirty="0"/>
          </a:p>
        </p:txBody>
      </p:sp>
      <p:sp>
        <p:nvSpPr>
          <p:cNvPr id="49" name="Text 47"/>
          <p:cNvSpPr/>
          <p:nvPr/>
        </p:nvSpPr>
        <p:spPr>
          <a:xfrm>
            <a:off x="4069080" y="3227832"/>
            <a:ext cx="1581912" cy="228600"/>
          </a:xfrm>
          <a:prstGeom prst="rect">
            <a:avLst/>
          </a:prstGeom>
          <a:noFill/>
        </p:spPr>
        <p:txBody>
          <a:bodyPr wrap="square" rtlCol="0" anchor="ctr"/>
          <a:lstStyle/>
          <a:p>
            <a:pPr marL="0" indent="0">
              <a:buNone/>
            </a:pPr>
            <a:r>
              <a:rPr lang="en-US" sz="950" b="1" dirty="0">
                <a:solidFill>
                  <a:srgbClr val="1A7A45"/>
                </a:solidFill>
              </a:rPr>
              <a:t>15–30% per cycle</a:t>
            </a:r>
            <a:endParaRPr lang="en-US" sz="950" dirty="0"/>
          </a:p>
        </p:txBody>
      </p:sp>
      <p:sp>
        <p:nvSpPr>
          <p:cNvPr id="50" name="Text 48"/>
          <p:cNvSpPr/>
          <p:nvPr/>
        </p:nvSpPr>
        <p:spPr>
          <a:xfrm>
            <a:off x="5733288" y="3227832"/>
            <a:ext cx="1463040" cy="228600"/>
          </a:xfrm>
          <a:prstGeom prst="rect">
            <a:avLst/>
          </a:prstGeom>
          <a:noFill/>
        </p:spPr>
        <p:txBody>
          <a:bodyPr wrap="square" rtlCol="0" anchor="ctr"/>
          <a:lstStyle/>
          <a:p>
            <a:pPr marL="0" indent="0">
              <a:buNone/>
            </a:pPr>
            <a:r>
              <a:rPr lang="en-US" sz="950" dirty="0">
                <a:solidFill>
                  <a:srgbClr val="0D1F15"/>
                </a:solidFill>
              </a:rPr>
              <a:t>30–60 days</a:t>
            </a:r>
            <a:endParaRPr lang="en-US" sz="950" dirty="0"/>
          </a:p>
        </p:txBody>
      </p:sp>
      <p:sp>
        <p:nvSpPr>
          <p:cNvPr id="51" name="Text 49"/>
          <p:cNvSpPr/>
          <p:nvPr/>
        </p:nvSpPr>
        <p:spPr>
          <a:xfrm>
            <a:off x="7287768" y="3227832"/>
            <a:ext cx="1371600" cy="228600"/>
          </a:xfrm>
          <a:prstGeom prst="rect">
            <a:avLst/>
          </a:prstGeom>
          <a:noFill/>
        </p:spPr>
        <p:txBody>
          <a:bodyPr wrap="square" rtlCol="0" anchor="ctr"/>
          <a:lstStyle/>
          <a:p>
            <a:pPr marL="0" indent="0">
              <a:buNone/>
            </a:pPr>
            <a:r>
              <a:rPr lang="en-US" sz="950" b="1" dirty="0">
                <a:solidFill>
                  <a:srgbClr val="F59E0B"/>
                </a:solidFill>
              </a:rPr>
              <a:t>Medium</a:t>
            </a:r>
            <a:endParaRPr lang="en-US" sz="950" dirty="0"/>
          </a:p>
        </p:txBody>
      </p:sp>
      <p:sp>
        <p:nvSpPr>
          <p:cNvPr id="52" name="Shape 50"/>
          <p:cNvSpPr/>
          <p:nvPr/>
        </p:nvSpPr>
        <p:spPr>
          <a:xfrm>
            <a:off x="347472" y="3520440"/>
            <a:ext cx="8339328" cy="320040"/>
          </a:xfrm>
          <a:prstGeom prst="rect">
            <a:avLst/>
          </a:prstGeom>
          <a:solidFill>
            <a:srgbClr val="F4F9F5"/>
          </a:solidFill>
        </p:spPr>
      </p:sp>
      <p:sp>
        <p:nvSpPr>
          <p:cNvPr id="53" name="Text 51"/>
          <p:cNvSpPr/>
          <p:nvPr/>
        </p:nvSpPr>
        <p:spPr>
          <a:xfrm>
            <a:off x="393192" y="3575304"/>
            <a:ext cx="301752" cy="228600"/>
          </a:xfrm>
          <a:prstGeom prst="rect">
            <a:avLst/>
          </a:prstGeom>
          <a:noFill/>
        </p:spPr>
        <p:txBody>
          <a:bodyPr wrap="square" rtlCol="0" anchor="ctr"/>
          <a:lstStyle/>
          <a:p>
            <a:pPr marL="0" indent="0">
              <a:buNone/>
            </a:pPr>
            <a:r>
              <a:rPr lang="en-US" sz="950" dirty="0">
                <a:solidFill>
                  <a:srgbClr val="0D1F15"/>
                </a:solidFill>
              </a:rPr>
              <a:t>4b</a:t>
            </a:r>
            <a:endParaRPr lang="en-US" sz="950" dirty="0"/>
          </a:p>
        </p:txBody>
      </p:sp>
      <p:sp>
        <p:nvSpPr>
          <p:cNvPr id="54" name="Text 52"/>
          <p:cNvSpPr/>
          <p:nvPr/>
        </p:nvSpPr>
        <p:spPr>
          <a:xfrm>
            <a:off x="758952" y="3575304"/>
            <a:ext cx="1920240" cy="228600"/>
          </a:xfrm>
          <a:prstGeom prst="rect">
            <a:avLst/>
          </a:prstGeom>
          <a:noFill/>
        </p:spPr>
        <p:txBody>
          <a:bodyPr wrap="square" rtlCol="0" anchor="ctr"/>
          <a:lstStyle/>
          <a:p>
            <a:pPr marL="0" indent="0">
              <a:buNone/>
            </a:pPr>
            <a:r>
              <a:rPr lang="en-US" sz="950" dirty="0">
                <a:solidFill>
                  <a:srgbClr val="0D1F15"/>
                </a:solidFill>
              </a:rPr>
              <a:t>🌽 Agri — Export Consignment</a:t>
            </a:r>
            <a:endParaRPr lang="en-US" sz="950" dirty="0"/>
          </a:p>
        </p:txBody>
      </p:sp>
      <p:sp>
        <p:nvSpPr>
          <p:cNvPr id="55" name="Text 53"/>
          <p:cNvSpPr/>
          <p:nvPr/>
        </p:nvSpPr>
        <p:spPr>
          <a:xfrm>
            <a:off x="2770632" y="3575304"/>
            <a:ext cx="1216152" cy="228600"/>
          </a:xfrm>
          <a:prstGeom prst="rect">
            <a:avLst/>
          </a:prstGeom>
          <a:noFill/>
        </p:spPr>
        <p:txBody>
          <a:bodyPr wrap="square" rtlCol="0" anchor="ctr"/>
          <a:lstStyle/>
          <a:p>
            <a:pPr marL="0" indent="0">
              <a:buNone/>
            </a:pPr>
            <a:r>
              <a:rPr lang="en-US" sz="950" dirty="0">
                <a:solidFill>
                  <a:srgbClr val="0D1F15"/>
                </a:solidFill>
              </a:rPr>
              <a:t>UGX 50K</a:t>
            </a:r>
            <a:endParaRPr lang="en-US" sz="950" dirty="0"/>
          </a:p>
        </p:txBody>
      </p:sp>
      <p:sp>
        <p:nvSpPr>
          <p:cNvPr id="56" name="Text 54"/>
          <p:cNvSpPr/>
          <p:nvPr/>
        </p:nvSpPr>
        <p:spPr>
          <a:xfrm>
            <a:off x="4069080" y="3575304"/>
            <a:ext cx="1581912" cy="228600"/>
          </a:xfrm>
          <a:prstGeom prst="rect">
            <a:avLst/>
          </a:prstGeom>
          <a:noFill/>
        </p:spPr>
        <p:txBody>
          <a:bodyPr wrap="square" rtlCol="0" anchor="ctr"/>
          <a:lstStyle/>
          <a:p>
            <a:pPr marL="0" indent="0">
              <a:buNone/>
            </a:pPr>
            <a:r>
              <a:rPr lang="en-US" sz="950" b="1" dirty="0">
                <a:solidFill>
                  <a:srgbClr val="1A7A45"/>
                </a:solidFill>
              </a:rPr>
              <a:t>25–45% per cycle</a:t>
            </a:r>
            <a:endParaRPr lang="en-US" sz="950" dirty="0"/>
          </a:p>
        </p:txBody>
      </p:sp>
      <p:sp>
        <p:nvSpPr>
          <p:cNvPr id="57" name="Text 55"/>
          <p:cNvSpPr/>
          <p:nvPr/>
        </p:nvSpPr>
        <p:spPr>
          <a:xfrm>
            <a:off x="5733288" y="3575304"/>
            <a:ext cx="1463040" cy="228600"/>
          </a:xfrm>
          <a:prstGeom prst="rect">
            <a:avLst/>
          </a:prstGeom>
          <a:noFill/>
        </p:spPr>
        <p:txBody>
          <a:bodyPr wrap="square" rtlCol="0" anchor="ctr"/>
          <a:lstStyle/>
          <a:p>
            <a:pPr marL="0" indent="0">
              <a:buNone/>
            </a:pPr>
            <a:r>
              <a:rPr lang="en-US" sz="950" dirty="0">
                <a:solidFill>
                  <a:srgbClr val="0D1F15"/>
                </a:solidFill>
              </a:rPr>
              <a:t>60–120 days</a:t>
            </a:r>
            <a:endParaRPr lang="en-US" sz="950" dirty="0"/>
          </a:p>
        </p:txBody>
      </p:sp>
      <p:sp>
        <p:nvSpPr>
          <p:cNvPr id="58" name="Text 56"/>
          <p:cNvSpPr/>
          <p:nvPr/>
        </p:nvSpPr>
        <p:spPr>
          <a:xfrm>
            <a:off x="7287768" y="3575304"/>
            <a:ext cx="1371600" cy="228600"/>
          </a:xfrm>
          <a:prstGeom prst="rect">
            <a:avLst/>
          </a:prstGeom>
          <a:noFill/>
        </p:spPr>
        <p:txBody>
          <a:bodyPr wrap="square" rtlCol="0" anchor="ctr"/>
          <a:lstStyle/>
          <a:p>
            <a:pPr marL="0" indent="0">
              <a:buNone/>
            </a:pPr>
            <a:r>
              <a:rPr lang="en-US" sz="950" b="1" dirty="0">
                <a:solidFill>
                  <a:srgbClr val="F59E0B"/>
                </a:solidFill>
              </a:rPr>
              <a:t>Medium</a:t>
            </a:r>
            <a:endParaRPr lang="en-US" sz="950" dirty="0"/>
          </a:p>
        </p:txBody>
      </p:sp>
      <p:sp>
        <p:nvSpPr>
          <p:cNvPr id="59" name="Shape 57"/>
          <p:cNvSpPr/>
          <p:nvPr/>
        </p:nvSpPr>
        <p:spPr>
          <a:xfrm>
            <a:off x="347472" y="3867912"/>
            <a:ext cx="8339328" cy="320040"/>
          </a:xfrm>
          <a:prstGeom prst="rect">
            <a:avLst/>
          </a:prstGeom>
          <a:solidFill>
            <a:srgbClr val="FFFFFF"/>
          </a:solidFill>
        </p:spPr>
      </p:sp>
      <p:sp>
        <p:nvSpPr>
          <p:cNvPr id="60" name="Text 58"/>
          <p:cNvSpPr/>
          <p:nvPr/>
        </p:nvSpPr>
        <p:spPr>
          <a:xfrm>
            <a:off x="393192" y="3922776"/>
            <a:ext cx="301752" cy="228600"/>
          </a:xfrm>
          <a:prstGeom prst="rect">
            <a:avLst/>
          </a:prstGeom>
          <a:noFill/>
        </p:spPr>
        <p:txBody>
          <a:bodyPr wrap="square" rtlCol="0" anchor="ctr"/>
          <a:lstStyle/>
          <a:p>
            <a:pPr marL="0" indent="0">
              <a:buNone/>
            </a:pPr>
            <a:r>
              <a:rPr lang="en-US" sz="950" dirty="0">
                <a:solidFill>
                  <a:srgbClr val="0D1F15"/>
                </a:solidFill>
              </a:rPr>
              <a:t>5</a:t>
            </a:r>
            <a:endParaRPr lang="en-US" sz="950" dirty="0"/>
          </a:p>
        </p:txBody>
      </p:sp>
      <p:sp>
        <p:nvSpPr>
          <p:cNvPr id="61" name="Text 59"/>
          <p:cNvSpPr/>
          <p:nvPr/>
        </p:nvSpPr>
        <p:spPr>
          <a:xfrm>
            <a:off x="758952" y="3922776"/>
            <a:ext cx="1920240" cy="228600"/>
          </a:xfrm>
          <a:prstGeom prst="rect">
            <a:avLst/>
          </a:prstGeom>
          <a:noFill/>
        </p:spPr>
        <p:txBody>
          <a:bodyPr wrap="square" rtlCol="0" anchor="ctr"/>
          <a:lstStyle/>
          <a:p>
            <a:pPr marL="0" indent="0">
              <a:buNone/>
            </a:pPr>
            <a:r>
              <a:rPr lang="en-US" sz="950" dirty="0">
                <a:solidFill>
                  <a:srgbClr val="0D1F15"/>
                </a:solidFill>
              </a:rPr>
              <a:t>📊 T-Bills / Bonds / Notes</a:t>
            </a:r>
            <a:endParaRPr lang="en-US" sz="950" dirty="0"/>
          </a:p>
        </p:txBody>
      </p:sp>
      <p:sp>
        <p:nvSpPr>
          <p:cNvPr id="62" name="Text 60"/>
          <p:cNvSpPr/>
          <p:nvPr/>
        </p:nvSpPr>
        <p:spPr>
          <a:xfrm>
            <a:off x="2770632" y="3922776"/>
            <a:ext cx="1216152" cy="228600"/>
          </a:xfrm>
          <a:prstGeom prst="rect">
            <a:avLst/>
          </a:prstGeom>
          <a:noFill/>
        </p:spPr>
        <p:txBody>
          <a:bodyPr wrap="square" rtlCol="0" anchor="ctr"/>
          <a:lstStyle/>
          <a:p>
            <a:pPr marL="0" indent="0">
              <a:buNone/>
            </a:pPr>
            <a:r>
              <a:rPr lang="en-US" sz="950" dirty="0">
                <a:solidFill>
                  <a:srgbClr val="0D1F15"/>
                </a:solidFill>
              </a:rPr>
              <a:t>UGX 50K</a:t>
            </a:r>
            <a:endParaRPr lang="en-US" sz="950" dirty="0"/>
          </a:p>
        </p:txBody>
      </p:sp>
      <p:sp>
        <p:nvSpPr>
          <p:cNvPr id="63" name="Text 61"/>
          <p:cNvSpPr/>
          <p:nvPr/>
        </p:nvSpPr>
        <p:spPr>
          <a:xfrm>
            <a:off x="4069080" y="3922776"/>
            <a:ext cx="1581912" cy="228600"/>
          </a:xfrm>
          <a:prstGeom prst="rect">
            <a:avLst/>
          </a:prstGeom>
          <a:noFill/>
        </p:spPr>
        <p:txBody>
          <a:bodyPr wrap="square" rtlCol="0" anchor="ctr"/>
          <a:lstStyle/>
          <a:p>
            <a:pPr marL="0" indent="0">
              <a:buNone/>
            </a:pPr>
            <a:r>
              <a:rPr lang="en-US" sz="950" b="1" dirty="0">
                <a:solidFill>
                  <a:srgbClr val="1A7A45"/>
                </a:solidFill>
              </a:rPr>
              <a:t>14–20% p.a.</a:t>
            </a:r>
            <a:endParaRPr lang="en-US" sz="950" dirty="0"/>
          </a:p>
        </p:txBody>
      </p:sp>
      <p:sp>
        <p:nvSpPr>
          <p:cNvPr id="64" name="Text 62"/>
          <p:cNvSpPr/>
          <p:nvPr/>
        </p:nvSpPr>
        <p:spPr>
          <a:xfrm>
            <a:off x="5733288" y="3922776"/>
            <a:ext cx="1463040" cy="228600"/>
          </a:xfrm>
          <a:prstGeom prst="rect">
            <a:avLst/>
          </a:prstGeom>
          <a:noFill/>
        </p:spPr>
        <p:txBody>
          <a:bodyPr wrap="square" rtlCol="0" anchor="ctr"/>
          <a:lstStyle/>
          <a:p>
            <a:pPr marL="0" indent="0">
              <a:buNone/>
            </a:pPr>
            <a:r>
              <a:rPr lang="en-US" sz="950" dirty="0">
                <a:solidFill>
                  <a:srgbClr val="0D1F15"/>
                </a:solidFill>
              </a:rPr>
              <a:t>91–364 days</a:t>
            </a:r>
            <a:endParaRPr lang="en-US" sz="950" dirty="0"/>
          </a:p>
        </p:txBody>
      </p:sp>
      <p:sp>
        <p:nvSpPr>
          <p:cNvPr id="65" name="Text 63"/>
          <p:cNvSpPr/>
          <p:nvPr/>
        </p:nvSpPr>
        <p:spPr>
          <a:xfrm>
            <a:off x="7287768" y="3922776"/>
            <a:ext cx="1371600" cy="228600"/>
          </a:xfrm>
          <a:prstGeom prst="rect">
            <a:avLst/>
          </a:prstGeom>
          <a:noFill/>
        </p:spPr>
        <p:txBody>
          <a:bodyPr wrap="square" rtlCol="0" anchor="ctr"/>
          <a:lstStyle/>
          <a:p>
            <a:pPr marL="0" indent="0">
              <a:buNone/>
            </a:pPr>
            <a:r>
              <a:rPr lang="en-US" sz="950" b="1" dirty="0">
                <a:solidFill>
                  <a:srgbClr val="028090"/>
                </a:solidFill>
              </a:rPr>
              <a:t>Very Low</a:t>
            </a:r>
            <a:endParaRPr lang="en-US" sz="950" dirty="0"/>
          </a:p>
        </p:txBody>
      </p:sp>
      <p:sp>
        <p:nvSpPr>
          <p:cNvPr id="66" name="Shape 64"/>
          <p:cNvSpPr/>
          <p:nvPr/>
        </p:nvSpPr>
        <p:spPr>
          <a:xfrm>
            <a:off x="347472" y="4215384"/>
            <a:ext cx="8339328" cy="320040"/>
          </a:xfrm>
          <a:prstGeom prst="rect">
            <a:avLst/>
          </a:prstGeom>
          <a:solidFill>
            <a:srgbClr val="F4F9F5"/>
          </a:solidFill>
        </p:spPr>
      </p:sp>
      <p:sp>
        <p:nvSpPr>
          <p:cNvPr id="67" name="Text 65"/>
          <p:cNvSpPr/>
          <p:nvPr/>
        </p:nvSpPr>
        <p:spPr>
          <a:xfrm>
            <a:off x="393192" y="4270248"/>
            <a:ext cx="301752" cy="228600"/>
          </a:xfrm>
          <a:prstGeom prst="rect">
            <a:avLst/>
          </a:prstGeom>
          <a:noFill/>
        </p:spPr>
        <p:txBody>
          <a:bodyPr wrap="square" rtlCol="0" anchor="ctr"/>
          <a:lstStyle/>
          <a:p>
            <a:pPr marL="0" indent="0">
              <a:buNone/>
            </a:pPr>
            <a:r>
              <a:rPr lang="en-US" sz="950" dirty="0">
                <a:solidFill>
                  <a:srgbClr val="0D1F15"/>
                </a:solidFill>
              </a:rPr>
              <a:t>6</a:t>
            </a:r>
            <a:endParaRPr lang="en-US" sz="950" dirty="0"/>
          </a:p>
        </p:txBody>
      </p:sp>
      <p:sp>
        <p:nvSpPr>
          <p:cNvPr id="68" name="Text 66"/>
          <p:cNvSpPr/>
          <p:nvPr/>
        </p:nvSpPr>
        <p:spPr>
          <a:xfrm>
            <a:off x="758952" y="4270248"/>
            <a:ext cx="1920240" cy="228600"/>
          </a:xfrm>
          <a:prstGeom prst="rect">
            <a:avLst/>
          </a:prstGeom>
          <a:noFill/>
        </p:spPr>
        <p:txBody>
          <a:bodyPr wrap="square" rtlCol="0" anchor="ctr"/>
          <a:lstStyle/>
          <a:p>
            <a:pPr marL="0" indent="0">
              <a:buNone/>
            </a:pPr>
            <a:r>
              <a:rPr lang="en-US" sz="950" dirty="0">
                <a:solidFill>
                  <a:srgbClr val="0D1F15"/>
                </a:solidFill>
              </a:rPr>
              <a:t>💱 FX &amp; Currency</a:t>
            </a:r>
            <a:endParaRPr lang="en-US" sz="950" dirty="0"/>
          </a:p>
        </p:txBody>
      </p:sp>
      <p:sp>
        <p:nvSpPr>
          <p:cNvPr id="69" name="Text 67"/>
          <p:cNvSpPr/>
          <p:nvPr/>
        </p:nvSpPr>
        <p:spPr>
          <a:xfrm>
            <a:off x="2770632" y="4270248"/>
            <a:ext cx="1216152" cy="228600"/>
          </a:xfrm>
          <a:prstGeom prst="rect">
            <a:avLst/>
          </a:prstGeom>
          <a:noFill/>
        </p:spPr>
        <p:txBody>
          <a:bodyPr wrap="square" rtlCol="0" anchor="ctr"/>
          <a:lstStyle/>
          <a:p>
            <a:pPr marL="0" indent="0">
              <a:buNone/>
            </a:pPr>
            <a:r>
              <a:rPr lang="en-US" sz="950" dirty="0">
                <a:solidFill>
                  <a:srgbClr val="0D1F15"/>
                </a:solidFill>
              </a:rPr>
              <a:t>UGX 100K</a:t>
            </a:r>
            <a:endParaRPr lang="en-US" sz="950" dirty="0"/>
          </a:p>
        </p:txBody>
      </p:sp>
      <p:sp>
        <p:nvSpPr>
          <p:cNvPr id="70" name="Text 68"/>
          <p:cNvSpPr/>
          <p:nvPr/>
        </p:nvSpPr>
        <p:spPr>
          <a:xfrm>
            <a:off x="4069080" y="4270248"/>
            <a:ext cx="1581912" cy="228600"/>
          </a:xfrm>
          <a:prstGeom prst="rect">
            <a:avLst/>
          </a:prstGeom>
          <a:noFill/>
        </p:spPr>
        <p:txBody>
          <a:bodyPr wrap="square" rtlCol="0" anchor="ctr"/>
          <a:lstStyle/>
          <a:p>
            <a:pPr marL="0" indent="0">
              <a:buNone/>
            </a:pPr>
            <a:r>
              <a:rPr lang="en-US" sz="950" b="1" dirty="0">
                <a:solidFill>
                  <a:srgbClr val="1A7A45"/>
                </a:solidFill>
              </a:rPr>
              <a:t>8–30% per contract</a:t>
            </a:r>
            <a:endParaRPr lang="en-US" sz="950" dirty="0"/>
          </a:p>
        </p:txBody>
      </p:sp>
      <p:sp>
        <p:nvSpPr>
          <p:cNvPr id="71" name="Text 69"/>
          <p:cNvSpPr/>
          <p:nvPr/>
        </p:nvSpPr>
        <p:spPr>
          <a:xfrm>
            <a:off x="5733288" y="4270248"/>
            <a:ext cx="1463040" cy="228600"/>
          </a:xfrm>
          <a:prstGeom prst="rect">
            <a:avLst/>
          </a:prstGeom>
          <a:noFill/>
        </p:spPr>
        <p:txBody>
          <a:bodyPr wrap="square" rtlCol="0" anchor="ctr"/>
          <a:lstStyle/>
          <a:p>
            <a:pPr marL="0" indent="0">
              <a:buNone/>
            </a:pPr>
            <a:r>
              <a:rPr lang="en-US" sz="950" dirty="0">
                <a:solidFill>
                  <a:srgbClr val="0D1F15"/>
                </a:solidFill>
              </a:rPr>
              <a:t>7–90 days</a:t>
            </a:r>
            <a:endParaRPr lang="en-US" sz="950" dirty="0"/>
          </a:p>
        </p:txBody>
      </p:sp>
      <p:sp>
        <p:nvSpPr>
          <p:cNvPr id="72" name="Text 70"/>
          <p:cNvSpPr/>
          <p:nvPr/>
        </p:nvSpPr>
        <p:spPr>
          <a:xfrm>
            <a:off x="7287768" y="4270248"/>
            <a:ext cx="1371600" cy="228600"/>
          </a:xfrm>
          <a:prstGeom prst="rect">
            <a:avLst/>
          </a:prstGeom>
          <a:noFill/>
        </p:spPr>
        <p:txBody>
          <a:bodyPr wrap="square" rtlCol="0" anchor="ctr"/>
          <a:lstStyle/>
          <a:p>
            <a:pPr marL="0" indent="0">
              <a:buNone/>
            </a:pPr>
            <a:r>
              <a:rPr lang="en-US" sz="950" b="1" dirty="0">
                <a:solidFill>
                  <a:srgbClr val="B45309"/>
                </a:solidFill>
              </a:rPr>
              <a:t>Med–High</a:t>
            </a:r>
            <a:endParaRPr lang="en-US" sz="950" dirty="0"/>
          </a:p>
        </p:txBody>
      </p:sp>
      <p:sp>
        <p:nvSpPr>
          <p:cNvPr id="73" name="Shape 71"/>
          <p:cNvSpPr/>
          <p:nvPr/>
        </p:nvSpPr>
        <p:spPr>
          <a:xfrm>
            <a:off x="347472" y="4562856"/>
            <a:ext cx="8339328" cy="320040"/>
          </a:xfrm>
          <a:prstGeom prst="rect">
            <a:avLst/>
          </a:prstGeom>
          <a:solidFill>
            <a:srgbClr val="FFFFFF"/>
          </a:solidFill>
        </p:spPr>
      </p:sp>
      <p:sp>
        <p:nvSpPr>
          <p:cNvPr id="74" name="Text 72"/>
          <p:cNvSpPr/>
          <p:nvPr/>
        </p:nvSpPr>
        <p:spPr>
          <a:xfrm>
            <a:off x="393192" y="4617720"/>
            <a:ext cx="301752" cy="228600"/>
          </a:xfrm>
          <a:prstGeom prst="rect">
            <a:avLst/>
          </a:prstGeom>
          <a:noFill/>
        </p:spPr>
        <p:txBody>
          <a:bodyPr wrap="square" rtlCol="0" anchor="ctr"/>
          <a:lstStyle/>
          <a:p>
            <a:pPr marL="0" indent="0">
              <a:buNone/>
            </a:pPr>
            <a:r>
              <a:rPr lang="en-US" sz="950" dirty="0">
                <a:solidFill>
                  <a:srgbClr val="0D1F15"/>
                </a:solidFill>
              </a:rPr>
              <a:t>7</a:t>
            </a:r>
            <a:endParaRPr lang="en-US" sz="950" dirty="0"/>
          </a:p>
        </p:txBody>
      </p:sp>
      <p:sp>
        <p:nvSpPr>
          <p:cNvPr id="75" name="Text 73"/>
          <p:cNvSpPr/>
          <p:nvPr/>
        </p:nvSpPr>
        <p:spPr>
          <a:xfrm>
            <a:off x="758952" y="4617720"/>
            <a:ext cx="1920240" cy="228600"/>
          </a:xfrm>
          <a:prstGeom prst="rect">
            <a:avLst/>
          </a:prstGeom>
          <a:noFill/>
        </p:spPr>
        <p:txBody>
          <a:bodyPr wrap="square" rtlCol="0" anchor="ctr"/>
          <a:lstStyle/>
          <a:p>
            <a:pPr marL="0" indent="0">
              <a:buNone/>
            </a:pPr>
            <a:r>
              <a:rPr lang="en-US" sz="950" dirty="0">
                <a:solidFill>
                  <a:srgbClr val="0D1F15"/>
                </a:solidFill>
              </a:rPr>
              <a:t>⛏️ Rare Earth Minerals</a:t>
            </a:r>
            <a:endParaRPr lang="en-US" sz="950" dirty="0"/>
          </a:p>
        </p:txBody>
      </p:sp>
      <p:sp>
        <p:nvSpPr>
          <p:cNvPr id="76" name="Text 74"/>
          <p:cNvSpPr/>
          <p:nvPr/>
        </p:nvSpPr>
        <p:spPr>
          <a:xfrm>
            <a:off x="2770632" y="4617720"/>
            <a:ext cx="1216152" cy="228600"/>
          </a:xfrm>
          <a:prstGeom prst="rect">
            <a:avLst/>
          </a:prstGeom>
          <a:noFill/>
        </p:spPr>
        <p:txBody>
          <a:bodyPr wrap="square" rtlCol="0" anchor="ctr"/>
          <a:lstStyle/>
          <a:p>
            <a:pPr marL="0" indent="0">
              <a:buNone/>
            </a:pPr>
            <a:r>
              <a:rPr lang="en-US" sz="950" dirty="0">
                <a:solidFill>
                  <a:srgbClr val="0D1F15"/>
                </a:solidFill>
              </a:rPr>
              <a:t>UGX 200K</a:t>
            </a:r>
            <a:endParaRPr lang="en-US" sz="950" dirty="0"/>
          </a:p>
        </p:txBody>
      </p:sp>
      <p:sp>
        <p:nvSpPr>
          <p:cNvPr id="77" name="Text 75"/>
          <p:cNvSpPr/>
          <p:nvPr/>
        </p:nvSpPr>
        <p:spPr>
          <a:xfrm>
            <a:off x="4069080" y="4617720"/>
            <a:ext cx="1581912" cy="228600"/>
          </a:xfrm>
          <a:prstGeom prst="rect">
            <a:avLst/>
          </a:prstGeom>
          <a:noFill/>
        </p:spPr>
        <p:txBody>
          <a:bodyPr wrap="square" rtlCol="0" anchor="ctr"/>
          <a:lstStyle/>
          <a:p>
            <a:pPr marL="0" indent="0">
              <a:buNone/>
            </a:pPr>
            <a:r>
              <a:rPr lang="en-US" sz="950" b="1" dirty="0">
                <a:solidFill>
                  <a:srgbClr val="1A7A45"/>
                </a:solidFill>
              </a:rPr>
              <a:t>20–60% per lot</a:t>
            </a:r>
            <a:endParaRPr lang="en-US" sz="950" dirty="0"/>
          </a:p>
        </p:txBody>
      </p:sp>
      <p:sp>
        <p:nvSpPr>
          <p:cNvPr id="78" name="Text 76"/>
          <p:cNvSpPr/>
          <p:nvPr/>
        </p:nvSpPr>
        <p:spPr>
          <a:xfrm>
            <a:off x="5733288" y="4617720"/>
            <a:ext cx="1463040" cy="228600"/>
          </a:xfrm>
          <a:prstGeom prst="rect">
            <a:avLst/>
          </a:prstGeom>
          <a:noFill/>
        </p:spPr>
        <p:txBody>
          <a:bodyPr wrap="square" rtlCol="0" anchor="ctr"/>
          <a:lstStyle/>
          <a:p>
            <a:pPr marL="0" indent="0">
              <a:buNone/>
            </a:pPr>
            <a:r>
              <a:rPr lang="en-US" sz="950" dirty="0">
                <a:solidFill>
                  <a:srgbClr val="0D1F15"/>
                </a:solidFill>
              </a:rPr>
              <a:t>30–180 days</a:t>
            </a:r>
            <a:endParaRPr lang="en-US" sz="950" dirty="0"/>
          </a:p>
        </p:txBody>
      </p:sp>
      <p:sp>
        <p:nvSpPr>
          <p:cNvPr id="79" name="Text 77"/>
          <p:cNvSpPr/>
          <p:nvPr/>
        </p:nvSpPr>
        <p:spPr>
          <a:xfrm>
            <a:off x="7287768" y="4617720"/>
            <a:ext cx="1371600" cy="228600"/>
          </a:xfrm>
          <a:prstGeom prst="rect">
            <a:avLst/>
          </a:prstGeom>
          <a:noFill/>
        </p:spPr>
        <p:txBody>
          <a:bodyPr wrap="square" rtlCol="0" anchor="ctr"/>
          <a:lstStyle/>
          <a:p>
            <a:pPr marL="0" indent="0">
              <a:buNone/>
            </a:pPr>
            <a:r>
              <a:rPr lang="en-US" sz="950" b="1" dirty="0">
                <a:solidFill>
                  <a:srgbClr val="B45309"/>
                </a:solidFill>
              </a:rPr>
              <a:t>Med–High</a:t>
            </a:r>
            <a:endParaRPr lang="en-US" sz="950" dirty="0"/>
          </a:p>
        </p:txBody>
      </p:sp>
      <p:sp>
        <p:nvSpPr>
          <p:cNvPr id="80" name="Shape 78"/>
          <p:cNvSpPr/>
          <p:nvPr/>
        </p:nvSpPr>
        <p:spPr>
          <a:xfrm>
            <a:off x="347472" y="4910328"/>
            <a:ext cx="8339328" cy="320040"/>
          </a:xfrm>
          <a:prstGeom prst="rect">
            <a:avLst/>
          </a:prstGeom>
          <a:solidFill>
            <a:srgbClr val="F4F9F5"/>
          </a:solidFill>
        </p:spPr>
      </p:sp>
      <p:sp>
        <p:nvSpPr>
          <p:cNvPr id="81" name="Text 79"/>
          <p:cNvSpPr/>
          <p:nvPr/>
        </p:nvSpPr>
        <p:spPr>
          <a:xfrm>
            <a:off x="393192" y="4965192"/>
            <a:ext cx="301752" cy="228600"/>
          </a:xfrm>
          <a:prstGeom prst="rect">
            <a:avLst/>
          </a:prstGeom>
          <a:noFill/>
        </p:spPr>
        <p:txBody>
          <a:bodyPr wrap="square" rtlCol="0" anchor="ctr"/>
          <a:lstStyle/>
          <a:p>
            <a:pPr marL="0" indent="0">
              <a:buNone/>
            </a:pPr>
            <a:r>
              <a:rPr lang="en-US" sz="950" dirty="0">
                <a:solidFill>
                  <a:srgbClr val="0D1F15"/>
                </a:solidFill>
              </a:rPr>
              <a:t>8</a:t>
            </a:r>
            <a:endParaRPr lang="en-US" sz="950" dirty="0"/>
          </a:p>
        </p:txBody>
      </p:sp>
      <p:sp>
        <p:nvSpPr>
          <p:cNvPr id="82" name="Text 80"/>
          <p:cNvSpPr/>
          <p:nvPr/>
        </p:nvSpPr>
        <p:spPr>
          <a:xfrm>
            <a:off x="758952" y="4965192"/>
            <a:ext cx="1920240" cy="228600"/>
          </a:xfrm>
          <a:prstGeom prst="rect">
            <a:avLst/>
          </a:prstGeom>
          <a:noFill/>
        </p:spPr>
        <p:txBody>
          <a:bodyPr wrap="square" rtlCol="0" anchor="ctr"/>
          <a:lstStyle/>
          <a:p>
            <a:pPr marL="0" indent="0">
              <a:buNone/>
            </a:pPr>
            <a:r>
              <a:rPr lang="en-US" sz="950" dirty="0">
                <a:solidFill>
                  <a:srgbClr val="0D1F15"/>
                </a:solidFill>
              </a:rPr>
              <a:t>📈 Stocks (Dom. + Int'l)</a:t>
            </a:r>
            <a:endParaRPr lang="en-US" sz="950" dirty="0"/>
          </a:p>
        </p:txBody>
      </p:sp>
      <p:sp>
        <p:nvSpPr>
          <p:cNvPr id="83" name="Text 81"/>
          <p:cNvSpPr/>
          <p:nvPr/>
        </p:nvSpPr>
        <p:spPr>
          <a:xfrm>
            <a:off x="2770632" y="4965192"/>
            <a:ext cx="1216152" cy="228600"/>
          </a:xfrm>
          <a:prstGeom prst="rect">
            <a:avLst/>
          </a:prstGeom>
          <a:noFill/>
        </p:spPr>
        <p:txBody>
          <a:bodyPr wrap="square" rtlCol="0" anchor="ctr"/>
          <a:lstStyle/>
          <a:p>
            <a:pPr marL="0" indent="0">
              <a:buNone/>
            </a:pPr>
            <a:r>
              <a:rPr lang="en-US" sz="950" dirty="0">
                <a:solidFill>
                  <a:srgbClr val="0D1F15"/>
                </a:solidFill>
              </a:rPr>
              <a:t>UGX 50K</a:t>
            </a:r>
            <a:endParaRPr lang="en-US" sz="950" dirty="0"/>
          </a:p>
        </p:txBody>
      </p:sp>
      <p:sp>
        <p:nvSpPr>
          <p:cNvPr id="84" name="Text 82"/>
          <p:cNvSpPr/>
          <p:nvPr/>
        </p:nvSpPr>
        <p:spPr>
          <a:xfrm>
            <a:off x="4069080" y="4965192"/>
            <a:ext cx="1581912" cy="228600"/>
          </a:xfrm>
          <a:prstGeom prst="rect">
            <a:avLst/>
          </a:prstGeom>
          <a:noFill/>
        </p:spPr>
        <p:txBody>
          <a:bodyPr wrap="square" rtlCol="0" anchor="ctr"/>
          <a:lstStyle/>
          <a:p>
            <a:pPr marL="0" indent="0">
              <a:buNone/>
            </a:pPr>
            <a:r>
              <a:rPr lang="en-US" sz="950" b="1" dirty="0">
                <a:solidFill>
                  <a:srgbClr val="1A7A45"/>
                </a:solidFill>
              </a:rPr>
              <a:t>4–15% div + gains</a:t>
            </a:r>
            <a:endParaRPr lang="en-US" sz="950" dirty="0"/>
          </a:p>
        </p:txBody>
      </p:sp>
      <p:sp>
        <p:nvSpPr>
          <p:cNvPr id="85" name="Text 83"/>
          <p:cNvSpPr/>
          <p:nvPr/>
        </p:nvSpPr>
        <p:spPr>
          <a:xfrm>
            <a:off x="5733288" y="4965192"/>
            <a:ext cx="1463040" cy="228600"/>
          </a:xfrm>
          <a:prstGeom prst="rect">
            <a:avLst/>
          </a:prstGeom>
          <a:noFill/>
        </p:spPr>
        <p:txBody>
          <a:bodyPr wrap="square" rtlCol="0" anchor="ctr"/>
          <a:lstStyle/>
          <a:p>
            <a:pPr marL="0" indent="0">
              <a:buNone/>
            </a:pPr>
            <a:r>
              <a:rPr lang="en-US" sz="950" dirty="0">
                <a:solidFill>
                  <a:srgbClr val="0D1F15"/>
                </a:solidFill>
              </a:rPr>
              <a:t>Quarterly/Annual</a:t>
            </a:r>
            <a:endParaRPr lang="en-US" sz="950" dirty="0"/>
          </a:p>
        </p:txBody>
      </p:sp>
      <p:sp>
        <p:nvSpPr>
          <p:cNvPr id="86" name="Text 84"/>
          <p:cNvSpPr/>
          <p:nvPr/>
        </p:nvSpPr>
        <p:spPr>
          <a:xfrm>
            <a:off x="7287768" y="4965192"/>
            <a:ext cx="1371600" cy="228600"/>
          </a:xfrm>
          <a:prstGeom prst="rect">
            <a:avLst/>
          </a:prstGeom>
          <a:noFill/>
        </p:spPr>
        <p:txBody>
          <a:bodyPr wrap="square" rtlCol="0" anchor="ctr"/>
          <a:lstStyle/>
          <a:p>
            <a:pPr marL="0" indent="0">
              <a:buNone/>
            </a:pPr>
            <a:r>
              <a:rPr lang="en-US" sz="950" b="1" dirty="0">
                <a:solidFill>
                  <a:srgbClr val="B45309"/>
                </a:solidFill>
              </a:rPr>
              <a:t>Med–High</a:t>
            </a:r>
            <a:endParaRPr lang="en-US" sz="950" dirty="0"/>
          </a:p>
        </p:txBody>
      </p:sp>
      <p:sp>
        <p:nvSpPr>
          <p:cNvPr id="87" name="Shape 85"/>
          <p:cNvSpPr/>
          <p:nvPr/>
        </p:nvSpPr>
        <p:spPr>
          <a:xfrm>
            <a:off x="347472" y="5257800"/>
            <a:ext cx="8339328" cy="320040"/>
          </a:xfrm>
          <a:prstGeom prst="rect">
            <a:avLst/>
          </a:prstGeom>
          <a:solidFill>
            <a:srgbClr val="FFFFFF"/>
          </a:solidFill>
        </p:spPr>
      </p:sp>
      <p:sp>
        <p:nvSpPr>
          <p:cNvPr id="88" name="Text 86"/>
          <p:cNvSpPr/>
          <p:nvPr/>
        </p:nvSpPr>
        <p:spPr>
          <a:xfrm>
            <a:off x="393192" y="5312664"/>
            <a:ext cx="301752" cy="228600"/>
          </a:xfrm>
          <a:prstGeom prst="rect">
            <a:avLst/>
          </a:prstGeom>
          <a:noFill/>
        </p:spPr>
        <p:txBody>
          <a:bodyPr wrap="square" rtlCol="0" anchor="ctr"/>
          <a:lstStyle/>
          <a:p>
            <a:pPr marL="0" indent="0">
              <a:buNone/>
            </a:pPr>
            <a:r>
              <a:rPr lang="en-US" sz="950" dirty="0">
                <a:solidFill>
                  <a:srgbClr val="0D1F15"/>
                </a:solidFill>
              </a:rPr>
              <a:t>9</a:t>
            </a:r>
            <a:endParaRPr lang="en-US" sz="950" dirty="0"/>
          </a:p>
        </p:txBody>
      </p:sp>
      <p:sp>
        <p:nvSpPr>
          <p:cNvPr id="89" name="Text 87"/>
          <p:cNvSpPr/>
          <p:nvPr/>
        </p:nvSpPr>
        <p:spPr>
          <a:xfrm>
            <a:off x="758952" y="5312664"/>
            <a:ext cx="1920240" cy="228600"/>
          </a:xfrm>
          <a:prstGeom prst="rect">
            <a:avLst/>
          </a:prstGeom>
          <a:noFill/>
        </p:spPr>
        <p:txBody>
          <a:bodyPr wrap="square" rtlCol="0" anchor="ctr"/>
          <a:lstStyle/>
          <a:p>
            <a:pPr marL="0" indent="0">
              <a:buNone/>
            </a:pPr>
            <a:r>
              <a:rPr lang="en-US" sz="950" dirty="0">
                <a:solidFill>
                  <a:srgbClr val="0D1F15"/>
                </a:solidFill>
              </a:rPr>
              <a:t>🏭 SME &amp; Private Equity</a:t>
            </a:r>
            <a:endParaRPr lang="en-US" sz="950" dirty="0"/>
          </a:p>
        </p:txBody>
      </p:sp>
      <p:sp>
        <p:nvSpPr>
          <p:cNvPr id="90" name="Text 88"/>
          <p:cNvSpPr/>
          <p:nvPr/>
        </p:nvSpPr>
        <p:spPr>
          <a:xfrm>
            <a:off x="2770632" y="5312664"/>
            <a:ext cx="1216152" cy="228600"/>
          </a:xfrm>
          <a:prstGeom prst="rect">
            <a:avLst/>
          </a:prstGeom>
          <a:noFill/>
        </p:spPr>
        <p:txBody>
          <a:bodyPr wrap="square" rtlCol="0" anchor="ctr"/>
          <a:lstStyle/>
          <a:p>
            <a:pPr marL="0" indent="0">
              <a:buNone/>
            </a:pPr>
            <a:r>
              <a:rPr lang="en-US" sz="950" dirty="0">
                <a:solidFill>
                  <a:srgbClr val="0D1F15"/>
                </a:solidFill>
              </a:rPr>
              <a:t>UGX 250K</a:t>
            </a:r>
            <a:endParaRPr lang="en-US" sz="950" dirty="0"/>
          </a:p>
        </p:txBody>
      </p:sp>
      <p:sp>
        <p:nvSpPr>
          <p:cNvPr id="91" name="Text 89"/>
          <p:cNvSpPr/>
          <p:nvPr/>
        </p:nvSpPr>
        <p:spPr>
          <a:xfrm>
            <a:off x="4069080" y="5312664"/>
            <a:ext cx="1581912" cy="228600"/>
          </a:xfrm>
          <a:prstGeom prst="rect">
            <a:avLst/>
          </a:prstGeom>
          <a:noFill/>
        </p:spPr>
        <p:txBody>
          <a:bodyPr wrap="square" rtlCol="0" anchor="ctr"/>
          <a:lstStyle/>
          <a:p>
            <a:pPr marL="0" indent="0">
              <a:buNone/>
            </a:pPr>
            <a:r>
              <a:rPr lang="en-US" sz="950" b="1" dirty="0">
                <a:solidFill>
                  <a:srgbClr val="1A7A45"/>
                </a:solidFill>
              </a:rPr>
              <a:t>20–40% p.a. + exit</a:t>
            </a:r>
            <a:endParaRPr lang="en-US" sz="950" dirty="0"/>
          </a:p>
        </p:txBody>
      </p:sp>
      <p:sp>
        <p:nvSpPr>
          <p:cNvPr id="92" name="Text 90"/>
          <p:cNvSpPr/>
          <p:nvPr/>
        </p:nvSpPr>
        <p:spPr>
          <a:xfrm>
            <a:off x="5733288" y="5312664"/>
            <a:ext cx="1463040" cy="228600"/>
          </a:xfrm>
          <a:prstGeom prst="rect">
            <a:avLst/>
          </a:prstGeom>
          <a:noFill/>
        </p:spPr>
        <p:txBody>
          <a:bodyPr wrap="square" rtlCol="0" anchor="ctr"/>
          <a:lstStyle/>
          <a:p>
            <a:pPr marL="0" indent="0">
              <a:buNone/>
            </a:pPr>
            <a:r>
              <a:rPr lang="en-US" sz="950" dirty="0">
                <a:solidFill>
                  <a:srgbClr val="0D1F15"/>
                </a:solidFill>
              </a:rPr>
              <a:t>Quarterly/Exit</a:t>
            </a:r>
            <a:endParaRPr lang="en-US" sz="950" dirty="0"/>
          </a:p>
        </p:txBody>
      </p:sp>
      <p:sp>
        <p:nvSpPr>
          <p:cNvPr id="93" name="Text 91"/>
          <p:cNvSpPr/>
          <p:nvPr/>
        </p:nvSpPr>
        <p:spPr>
          <a:xfrm>
            <a:off x="7287768" y="5312664"/>
            <a:ext cx="1371600" cy="228600"/>
          </a:xfrm>
          <a:prstGeom prst="rect">
            <a:avLst/>
          </a:prstGeom>
          <a:noFill/>
        </p:spPr>
        <p:txBody>
          <a:bodyPr wrap="square" rtlCol="0" anchor="ctr"/>
          <a:lstStyle/>
          <a:p>
            <a:pPr marL="0" indent="0">
              <a:buNone/>
            </a:pPr>
            <a:r>
              <a:rPr lang="en-US" sz="950" b="1" dirty="0">
                <a:solidFill>
                  <a:srgbClr val="990011"/>
                </a:solidFill>
              </a:rPr>
              <a:t>High</a:t>
            </a:r>
            <a:endParaRPr lang="en-US" sz="950" dirty="0"/>
          </a:p>
        </p:txBody>
      </p:sp>
      <p:sp>
        <p:nvSpPr>
          <p:cNvPr id="94" name="Shape 92"/>
          <p:cNvSpPr/>
          <p:nvPr/>
        </p:nvSpPr>
        <p:spPr>
          <a:xfrm>
            <a:off x="347472" y="5605272"/>
            <a:ext cx="8339328" cy="320040"/>
          </a:xfrm>
          <a:prstGeom prst="rect">
            <a:avLst/>
          </a:prstGeom>
          <a:solidFill>
            <a:srgbClr val="F4F9F5"/>
          </a:solidFill>
        </p:spPr>
      </p:sp>
      <p:sp>
        <p:nvSpPr>
          <p:cNvPr id="95" name="Text 93"/>
          <p:cNvSpPr/>
          <p:nvPr/>
        </p:nvSpPr>
        <p:spPr>
          <a:xfrm>
            <a:off x="393192" y="5660136"/>
            <a:ext cx="301752" cy="228600"/>
          </a:xfrm>
          <a:prstGeom prst="rect">
            <a:avLst/>
          </a:prstGeom>
          <a:noFill/>
        </p:spPr>
        <p:txBody>
          <a:bodyPr wrap="square" rtlCol="0" anchor="ctr"/>
          <a:lstStyle/>
          <a:p>
            <a:pPr marL="0" indent="0">
              <a:buNone/>
            </a:pPr>
            <a:r>
              <a:rPr lang="en-US" sz="950" dirty="0">
                <a:solidFill>
                  <a:srgbClr val="0D1F15"/>
                </a:solidFill>
              </a:rPr>
              <a:t>10</a:t>
            </a:r>
            <a:endParaRPr lang="en-US" sz="950" dirty="0"/>
          </a:p>
        </p:txBody>
      </p:sp>
      <p:sp>
        <p:nvSpPr>
          <p:cNvPr id="96" name="Text 94"/>
          <p:cNvSpPr/>
          <p:nvPr/>
        </p:nvSpPr>
        <p:spPr>
          <a:xfrm>
            <a:off x="758952" y="5660136"/>
            <a:ext cx="1920240" cy="228600"/>
          </a:xfrm>
          <a:prstGeom prst="rect">
            <a:avLst/>
          </a:prstGeom>
          <a:noFill/>
        </p:spPr>
        <p:txBody>
          <a:bodyPr wrap="square" rtlCol="0" anchor="ctr"/>
          <a:lstStyle/>
          <a:p>
            <a:pPr marL="0" indent="0">
              <a:buNone/>
            </a:pPr>
            <a:r>
              <a:rPr lang="en-US" sz="950" dirty="0">
                <a:solidFill>
                  <a:srgbClr val="0D1F15"/>
                </a:solidFill>
              </a:rPr>
              <a:t>🏦 Crowd Loans (Banks/MFIs/Firms)</a:t>
            </a:r>
            <a:endParaRPr lang="en-US" sz="950" dirty="0"/>
          </a:p>
        </p:txBody>
      </p:sp>
      <p:sp>
        <p:nvSpPr>
          <p:cNvPr id="97" name="Text 95"/>
          <p:cNvSpPr/>
          <p:nvPr/>
        </p:nvSpPr>
        <p:spPr>
          <a:xfrm>
            <a:off x="2770632" y="5660136"/>
            <a:ext cx="1216152" cy="228600"/>
          </a:xfrm>
          <a:prstGeom prst="rect">
            <a:avLst/>
          </a:prstGeom>
          <a:noFill/>
        </p:spPr>
        <p:txBody>
          <a:bodyPr wrap="square" rtlCol="0" anchor="ctr"/>
          <a:lstStyle/>
          <a:p>
            <a:pPr marL="0" indent="0">
              <a:buNone/>
            </a:pPr>
            <a:r>
              <a:rPr lang="en-US" sz="950" dirty="0">
                <a:solidFill>
                  <a:srgbClr val="0D1F15"/>
                </a:solidFill>
              </a:rPr>
              <a:t>UGX 50K</a:t>
            </a:r>
            <a:endParaRPr lang="en-US" sz="950" dirty="0"/>
          </a:p>
        </p:txBody>
      </p:sp>
      <p:sp>
        <p:nvSpPr>
          <p:cNvPr id="98" name="Text 96"/>
          <p:cNvSpPr/>
          <p:nvPr/>
        </p:nvSpPr>
        <p:spPr>
          <a:xfrm>
            <a:off x="4069080" y="5660136"/>
            <a:ext cx="1581912" cy="228600"/>
          </a:xfrm>
          <a:prstGeom prst="rect">
            <a:avLst/>
          </a:prstGeom>
          <a:noFill/>
        </p:spPr>
        <p:txBody>
          <a:bodyPr wrap="square" rtlCol="0" anchor="ctr"/>
          <a:lstStyle/>
          <a:p>
            <a:pPr marL="0" indent="0">
              <a:buNone/>
            </a:pPr>
            <a:r>
              <a:rPr lang="en-US" sz="950" b="1" dirty="0">
                <a:solidFill>
                  <a:srgbClr val="1A7A45"/>
                </a:solidFill>
              </a:rPr>
              <a:t>8–25% p.a. fixed</a:t>
            </a:r>
            <a:endParaRPr lang="en-US" sz="950" dirty="0"/>
          </a:p>
        </p:txBody>
      </p:sp>
      <p:sp>
        <p:nvSpPr>
          <p:cNvPr id="99" name="Text 97"/>
          <p:cNvSpPr/>
          <p:nvPr/>
        </p:nvSpPr>
        <p:spPr>
          <a:xfrm>
            <a:off x="5733288" y="5660136"/>
            <a:ext cx="1463040" cy="228600"/>
          </a:xfrm>
          <a:prstGeom prst="rect">
            <a:avLst/>
          </a:prstGeom>
          <a:noFill/>
        </p:spPr>
        <p:txBody>
          <a:bodyPr wrap="square" rtlCol="0" anchor="ctr"/>
          <a:lstStyle/>
          <a:p>
            <a:pPr marL="0" indent="0">
              <a:buNone/>
            </a:pPr>
            <a:r>
              <a:rPr lang="en-US" sz="950" dirty="0">
                <a:solidFill>
                  <a:srgbClr val="0D1F15"/>
                </a:solidFill>
              </a:rPr>
              <a:t>1–24 months</a:t>
            </a:r>
            <a:endParaRPr lang="en-US" sz="950" dirty="0"/>
          </a:p>
        </p:txBody>
      </p:sp>
      <p:sp>
        <p:nvSpPr>
          <p:cNvPr id="100" name="Text 98"/>
          <p:cNvSpPr/>
          <p:nvPr/>
        </p:nvSpPr>
        <p:spPr>
          <a:xfrm>
            <a:off x="7287768" y="5660136"/>
            <a:ext cx="1371600" cy="228600"/>
          </a:xfrm>
          <a:prstGeom prst="rect">
            <a:avLst/>
          </a:prstGeom>
          <a:noFill/>
        </p:spPr>
        <p:txBody>
          <a:bodyPr wrap="square" rtlCol="0" anchor="ctr"/>
          <a:lstStyle/>
          <a:p>
            <a:pPr marL="0" indent="0">
              <a:buNone/>
            </a:pPr>
            <a:r>
              <a:rPr lang="en-US" sz="950" b="1" dirty="0">
                <a:solidFill>
                  <a:srgbClr val="1A7A45"/>
                </a:solidFill>
              </a:rPr>
              <a:t>Low–Med</a:t>
            </a:r>
            <a:endParaRPr lang="en-US" sz="950" dirty="0"/>
          </a:p>
        </p:txBody>
      </p:sp>
      <p:sp>
        <p:nvSpPr>
          <p:cNvPr id="101" name="Shape 99"/>
          <p:cNvSpPr/>
          <p:nvPr/>
        </p:nvSpPr>
        <p:spPr>
          <a:xfrm>
            <a:off x="347472" y="4919472"/>
            <a:ext cx="8339328" cy="201168"/>
          </a:xfrm>
          <a:prstGeom prst="rect">
            <a:avLst/>
          </a:prstGeom>
          <a:solidFill>
            <a:srgbClr val="D4EFE0"/>
          </a:solidFill>
        </p:spPr>
      </p:sp>
      <p:sp>
        <p:nvSpPr>
          <p:cNvPr id="102" name="Text 100"/>
          <p:cNvSpPr/>
          <p:nvPr/>
        </p:nvSpPr>
        <p:spPr>
          <a:xfrm>
            <a:off x="457200" y="4919472"/>
            <a:ext cx="8138160" cy="201168"/>
          </a:xfrm>
          <a:prstGeom prst="rect">
            <a:avLst/>
          </a:prstGeom>
          <a:noFill/>
        </p:spPr>
        <p:txBody>
          <a:bodyPr wrap="square" rtlCol="0" anchor="ctr"/>
          <a:lstStyle/>
          <a:p>
            <a:pPr marL="0" indent="0">
              <a:buNone/>
            </a:pPr>
            <a:r>
              <a:rPr lang="en-US" sz="900" dirty="0">
                <a:solidFill>
                  <a:srgbClr val="0F4D2B"/>
                </a:solidFill>
              </a:rPr>
              <a:t>💡  Asset Class 9 (Open Framework) also available — any income-generating, legally compliant asset subject to OwnIt Asset Admissions Committee approval (NSSF holds one seat).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4D2B"/>
        </a:solidFill>
        <a:effectLst/>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1A7A45">
              <a:alpha val="40000"/>
            </a:srgbClr>
          </a:solidFill>
          <a:ln w="12700">
            <a:solidFill>
              <a:srgbClr val="1A7A45">
                <a:alpha val="40000"/>
              </a:srgbClr>
            </a:solidFill>
            <a:prstDash val="solid"/>
          </a:ln>
        </p:spPr>
      </p:sp>
      <p:sp>
        <p:nvSpPr>
          <p:cNvPr id="3" name="Text 1"/>
          <p:cNvSpPr/>
          <p:nvPr/>
        </p:nvSpPr>
        <p:spPr>
          <a:xfrm>
            <a:off x="457200" y="228600"/>
            <a:ext cx="8229600" cy="320040"/>
          </a:xfrm>
          <a:prstGeom prst="rect">
            <a:avLst/>
          </a:prstGeom>
          <a:noFill/>
        </p:spPr>
        <p:txBody>
          <a:bodyPr wrap="square" rtlCol="0" anchor="ctr"/>
          <a:lstStyle/>
          <a:p>
            <a:pPr marL="0" indent="0">
              <a:buNone/>
            </a:pPr>
            <a:r>
              <a:rPr lang="en-US" sz="1100" b="1" kern="0" spc="400" dirty="0">
                <a:solidFill>
                  <a:srgbClr val="D4EFE0"/>
                </a:solidFill>
              </a:rPr>
              <a:t>NSSF STRATEGIC PARTNERSHIP</a:t>
            </a:r>
            <a:endParaRPr lang="en-US" sz="1100" dirty="0"/>
          </a:p>
        </p:txBody>
      </p:sp>
      <p:sp>
        <p:nvSpPr>
          <p:cNvPr id="4" name="Text 2"/>
          <p:cNvSpPr/>
          <p:nvPr/>
        </p:nvSpPr>
        <p:spPr>
          <a:xfrm>
            <a:off x="457200" y="566928"/>
            <a:ext cx="6858000" cy="868680"/>
          </a:xfrm>
          <a:prstGeom prst="rect">
            <a:avLst/>
          </a:prstGeom>
          <a:noFill/>
        </p:spPr>
        <p:txBody>
          <a:bodyPr wrap="square" rtlCol="0" anchor="ctr"/>
          <a:lstStyle/>
          <a:p>
            <a:pPr marL="0" indent="0">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Every OwnIt user is automatically</a:t>
            </a:r>
            <a:endParaRPr lang="en-US" sz="2400" dirty="0"/>
          </a:p>
          <a:p>
            <a:pPr marL="0" indent="0">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an NSSF member — from Day 1.</a:t>
            </a:r>
            <a:endParaRPr lang="en-US" sz="2400" dirty="0"/>
          </a:p>
        </p:txBody>
      </p:sp>
      <p:sp>
        <p:nvSpPr>
          <p:cNvPr id="5" name="Text 3"/>
          <p:cNvSpPr/>
          <p:nvPr/>
        </p:nvSpPr>
        <p:spPr>
          <a:xfrm>
            <a:off x="457200" y="1572768"/>
            <a:ext cx="8229600" cy="274320"/>
          </a:xfrm>
          <a:prstGeom prst="rect">
            <a:avLst/>
          </a:prstGeom>
          <a:noFill/>
        </p:spPr>
        <p:txBody>
          <a:bodyPr wrap="square" rtlCol="0" anchor="ctr"/>
          <a:lstStyle/>
          <a:p>
            <a:pPr marL="0" indent="0">
              <a:buNone/>
            </a:pPr>
            <a:r>
              <a:rPr lang="en-US" sz="1000" b="1" kern="0" spc="300" dirty="0">
                <a:solidFill>
                  <a:srgbClr val="C17F00"/>
                </a:solidFill>
              </a:rPr>
              <a:t>HOW THE NSSF INTEGRATION WORKS</a:t>
            </a:r>
            <a:endParaRPr lang="en-US" sz="1000" dirty="0"/>
          </a:p>
        </p:txBody>
      </p:sp>
      <p:sp>
        <p:nvSpPr>
          <p:cNvPr id="6" name="Shape 4"/>
          <p:cNvSpPr/>
          <p:nvPr/>
        </p:nvSpPr>
        <p:spPr>
          <a:xfrm>
            <a:off x="274320" y="1938528"/>
            <a:ext cx="1609344" cy="2880360"/>
          </a:xfrm>
          <a:prstGeom prst="rect">
            <a:avLst/>
          </a:prstGeom>
          <a:solidFill>
            <a:srgbClr val="1A7A45"/>
          </a:solidFill>
          <a:effectLst>
            <a:outerShdw blurRad="101600" dist="38100" dir="8100000" algn="bl" rotWithShape="0">
              <a:srgbClr val="000000">
                <a:alpha val="12000"/>
              </a:srgbClr>
            </a:outerShdw>
          </a:effectLst>
        </p:spPr>
      </p:sp>
      <p:sp>
        <p:nvSpPr>
          <p:cNvPr id="7" name="Shape 5"/>
          <p:cNvSpPr/>
          <p:nvPr/>
        </p:nvSpPr>
        <p:spPr>
          <a:xfrm>
            <a:off x="758952" y="2048256"/>
            <a:ext cx="640080" cy="640080"/>
          </a:xfrm>
          <a:prstGeom prst="ellipse">
            <a:avLst/>
          </a:prstGeom>
          <a:solidFill>
            <a:srgbClr val="C17F00"/>
          </a:solidFill>
        </p:spPr>
      </p:sp>
      <p:sp>
        <p:nvSpPr>
          <p:cNvPr id="8" name="Text 6"/>
          <p:cNvSpPr/>
          <p:nvPr/>
        </p:nvSpPr>
        <p:spPr>
          <a:xfrm>
            <a:off x="758952" y="2048256"/>
            <a:ext cx="640080" cy="640080"/>
          </a:xfrm>
          <a:prstGeom prst="rect">
            <a:avLst/>
          </a:prstGeom>
          <a:noFill/>
        </p:spPr>
        <p:txBody>
          <a:bodyPr wrap="square" rtlCol="0" anchor="ctr"/>
          <a:lstStyle/>
          <a:p>
            <a:pPr marL="0" indent="0" algn="ctr">
              <a:buNone/>
            </a:pPr>
            <a:r>
              <a:rPr lang="en-US" sz="1200" b="1" dirty="0">
                <a:solidFill>
                  <a:srgbClr val="FFFFFF"/>
                </a:solidFill>
              </a:rPr>
              <a:t>01</a:t>
            </a:r>
            <a:endParaRPr lang="en-US" sz="1200" dirty="0"/>
          </a:p>
        </p:txBody>
      </p:sp>
      <p:sp>
        <p:nvSpPr>
          <p:cNvPr id="9" name="Text 7"/>
          <p:cNvSpPr/>
          <p:nvPr/>
        </p:nvSpPr>
        <p:spPr>
          <a:xfrm>
            <a:off x="786384" y="2816352"/>
            <a:ext cx="585216"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10" name="Text 8"/>
          <p:cNvSpPr/>
          <p:nvPr/>
        </p:nvSpPr>
        <p:spPr>
          <a:xfrm>
            <a:off x="365760" y="3401568"/>
            <a:ext cx="1426464" cy="402336"/>
          </a:xfrm>
          <a:prstGeom prst="rect">
            <a:avLst/>
          </a:prstGeom>
          <a:noFill/>
        </p:spPr>
        <p:txBody>
          <a:bodyPr wrap="square" rtlCol="0" anchor="ctr"/>
          <a:lstStyle/>
          <a:p>
            <a:pPr marL="0" indent="0" algn="ctr">
              <a:buNone/>
            </a:pPr>
            <a:r>
              <a:rPr lang="en-US" sz="1000" b="1" dirty="0">
                <a:solidFill>
                  <a:srgbClr val="FFFFFF"/>
                </a:solidFill>
              </a:rPr>
              <a:t>Auto-Enrolment via NIN API</a:t>
            </a:r>
            <a:endParaRPr lang="en-US" sz="1000" dirty="0"/>
          </a:p>
        </p:txBody>
      </p:sp>
      <p:sp>
        <p:nvSpPr>
          <p:cNvPr id="11" name="Text 9"/>
          <p:cNvSpPr/>
          <p:nvPr/>
        </p:nvSpPr>
        <p:spPr>
          <a:xfrm>
            <a:off x="347472" y="3822192"/>
            <a:ext cx="1463040" cy="914400"/>
          </a:xfrm>
          <a:prstGeom prst="rect">
            <a:avLst/>
          </a:prstGeom>
          <a:noFill/>
        </p:spPr>
        <p:txBody>
          <a:bodyPr wrap="square" rtlCol="0" anchor="ctr"/>
          <a:lstStyle/>
          <a:p>
            <a:pPr marL="0" indent="0" algn="ctr">
              <a:buNone/>
            </a:pPr>
            <a:r>
              <a:rPr lang="en-US" sz="800" dirty="0">
                <a:solidFill>
                  <a:srgbClr val="D4EFE0"/>
                </a:solidFill>
              </a:rPr>
              <a:t>Every user who registers on OwnIt is automatically enrolled as an NSSF member via NIRA NIN verification + NSSF registry API. Member number displayed in-app within 60 seconds. No paperwork.</a:t>
            </a:r>
            <a:endParaRPr lang="en-US" sz="800" dirty="0"/>
          </a:p>
        </p:txBody>
      </p:sp>
      <p:sp>
        <p:nvSpPr>
          <p:cNvPr id="12" name="Shape 10"/>
          <p:cNvSpPr/>
          <p:nvPr/>
        </p:nvSpPr>
        <p:spPr>
          <a:xfrm>
            <a:off x="2011680" y="1938528"/>
            <a:ext cx="1609344" cy="2880360"/>
          </a:xfrm>
          <a:prstGeom prst="rect">
            <a:avLst/>
          </a:prstGeom>
          <a:solidFill>
            <a:srgbClr val="1A7A45"/>
          </a:solidFill>
          <a:effectLst>
            <a:outerShdw blurRad="101600" dist="38100" dir="8100000" algn="bl" rotWithShape="0">
              <a:srgbClr val="000000">
                <a:alpha val="12000"/>
              </a:srgbClr>
            </a:outerShdw>
          </a:effectLst>
        </p:spPr>
      </p:sp>
      <p:sp>
        <p:nvSpPr>
          <p:cNvPr id="13" name="Shape 11"/>
          <p:cNvSpPr/>
          <p:nvPr/>
        </p:nvSpPr>
        <p:spPr>
          <a:xfrm>
            <a:off x="2496312" y="2048256"/>
            <a:ext cx="640080" cy="640080"/>
          </a:xfrm>
          <a:prstGeom prst="ellipse">
            <a:avLst/>
          </a:prstGeom>
          <a:solidFill>
            <a:srgbClr val="C17F00"/>
          </a:solidFill>
        </p:spPr>
      </p:sp>
      <p:sp>
        <p:nvSpPr>
          <p:cNvPr id="14" name="Text 12"/>
          <p:cNvSpPr/>
          <p:nvPr/>
        </p:nvSpPr>
        <p:spPr>
          <a:xfrm>
            <a:off x="2496312" y="2048256"/>
            <a:ext cx="640080" cy="640080"/>
          </a:xfrm>
          <a:prstGeom prst="rect">
            <a:avLst/>
          </a:prstGeom>
          <a:noFill/>
        </p:spPr>
        <p:txBody>
          <a:bodyPr wrap="square" rtlCol="0" anchor="ctr"/>
          <a:lstStyle/>
          <a:p>
            <a:pPr marL="0" indent="0" algn="ctr">
              <a:buNone/>
            </a:pPr>
            <a:r>
              <a:rPr lang="en-US" sz="1200" b="1" dirty="0">
                <a:solidFill>
                  <a:srgbClr val="FFFFFF"/>
                </a:solidFill>
              </a:rPr>
              <a:t>02</a:t>
            </a:r>
            <a:endParaRPr lang="en-US" sz="1200" dirty="0"/>
          </a:p>
        </p:txBody>
      </p:sp>
      <p:sp>
        <p:nvSpPr>
          <p:cNvPr id="15" name="Text 13"/>
          <p:cNvSpPr/>
          <p:nvPr/>
        </p:nvSpPr>
        <p:spPr>
          <a:xfrm>
            <a:off x="2523744" y="2816352"/>
            <a:ext cx="585216"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16" name="Text 14"/>
          <p:cNvSpPr/>
          <p:nvPr/>
        </p:nvSpPr>
        <p:spPr>
          <a:xfrm>
            <a:off x="2103120" y="3401568"/>
            <a:ext cx="1426464" cy="402336"/>
          </a:xfrm>
          <a:prstGeom prst="rect">
            <a:avLst/>
          </a:prstGeom>
          <a:noFill/>
        </p:spPr>
        <p:txBody>
          <a:bodyPr wrap="square" rtlCol="0" anchor="ctr"/>
          <a:lstStyle/>
          <a:p>
            <a:pPr marL="0" indent="0" algn="ctr">
              <a:buNone/>
            </a:pPr>
            <a:r>
              <a:rPr lang="en-US" sz="1000" b="1" dirty="0">
                <a:solidFill>
                  <a:srgbClr val="FFFFFF"/>
                </a:solidFill>
              </a:rPr>
              <a:t>3% NSSF Service Charge</a:t>
            </a:r>
            <a:endParaRPr lang="en-US" sz="1000" dirty="0"/>
          </a:p>
        </p:txBody>
      </p:sp>
      <p:sp>
        <p:nvSpPr>
          <p:cNvPr id="17" name="Text 15"/>
          <p:cNvSpPr/>
          <p:nvPr/>
        </p:nvSpPr>
        <p:spPr>
          <a:xfrm>
            <a:off x="2084832" y="3822192"/>
            <a:ext cx="1463040" cy="914400"/>
          </a:xfrm>
          <a:prstGeom prst="rect">
            <a:avLst/>
          </a:prstGeom>
          <a:noFill/>
        </p:spPr>
        <p:txBody>
          <a:bodyPr wrap="square" rtlCol="0" anchor="ctr"/>
          <a:lstStyle/>
          <a:p>
            <a:pPr marL="0" indent="0" algn="ctr">
              <a:buNone/>
            </a:pPr>
            <a:r>
              <a:rPr lang="en-US" sz="800" dirty="0">
                <a:solidFill>
                  <a:srgbClr val="D4EFE0"/>
                </a:solidFill>
              </a:rPr>
              <a:t>NSSF deducts a 3% service charge on every payout — from BOTH the investor pool AND the lister proceeds. NSSF earns 60% (1.8%); OwnIt retains 40% (1.2%). Applied every payout cycle.</a:t>
            </a:r>
            <a:endParaRPr lang="en-US" sz="800" dirty="0"/>
          </a:p>
        </p:txBody>
      </p:sp>
      <p:sp>
        <p:nvSpPr>
          <p:cNvPr id="18" name="Shape 16"/>
          <p:cNvSpPr/>
          <p:nvPr/>
        </p:nvSpPr>
        <p:spPr>
          <a:xfrm>
            <a:off x="3749040" y="1938528"/>
            <a:ext cx="1609344" cy="2880360"/>
          </a:xfrm>
          <a:prstGeom prst="rect">
            <a:avLst/>
          </a:prstGeom>
          <a:solidFill>
            <a:srgbClr val="1A7A45"/>
          </a:solidFill>
          <a:effectLst>
            <a:outerShdw blurRad="101600" dist="38100" dir="8100000" algn="bl" rotWithShape="0">
              <a:srgbClr val="000000">
                <a:alpha val="12000"/>
              </a:srgbClr>
            </a:outerShdw>
          </a:effectLst>
        </p:spPr>
      </p:sp>
      <p:sp>
        <p:nvSpPr>
          <p:cNvPr id="19" name="Shape 17"/>
          <p:cNvSpPr/>
          <p:nvPr/>
        </p:nvSpPr>
        <p:spPr>
          <a:xfrm>
            <a:off x="4233672" y="2048256"/>
            <a:ext cx="640080" cy="640080"/>
          </a:xfrm>
          <a:prstGeom prst="ellipse">
            <a:avLst/>
          </a:prstGeom>
          <a:solidFill>
            <a:srgbClr val="C17F00"/>
          </a:solidFill>
        </p:spPr>
      </p:sp>
      <p:sp>
        <p:nvSpPr>
          <p:cNvPr id="20" name="Text 18"/>
          <p:cNvSpPr/>
          <p:nvPr/>
        </p:nvSpPr>
        <p:spPr>
          <a:xfrm>
            <a:off x="4233672" y="2048256"/>
            <a:ext cx="640080" cy="640080"/>
          </a:xfrm>
          <a:prstGeom prst="rect">
            <a:avLst/>
          </a:prstGeom>
          <a:noFill/>
        </p:spPr>
        <p:txBody>
          <a:bodyPr wrap="square" rtlCol="0" anchor="ctr"/>
          <a:lstStyle/>
          <a:p>
            <a:pPr marL="0" indent="0" algn="ctr">
              <a:buNone/>
            </a:pPr>
            <a:r>
              <a:rPr lang="en-US" sz="1200" b="1" dirty="0">
                <a:solidFill>
                  <a:srgbClr val="FFFFFF"/>
                </a:solidFill>
              </a:rPr>
              <a:t>03</a:t>
            </a:r>
            <a:endParaRPr lang="en-US" sz="1200" dirty="0"/>
          </a:p>
        </p:txBody>
      </p:sp>
      <p:sp>
        <p:nvSpPr>
          <p:cNvPr id="21" name="Text 19"/>
          <p:cNvSpPr/>
          <p:nvPr/>
        </p:nvSpPr>
        <p:spPr>
          <a:xfrm>
            <a:off x="4261104" y="2816352"/>
            <a:ext cx="585216"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2" name="Text 20"/>
          <p:cNvSpPr/>
          <p:nvPr/>
        </p:nvSpPr>
        <p:spPr>
          <a:xfrm>
            <a:off x="3840480" y="3401568"/>
            <a:ext cx="1426464" cy="402336"/>
          </a:xfrm>
          <a:prstGeom prst="rect">
            <a:avLst/>
          </a:prstGeom>
          <a:noFill/>
        </p:spPr>
        <p:txBody>
          <a:bodyPr wrap="square" rtlCol="0" anchor="ctr"/>
          <a:lstStyle/>
          <a:p>
            <a:pPr marL="0" indent="0" algn="ctr">
              <a:buNone/>
            </a:pPr>
            <a:r>
              <a:rPr lang="en-US" sz="1000" b="1" dirty="0">
                <a:solidFill>
                  <a:srgbClr val="FFFFFF"/>
                </a:solidFill>
              </a:rPr>
              <a:t>+2% Pension Levy</a:t>
            </a:r>
            <a:endParaRPr lang="en-US" sz="1000" dirty="0"/>
          </a:p>
        </p:txBody>
      </p:sp>
      <p:sp>
        <p:nvSpPr>
          <p:cNvPr id="23" name="Text 21"/>
          <p:cNvSpPr/>
          <p:nvPr/>
        </p:nvSpPr>
        <p:spPr>
          <a:xfrm>
            <a:off x="3822192" y="3822192"/>
            <a:ext cx="1463040" cy="914400"/>
          </a:xfrm>
          <a:prstGeom prst="rect">
            <a:avLst/>
          </a:prstGeom>
          <a:noFill/>
        </p:spPr>
        <p:txBody>
          <a:bodyPr wrap="square" rtlCol="0" anchor="ctr"/>
          <a:lstStyle/>
          <a:p>
            <a:pPr marL="0" indent="0" algn="ctr">
              <a:buNone/>
            </a:pPr>
            <a:r>
              <a:rPr lang="en-US" sz="800" dirty="0">
                <a:solidFill>
                  <a:srgbClr val="D4EFE0"/>
                </a:solidFill>
              </a:rPr>
              <a:t>An additional 2% is deducted from every investor payout and forwarded directly to NSSF — invested by NSSF on the member's behalf in NSSF's diversified portfolio.</a:t>
            </a:r>
            <a:endParaRPr lang="en-US" sz="800" dirty="0"/>
          </a:p>
        </p:txBody>
      </p:sp>
      <p:sp>
        <p:nvSpPr>
          <p:cNvPr id="24" name="Shape 22"/>
          <p:cNvSpPr/>
          <p:nvPr/>
        </p:nvSpPr>
        <p:spPr>
          <a:xfrm>
            <a:off x="5486400" y="1938528"/>
            <a:ext cx="1609344" cy="2880360"/>
          </a:xfrm>
          <a:prstGeom prst="rect">
            <a:avLst/>
          </a:prstGeom>
          <a:solidFill>
            <a:srgbClr val="1A7A45"/>
          </a:solidFill>
          <a:effectLst>
            <a:outerShdw blurRad="101600" dist="38100" dir="8100000" algn="bl" rotWithShape="0">
              <a:srgbClr val="000000">
                <a:alpha val="12000"/>
              </a:srgbClr>
            </a:outerShdw>
          </a:effectLst>
        </p:spPr>
      </p:sp>
      <p:sp>
        <p:nvSpPr>
          <p:cNvPr id="25" name="Shape 23"/>
          <p:cNvSpPr/>
          <p:nvPr/>
        </p:nvSpPr>
        <p:spPr>
          <a:xfrm>
            <a:off x="5971032" y="2048256"/>
            <a:ext cx="640080" cy="640080"/>
          </a:xfrm>
          <a:prstGeom prst="ellipse">
            <a:avLst/>
          </a:prstGeom>
          <a:solidFill>
            <a:srgbClr val="C17F00"/>
          </a:solidFill>
        </p:spPr>
      </p:sp>
      <p:sp>
        <p:nvSpPr>
          <p:cNvPr id="26" name="Text 24"/>
          <p:cNvSpPr/>
          <p:nvPr/>
        </p:nvSpPr>
        <p:spPr>
          <a:xfrm>
            <a:off x="5971032" y="2048256"/>
            <a:ext cx="640080" cy="640080"/>
          </a:xfrm>
          <a:prstGeom prst="rect">
            <a:avLst/>
          </a:prstGeom>
          <a:noFill/>
        </p:spPr>
        <p:txBody>
          <a:bodyPr wrap="square" rtlCol="0" anchor="ctr"/>
          <a:lstStyle/>
          <a:p>
            <a:pPr marL="0" indent="0" algn="ctr">
              <a:buNone/>
            </a:pPr>
            <a:r>
              <a:rPr lang="en-US" sz="1200" b="1" dirty="0">
                <a:solidFill>
                  <a:srgbClr val="FFFFFF"/>
                </a:solidFill>
              </a:rPr>
              <a:t>04</a:t>
            </a:r>
            <a:endParaRPr lang="en-US" sz="1200" dirty="0"/>
          </a:p>
        </p:txBody>
      </p:sp>
      <p:sp>
        <p:nvSpPr>
          <p:cNvPr id="27" name="Text 25"/>
          <p:cNvSpPr/>
          <p:nvPr/>
        </p:nvSpPr>
        <p:spPr>
          <a:xfrm>
            <a:off x="5998464" y="2816352"/>
            <a:ext cx="585216"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8" name="Text 26"/>
          <p:cNvSpPr/>
          <p:nvPr/>
        </p:nvSpPr>
        <p:spPr>
          <a:xfrm>
            <a:off x="5577840" y="3401568"/>
            <a:ext cx="1426464" cy="402336"/>
          </a:xfrm>
          <a:prstGeom prst="rect">
            <a:avLst/>
          </a:prstGeom>
          <a:noFill/>
        </p:spPr>
        <p:txBody>
          <a:bodyPr wrap="square" rtlCol="0" anchor="ctr"/>
          <a:lstStyle/>
          <a:p>
            <a:pPr marL="0" indent="0" algn="ctr">
              <a:buNone/>
            </a:pPr>
            <a:r>
              <a:rPr lang="en-US" sz="1000" b="1" dirty="0">
                <a:solidFill>
                  <a:srgbClr val="FFFFFF"/>
                </a:solidFill>
              </a:rPr>
              <a:t>NSSF Grows the Pot</a:t>
            </a:r>
            <a:endParaRPr lang="en-US" sz="1000" dirty="0"/>
          </a:p>
        </p:txBody>
      </p:sp>
      <p:sp>
        <p:nvSpPr>
          <p:cNvPr id="29" name="Text 27"/>
          <p:cNvSpPr/>
          <p:nvPr/>
        </p:nvSpPr>
        <p:spPr>
          <a:xfrm>
            <a:off x="5559552" y="3822192"/>
            <a:ext cx="1463040" cy="914400"/>
          </a:xfrm>
          <a:prstGeom prst="rect">
            <a:avLst/>
          </a:prstGeom>
          <a:noFill/>
        </p:spPr>
        <p:txBody>
          <a:bodyPr wrap="square" rtlCol="0" anchor="ctr"/>
          <a:lstStyle/>
          <a:p>
            <a:pPr marL="0" indent="0" algn="ctr">
              <a:buNone/>
            </a:pPr>
            <a:r>
              <a:rPr lang="en-US" sz="800" dirty="0">
                <a:solidFill>
                  <a:srgbClr val="D4EFE0"/>
                </a:solidFill>
              </a:rPr>
              <a:t>NSSF invests the 2% levy alongside its broader fund (government bonds, real estate, equities) at its historical 12% p.a. return. Compound growth over the member's working life.</a:t>
            </a:r>
            <a:endParaRPr lang="en-US" sz="800" dirty="0"/>
          </a:p>
        </p:txBody>
      </p:sp>
      <p:sp>
        <p:nvSpPr>
          <p:cNvPr id="30" name="Shape 28"/>
          <p:cNvSpPr/>
          <p:nvPr/>
        </p:nvSpPr>
        <p:spPr>
          <a:xfrm>
            <a:off x="7223760" y="1938528"/>
            <a:ext cx="1609344" cy="2880360"/>
          </a:xfrm>
          <a:prstGeom prst="rect">
            <a:avLst/>
          </a:prstGeom>
          <a:solidFill>
            <a:srgbClr val="1A7A45"/>
          </a:solidFill>
          <a:effectLst>
            <a:outerShdw blurRad="101600" dist="38100" dir="8100000" algn="bl" rotWithShape="0">
              <a:srgbClr val="000000">
                <a:alpha val="12000"/>
              </a:srgbClr>
            </a:outerShdw>
          </a:effectLst>
        </p:spPr>
      </p:sp>
      <p:sp>
        <p:nvSpPr>
          <p:cNvPr id="31" name="Shape 29"/>
          <p:cNvSpPr/>
          <p:nvPr/>
        </p:nvSpPr>
        <p:spPr>
          <a:xfrm>
            <a:off x="7708392" y="2048256"/>
            <a:ext cx="640080" cy="640080"/>
          </a:xfrm>
          <a:prstGeom prst="ellipse">
            <a:avLst/>
          </a:prstGeom>
          <a:solidFill>
            <a:srgbClr val="C17F00"/>
          </a:solidFill>
        </p:spPr>
      </p:sp>
      <p:sp>
        <p:nvSpPr>
          <p:cNvPr id="32" name="Text 30"/>
          <p:cNvSpPr/>
          <p:nvPr/>
        </p:nvSpPr>
        <p:spPr>
          <a:xfrm>
            <a:off x="7708392" y="2048256"/>
            <a:ext cx="640080" cy="640080"/>
          </a:xfrm>
          <a:prstGeom prst="rect">
            <a:avLst/>
          </a:prstGeom>
          <a:noFill/>
        </p:spPr>
        <p:txBody>
          <a:bodyPr wrap="square" rtlCol="0" anchor="ctr"/>
          <a:lstStyle/>
          <a:p>
            <a:pPr marL="0" indent="0" algn="ctr">
              <a:buNone/>
            </a:pPr>
            <a:r>
              <a:rPr lang="en-US" sz="1200" b="1" dirty="0">
                <a:solidFill>
                  <a:srgbClr val="FFFFFF"/>
                </a:solidFill>
              </a:rPr>
              <a:t>05</a:t>
            </a:r>
            <a:endParaRPr lang="en-US" sz="1200" dirty="0"/>
          </a:p>
        </p:txBody>
      </p:sp>
      <p:sp>
        <p:nvSpPr>
          <p:cNvPr id="33" name="Text 31"/>
          <p:cNvSpPr/>
          <p:nvPr/>
        </p:nvSpPr>
        <p:spPr>
          <a:xfrm>
            <a:off x="7735824" y="2816352"/>
            <a:ext cx="585216"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34" name="Text 32"/>
          <p:cNvSpPr/>
          <p:nvPr/>
        </p:nvSpPr>
        <p:spPr>
          <a:xfrm>
            <a:off x="7315200" y="3401568"/>
            <a:ext cx="1426464" cy="402336"/>
          </a:xfrm>
          <a:prstGeom prst="rect">
            <a:avLst/>
          </a:prstGeom>
          <a:noFill/>
        </p:spPr>
        <p:txBody>
          <a:bodyPr wrap="square" rtlCol="0" anchor="ctr"/>
          <a:lstStyle/>
          <a:p>
            <a:pPr marL="0" indent="0" algn="ctr">
              <a:buNone/>
            </a:pPr>
            <a:r>
              <a:rPr lang="en-US" sz="1000" b="1" dirty="0">
                <a:solidFill>
                  <a:srgbClr val="FFFFFF"/>
                </a:solidFill>
              </a:rPr>
              <a:t>Payout at Age 55</a:t>
            </a:r>
            <a:endParaRPr lang="en-US" sz="1000" dirty="0"/>
          </a:p>
        </p:txBody>
      </p:sp>
      <p:sp>
        <p:nvSpPr>
          <p:cNvPr id="35" name="Text 33"/>
          <p:cNvSpPr/>
          <p:nvPr/>
        </p:nvSpPr>
        <p:spPr>
          <a:xfrm>
            <a:off x="7296912" y="3822192"/>
            <a:ext cx="1463040" cy="914400"/>
          </a:xfrm>
          <a:prstGeom prst="rect">
            <a:avLst/>
          </a:prstGeom>
          <a:noFill/>
        </p:spPr>
        <p:txBody>
          <a:bodyPr wrap="square" rtlCol="0" anchor="ctr"/>
          <a:lstStyle/>
          <a:p>
            <a:pPr marL="0" indent="0" algn="ctr">
              <a:buNone/>
            </a:pPr>
            <a:r>
              <a:rPr lang="en-US" sz="800" dirty="0">
                <a:solidFill>
                  <a:srgbClr val="D4EFE0"/>
                </a:solidFill>
              </a:rPr>
              <a:t>The member collects the full accumulated pension pot — principal + all NSSF investment returns — at age 55 as a lump sum or annuity. Tracked in real-time in the OwnIt app under 'My NSSF Future Balance'.</a:t>
            </a:r>
            <a:endParaRPr lang="en-US" sz="800" dirty="0"/>
          </a:p>
        </p:txBody>
      </p:sp>
      <p:sp>
        <p:nvSpPr>
          <p:cNvPr id="36" name="Shape 34"/>
          <p:cNvSpPr/>
          <p:nvPr/>
        </p:nvSpPr>
        <p:spPr>
          <a:xfrm>
            <a:off x="457200" y="4882896"/>
            <a:ext cx="8229600" cy="256032"/>
          </a:xfrm>
          <a:prstGeom prst="rect">
            <a:avLst/>
          </a:prstGeom>
          <a:solidFill>
            <a:srgbClr val="C17F00"/>
          </a:solidFill>
        </p:spPr>
      </p:sp>
      <p:sp>
        <p:nvSpPr>
          <p:cNvPr id="37" name="Text 35"/>
          <p:cNvSpPr/>
          <p:nvPr/>
        </p:nvSpPr>
        <p:spPr>
          <a:xfrm>
            <a:off x="548640" y="4882896"/>
            <a:ext cx="8046720" cy="256032"/>
          </a:xfrm>
          <a:prstGeom prst="rect">
            <a:avLst/>
          </a:prstGeom>
          <a:noFill/>
        </p:spPr>
        <p:txBody>
          <a:bodyPr wrap="square" rtlCol="0" anchor="ctr"/>
          <a:lstStyle/>
          <a:p>
            <a:pPr marL="0" indent="0">
              <a:buNone/>
            </a:pPr>
            <a:r>
              <a:rPr lang="en-US" sz="1000" b="1" dirty="0">
                <a:solidFill>
                  <a:srgbClr val="FFFFFF"/>
                </a:solidFill>
              </a:rPr>
              <a:t>Fee Structure per Payout:  3% NSSF Service Charge (both investor &amp; lister sides)  +  2% Pension Levy (investor side)  →  Collected at 55 years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NSSF INTEGRATION — A THREE-WAY WIN</a:t>
            </a:r>
            <a:endParaRPr lang="en-US" sz="1100" dirty="0"/>
          </a:p>
        </p:txBody>
      </p:sp>
      <p:sp>
        <p:nvSpPr>
          <p:cNvPr id="4" name="Text 2"/>
          <p:cNvSpPr/>
          <p:nvPr/>
        </p:nvSpPr>
        <p:spPr>
          <a:xfrm>
            <a:off x="457200" y="749808"/>
            <a:ext cx="8229600" cy="530352"/>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A pension for every investor. A pipeline for NSSF. A moat for OwnIt.</a:t>
            </a:r>
            <a:endParaRPr lang="en-US" sz="2200" dirty="0"/>
          </a:p>
        </p:txBody>
      </p:sp>
      <p:sp>
        <p:nvSpPr>
          <p:cNvPr id="5" name="Shape 3"/>
          <p:cNvSpPr/>
          <p:nvPr/>
        </p:nvSpPr>
        <p:spPr>
          <a:xfrm>
            <a:off x="347472" y="1389888"/>
            <a:ext cx="8449056" cy="1133856"/>
          </a:xfrm>
          <a:prstGeom prst="rect">
            <a:avLst/>
          </a:prstGeom>
          <a:solidFill>
            <a:srgbClr val="F4F9F5"/>
          </a:solidFill>
          <a:effectLst>
            <a:outerShdw blurRad="101600" dist="38100" dir="8100000" algn="bl" rotWithShape="0">
              <a:srgbClr val="000000">
                <a:alpha val="12000"/>
              </a:srgbClr>
            </a:outerShdw>
          </a:effectLst>
        </p:spPr>
      </p:sp>
      <p:sp>
        <p:nvSpPr>
          <p:cNvPr id="6" name="Shape 4"/>
          <p:cNvSpPr/>
          <p:nvPr/>
        </p:nvSpPr>
        <p:spPr>
          <a:xfrm>
            <a:off x="347472" y="1389888"/>
            <a:ext cx="64008" cy="1133856"/>
          </a:xfrm>
          <a:prstGeom prst="rect">
            <a:avLst/>
          </a:prstGeom>
          <a:solidFill>
            <a:srgbClr val="1A7A45"/>
          </a:solidFill>
        </p:spPr>
      </p:sp>
      <p:sp>
        <p:nvSpPr>
          <p:cNvPr id="7" name="Text 5"/>
          <p:cNvSpPr/>
          <p:nvPr/>
        </p:nvSpPr>
        <p:spPr>
          <a:xfrm>
            <a:off x="502920" y="1463040"/>
            <a:ext cx="8138160" cy="274320"/>
          </a:xfrm>
          <a:prstGeom prst="rect">
            <a:avLst/>
          </a:prstGeom>
          <a:noFill/>
        </p:spPr>
        <p:txBody>
          <a:bodyPr wrap="square" rtlCol="0" anchor="ctr"/>
          <a:lstStyle/>
          <a:p>
            <a:pPr marL="0" indent="0">
              <a:buNone/>
            </a:pPr>
            <a:r>
              <a:rPr lang="en-US" sz="1200" b="1" dirty="0">
                <a:solidFill>
                  <a:srgbClr val="1A7A45"/>
                </a:solidFill>
              </a:rPr>
              <a:t>👤  For the Member</a:t>
            </a:r>
            <a:endParaRPr lang="en-US" sz="1200" dirty="0"/>
          </a:p>
        </p:txBody>
      </p:sp>
      <p:sp>
        <p:nvSpPr>
          <p:cNvPr id="8" name="Text 6"/>
          <p:cNvSpPr/>
          <p:nvPr/>
        </p:nvSpPr>
        <p:spPr>
          <a:xfrm>
            <a:off x="566928" y="1773936"/>
            <a:ext cx="3977640" cy="292608"/>
          </a:xfrm>
          <a:prstGeom prst="rect">
            <a:avLst/>
          </a:prstGeom>
          <a:noFill/>
        </p:spPr>
        <p:txBody>
          <a:bodyPr wrap="square" rtlCol="0" anchor="ctr"/>
          <a:lstStyle/>
          <a:p>
            <a:pPr marL="0" indent="0">
              <a:buNone/>
            </a:pPr>
            <a:r>
              <a:rPr lang="en-US" sz="950" dirty="0">
                <a:solidFill>
                  <a:srgbClr val="0D1F15"/>
                </a:solidFill>
              </a:rPr>
              <a:t>•  Invisible pension saving — deducted automatically before MoMo payout; no separate decision required</a:t>
            </a:r>
            <a:endParaRPr lang="en-US" sz="950" dirty="0"/>
          </a:p>
        </p:txBody>
      </p:sp>
      <p:sp>
        <p:nvSpPr>
          <p:cNvPr id="9" name="Text 7"/>
          <p:cNvSpPr/>
          <p:nvPr/>
        </p:nvSpPr>
        <p:spPr>
          <a:xfrm>
            <a:off x="4727448" y="1773936"/>
            <a:ext cx="3977640" cy="292608"/>
          </a:xfrm>
          <a:prstGeom prst="rect">
            <a:avLst/>
          </a:prstGeom>
          <a:noFill/>
        </p:spPr>
        <p:txBody>
          <a:bodyPr wrap="square" rtlCol="0" anchor="ctr"/>
          <a:lstStyle/>
          <a:p>
            <a:pPr marL="0" indent="0">
              <a:buNone/>
            </a:pPr>
            <a:r>
              <a:rPr lang="en-US" sz="950" dirty="0">
                <a:solidFill>
                  <a:srgbClr val="0D1F15"/>
                </a:solidFill>
              </a:rPr>
              <a:t>•  Every investment payout builds the NSSF pension pot simultaneously</a:t>
            </a:r>
            <a:endParaRPr lang="en-US" sz="950" dirty="0"/>
          </a:p>
        </p:txBody>
      </p:sp>
      <p:sp>
        <p:nvSpPr>
          <p:cNvPr id="10" name="Text 8"/>
          <p:cNvSpPr/>
          <p:nvPr/>
        </p:nvSpPr>
        <p:spPr>
          <a:xfrm>
            <a:off x="566928" y="2103120"/>
            <a:ext cx="3977640" cy="292608"/>
          </a:xfrm>
          <a:prstGeom prst="rect">
            <a:avLst/>
          </a:prstGeom>
          <a:noFill/>
        </p:spPr>
        <p:txBody>
          <a:bodyPr wrap="square" rtlCol="0" anchor="ctr"/>
          <a:lstStyle/>
          <a:p>
            <a:pPr marL="0" indent="0">
              <a:buNone/>
            </a:pPr>
            <a:r>
              <a:rPr lang="en-US" sz="950" dirty="0">
                <a:solidFill>
                  <a:srgbClr val="0D1F15"/>
                </a:solidFill>
              </a:rPr>
              <a:t>•  Real-time 'My NSSF Future Balance' tracker inside OwnIt app</a:t>
            </a:r>
            <a:endParaRPr lang="en-US" sz="950" dirty="0"/>
          </a:p>
        </p:txBody>
      </p:sp>
      <p:sp>
        <p:nvSpPr>
          <p:cNvPr id="11" name="Text 9"/>
          <p:cNvSpPr/>
          <p:nvPr/>
        </p:nvSpPr>
        <p:spPr>
          <a:xfrm>
            <a:off x="4727448" y="2103120"/>
            <a:ext cx="3977640" cy="292608"/>
          </a:xfrm>
          <a:prstGeom prst="rect">
            <a:avLst/>
          </a:prstGeom>
          <a:noFill/>
        </p:spPr>
        <p:txBody>
          <a:bodyPr wrap="square" rtlCol="0" anchor="ctr"/>
          <a:lstStyle/>
          <a:p>
            <a:pPr marL="0" indent="0">
              <a:buNone/>
            </a:pPr>
            <a:r>
              <a:rPr lang="en-US" sz="950" dirty="0">
                <a:solidFill>
                  <a:srgbClr val="0D1F15"/>
                </a:solidFill>
              </a:rPr>
              <a:t>•  Near-term income (OwnIt returns) + long-term security (NSSF at 55) — one platform, both goals</a:t>
            </a:r>
            <a:endParaRPr lang="en-US" sz="950" dirty="0"/>
          </a:p>
        </p:txBody>
      </p:sp>
      <p:sp>
        <p:nvSpPr>
          <p:cNvPr id="12" name="Shape 10"/>
          <p:cNvSpPr/>
          <p:nvPr/>
        </p:nvSpPr>
        <p:spPr>
          <a:xfrm>
            <a:off x="347472" y="2624328"/>
            <a:ext cx="8449056" cy="1133856"/>
          </a:xfrm>
          <a:prstGeom prst="rect">
            <a:avLst/>
          </a:prstGeom>
          <a:solidFill>
            <a:srgbClr val="F4F9F5"/>
          </a:solidFill>
          <a:effectLst>
            <a:outerShdw blurRad="101600" dist="38100" dir="8100000" algn="bl" rotWithShape="0">
              <a:srgbClr val="000000">
                <a:alpha val="12000"/>
              </a:srgbClr>
            </a:outerShdw>
          </a:effectLst>
        </p:spPr>
      </p:sp>
      <p:sp>
        <p:nvSpPr>
          <p:cNvPr id="13" name="Shape 11"/>
          <p:cNvSpPr/>
          <p:nvPr/>
        </p:nvSpPr>
        <p:spPr>
          <a:xfrm>
            <a:off x="347472" y="2624328"/>
            <a:ext cx="64008" cy="1133856"/>
          </a:xfrm>
          <a:prstGeom prst="rect">
            <a:avLst/>
          </a:prstGeom>
          <a:solidFill>
            <a:srgbClr val="028090"/>
          </a:solidFill>
        </p:spPr>
      </p:sp>
      <p:sp>
        <p:nvSpPr>
          <p:cNvPr id="14" name="Text 12"/>
          <p:cNvSpPr/>
          <p:nvPr/>
        </p:nvSpPr>
        <p:spPr>
          <a:xfrm>
            <a:off x="502920" y="2697480"/>
            <a:ext cx="8138160" cy="274320"/>
          </a:xfrm>
          <a:prstGeom prst="rect">
            <a:avLst/>
          </a:prstGeom>
          <a:noFill/>
        </p:spPr>
        <p:txBody>
          <a:bodyPr wrap="square" rtlCol="0" anchor="ctr"/>
          <a:lstStyle/>
          <a:p>
            <a:pPr marL="0" indent="0">
              <a:buNone/>
            </a:pPr>
            <a:r>
              <a:rPr lang="en-US" sz="1200" b="1" dirty="0">
                <a:solidFill>
                  <a:srgbClr val="028090"/>
                </a:solidFill>
              </a:rPr>
              <a:t>🏛️  For NSSF Uganda</a:t>
            </a:r>
            <a:endParaRPr lang="en-US" sz="1200" dirty="0"/>
          </a:p>
        </p:txBody>
      </p:sp>
      <p:sp>
        <p:nvSpPr>
          <p:cNvPr id="15" name="Text 13"/>
          <p:cNvSpPr/>
          <p:nvPr/>
        </p:nvSpPr>
        <p:spPr>
          <a:xfrm>
            <a:off x="566928" y="3008376"/>
            <a:ext cx="3977640" cy="292608"/>
          </a:xfrm>
          <a:prstGeom prst="rect">
            <a:avLst/>
          </a:prstGeom>
          <a:noFill/>
        </p:spPr>
        <p:txBody>
          <a:bodyPr wrap="square" rtlCol="0" anchor="ctr"/>
          <a:lstStyle/>
          <a:p>
            <a:pPr marL="0" indent="0">
              <a:buNone/>
            </a:pPr>
            <a:r>
              <a:rPr lang="en-US" sz="950" dirty="0">
                <a:solidFill>
                  <a:srgbClr val="0D1F15"/>
                </a:solidFill>
              </a:rPr>
              <a:t>•  500,000+ new NSSF members auto-enrolled by 2031 — zero acquisition cost to NSSF</a:t>
            </a:r>
            <a:endParaRPr lang="en-US" sz="950" dirty="0"/>
          </a:p>
        </p:txBody>
      </p:sp>
      <p:sp>
        <p:nvSpPr>
          <p:cNvPr id="16" name="Text 14"/>
          <p:cNvSpPr/>
          <p:nvPr/>
        </p:nvSpPr>
        <p:spPr>
          <a:xfrm>
            <a:off x="4727448" y="3008376"/>
            <a:ext cx="3977640" cy="292608"/>
          </a:xfrm>
          <a:prstGeom prst="rect">
            <a:avLst/>
          </a:prstGeom>
          <a:noFill/>
        </p:spPr>
        <p:txBody>
          <a:bodyPr wrap="square" rtlCol="0" anchor="ctr"/>
          <a:lstStyle/>
          <a:p>
            <a:pPr marL="0" indent="0">
              <a:buNone/>
            </a:pPr>
            <a:r>
              <a:rPr lang="en-US" sz="950" dirty="0">
                <a:solidFill>
                  <a:srgbClr val="0D1F15"/>
                </a:solidFill>
              </a:rPr>
              <a:t>•  UGX 4B+ annual operating revenue by Year 5 (60% of 3% charge, both sides + 30% listing fees)</a:t>
            </a:r>
            <a:endParaRPr lang="en-US" sz="950" dirty="0"/>
          </a:p>
        </p:txBody>
      </p:sp>
      <p:sp>
        <p:nvSpPr>
          <p:cNvPr id="17" name="Text 15"/>
          <p:cNvSpPr/>
          <p:nvPr/>
        </p:nvSpPr>
        <p:spPr>
          <a:xfrm>
            <a:off x="566928" y="3337560"/>
            <a:ext cx="3977640" cy="292608"/>
          </a:xfrm>
          <a:prstGeom prst="rect">
            <a:avLst/>
          </a:prstGeom>
          <a:noFill/>
        </p:spPr>
        <p:txBody>
          <a:bodyPr wrap="square" rtlCol="0" anchor="ctr"/>
          <a:lstStyle/>
          <a:p>
            <a:pPr marL="0" indent="0">
              <a:buNone/>
            </a:pPr>
            <a:r>
              <a:rPr lang="en-US" sz="950" dirty="0">
                <a:solidFill>
                  <a:srgbClr val="0D1F15"/>
                </a:solidFill>
              </a:rPr>
              <a:t>•  UGX 1.2B+ in new AUM annually by Year 5 via 2% pension levy — invested for members</a:t>
            </a:r>
            <a:endParaRPr lang="en-US" sz="950" dirty="0"/>
          </a:p>
        </p:txBody>
      </p:sp>
      <p:sp>
        <p:nvSpPr>
          <p:cNvPr id="18" name="Text 16"/>
          <p:cNvSpPr/>
          <p:nvPr/>
        </p:nvSpPr>
        <p:spPr>
          <a:xfrm>
            <a:off x="4727448" y="3337560"/>
            <a:ext cx="3977640" cy="292608"/>
          </a:xfrm>
          <a:prstGeom prst="rect">
            <a:avLst/>
          </a:prstGeom>
          <a:noFill/>
        </p:spPr>
        <p:txBody>
          <a:bodyPr wrap="square" rtlCol="0" anchor="ctr"/>
          <a:lstStyle/>
          <a:p>
            <a:pPr marL="0" indent="0">
              <a:buNone/>
            </a:pPr>
            <a:r>
              <a:rPr lang="en-US" sz="950" dirty="0">
                <a:solidFill>
                  <a:srgbClr val="0D1F15"/>
                </a:solidFill>
              </a:rPr>
              <a:t>•  Reaches Uganda's 9M+ informal workers and Gen Z — the only segments that close the 2035 gap</a:t>
            </a:r>
            <a:endParaRPr lang="en-US" sz="950" dirty="0"/>
          </a:p>
        </p:txBody>
      </p:sp>
      <p:sp>
        <p:nvSpPr>
          <p:cNvPr id="19" name="Shape 17"/>
          <p:cNvSpPr/>
          <p:nvPr/>
        </p:nvSpPr>
        <p:spPr>
          <a:xfrm>
            <a:off x="347472" y="3858768"/>
            <a:ext cx="8449056" cy="1133856"/>
          </a:xfrm>
          <a:prstGeom prst="rect">
            <a:avLst/>
          </a:prstGeom>
          <a:solidFill>
            <a:srgbClr val="F4F9F5"/>
          </a:solidFill>
          <a:effectLst>
            <a:outerShdw blurRad="101600" dist="38100" dir="8100000" algn="bl" rotWithShape="0">
              <a:srgbClr val="000000">
                <a:alpha val="12000"/>
              </a:srgbClr>
            </a:outerShdw>
          </a:effectLst>
        </p:spPr>
      </p:sp>
      <p:sp>
        <p:nvSpPr>
          <p:cNvPr id="20" name="Shape 18"/>
          <p:cNvSpPr/>
          <p:nvPr/>
        </p:nvSpPr>
        <p:spPr>
          <a:xfrm>
            <a:off x="347472" y="3858768"/>
            <a:ext cx="64008" cy="1133856"/>
          </a:xfrm>
          <a:prstGeom prst="rect">
            <a:avLst/>
          </a:prstGeom>
          <a:solidFill>
            <a:srgbClr val="C17F00"/>
          </a:solidFill>
        </p:spPr>
      </p:sp>
      <p:sp>
        <p:nvSpPr>
          <p:cNvPr id="21" name="Text 19"/>
          <p:cNvSpPr/>
          <p:nvPr/>
        </p:nvSpPr>
        <p:spPr>
          <a:xfrm>
            <a:off x="502920" y="3931920"/>
            <a:ext cx="8138160" cy="274320"/>
          </a:xfrm>
          <a:prstGeom prst="rect">
            <a:avLst/>
          </a:prstGeom>
          <a:noFill/>
        </p:spPr>
        <p:txBody>
          <a:bodyPr wrap="square" rtlCol="0" anchor="ctr"/>
          <a:lstStyle/>
          <a:p>
            <a:pPr marL="0" indent="0">
              <a:buNone/>
            </a:pPr>
            <a:r>
              <a:rPr lang="en-US" sz="1200" b="1" dirty="0">
                <a:solidFill>
                  <a:srgbClr val="C17F00"/>
                </a:solidFill>
              </a:rPr>
              <a:t>🏢  For OwnIt</a:t>
            </a:r>
            <a:endParaRPr lang="en-US" sz="1200" dirty="0"/>
          </a:p>
        </p:txBody>
      </p:sp>
      <p:sp>
        <p:nvSpPr>
          <p:cNvPr id="22" name="Text 20"/>
          <p:cNvSpPr/>
          <p:nvPr/>
        </p:nvSpPr>
        <p:spPr>
          <a:xfrm>
            <a:off x="566928" y="4242816"/>
            <a:ext cx="3977640" cy="292608"/>
          </a:xfrm>
          <a:prstGeom prst="rect">
            <a:avLst/>
          </a:prstGeom>
          <a:noFill/>
        </p:spPr>
        <p:txBody>
          <a:bodyPr wrap="square" rtlCol="0" anchor="ctr"/>
          <a:lstStyle/>
          <a:p>
            <a:pPr marL="0" indent="0">
              <a:buNone/>
            </a:pPr>
            <a:r>
              <a:rPr lang="en-US" sz="950" dirty="0">
                <a:solidFill>
                  <a:srgbClr val="0D1F15"/>
                </a:solidFill>
              </a:rPr>
              <a:t>•  NSSF co-brand = the single most powerful trust signal in Uganda's financial market</a:t>
            </a:r>
            <a:endParaRPr lang="en-US" sz="950" dirty="0"/>
          </a:p>
        </p:txBody>
      </p:sp>
      <p:sp>
        <p:nvSpPr>
          <p:cNvPr id="23" name="Text 21"/>
          <p:cNvSpPr/>
          <p:nvPr/>
        </p:nvSpPr>
        <p:spPr>
          <a:xfrm>
            <a:off x="4727448" y="4242816"/>
            <a:ext cx="3977640" cy="292608"/>
          </a:xfrm>
          <a:prstGeom prst="rect">
            <a:avLst/>
          </a:prstGeom>
          <a:noFill/>
        </p:spPr>
        <p:txBody>
          <a:bodyPr wrap="square" rtlCol="0" anchor="ctr"/>
          <a:lstStyle/>
          <a:p>
            <a:pPr marL="0" indent="0">
              <a:buNone/>
            </a:pPr>
            <a:r>
              <a:rPr lang="en-US" sz="950" dirty="0">
                <a:solidFill>
                  <a:srgbClr val="0D1F15"/>
                </a:solidFill>
              </a:rPr>
              <a:t>•  Auto-enrollment API creates a retention moat that no competitor can replicate without an equivalent institutional partner</a:t>
            </a:r>
            <a:endParaRPr lang="en-US" sz="950" dirty="0"/>
          </a:p>
        </p:txBody>
      </p:sp>
      <p:sp>
        <p:nvSpPr>
          <p:cNvPr id="24" name="Text 22"/>
          <p:cNvSpPr/>
          <p:nvPr/>
        </p:nvSpPr>
        <p:spPr>
          <a:xfrm>
            <a:off x="566928" y="4572000"/>
            <a:ext cx="3977640" cy="292608"/>
          </a:xfrm>
          <a:prstGeom prst="rect">
            <a:avLst/>
          </a:prstGeom>
          <a:noFill/>
        </p:spPr>
        <p:txBody>
          <a:bodyPr wrap="square" rtlCol="0" anchor="ctr"/>
          <a:lstStyle/>
          <a:p>
            <a:pPr marL="0" indent="0">
              <a:buNone/>
            </a:pPr>
            <a:r>
              <a:rPr lang="en-US" sz="950" dirty="0">
                <a:solidFill>
                  <a:srgbClr val="0D1F15"/>
                </a:solidFill>
              </a:rPr>
              <a:t>•  NSSF regulatory relationships accelerate CMA, URBRA, BoU, PAU, DGSM licensing timelines</a:t>
            </a:r>
            <a:endParaRPr lang="en-US" sz="950" dirty="0"/>
          </a:p>
        </p:txBody>
      </p:sp>
      <p:sp>
        <p:nvSpPr>
          <p:cNvPr id="25" name="Text 23"/>
          <p:cNvSpPr/>
          <p:nvPr/>
        </p:nvSpPr>
        <p:spPr>
          <a:xfrm>
            <a:off x="4727448" y="4572000"/>
            <a:ext cx="3977640" cy="292608"/>
          </a:xfrm>
          <a:prstGeom prst="rect">
            <a:avLst/>
          </a:prstGeom>
          <a:noFill/>
        </p:spPr>
        <p:txBody>
          <a:bodyPr wrap="square" rtlCol="0" anchor="ctr"/>
          <a:lstStyle/>
          <a:p>
            <a:pPr marL="0" indent="0">
              <a:buNone/>
            </a:pPr>
            <a:r>
              <a:rPr lang="en-US" sz="950" dirty="0">
                <a:solidFill>
                  <a:srgbClr val="0D1F15"/>
                </a:solidFill>
              </a:rPr>
              <a:t>•  NSSF holds one seat on OwnIt Asset Admissions Committee — quality oversight for both parties</a:t>
            </a:r>
            <a:endParaRPr lang="en-US" sz="950" dirty="0"/>
          </a:p>
        </p:txBody>
      </p:sp>
      <p:sp>
        <p:nvSpPr>
          <p:cNvPr id="26" name="Shape 24"/>
          <p:cNvSpPr/>
          <p:nvPr/>
        </p:nvSpPr>
        <p:spPr>
          <a:xfrm>
            <a:off x="347472" y="5120640"/>
            <a:ext cx="8449056" cy="256032"/>
          </a:xfrm>
          <a:prstGeom prst="rect">
            <a:avLst/>
          </a:prstGeom>
          <a:solidFill>
            <a:srgbClr val="0F4D2B"/>
          </a:solidFill>
        </p:spPr>
      </p:sp>
      <p:sp>
        <p:nvSpPr>
          <p:cNvPr id="27" name="Text 25"/>
          <p:cNvSpPr/>
          <p:nvPr/>
        </p:nvSpPr>
        <p:spPr>
          <a:xfrm>
            <a:off x="457200" y="5120640"/>
            <a:ext cx="8321040" cy="256032"/>
          </a:xfrm>
          <a:prstGeom prst="rect">
            <a:avLst/>
          </a:prstGeom>
          <a:noFill/>
        </p:spPr>
        <p:txBody>
          <a:bodyPr wrap="square" rtlCol="0" anchor="ctr"/>
          <a:lstStyle/>
          <a:p>
            <a:pPr marL="0" indent="0">
              <a:buNone/>
            </a:pPr>
            <a:r>
              <a:rPr lang="en-US" sz="1000" dirty="0">
                <a:solidFill>
                  <a:srgbClr val="D4EFE0"/>
                </a:solidFill>
              </a:rPr>
              <a:t>Pension Levy Platform Projection:  </a:t>
            </a:r>
            <a:r>
              <a:rPr lang="en-US" sz="1000" b="1" dirty="0">
                <a:solidFill>
                  <a:srgbClr val="C17F00"/>
                </a:solidFill>
              </a:rPr>
              <a:t>Yr1 UGX 18M  →  </a:t>
            </a:r>
            <a:r>
              <a:rPr lang="en-US" sz="1000" b="1" dirty="0">
                <a:solidFill>
                  <a:srgbClr val="C17F00"/>
                </a:solidFill>
              </a:rPr>
              <a:t>Yr2 UGX 108M  →  </a:t>
            </a:r>
            <a:r>
              <a:rPr lang="en-US" sz="1000" b="1" dirty="0">
                <a:solidFill>
                  <a:srgbClr val="C17F00"/>
                </a:solidFill>
              </a:rPr>
              <a:t>Yr3 UGX 360M  →  </a:t>
            </a:r>
            <a:r>
              <a:rPr lang="en-US" sz="1000" b="1" dirty="0">
                <a:solidFill>
                  <a:srgbClr val="C17F00"/>
                </a:solidFill>
              </a:rPr>
              <a:t>Yr5 UGX 1.2B+  </a:t>
            </a:r>
            <a:r>
              <a:rPr lang="en-US" sz="1000" dirty="0">
                <a:solidFill>
                  <a:srgbClr val="D4EFE0"/>
                </a:solidFill>
              </a:rPr>
              <a:t> |  Cumulative 5-yr: UGX 1.8B+ new NSSF AUM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4D2B"/>
        </a:solidFill>
        <a:effectLst/>
      </p:bgPr>
    </p:bg>
    <p:spTree>
      <p:nvGrpSpPr>
        <p:cNvPr id="1" name=""/>
        <p:cNvGrpSpPr/>
        <p:nvPr/>
      </p:nvGrpSpPr>
      <p:grpSpPr>
        <a:xfrm>
          <a:off x="0" y="0"/>
          <a:ext cx="0" cy="0"/>
          <a:chOff x="0" y="0"/>
          <a:chExt cx="0" cy="0"/>
        </a:xfrm>
      </p:grpSpPr>
      <p:sp>
        <p:nvSpPr>
          <p:cNvPr id="2" name="Shape 0"/>
          <p:cNvSpPr/>
          <p:nvPr/>
        </p:nvSpPr>
        <p:spPr>
          <a:xfrm>
            <a:off x="6217920" y="-1828800"/>
            <a:ext cx="6400800" cy="6400800"/>
          </a:xfrm>
          <a:prstGeom prst="ellipse">
            <a:avLst/>
          </a:prstGeom>
          <a:solidFill>
            <a:srgbClr val="1A7A45">
              <a:alpha val="40000"/>
            </a:srgbClr>
          </a:solidFill>
          <a:ln w="12700">
            <a:solidFill>
              <a:srgbClr val="1A7A45">
                <a:alpha val="40000"/>
              </a:srgbClr>
            </a:solidFill>
            <a:prstDash val="solid"/>
          </a:ln>
        </p:spPr>
      </p:sp>
      <p:sp>
        <p:nvSpPr>
          <p:cNvPr id="3" name="Text 1"/>
          <p:cNvSpPr/>
          <p:nvPr/>
        </p:nvSpPr>
        <p:spPr>
          <a:xfrm>
            <a:off x="457200" y="228600"/>
            <a:ext cx="8229600" cy="320040"/>
          </a:xfrm>
          <a:prstGeom prst="rect">
            <a:avLst/>
          </a:prstGeom>
          <a:noFill/>
        </p:spPr>
        <p:txBody>
          <a:bodyPr wrap="square" rtlCol="0" anchor="ctr"/>
          <a:lstStyle/>
          <a:p>
            <a:pPr marL="0" indent="0">
              <a:buNone/>
            </a:pPr>
            <a:r>
              <a:rPr lang="en-US" sz="1100" b="1" kern="0" spc="400" dirty="0">
                <a:solidFill>
                  <a:srgbClr val="D4EFE0"/>
                </a:solidFill>
              </a:rPr>
              <a:t>THE 2% PENSION LEVY — HOW IT WORKS</a:t>
            </a:r>
            <a:endParaRPr lang="en-US" sz="1100" dirty="0"/>
          </a:p>
        </p:txBody>
      </p:sp>
      <p:sp>
        <p:nvSpPr>
          <p:cNvPr id="4" name="Text 2"/>
          <p:cNvSpPr/>
          <p:nvPr/>
        </p:nvSpPr>
        <p:spPr>
          <a:xfrm>
            <a:off x="457200" y="566928"/>
            <a:ext cx="6858000" cy="804672"/>
          </a:xfrm>
          <a:prstGeom prst="rect">
            <a:avLst/>
          </a:prstGeom>
          <a:noFill/>
        </p:spPr>
        <p:txBody>
          <a:bodyPr wrap="square"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Invisible pension saving. No extra decision. Every payout builds the pot.</a:t>
            </a:r>
            <a:endParaRPr lang="en-US" sz="2200" dirty="0"/>
          </a:p>
        </p:txBody>
      </p:sp>
      <p:sp>
        <p:nvSpPr>
          <p:cNvPr id="5" name="Shape 3"/>
          <p:cNvSpPr/>
          <p:nvPr/>
        </p:nvSpPr>
        <p:spPr>
          <a:xfrm>
            <a:off x="320040" y="1463040"/>
            <a:ext cx="2788920" cy="1115568"/>
          </a:xfrm>
          <a:prstGeom prst="rect">
            <a:avLst/>
          </a:prstGeom>
          <a:solidFill>
            <a:srgbClr val="1A7A45"/>
          </a:solidFill>
          <a:effectLst>
            <a:outerShdw blurRad="101600" dist="38100" dir="8100000" algn="bl" rotWithShape="0">
              <a:srgbClr val="000000">
                <a:alpha val="12000"/>
              </a:srgbClr>
            </a:outerShdw>
          </a:effectLst>
        </p:spPr>
      </p:sp>
      <p:sp>
        <p:nvSpPr>
          <p:cNvPr id="6" name="Shape 4"/>
          <p:cNvSpPr/>
          <p:nvPr/>
        </p:nvSpPr>
        <p:spPr>
          <a:xfrm>
            <a:off x="457200" y="1591056"/>
            <a:ext cx="502920" cy="502920"/>
          </a:xfrm>
          <a:prstGeom prst="ellipse">
            <a:avLst/>
          </a:prstGeom>
          <a:solidFill>
            <a:srgbClr val="C17F00"/>
          </a:solidFill>
        </p:spPr>
      </p:sp>
      <p:sp>
        <p:nvSpPr>
          <p:cNvPr id="7" name="Text 5"/>
          <p:cNvSpPr/>
          <p:nvPr/>
        </p:nvSpPr>
        <p:spPr>
          <a:xfrm>
            <a:off x="457200" y="1591056"/>
            <a:ext cx="502920" cy="502920"/>
          </a:xfrm>
          <a:prstGeom prst="rect">
            <a:avLst/>
          </a:prstGeom>
          <a:noFill/>
        </p:spPr>
        <p:txBody>
          <a:bodyPr wrap="square"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069848" y="1609344"/>
            <a:ext cx="1938528" cy="320040"/>
          </a:xfrm>
          <a:prstGeom prst="rect">
            <a:avLst/>
          </a:prstGeom>
          <a:noFill/>
        </p:spPr>
        <p:txBody>
          <a:bodyPr wrap="square" rtlCol="0" anchor="ctr"/>
          <a:lstStyle/>
          <a:p>
            <a:pPr marL="0" indent="0">
              <a:buNone/>
            </a:pPr>
            <a:r>
              <a:rPr lang="en-US" sz="1050" b="1" dirty="0">
                <a:solidFill>
                  <a:srgbClr val="FFFFFF"/>
                </a:solidFill>
              </a:rPr>
              <a:t>Investor earns a payout</a:t>
            </a:r>
            <a:endParaRPr lang="en-US" sz="1050" dirty="0"/>
          </a:p>
        </p:txBody>
      </p:sp>
      <p:sp>
        <p:nvSpPr>
          <p:cNvPr id="9" name="Text 7"/>
          <p:cNvSpPr/>
          <p:nvPr/>
        </p:nvSpPr>
        <p:spPr>
          <a:xfrm>
            <a:off x="457200" y="2157984"/>
            <a:ext cx="2560320" cy="347472"/>
          </a:xfrm>
          <a:prstGeom prst="rect">
            <a:avLst/>
          </a:prstGeom>
          <a:noFill/>
        </p:spPr>
        <p:txBody>
          <a:bodyPr wrap="square" rtlCol="0" anchor="ctr"/>
          <a:lstStyle/>
          <a:p>
            <a:pPr marL="0" indent="0">
              <a:buNone/>
            </a:pPr>
            <a:r>
              <a:rPr lang="en-US" sz="950" dirty="0">
                <a:solidFill>
                  <a:srgbClr val="D4EFE0"/>
                </a:solidFill>
              </a:rPr>
              <a:t>e.g. UGX 200,000 return on a maize lot investment</a:t>
            </a:r>
            <a:endParaRPr lang="en-US" sz="950" dirty="0"/>
          </a:p>
        </p:txBody>
      </p:sp>
      <p:sp>
        <p:nvSpPr>
          <p:cNvPr id="10" name="Shape 8"/>
          <p:cNvSpPr/>
          <p:nvPr/>
        </p:nvSpPr>
        <p:spPr>
          <a:xfrm>
            <a:off x="3246120" y="1463040"/>
            <a:ext cx="2788920" cy="1115568"/>
          </a:xfrm>
          <a:prstGeom prst="rect">
            <a:avLst/>
          </a:prstGeom>
          <a:solidFill>
            <a:srgbClr val="1A7A45"/>
          </a:solidFill>
          <a:effectLst>
            <a:outerShdw blurRad="101600" dist="38100" dir="8100000" algn="bl" rotWithShape="0">
              <a:srgbClr val="000000">
                <a:alpha val="12000"/>
              </a:srgbClr>
            </a:outerShdw>
          </a:effectLst>
        </p:spPr>
      </p:sp>
      <p:sp>
        <p:nvSpPr>
          <p:cNvPr id="11" name="Shape 9"/>
          <p:cNvSpPr/>
          <p:nvPr/>
        </p:nvSpPr>
        <p:spPr>
          <a:xfrm>
            <a:off x="3383280" y="1591056"/>
            <a:ext cx="502920" cy="502920"/>
          </a:xfrm>
          <a:prstGeom prst="ellipse">
            <a:avLst/>
          </a:prstGeom>
          <a:solidFill>
            <a:srgbClr val="C17F00"/>
          </a:solidFill>
        </p:spPr>
      </p:sp>
      <p:sp>
        <p:nvSpPr>
          <p:cNvPr id="12" name="Text 10"/>
          <p:cNvSpPr/>
          <p:nvPr/>
        </p:nvSpPr>
        <p:spPr>
          <a:xfrm>
            <a:off x="3383280" y="1591056"/>
            <a:ext cx="502920" cy="502920"/>
          </a:xfrm>
          <a:prstGeom prst="rect">
            <a:avLst/>
          </a:prstGeom>
          <a:noFill/>
        </p:spPr>
        <p:txBody>
          <a:bodyPr wrap="square"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3995928" y="1609344"/>
            <a:ext cx="1938528" cy="320040"/>
          </a:xfrm>
          <a:prstGeom prst="rect">
            <a:avLst/>
          </a:prstGeom>
          <a:noFill/>
        </p:spPr>
        <p:txBody>
          <a:bodyPr wrap="square" rtlCol="0" anchor="ctr"/>
          <a:lstStyle/>
          <a:p>
            <a:pPr marL="0" indent="0">
              <a:buNone/>
            </a:pPr>
            <a:r>
              <a:rPr lang="en-US" sz="1050" b="1" dirty="0">
                <a:solidFill>
                  <a:srgbClr val="FFFFFF"/>
                </a:solidFill>
              </a:rPr>
              <a:t>NSSF deducts 3% service charge</a:t>
            </a:r>
            <a:endParaRPr lang="en-US" sz="1050" dirty="0"/>
          </a:p>
        </p:txBody>
      </p:sp>
      <p:sp>
        <p:nvSpPr>
          <p:cNvPr id="14" name="Text 12"/>
          <p:cNvSpPr/>
          <p:nvPr/>
        </p:nvSpPr>
        <p:spPr>
          <a:xfrm>
            <a:off x="3383280" y="2157984"/>
            <a:ext cx="2560320" cy="347472"/>
          </a:xfrm>
          <a:prstGeom prst="rect">
            <a:avLst/>
          </a:prstGeom>
          <a:noFill/>
        </p:spPr>
        <p:txBody>
          <a:bodyPr wrap="square" rtlCol="0" anchor="ctr"/>
          <a:lstStyle/>
          <a:p>
            <a:pPr marL="0" indent="0">
              <a:buNone/>
            </a:pPr>
            <a:r>
              <a:rPr lang="en-US" sz="950" dirty="0">
                <a:solidFill>
                  <a:srgbClr val="D4EFE0"/>
                </a:solidFill>
              </a:rPr>
              <a:t>UGX 6,000 → NSSF operating revenue (split 60/40 with OwnIt)</a:t>
            </a:r>
            <a:endParaRPr lang="en-US" sz="950" dirty="0"/>
          </a:p>
        </p:txBody>
      </p:sp>
      <p:sp>
        <p:nvSpPr>
          <p:cNvPr id="15" name="Shape 13"/>
          <p:cNvSpPr/>
          <p:nvPr/>
        </p:nvSpPr>
        <p:spPr>
          <a:xfrm>
            <a:off x="6172200" y="1463040"/>
            <a:ext cx="2788920" cy="1115568"/>
          </a:xfrm>
          <a:prstGeom prst="rect">
            <a:avLst/>
          </a:prstGeom>
          <a:solidFill>
            <a:srgbClr val="1A7A45"/>
          </a:solidFill>
          <a:effectLst>
            <a:outerShdw blurRad="101600" dist="38100" dir="8100000" algn="bl" rotWithShape="0">
              <a:srgbClr val="000000">
                <a:alpha val="12000"/>
              </a:srgbClr>
            </a:outerShdw>
          </a:effectLst>
        </p:spPr>
      </p:sp>
      <p:sp>
        <p:nvSpPr>
          <p:cNvPr id="16" name="Shape 14"/>
          <p:cNvSpPr/>
          <p:nvPr/>
        </p:nvSpPr>
        <p:spPr>
          <a:xfrm>
            <a:off x="6309360" y="1591056"/>
            <a:ext cx="502920" cy="502920"/>
          </a:xfrm>
          <a:prstGeom prst="ellipse">
            <a:avLst/>
          </a:prstGeom>
          <a:solidFill>
            <a:srgbClr val="C17F00"/>
          </a:solidFill>
        </p:spPr>
      </p:sp>
      <p:sp>
        <p:nvSpPr>
          <p:cNvPr id="17" name="Text 15"/>
          <p:cNvSpPr/>
          <p:nvPr/>
        </p:nvSpPr>
        <p:spPr>
          <a:xfrm>
            <a:off x="6309360" y="1591056"/>
            <a:ext cx="502920" cy="502920"/>
          </a:xfrm>
          <a:prstGeom prst="rect">
            <a:avLst/>
          </a:prstGeom>
          <a:noFill/>
        </p:spPr>
        <p:txBody>
          <a:bodyPr wrap="square"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6922008" y="1609344"/>
            <a:ext cx="1938528" cy="320040"/>
          </a:xfrm>
          <a:prstGeom prst="rect">
            <a:avLst/>
          </a:prstGeom>
          <a:noFill/>
        </p:spPr>
        <p:txBody>
          <a:bodyPr wrap="square" rtlCol="0" anchor="ctr"/>
          <a:lstStyle/>
          <a:p>
            <a:pPr marL="0" indent="0">
              <a:buNone/>
            </a:pPr>
            <a:r>
              <a:rPr lang="en-US" sz="1050" b="1" dirty="0">
                <a:solidFill>
                  <a:srgbClr val="FFFFFF"/>
                </a:solidFill>
              </a:rPr>
              <a:t>NSSF deducts 2% pension levy</a:t>
            </a:r>
            <a:endParaRPr lang="en-US" sz="1050" dirty="0"/>
          </a:p>
        </p:txBody>
      </p:sp>
      <p:sp>
        <p:nvSpPr>
          <p:cNvPr id="19" name="Text 17"/>
          <p:cNvSpPr/>
          <p:nvPr/>
        </p:nvSpPr>
        <p:spPr>
          <a:xfrm>
            <a:off x="6309360" y="2157984"/>
            <a:ext cx="2560320" cy="347472"/>
          </a:xfrm>
          <a:prstGeom prst="rect">
            <a:avLst/>
          </a:prstGeom>
          <a:noFill/>
        </p:spPr>
        <p:txBody>
          <a:bodyPr wrap="square" rtlCol="0" anchor="ctr"/>
          <a:lstStyle/>
          <a:p>
            <a:pPr marL="0" indent="0">
              <a:buNone/>
            </a:pPr>
            <a:r>
              <a:rPr lang="en-US" sz="950" dirty="0">
                <a:solidFill>
                  <a:srgbClr val="D4EFE0"/>
                </a:solidFill>
              </a:rPr>
              <a:t>UGX 4,000 → invested by NSSF on this member's behalf</a:t>
            </a:r>
            <a:endParaRPr lang="en-US" sz="950" dirty="0"/>
          </a:p>
        </p:txBody>
      </p:sp>
      <p:sp>
        <p:nvSpPr>
          <p:cNvPr id="20" name="Shape 18"/>
          <p:cNvSpPr/>
          <p:nvPr/>
        </p:nvSpPr>
        <p:spPr>
          <a:xfrm>
            <a:off x="320040" y="2697480"/>
            <a:ext cx="2788920" cy="1115568"/>
          </a:xfrm>
          <a:prstGeom prst="rect">
            <a:avLst/>
          </a:prstGeom>
          <a:solidFill>
            <a:srgbClr val="1A7A45"/>
          </a:solidFill>
          <a:effectLst>
            <a:outerShdw blurRad="101600" dist="38100" dir="8100000" algn="bl" rotWithShape="0">
              <a:srgbClr val="000000">
                <a:alpha val="12000"/>
              </a:srgbClr>
            </a:outerShdw>
          </a:effectLst>
        </p:spPr>
      </p:sp>
      <p:sp>
        <p:nvSpPr>
          <p:cNvPr id="21" name="Shape 19"/>
          <p:cNvSpPr/>
          <p:nvPr/>
        </p:nvSpPr>
        <p:spPr>
          <a:xfrm>
            <a:off x="457200" y="2825496"/>
            <a:ext cx="502920" cy="502920"/>
          </a:xfrm>
          <a:prstGeom prst="ellipse">
            <a:avLst/>
          </a:prstGeom>
          <a:solidFill>
            <a:srgbClr val="C17F00"/>
          </a:solidFill>
        </p:spPr>
      </p:sp>
      <p:sp>
        <p:nvSpPr>
          <p:cNvPr id="22" name="Text 20"/>
          <p:cNvSpPr/>
          <p:nvPr/>
        </p:nvSpPr>
        <p:spPr>
          <a:xfrm>
            <a:off x="457200" y="2825496"/>
            <a:ext cx="502920" cy="502920"/>
          </a:xfrm>
          <a:prstGeom prst="rect">
            <a:avLst/>
          </a:prstGeom>
          <a:noFill/>
        </p:spPr>
        <p:txBody>
          <a:bodyPr wrap="square"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1069848" y="2843784"/>
            <a:ext cx="1938528" cy="320040"/>
          </a:xfrm>
          <a:prstGeom prst="rect">
            <a:avLst/>
          </a:prstGeom>
          <a:noFill/>
        </p:spPr>
        <p:txBody>
          <a:bodyPr wrap="square" rtlCol="0" anchor="ctr"/>
          <a:lstStyle/>
          <a:p>
            <a:pPr marL="0" indent="0">
              <a:buNone/>
            </a:pPr>
            <a:r>
              <a:rPr lang="en-US" sz="1050" b="1" dirty="0">
                <a:solidFill>
                  <a:srgbClr val="FFFFFF"/>
                </a:solidFill>
              </a:rPr>
              <a:t>Investor receives UGX 190,000</a:t>
            </a:r>
            <a:endParaRPr lang="en-US" sz="1050" dirty="0"/>
          </a:p>
        </p:txBody>
      </p:sp>
      <p:sp>
        <p:nvSpPr>
          <p:cNvPr id="24" name="Text 22"/>
          <p:cNvSpPr/>
          <p:nvPr/>
        </p:nvSpPr>
        <p:spPr>
          <a:xfrm>
            <a:off x="457200" y="3392424"/>
            <a:ext cx="2560320" cy="347472"/>
          </a:xfrm>
          <a:prstGeom prst="rect">
            <a:avLst/>
          </a:prstGeom>
          <a:noFill/>
        </p:spPr>
        <p:txBody>
          <a:bodyPr wrap="square" rtlCol="0" anchor="ctr"/>
          <a:lstStyle/>
          <a:p>
            <a:pPr marL="0" indent="0">
              <a:buNone/>
            </a:pPr>
            <a:r>
              <a:rPr lang="en-US" sz="950" dirty="0">
                <a:solidFill>
                  <a:srgbClr val="D4EFE0"/>
                </a:solidFill>
              </a:rPr>
              <a:t>Sent to MoMo wallet same day — visible, immediate, real</a:t>
            </a:r>
            <a:endParaRPr lang="en-US" sz="950" dirty="0"/>
          </a:p>
        </p:txBody>
      </p:sp>
      <p:sp>
        <p:nvSpPr>
          <p:cNvPr id="25" name="Shape 23"/>
          <p:cNvSpPr/>
          <p:nvPr/>
        </p:nvSpPr>
        <p:spPr>
          <a:xfrm>
            <a:off x="3246120" y="2697480"/>
            <a:ext cx="2788920" cy="1115568"/>
          </a:xfrm>
          <a:prstGeom prst="rect">
            <a:avLst/>
          </a:prstGeom>
          <a:solidFill>
            <a:srgbClr val="1A7A45"/>
          </a:solidFill>
          <a:effectLst>
            <a:outerShdw blurRad="101600" dist="38100" dir="8100000" algn="bl" rotWithShape="0">
              <a:srgbClr val="000000">
                <a:alpha val="12000"/>
              </a:srgbClr>
            </a:outerShdw>
          </a:effectLst>
        </p:spPr>
      </p:sp>
      <p:sp>
        <p:nvSpPr>
          <p:cNvPr id="26" name="Shape 24"/>
          <p:cNvSpPr/>
          <p:nvPr/>
        </p:nvSpPr>
        <p:spPr>
          <a:xfrm>
            <a:off x="3383280" y="2825496"/>
            <a:ext cx="502920" cy="502920"/>
          </a:xfrm>
          <a:prstGeom prst="ellipse">
            <a:avLst/>
          </a:prstGeom>
          <a:solidFill>
            <a:srgbClr val="C17F00"/>
          </a:solidFill>
        </p:spPr>
      </p:sp>
      <p:sp>
        <p:nvSpPr>
          <p:cNvPr id="27" name="Text 25"/>
          <p:cNvSpPr/>
          <p:nvPr/>
        </p:nvSpPr>
        <p:spPr>
          <a:xfrm>
            <a:off x="3383280" y="2825496"/>
            <a:ext cx="502920" cy="502920"/>
          </a:xfrm>
          <a:prstGeom prst="rect">
            <a:avLst/>
          </a:prstGeom>
          <a:noFill/>
        </p:spPr>
        <p:txBody>
          <a:bodyPr wrap="square"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3995928" y="2843784"/>
            <a:ext cx="1938528" cy="320040"/>
          </a:xfrm>
          <a:prstGeom prst="rect">
            <a:avLst/>
          </a:prstGeom>
          <a:noFill/>
        </p:spPr>
        <p:txBody>
          <a:bodyPr wrap="square" rtlCol="0" anchor="ctr"/>
          <a:lstStyle/>
          <a:p>
            <a:pPr marL="0" indent="0">
              <a:buNone/>
            </a:pPr>
            <a:r>
              <a:rPr lang="en-US" sz="1050" b="1" dirty="0">
                <a:solidFill>
                  <a:srgbClr val="FFFFFF"/>
                </a:solidFill>
              </a:rPr>
              <a:t>NSSF invests the UGX 4,000</a:t>
            </a:r>
            <a:endParaRPr lang="en-US" sz="1050" dirty="0"/>
          </a:p>
        </p:txBody>
      </p:sp>
      <p:sp>
        <p:nvSpPr>
          <p:cNvPr id="29" name="Text 27"/>
          <p:cNvSpPr/>
          <p:nvPr/>
        </p:nvSpPr>
        <p:spPr>
          <a:xfrm>
            <a:off x="3383280" y="3392424"/>
            <a:ext cx="2560320" cy="347472"/>
          </a:xfrm>
          <a:prstGeom prst="rect">
            <a:avLst/>
          </a:prstGeom>
          <a:noFill/>
        </p:spPr>
        <p:txBody>
          <a:bodyPr wrap="square" rtlCol="0" anchor="ctr"/>
          <a:lstStyle/>
          <a:p>
            <a:pPr marL="0" indent="0">
              <a:buNone/>
            </a:pPr>
            <a:r>
              <a:rPr lang="en-US" sz="950" dirty="0">
                <a:solidFill>
                  <a:srgbClr val="D4EFE0"/>
                </a:solidFill>
              </a:rPr>
              <a:t>Added to member's pension pot; grows at NSSF's 12% p.a. historical return</a:t>
            </a:r>
            <a:endParaRPr lang="en-US" sz="950" dirty="0"/>
          </a:p>
        </p:txBody>
      </p:sp>
      <p:sp>
        <p:nvSpPr>
          <p:cNvPr id="30" name="Shape 28"/>
          <p:cNvSpPr/>
          <p:nvPr/>
        </p:nvSpPr>
        <p:spPr>
          <a:xfrm>
            <a:off x="6172200" y="2697480"/>
            <a:ext cx="2788920" cy="1115568"/>
          </a:xfrm>
          <a:prstGeom prst="rect">
            <a:avLst/>
          </a:prstGeom>
          <a:solidFill>
            <a:srgbClr val="1A7A45"/>
          </a:solidFill>
          <a:effectLst>
            <a:outerShdw blurRad="101600" dist="38100" dir="8100000" algn="bl" rotWithShape="0">
              <a:srgbClr val="000000">
                <a:alpha val="12000"/>
              </a:srgbClr>
            </a:outerShdw>
          </a:effectLst>
        </p:spPr>
      </p:sp>
      <p:sp>
        <p:nvSpPr>
          <p:cNvPr id="31" name="Shape 29"/>
          <p:cNvSpPr/>
          <p:nvPr/>
        </p:nvSpPr>
        <p:spPr>
          <a:xfrm>
            <a:off x="6309360" y="2825496"/>
            <a:ext cx="502920" cy="502920"/>
          </a:xfrm>
          <a:prstGeom prst="ellipse">
            <a:avLst/>
          </a:prstGeom>
          <a:solidFill>
            <a:srgbClr val="C17F00"/>
          </a:solidFill>
        </p:spPr>
      </p:sp>
      <p:sp>
        <p:nvSpPr>
          <p:cNvPr id="32" name="Text 30"/>
          <p:cNvSpPr/>
          <p:nvPr/>
        </p:nvSpPr>
        <p:spPr>
          <a:xfrm>
            <a:off x="6309360" y="2825496"/>
            <a:ext cx="502920" cy="502920"/>
          </a:xfrm>
          <a:prstGeom prst="rect">
            <a:avLst/>
          </a:prstGeom>
          <a:noFill/>
        </p:spPr>
        <p:txBody>
          <a:bodyPr wrap="square"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6922008" y="2843784"/>
            <a:ext cx="1938528" cy="320040"/>
          </a:xfrm>
          <a:prstGeom prst="rect">
            <a:avLst/>
          </a:prstGeom>
          <a:noFill/>
        </p:spPr>
        <p:txBody>
          <a:bodyPr wrap="square" rtlCol="0" anchor="ctr"/>
          <a:lstStyle/>
          <a:p>
            <a:pPr marL="0" indent="0">
              <a:buNone/>
            </a:pPr>
            <a:r>
              <a:rPr lang="en-US" sz="1050" b="1" dirty="0">
                <a:solidFill>
                  <a:srgbClr val="FFFFFF"/>
                </a:solidFill>
              </a:rPr>
              <a:t>Member collects at age 55</a:t>
            </a:r>
            <a:endParaRPr lang="en-US" sz="1050" dirty="0"/>
          </a:p>
        </p:txBody>
      </p:sp>
      <p:sp>
        <p:nvSpPr>
          <p:cNvPr id="34" name="Text 32"/>
          <p:cNvSpPr/>
          <p:nvPr/>
        </p:nvSpPr>
        <p:spPr>
          <a:xfrm>
            <a:off x="6309360" y="3392424"/>
            <a:ext cx="2560320" cy="347472"/>
          </a:xfrm>
          <a:prstGeom prst="rect">
            <a:avLst/>
          </a:prstGeom>
          <a:noFill/>
        </p:spPr>
        <p:txBody>
          <a:bodyPr wrap="square" rtlCol="0" anchor="ctr"/>
          <a:lstStyle/>
          <a:p>
            <a:pPr marL="0" indent="0">
              <a:buNone/>
            </a:pPr>
            <a:r>
              <a:rPr lang="en-US" sz="950" dirty="0">
                <a:solidFill>
                  <a:srgbClr val="D4EFE0"/>
                </a:solidFill>
              </a:rPr>
              <a:t>Full accumulated pot + all NSSF investment returns. Tracked live in OwnIt app under 'My NSSF Future Balance'</a:t>
            </a:r>
            <a:endParaRPr lang="en-US" sz="950" dirty="0"/>
          </a:p>
        </p:txBody>
      </p:sp>
      <p:sp>
        <p:nvSpPr>
          <p:cNvPr id="35" name="Shape 33"/>
          <p:cNvSpPr/>
          <p:nvPr/>
        </p:nvSpPr>
        <p:spPr>
          <a:xfrm>
            <a:off x="320040" y="3977640"/>
            <a:ext cx="8503920" cy="256032"/>
          </a:xfrm>
          <a:prstGeom prst="rect">
            <a:avLst/>
          </a:prstGeom>
          <a:solidFill>
            <a:srgbClr val="C17F00"/>
          </a:solidFill>
        </p:spPr>
      </p:sp>
      <p:sp>
        <p:nvSpPr>
          <p:cNvPr id="36" name="Text 34"/>
          <p:cNvSpPr/>
          <p:nvPr/>
        </p:nvSpPr>
        <p:spPr>
          <a:xfrm>
            <a:off x="411480" y="3977640"/>
            <a:ext cx="8321040" cy="256032"/>
          </a:xfrm>
          <a:prstGeom prst="rect">
            <a:avLst/>
          </a:prstGeom>
          <a:noFill/>
        </p:spPr>
        <p:txBody>
          <a:bodyPr wrap="square" rtlCol="0" anchor="ctr"/>
          <a:lstStyle/>
          <a:p>
            <a:pPr marL="0" indent="0">
              <a:buNone/>
            </a:pPr>
            <a:r>
              <a:rPr lang="en-US" sz="1000" b="1" kern="0" spc="200" dirty="0">
                <a:solidFill>
                  <a:srgbClr val="FFFFFF"/>
                </a:solidFill>
              </a:rPr>
              <a:t>WHY THIS IS A BREAKTHROUGH</a:t>
            </a:r>
            <a:endParaRPr lang="en-US" sz="1000" dirty="0"/>
          </a:p>
        </p:txBody>
      </p:sp>
      <p:sp>
        <p:nvSpPr>
          <p:cNvPr id="37" name="Shape 35"/>
          <p:cNvSpPr/>
          <p:nvPr/>
        </p:nvSpPr>
        <p:spPr>
          <a:xfrm>
            <a:off x="320040" y="4297680"/>
            <a:ext cx="4160520" cy="384048"/>
          </a:xfrm>
          <a:prstGeom prst="rect">
            <a:avLst/>
          </a:prstGeom>
          <a:solidFill>
            <a:srgbClr val="0F4D2B"/>
          </a:solidFill>
        </p:spPr>
      </p:sp>
      <p:sp>
        <p:nvSpPr>
          <p:cNvPr id="38" name="Text 36"/>
          <p:cNvSpPr/>
          <p:nvPr/>
        </p:nvSpPr>
        <p:spPr>
          <a:xfrm>
            <a:off x="429768" y="4334256"/>
            <a:ext cx="1463040" cy="310896"/>
          </a:xfrm>
          <a:prstGeom prst="rect">
            <a:avLst/>
          </a:prstGeom>
          <a:noFill/>
        </p:spPr>
        <p:txBody>
          <a:bodyPr wrap="square" rtlCol="0" anchor="ctr"/>
          <a:lstStyle/>
          <a:p>
            <a:pPr marL="0" indent="0">
              <a:buNone/>
            </a:pPr>
            <a:r>
              <a:rPr lang="en-US" sz="1000" b="1" dirty="0">
                <a:solidFill>
                  <a:srgbClr val="C17F00"/>
                </a:solidFill>
              </a:rPr>
              <a:t>🧠  Invisible saving — </a:t>
            </a:r>
            <a:endParaRPr lang="en-US" sz="1000" dirty="0"/>
          </a:p>
        </p:txBody>
      </p:sp>
      <p:sp>
        <p:nvSpPr>
          <p:cNvPr id="39" name="Text 37"/>
          <p:cNvSpPr/>
          <p:nvPr/>
        </p:nvSpPr>
        <p:spPr>
          <a:xfrm>
            <a:off x="1920240" y="4334256"/>
            <a:ext cx="2423160" cy="310896"/>
          </a:xfrm>
          <a:prstGeom prst="rect">
            <a:avLst/>
          </a:prstGeom>
          <a:noFill/>
        </p:spPr>
        <p:txBody>
          <a:bodyPr wrap="square" rtlCol="0" anchor="ctr"/>
          <a:lstStyle/>
          <a:p>
            <a:pPr marL="0" indent="0">
              <a:buNone/>
            </a:pPr>
            <a:r>
              <a:rPr lang="en-US" sz="850" dirty="0">
                <a:solidFill>
                  <a:srgbClr val="D4EFE0"/>
                </a:solidFill>
              </a:rPr>
              <a:t>The member never decides to save for retirement — the levy is deducted before MoMo payout. The 30-year investment horizon mismatch is solved by design, not persuasion.</a:t>
            </a:r>
            <a:endParaRPr lang="en-US" sz="850" dirty="0"/>
          </a:p>
        </p:txBody>
      </p:sp>
      <p:sp>
        <p:nvSpPr>
          <p:cNvPr id="40" name="Shape 38"/>
          <p:cNvSpPr/>
          <p:nvPr/>
        </p:nvSpPr>
        <p:spPr>
          <a:xfrm>
            <a:off x="4599432" y="4297680"/>
            <a:ext cx="4160520" cy="384048"/>
          </a:xfrm>
          <a:prstGeom prst="rect">
            <a:avLst/>
          </a:prstGeom>
          <a:solidFill>
            <a:srgbClr val="0F4D2B"/>
          </a:solidFill>
        </p:spPr>
      </p:sp>
      <p:sp>
        <p:nvSpPr>
          <p:cNvPr id="41" name="Text 39"/>
          <p:cNvSpPr/>
          <p:nvPr/>
        </p:nvSpPr>
        <p:spPr>
          <a:xfrm>
            <a:off x="4709160" y="4334256"/>
            <a:ext cx="1463040" cy="310896"/>
          </a:xfrm>
          <a:prstGeom prst="rect">
            <a:avLst/>
          </a:prstGeom>
          <a:noFill/>
        </p:spPr>
        <p:txBody>
          <a:bodyPr wrap="square" rtlCol="0" anchor="ctr"/>
          <a:lstStyle/>
          <a:p>
            <a:pPr marL="0" indent="0">
              <a:buNone/>
            </a:pPr>
            <a:r>
              <a:rPr lang="en-US" sz="1000" b="1" dirty="0">
                <a:solidFill>
                  <a:srgbClr val="C17F00"/>
                </a:solidFill>
              </a:rPr>
              <a:t>📈  Every payout builds the pot — </a:t>
            </a:r>
            <a:endParaRPr lang="en-US" sz="1000" dirty="0"/>
          </a:p>
        </p:txBody>
      </p:sp>
      <p:sp>
        <p:nvSpPr>
          <p:cNvPr id="42" name="Text 40"/>
          <p:cNvSpPr/>
          <p:nvPr/>
        </p:nvSpPr>
        <p:spPr>
          <a:xfrm>
            <a:off x="6199632" y="4334256"/>
            <a:ext cx="2423160" cy="310896"/>
          </a:xfrm>
          <a:prstGeom prst="rect">
            <a:avLst/>
          </a:prstGeom>
          <a:noFill/>
        </p:spPr>
        <p:txBody>
          <a:bodyPr wrap="square" rtlCol="0" anchor="ctr"/>
          <a:lstStyle/>
          <a:p>
            <a:pPr marL="0" indent="0">
              <a:buNone/>
            </a:pPr>
            <a:r>
              <a:rPr lang="en-US" sz="850" dirty="0">
                <a:solidFill>
                  <a:srgbClr val="D4EFE0"/>
                </a:solidFill>
              </a:rPr>
              <a:t>A member earning 4 payouts/year over 30 years accumulates hundreds of levy contributions — each growing inside NSSF's fund at 12% p.a.</a:t>
            </a:r>
            <a:endParaRPr lang="en-US" sz="850" dirty="0"/>
          </a:p>
        </p:txBody>
      </p:sp>
      <p:sp>
        <p:nvSpPr>
          <p:cNvPr id="43" name="Shape 41"/>
          <p:cNvSpPr/>
          <p:nvPr/>
        </p:nvSpPr>
        <p:spPr>
          <a:xfrm>
            <a:off x="320040" y="4736592"/>
            <a:ext cx="4160520" cy="384048"/>
          </a:xfrm>
          <a:prstGeom prst="rect">
            <a:avLst/>
          </a:prstGeom>
          <a:solidFill>
            <a:srgbClr val="0F4D2B"/>
          </a:solidFill>
        </p:spPr>
      </p:sp>
      <p:sp>
        <p:nvSpPr>
          <p:cNvPr id="44" name="Text 42"/>
          <p:cNvSpPr/>
          <p:nvPr/>
        </p:nvSpPr>
        <p:spPr>
          <a:xfrm>
            <a:off x="429768" y="4773168"/>
            <a:ext cx="1463040" cy="310896"/>
          </a:xfrm>
          <a:prstGeom prst="rect">
            <a:avLst/>
          </a:prstGeom>
          <a:noFill/>
        </p:spPr>
        <p:txBody>
          <a:bodyPr wrap="square" rtlCol="0" anchor="ctr"/>
          <a:lstStyle/>
          <a:p>
            <a:pPr marL="0" indent="0">
              <a:buNone/>
            </a:pPr>
            <a:r>
              <a:rPr lang="en-US" sz="1000" b="1" dirty="0">
                <a:solidFill>
                  <a:srgbClr val="C17F00"/>
                </a:solidFill>
              </a:rPr>
              <a:t>🔗  Aligned incentives — </a:t>
            </a:r>
            <a:endParaRPr lang="en-US" sz="1000" dirty="0"/>
          </a:p>
        </p:txBody>
      </p:sp>
      <p:sp>
        <p:nvSpPr>
          <p:cNvPr id="45" name="Text 43"/>
          <p:cNvSpPr/>
          <p:nvPr/>
        </p:nvSpPr>
        <p:spPr>
          <a:xfrm>
            <a:off x="1920240" y="4773168"/>
            <a:ext cx="2423160" cy="310896"/>
          </a:xfrm>
          <a:prstGeom prst="rect">
            <a:avLst/>
          </a:prstGeom>
          <a:noFill/>
        </p:spPr>
        <p:txBody>
          <a:bodyPr wrap="square" rtlCol="0" anchor="ctr"/>
          <a:lstStyle/>
          <a:p>
            <a:pPr marL="0" indent="0">
              <a:buNone/>
            </a:pPr>
            <a:r>
              <a:rPr lang="en-US" sz="850" dirty="0">
                <a:solidFill>
                  <a:srgbClr val="D4EFE0"/>
                </a:solidFill>
              </a:rPr>
              <a:t>The more frequently a member invests on OwnIt and the higher their returns, the larger their pension pot. Near-term reward and long-term security are mathematically aligned.</a:t>
            </a:r>
            <a:endParaRPr lang="en-US" sz="850" dirty="0"/>
          </a:p>
        </p:txBody>
      </p:sp>
      <p:sp>
        <p:nvSpPr>
          <p:cNvPr id="46" name="Shape 44"/>
          <p:cNvSpPr/>
          <p:nvPr/>
        </p:nvSpPr>
        <p:spPr>
          <a:xfrm>
            <a:off x="4599432" y="4736592"/>
            <a:ext cx="4160520" cy="384048"/>
          </a:xfrm>
          <a:prstGeom prst="rect">
            <a:avLst/>
          </a:prstGeom>
          <a:solidFill>
            <a:srgbClr val="0F4D2B"/>
          </a:solidFill>
        </p:spPr>
      </p:sp>
      <p:sp>
        <p:nvSpPr>
          <p:cNvPr id="47" name="Text 45"/>
          <p:cNvSpPr/>
          <p:nvPr/>
        </p:nvSpPr>
        <p:spPr>
          <a:xfrm>
            <a:off x="4709160" y="4773168"/>
            <a:ext cx="1463040" cy="310896"/>
          </a:xfrm>
          <a:prstGeom prst="rect">
            <a:avLst/>
          </a:prstGeom>
          <a:noFill/>
        </p:spPr>
        <p:txBody>
          <a:bodyPr wrap="square" rtlCol="0" anchor="ctr"/>
          <a:lstStyle/>
          <a:p>
            <a:pPr marL="0" indent="0">
              <a:buNone/>
            </a:pPr>
            <a:r>
              <a:rPr lang="en-US" sz="1000" b="1" dirty="0">
                <a:solidFill>
                  <a:srgbClr val="C17F00"/>
                </a:solidFill>
              </a:rPr>
              <a:t>⚖️  Regulatory elegance — </a:t>
            </a:r>
            <a:endParaRPr lang="en-US" sz="1000" dirty="0"/>
          </a:p>
        </p:txBody>
      </p:sp>
      <p:sp>
        <p:nvSpPr>
          <p:cNvPr id="48" name="Text 46"/>
          <p:cNvSpPr/>
          <p:nvPr/>
        </p:nvSpPr>
        <p:spPr>
          <a:xfrm>
            <a:off x="6199632" y="4773168"/>
            <a:ext cx="2423160" cy="310896"/>
          </a:xfrm>
          <a:prstGeom prst="rect">
            <a:avLst/>
          </a:prstGeom>
          <a:noFill/>
        </p:spPr>
        <p:txBody>
          <a:bodyPr wrap="square" rtlCol="0" anchor="ctr"/>
          <a:lstStyle/>
          <a:p>
            <a:pPr marL="0" indent="0">
              <a:buNone/>
            </a:pPr>
            <a:r>
              <a:rPr lang="en-US" sz="850" dirty="0">
                <a:solidFill>
                  <a:srgbClr val="D4EFE0"/>
                </a:solidFill>
              </a:rPr>
              <a:t>OwnIt participants become genuine pension contributors — strengthening the case for URBRA recognition of OwnIt-sourced contributions as qualifying pension inputs.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PENSION POT PROJECTIONS — MEMBER SCENARIOS</a:t>
            </a:r>
            <a:endParaRPr lang="en-US" sz="1100" dirty="0"/>
          </a:p>
        </p:txBody>
      </p:sp>
      <p:sp>
        <p:nvSpPr>
          <p:cNvPr id="4" name="Text 2"/>
          <p:cNvSpPr/>
          <p:nvPr/>
        </p:nvSpPr>
        <p:spPr>
          <a:xfrm>
            <a:off x="457200" y="749808"/>
            <a:ext cx="8229600" cy="566928"/>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How much pension do investors build — without ever making a separate contribution?</a:t>
            </a:r>
            <a:endParaRPr lang="en-US" sz="2200" dirty="0"/>
          </a:p>
        </p:txBody>
      </p:sp>
      <p:sp>
        <p:nvSpPr>
          <p:cNvPr id="5" name="Text 3"/>
          <p:cNvSpPr/>
          <p:nvPr/>
        </p:nvSpPr>
        <p:spPr>
          <a:xfrm>
            <a:off x="457200" y="1417320"/>
            <a:ext cx="8229600" cy="292608"/>
          </a:xfrm>
          <a:prstGeom prst="rect">
            <a:avLst/>
          </a:prstGeom>
          <a:noFill/>
        </p:spPr>
        <p:txBody>
          <a:bodyPr wrap="square" rtlCol="0" anchor="ctr"/>
          <a:lstStyle/>
          <a:p>
            <a:pPr marL="0" indent="0">
              <a:buNone/>
            </a:pPr>
            <a:r>
              <a:rPr lang="en-US" sz="1100" b="1" dirty="0">
                <a:solidFill>
                  <a:srgbClr val="0F4D2B"/>
                </a:solidFill>
              </a:rPr>
              <a:t>5 Investor Scenarios — 30-Year Horizon at NSSF's Historical 12% p.a. Return</a:t>
            </a:r>
            <a:endParaRPr lang="en-US" sz="1100" dirty="0"/>
          </a:p>
        </p:txBody>
      </p:sp>
      <p:sp>
        <p:nvSpPr>
          <p:cNvPr id="6" name="Shape 4"/>
          <p:cNvSpPr/>
          <p:nvPr/>
        </p:nvSpPr>
        <p:spPr>
          <a:xfrm>
            <a:off x="347472" y="1773936"/>
            <a:ext cx="1810512" cy="384048"/>
          </a:xfrm>
          <a:prstGeom prst="rect">
            <a:avLst/>
          </a:prstGeom>
          <a:solidFill>
            <a:srgbClr val="0F4D2B"/>
          </a:solidFill>
        </p:spPr>
      </p:sp>
      <p:sp>
        <p:nvSpPr>
          <p:cNvPr id="7" name="Text 5"/>
          <p:cNvSpPr/>
          <p:nvPr/>
        </p:nvSpPr>
        <p:spPr>
          <a:xfrm>
            <a:off x="402336" y="1773936"/>
            <a:ext cx="1755648" cy="384048"/>
          </a:xfrm>
          <a:prstGeom prst="rect">
            <a:avLst/>
          </a:prstGeom>
          <a:noFill/>
        </p:spPr>
        <p:txBody>
          <a:bodyPr wrap="square" rtlCol="0" anchor="ctr"/>
          <a:lstStyle/>
          <a:p>
            <a:pPr marL="0" indent="0">
              <a:buNone/>
            </a:pPr>
            <a:r>
              <a:rPr lang="en-US" sz="1000" b="1" dirty="0">
                <a:solidFill>
                  <a:srgbClr val="FFFFFF"/>
                </a:solidFill>
              </a:rPr>
              <a:t>Investor Type</a:t>
            </a:r>
            <a:endParaRPr lang="en-US" sz="1000" dirty="0"/>
          </a:p>
        </p:txBody>
      </p:sp>
      <p:sp>
        <p:nvSpPr>
          <p:cNvPr id="8" name="Shape 6"/>
          <p:cNvSpPr/>
          <p:nvPr/>
        </p:nvSpPr>
        <p:spPr>
          <a:xfrm>
            <a:off x="2212848" y="1773936"/>
            <a:ext cx="1645920" cy="384048"/>
          </a:xfrm>
          <a:prstGeom prst="rect">
            <a:avLst/>
          </a:prstGeom>
          <a:solidFill>
            <a:srgbClr val="0F4D2B"/>
          </a:solidFill>
        </p:spPr>
      </p:sp>
      <p:sp>
        <p:nvSpPr>
          <p:cNvPr id="9" name="Text 7"/>
          <p:cNvSpPr/>
          <p:nvPr/>
        </p:nvSpPr>
        <p:spPr>
          <a:xfrm>
            <a:off x="2267712" y="1773936"/>
            <a:ext cx="1591056" cy="384048"/>
          </a:xfrm>
          <a:prstGeom prst="rect">
            <a:avLst/>
          </a:prstGeom>
          <a:noFill/>
        </p:spPr>
        <p:txBody>
          <a:bodyPr wrap="square" rtlCol="0" anchor="ctr"/>
          <a:lstStyle/>
          <a:p>
            <a:pPr marL="0" indent="0">
              <a:buNone/>
            </a:pPr>
            <a:r>
              <a:rPr lang="en-US" sz="1000" b="1" dirty="0">
                <a:solidFill>
                  <a:srgbClr val="FFFFFF"/>
                </a:solidFill>
              </a:rPr>
              <a:t>Portfolio Size</a:t>
            </a:r>
            <a:endParaRPr lang="en-US" sz="1000" dirty="0"/>
          </a:p>
        </p:txBody>
      </p:sp>
      <p:sp>
        <p:nvSpPr>
          <p:cNvPr id="10" name="Shape 8"/>
          <p:cNvSpPr/>
          <p:nvPr/>
        </p:nvSpPr>
        <p:spPr>
          <a:xfrm>
            <a:off x="3913632" y="1773936"/>
            <a:ext cx="1691640" cy="384048"/>
          </a:xfrm>
          <a:prstGeom prst="rect">
            <a:avLst/>
          </a:prstGeom>
          <a:solidFill>
            <a:srgbClr val="0F4D2B"/>
          </a:solidFill>
        </p:spPr>
      </p:sp>
      <p:sp>
        <p:nvSpPr>
          <p:cNvPr id="11" name="Text 9"/>
          <p:cNvSpPr/>
          <p:nvPr/>
        </p:nvSpPr>
        <p:spPr>
          <a:xfrm>
            <a:off x="3968496" y="1773936"/>
            <a:ext cx="1636776" cy="384048"/>
          </a:xfrm>
          <a:prstGeom prst="rect">
            <a:avLst/>
          </a:prstGeom>
          <a:noFill/>
        </p:spPr>
        <p:txBody>
          <a:bodyPr wrap="square" rtlCol="0" anchor="ctr"/>
          <a:lstStyle/>
          <a:p>
            <a:pPr marL="0" indent="0">
              <a:buNone/>
            </a:pPr>
            <a:r>
              <a:rPr lang="en-US" sz="1000" b="1" dirty="0">
                <a:solidFill>
                  <a:srgbClr val="FFFFFF"/>
                </a:solidFill>
              </a:rPr>
              <a:t>Annual OwnIt Returns</a:t>
            </a:r>
            <a:endParaRPr lang="en-US" sz="1000" dirty="0"/>
          </a:p>
        </p:txBody>
      </p:sp>
      <p:sp>
        <p:nvSpPr>
          <p:cNvPr id="12" name="Shape 10"/>
          <p:cNvSpPr/>
          <p:nvPr/>
        </p:nvSpPr>
        <p:spPr>
          <a:xfrm>
            <a:off x="5650992" y="1773936"/>
            <a:ext cx="1600200" cy="384048"/>
          </a:xfrm>
          <a:prstGeom prst="rect">
            <a:avLst/>
          </a:prstGeom>
          <a:solidFill>
            <a:srgbClr val="0F4D2B"/>
          </a:solidFill>
        </p:spPr>
      </p:sp>
      <p:sp>
        <p:nvSpPr>
          <p:cNvPr id="13" name="Text 11"/>
          <p:cNvSpPr/>
          <p:nvPr/>
        </p:nvSpPr>
        <p:spPr>
          <a:xfrm>
            <a:off x="5705856" y="1773936"/>
            <a:ext cx="1545336" cy="384048"/>
          </a:xfrm>
          <a:prstGeom prst="rect">
            <a:avLst/>
          </a:prstGeom>
          <a:noFill/>
        </p:spPr>
        <p:txBody>
          <a:bodyPr wrap="square" rtlCol="0" anchor="ctr"/>
          <a:lstStyle/>
          <a:p>
            <a:pPr marL="0" indent="0">
              <a:buNone/>
            </a:pPr>
            <a:r>
              <a:rPr lang="en-US" sz="1000" b="1" dirty="0">
                <a:solidFill>
                  <a:srgbClr val="FFFFFF"/>
                </a:solidFill>
              </a:rPr>
              <a:t>Annual 2% Levy</a:t>
            </a:r>
            <a:endParaRPr lang="en-US" sz="1000" dirty="0"/>
          </a:p>
        </p:txBody>
      </p:sp>
      <p:sp>
        <p:nvSpPr>
          <p:cNvPr id="14" name="Shape 12"/>
          <p:cNvSpPr/>
          <p:nvPr/>
        </p:nvSpPr>
        <p:spPr>
          <a:xfrm>
            <a:off x="7296912" y="1773936"/>
            <a:ext cx="1444752" cy="384048"/>
          </a:xfrm>
          <a:prstGeom prst="rect">
            <a:avLst/>
          </a:prstGeom>
          <a:solidFill>
            <a:srgbClr val="0F4D2B"/>
          </a:solidFill>
        </p:spPr>
      </p:sp>
      <p:sp>
        <p:nvSpPr>
          <p:cNvPr id="15" name="Text 13"/>
          <p:cNvSpPr/>
          <p:nvPr/>
        </p:nvSpPr>
        <p:spPr>
          <a:xfrm>
            <a:off x="7351776" y="1773936"/>
            <a:ext cx="1389888" cy="384048"/>
          </a:xfrm>
          <a:prstGeom prst="rect">
            <a:avLst/>
          </a:prstGeom>
          <a:noFill/>
        </p:spPr>
        <p:txBody>
          <a:bodyPr wrap="square" rtlCol="0" anchor="ctr"/>
          <a:lstStyle/>
          <a:p>
            <a:pPr marL="0" indent="0">
              <a:buNone/>
            </a:pPr>
            <a:r>
              <a:rPr lang="en-US" sz="1000" b="1" dirty="0">
                <a:solidFill>
                  <a:srgbClr val="FFFFFF"/>
                </a:solidFill>
              </a:rPr>
              <a:t>NSSF Pot at 55</a:t>
            </a:r>
            <a:endParaRPr lang="en-US" sz="1000" dirty="0"/>
          </a:p>
        </p:txBody>
      </p:sp>
      <p:sp>
        <p:nvSpPr>
          <p:cNvPr id="16" name="Shape 14"/>
          <p:cNvSpPr/>
          <p:nvPr/>
        </p:nvSpPr>
        <p:spPr>
          <a:xfrm>
            <a:off x="347472" y="2194560"/>
            <a:ext cx="8394192" cy="438912"/>
          </a:xfrm>
          <a:prstGeom prst="rect">
            <a:avLst/>
          </a:prstGeom>
          <a:solidFill>
            <a:srgbClr val="F4F9F5"/>
          </a:solidFill>
        </p:spPr>
      </p:sp>
      <p:sp>
        <p:nvSpPr>
          <p:cNvPr id="17" name="Text 15"/>
          <p:cNvSpPr/>
          <p:nvPr/>
        </p:nvSpPr>
        <p:spPr>
          <a:xfrm>
            <a:off x="402336" y="2267712"/>
            <a:ext cx="1755648" cy="292608"/>
          </a:xfrm>
          <a:prstGeom prst="rect">
            <a:avLst/>
          </a:prstGeom>
          <a:noFill/>
        </p:spPr>
        <p:txBody>
          <a:bodyPr wrap="square" rtlCol="0" anchor="ctr"/>
          <a:lstStyle/>
          <a:p>
            <a:pPr marL="0" indent="0">
              <a:buNone/>
            </a:pPr>
            <a:r>
              <a:rPr lang="en-US" sz="1050" dirty="0">
                <a:solidFill>
                  <a:srgbClr val="0D1F15"/>
                </a:solidFill>
              </a:rPr>
              <a:t>🌱  Conservative</a:t>
            </a:r>
            <a:endParaRPr lang="en-US" sz="1050" dirty="0"/>
          </a:p>
        </p:txBody>
      </p:sp>
      <p:sp>
        <p:nvSpPr>
          <p:cNvPr id="18" name="Text 16"/>
          <p:cNvSpPr/>
          <p:nvPr/>
        </p:nvSpPr>
        <p:spPr>
          <a:xfrm>
            <a:off x="2267712" y="2267712"/>
            <a:ext cx="1591056" cy="292608"/>
          </a:xfrm>
          <a:prstGeom prst="rect">
            <a:avLst/>
          </a:prstGeom>
          <a:noFill/>
        </p:spPr>
        <p:txBody>
          <a:bodyPr wrap="square" rtlCol="0" anchor="ctr"/>
          <a:lstStyle/>
          <a:p>
            <a:pPr marL="0" indent="0">
              <a:buNone/>
            </a:pPr>
            <a:r>
              <a:rPr lang="en-US" sz="1100" dirty="0">
                <a:solidFill>
                  <a:srgbClr val="0D1F15"/>
                </a:solidFill>
              </a:rPr>
              <a:t>UGX 500K</a:t>
            </a:r>
            <a:endParaRPr lang="en-US" sz="1100" dirty="0"/>
          </a:p>
        </p:txBody>
      </p:sp>
      <p:sp>
        <p:nvSpPr>
          <p:cNvPr id="19" name="Text 17"/>
          <p:cNvSpPr/>
          <p:nvPr/>
        </p:nvSpPr>
        <p:spPr>
          <a:xfrm>
            <a:off x="3968496" y="2267712"/>
            <a:ext cx="1636776" cy="292608"/>
          </a:xfrm>
          <a:prstGeom prst="rect">
            <a:avLst/>
          </a:prstGeom>
          <a:noFill/>
        </p:spPr>
        <p:txBody>
          <a:bodyPr wrap="square" rtlCol="0" anchor="ctr"/>
          <a:lstStyle/>
          <a:p>
            <a:pPr marL="0" indent="0">
              <a:buNone/>
            </a:pPr>
            <a:r>
              <a:rPr lang="en-US" sz="1100" dirty="0">
                <a:solidFill>
                  <a:srgbClr val="0D1F15"/>
                </a:solidFill>
              </a:rPr>
              <a:t>UGX 100,000</a:t>
            </a:r>
            <a:endParaRPr lang="en-US" sz="1100" dirty="0"/>
          </a:p>
        </p:txBody>
      </p:sp>
      <p:sp>
        <p:nvSpPr>
          <p:cNvPr id="20" name="Text 18"/>
          <p:cNvSpPr/>
          <p:nvPr/>
        </p:nvSpPr>
        <p:spPr>
          <a:xfrm>
            <a:off x="5705856" y="2267712"/>
            <a:ext cx="1545336" cy="292608"/>
          </a:xfrm>
          <a:prstGeom prst="rect">
            <a:avLst/>
          </a:prstGeom>
          <a:noFill/>
        </p:spPr>
        <p:txBody>
          <a:bodyPr wrap="square" rtlCol="0" anchor="ctr"/>
          <a:lstStyle/>
          <a:p>
            <a:pPr marL="0" indent="0">
              <a:buNone/>
            </a:pPr>
            <a:r>
              <a:rPr lang="en-US" sz="1100" dirty="0">
                <a:solidFill>
                  <a:srgbClr val="0D1F15"/>
                </a:solidFill>
              </a:rPr>
              <a:t>UGX 2,000 / yr</a:t>
            </a:r>
            <a:endParaRPr lang="en-US" sz="1100" dirty="0"/>
          </a:p>
        </p:txBody>
      </p:sp>
      <p:sp>
        <p:nvSpPr>
          <p:cNvPr id="21" name="Text 19"/>
          <p:cNvSpPr/>
          <p:nvPr/>
        </p:nvSpPr>
        <p:spPr>
          <a:xfrm>
            <a:off x="7351776" y="2267712"/>
            <a:ext cx="1389888" cy="292608"/>
          </a:xfrm>
          <a:prstGeom prst="rect">
            <a:avLst/>
          </a:prstGeom>
          <a:noFill/>
        </p:spPr>
        <p:txBody>
          <a:bodyPr wrap="square" rtlCol="0" anchor="ctr"/>
          <a:lstStyle/>
          <a:p>
            <a:pPr marL="0" indent="0">
              <a:buNone/>
            </a:pPr>
            <a:r>
              <a:rPr lang="en-US" sz="1100" b="1" dirty="0">
                <a:solidFill>
                  <a:srgbClr val="1A7A45"/>
                </a:solidFill>
              </a:rPr>
              <a:t>UGX 180,000</a:t>
            </a:r>
            <a:endParaRPr lang="en-US" sz="1100" dirty="0"/>
          </a:p>
        </p:txBody>
      </p:sp>
      <p:sp>
        <p:nvSpPr>
          <p:cNvPr id="22" name="Shape 20"/>
          <p:cNvSpPr/>
          <p:nvPr/>
        </p:nvSpPr>
        <p:spPr>
          <a:xfrm>
            <a:off x="347472" y="2670048"/>
            <a:ext cx="8394192" cy="438912"/>
          </a:xfrm>
          <a:prstGeom prst="rect">
            <a:avLst/>
          </a:prstGeom>
          <a:solidFill>
            <a:srgbClr val="FFFFFF"/>
          </a:solidFill>
        </p:spPr>
      </p:sp>
      <p:sp>
        <p:nvSpPr>
          <p:cNvPr id="23" name="Text 21"/>
          <p:cNvSpPr/>
          <p:nvPr/>
        </p:nvSpPr>
        <p:spPr>
          <a:xfrm>
            <a:off x="402336" y="2743200"/>
            <a:ext cx="1755648" cy="292608"/>
          </a:xfrm>
          <a:prstGeom prst="rect">
            <a:avLst/>
          </a:prstGeom>
          <a:noFill/>
        </p:spPr>
        <p:txBody>
          <a:bodyPr wrap="square" rtlCol="0" anchor="ctr"/>
          <a:lstStyle/>
          <a:p>
            <a:pPr marL="0" indent="0">
              <a:buNone/>
            </a:pPr>
            <a:r>
              <a:rPr lang="en-US" sz="1050" dirty="0">
                <a:solidFill>
                  <a:srgbClr val="0D1F15"/>
                </a:solidFill>
              </a:rPr>
              <a:t>📊  Moderate</a:t>
            </a:r>
            <a:endParaRPr lang="en-US" sz="1050" dirty="0"/>
          </a:p>
        </p:txBody>
      </p:sp>
      <p:sp>
        <p:nvSpPr>
          <p:cNvPr id="24" name="Text 22"/>
          <p:cNvSpPr/>
          <p:nvPr/>
        </p:nvSpPr>
        <p:spPr>
          <a:xfrm>
            <a:off x="2267712" y="2743200"/>
            <a:ext cx="1591056" cy="292608"/>
          </a:xfrm>
          <a:prstGeom prst="rect">
            <a:avLst/>
          </a:prstGeom>
          <a:noFill/>
        </p:spPr>
        <p:txBody>
          <a:bodyPr wrap="square" rtlCol="0" anchor="ctr"/>
          <a:lstStyle/>
          <a:p>
            <a:pPr marL="0" indent="0">
              <a:buNone/>
            </a:pPr>
            <a:r>
              <a:rPr lang="en-US" sz="1100" dirty="0">
                <a:solidFill>
                  <a:srgbClr val="0D1F15"/>
                </a:solidFill>
              </a:rPr>
              <a:t>UGX 2M</a:t>
            </a:r>
            <a:endParaRPr lang="en-US" sz="1100" dirty="0"/>
          </a:p>
        </p:txBody>
      </p:sp>
      <p:sp>
        <p:nvSpPr>
          <p:cNvPr id="25" name="Text 23"/>
          <p:cNvSpPr/>
          <p:nvPr/>
        </p:nvSpPr>
        <p:spPr>
          <a:xfrm>
            <a:off x="3968496" y="2743200"/>
            <a:ext cx="1636776" cy="292608"/>
          </a:xfrm>
          <a:prstGeom prst="rect">
            <a:avLst/>
          </a:prstGeom>
          <a:noFill/>
        </p:spPr>
        <p:txBody>
          <a:bodyPr wrap="square" rtlCol="0" anchor="ctr"/>
          <a:lstStyle/>
          <a:p>
            <a:pPr marL="0" indent="0">
              <a:buNone/>
            </a:pPr>
            <a:r>
              <a:rPr lang="en-US" sz="1100" dirty="0">
                <a:solidFill>
                  <a:srgbClr val="0D1F15"/>
                </a:solidFill>
              </a:rPr>
              <a:t>UGX 400,000</a:t>
            </a:r>
            <a:endParaRPr lang="en-US" sz="1100" dirty="0"/>
          </a:p>
        </p:txBody>
      </p:sp>
      <p:sp>
        <p:nvSpPr>
          <p:cNvPr id="26" name="Text 24"/>
          <p:cNvSpPr/>
          <p:nvPr/>
        </p:nvSpPr>
        <p:spPr>
          <a:xfrm>
            <a:off x="5705856" y="2743200"/>
            <a:ext cx="1545336" cy="292608"/>
          </a:xfrm>
          <a:prstGeom prst="rect">
            <a:avLst/>
          </a:prstGeom>
          <a:noFill/>
        </p:spPr>
        <p:txBody>
          <a:bodyPr wrap="square" rtlCol="0" anchor="ctr"/>
          <a:lstStyle/>
          <a:p>
            <a:pPr marL="0" indent="0">
              <a:buNone/>
            </a:pPr>
            <a:r>
              <a:rPr lang="en-US" sz="1100" dirty="0">
                <a:solidFill>
                  <a:srgbClr val="0D1F15"/>
                </a:solidFill>
              </a:rPr>
              <a:t>UGX 8,000 / yr</a:t>
            </a:r>
            <a:endParaRPr lang="en-US" sz="1100" dirty="0"/>
          </a:p>
        </p:txBody>
      </p:sp>
      <p:sp>
        <p:nvSpPr>
          <p:cNvPr id="27" name="Text 25"/>
          <p:cNvSpPr/>
          <p:nvPr/>
        </p:nvSpPr>
        <p:spPr>
          <a:xfrm>
            <a:off x="7351776" y="2743200"/>
            <a:ext cx="1389888" cy="292608"/>
          </a:xfrm>
          <a:prstGeom prst="rect">
            <a:avLst/>
          </a:prstGeom>
          <a:noFill/>
        </p:spPr>
        <p:txBody>
          <a:bodyPr wrap="square" rtlCol="0" anchor="ctr"/>
          <a:lstStyle/>
          <a:p>
            <a:pPr marL="0" indent="0">
              <a:buNone/>
            </a:pPr>
            <a:r>
              <a:rPr lang="en-US" sz="1100" b="1" dirty="0">
                <a:solidFill>
                  <a:srgbClr val="1A7A45"/>
                </a:solidFill>
              </a:rPr>
              <a:t>UGX 720,000</a:t>
            </a:r>
            <a:endParaRPr lang="en-US" sz="1100" dirty="0"/>
          </a:p>
        </p:txBody>
      </p:sp>
      <p:sp>
        <p:nvSpPr>
          <p:cNvPr id="28" name="Shape 26"/>
          <p:cNvSpPr/>
          <p:nvPr/>
        </p:nvSpPr>
        <p:spPr>
          <a:xfrm>
            <a:off x="347472" y="3145536"/>
            <a:ext cx="8394192" cy="438912"/>
          </a:xfrm>
          <a:prstGeom prst="rect">
            <a:avLst/>
          </a:prstGeom>
          <a:solidFill>
            <a:srgbClr val="F4F9F5"/>
          </a:solidFill>
        </p:spPr>
      </p:sp>
      <p:sp>
        <p:nvSpPr>
          <p:cNvPr id="29" name="Text 27"/>
          <p:cNvSpPr/>
          <p:nvPr/>
        </p:nvSpPr>
        <p:spPr>
          <a:xfrm>
            <a:off x="402336" y="3218688"/>
            <a:ext cx="1755648" cy="292608"/>
          </a:xfrm>
          <a:prstGeom prst="rect">
            <a:avLst/>
          </a:prstGeom>
          <a:noFill/>
        </p:spPr>
        <p:txBody>
          <a:bodyPr wrap="square" rtlCol="0" anchor="ctr"/>
          <a:lstStyle/>
          <a:p>
            <a:pPr marL="0" indent="0">
              <a:buNone/>
            </a:pPr>
            <a:r>
              <a:rPr lang="en-US" sz="1050" dirty="0">
                <a:solidFill>
                  <a:srgbClr val="0D1F15"/>
                </a:solidFill>
              </a:rPr>
              <a:t>🚀  Active</a:t>
            </a:r>
            <a:endParaRPr lang="en-US" sz="1050" dirty="0"/>
          </a:p>
        </p:txBody>
      </p:sp>
      <p:sp>
        <p:nvSpPr>
          <p:cNvPr id="30" name="Text 28"/>
          <p:cNvSpPr/>
          <p:nvPr/>
        </p:nvSpPr>
        <p:spPr>
          <a:xfrm>
            <a:off x="2267712" y="3218688"/>
            <a:ext cx="1591056" cy="292608"/>
          </a:xfrm>
          <a:prstGeom prst="rect">
            <a:avLst/>
          </a:prstGeom>
          <a:noFill/>
        </p:spPr>
        <p:txBody>
          <a:bodyPr wrap="square" rtlCol="0" anchor="ctr"/>
          <a:lstStyle/>
          <a:p>
            <a:pPr marL="0" indent="0">
              <a:buNone/>
            </a:pPr>
            <a:r>
              <a:rPr lang="en-US" sz="1100" dirty="0">
                <a:solidFill>
                  <a:srgbClr val="0D1F15"/>
                </a:solidFill>
              </a:rPr>
              <a:t>UGX 10M</a:t>
            </a:r>
            <a:endParaRPr lang="en-US" sz="1100" dirty="0"/>
          </a:p>
        </p:txBody>
      </p:sp>
      <p:sp>
        <p:nvSpPr>
          <p:cNvPr id="31" name="Text 29"/>
          <p:cNvSpPr/>
          <p:nvPr/>
        </p:nvSpPr>
        <p:spPr>
          <a:xfrm>
            <a:off x="3968496" y="3218688"/>
            <a:ext cx="1636776" cy="292608"/>
          </a:xfrm>
          <a:prstGeom prst="rect">
            <a:avLst/>
          </a:prstGeom>
          <a:noFill/>
        </p:spPr>
        <p:txBody>
          <a:bodyPr wrap="square" rtlCol="0" anchor="ctr"/>
          <a:lstStyle/>
          <a:p>
            <a:pPr marL="0" indent="0">
              <a:buNone/>
            </a:pPr>
            <a:r>
              <a:rPr lang="en-US" sz="1100" dirty="0">
                <a:solidFill>
                  <a:srgbClr val="0D1F15"/>
                </a:solidFill>
              </a:rPr>
              <a:t>UGX 2,000,000</a:t>
            </a:r>
            <a:endParaRPr lang="en-US" sz="1100" dirty="0"/>
          </a:p>
        </p:txBody>
      </p:sp>
      <p:sp>
        <p:nvSpPr>
          <p:cNvPr id="32" name="Text 30"/>
          <p:cNvSpPr/>
          <p:nvPr/>
        </p:nvSpPr>
        <p:spPr>
          <a:xfrm>
            <a:off x="5705856" y="3218688"/>
            <a:ext cx="1545336" cy="292608"/>
          </a:xfrm>
          <a:prstGeom prst="rect">
            <a:avLst/>
          </a:prstGeom>
          <a:noFill/>
        </p:spPr>
        <p:txBody>
          <a:bodyPr wrap="square" rtlCol="0" anchor="ctr"/>
          <a:lstStyle/>
          <a:p>
            <a:pPr marL="0" indent="0">
              <a:buNone/>
            </a:pPr>
            <a:r>
              <a:rPr lang="en-US" sz="1100" dirty="0">
                <a:solidFill>
                  <a:srgbClr val="0D1F15"/>
                </a:solidFill>
              </a:rPr>
              <a:t>UGX 40,000 / yr</a:t>
            </a:r>
            <a:endParaRPr lang="en-US" sz="1100" dirty="0"/>
          </a:p>
        </p:txBody>
      </p:sp>
      <p:sp>
        <p:nvSpPr>
          <p:cNvPr id="33" name="Text 31"/>
          <p:cNvSpPr/>
          <p:nvPr/>
        </p:nvSpPr>
        <p:spPr>
          <a:xfrm>
            <a:off x="7351776" y="3218688"/>
            <a:ext cx="1389888" cy="292608"/>
          </a:xfrm>
          <a:prstGeom prst="rect">
            <a:avLst/>
          </a:prstGeom>
          <a:noFill/>
        </p:spPr>
        <p:txBody>
          <a:bodyPr wrap="square" rtlCol="0" anchor="ctr"/>
          <a:lstStyle/>
          <a:p>
            <a:pPr marL="0" indent="0">
              <a:buNone/>
            </a:pPr>
            <a:r>
              <a:rPr lang="en-US" sz="1100" b="1" dirty="0">
                <a:solidFill>
                  <a:srgbClr val="1A7A45"/>
                </a:solidFill>
              </a:rPr>
              <a:t>UGX 3,600,000</a:t>
            </a:r>
            <a:endParaRPr lang="en-US" sz="1100" dirty="0"/>
          </a:p>
        </p:txBody>
      </p:sp>
      <p:sp>
        <p:nvSpPr>
          <p:cNvPr id="34" name="Shape 32"/>
          <p:cNvSpPr/>
          <p:nvPr/>
        </p:nvSpPr>
        <p:spPr>
          <a:xfrm>
            <a:off x="347472" y="3621024"/>
            <a:ext cx="8394192" cy="438912"/>
          </a:xfrm>
          <a:prstGeom prst="rect">
            <a:avLst/>
          </a:prstGeom>
          <a:solidFill>
            <a:srgbClr val="FFFFFF"/>
          </a:solidFill>
        </p:spPr>
      </p:sp>
      <p:sp>
        <p:nvSpPr>
          <p:cNvPr id="35" name="Text 33"/>
          <p:cNvSpPr/>
          <p:nvPr/>
        </p:nvSpPr>
        <p:spPr>
          <a:xfrm>
            <a:off x="402336" y="3694176"/>
            <a:ext cx="1755648" cy="292608"/>
          </a:xfrm>
          <a:prstGeom prst="rect">
            <a:avLst/>
          </a:prstGeom>
          <a:noFill/>
        </p:spPr>
        <p:txBody>
          <a:bodyPr wrap="square" rtlCol="0" anchor="ctr"/>
          <a:lstStyle/>
          <a:p>
            <a:pPr marL="0" indent="0">
              <a:buNone/>
            </a:pPr>
            <a:r>
              <a:rPr lang="en-US" sz="1050" dirty="0">
                <a:solidFill>
                  <a:srgbClr val="0D1F15"/>
                </a:solidFill>
              </a:rPr>
              <a:t>💼  Power</a:t>
            </a:r>
            <a:endParaRPr lang="en-US" sz="1050" dirty="0"/>
          </a:p>
        </p:txBody>
      </p:sp>
      <p:sp>
        <p:nvSpPr>
          <p:cNvPr id="36" name="Text 34"/>
          <p:cNvSpPr/>
          <p:nvPr/>
        </p:nvSpPr>
        <p:spPr>
          <a:xfrm>
            <a:off x="2267712" y="3694176"/>
            <a:ext cx="1591056" cy="292608"/>
          </a:xfrm>
          <a:prstGeom prst="rect">
            <a:avLst/>
          </a:prstGeom>
          <a:noFill/>
        </p:spPr>
        <p:txBody>
          <a:bodyPr wrap="square" rtlCol="0" anchor="ctr"/>
          <a:lstStyle/>
          <a:p>
            <a:pPr marL="0" indent="0">
              <a:buNone/>
            </a:pPr>
            <a:r>
              <a:rPr lang="en-US" sz="1100" dirty="0">
                <a:solidFill>
                  <a:srgbClr val="0D1F15"/>
                </a:solidFill>
              </a:rPr>
              <a:t>UGX 50M</a:t>
            </a:r>
            <a:endParaRPr lang="en-US" sz="1100" dirty="0"/>
          </a:p>
        </p:txBody>
      </p:sp>
      <p:sp>
        <p:nvSpPr>
          <p:cNvPr id="37" name="Text 35"/>
          <p:cNvSpPr/>
          <p:nvPr/>
        </p:nvSpPr>
        <p:spPr>
          <a:xfrm>
            <a:off x="3968496" y="3694176"/>
            <a:ext cx="1636776" cy="292608"/>
          </a:xfrm>
          <a:prstGeom prst="rect">
            <a:avLst/>
          </a:prstGeom>
          <a:noFill/>
        </p:spPr>
        <p:txBody>
          <a:bodyPr wrap="square" rtlCol="0" anchor="ctr"/>
          <a:lstStyle/>
          <a:p>
            <a:pPr marL="0" indent="0">
              <a:buNone/>
            </a:pPr>
            <a:r>
              <a:rPr lang="en-US" sz="1100" dirty="0">
                <a:solidFill>
                  <a:srgbClr val="0D1F15"/>
                </a:solidFill>
              </a:rPr>
              <a:t>UGX 10,000,000</a:t>
            </a:r>
            <a:endParaRPr lang="en-US" sz="1100" dirty="0"/>
          </a:p>
        </p:txBody>
      </p:sp>
      <p:sp>
        <p:nvSpPr>
          <p:cNvPr id="38" name="Text 36"/>
          <p:cNvSpPr/>
          <p:nvPr/>
        </p:nvSpPr>
        <p:spPr>
          <a:xfrm>
            <a:off x="5705856" y="3694176"/>
            <a:ext cx="1545336" cy="292608"/>
          </a:xfrm>
          <a:prstGeom prst="rect">
            <a:avLst/>
          </a:prstGeom>
          <a:noFill/>
        </p:spPr>
        <p:txBody>
          <a:bodyPr wrap="square" rtlCol="0" anchor="ctr"/>
          <a:lstStyle/>
          <a:p>
            <a:pPr marL="0" indent="0">
              <a:buNone/>
            </a:pPr>
            <a:r>
              <a:rPr lang="en-US" sz="1100" dirty="0">
                <a:solidFill>
                  <a:srgbClr val="0D1F15"/>
                </a:solidFill>
              </a:rPr>
              <a:t>UGX 200,000 / yr</a:t>
            </a:r>
            <a:endParaRPr lang="en-US" sz="1100" dirty="0"/>
          </a:p>
        </p:txBody>
      </p:sp>
      <p:sp>
        <p:nvSpPr>
          <p:cNvPr id="39" name="Text 37"/>
          <p:cNvSpPr/>
          <p:nvPr/>
        </p:nvSpPr>
        <p:spPr>
          <a:xfrm>
            <a:off x="7351776" y="3694176"/>
            <a:ext cx="1389888" cy="292608"/>
          </a:xfrm>
          <a:prstGeom prst="rect">
            <a:avLst/>
          </a:prstGeom>
          <a:noFill/>
        </p:spPr>
        <p:txBody>
          <a:bodyPr wrap="square" rtlCol="0" anchor="ctr"/>
          <a:lstStyle/>
          <a:p>
            <a:pPr marL="0" indent="0">
              <a:buNone/>
            </a:pPr>
            <a:r>
              <a:rPr lang="en-US" sz="1100" b="1" dirty="0">
                <a:solidFill>
                  <a:srgbClr val="1A7A45"/>
                </a:solidFill>
              </a:rPr>
              <a:t>UGX 18,000,000</a:t>
            </a:r>
            <a:endParaRPr lang="en-US" sz="1100" dirty="0"/>
          </a:p>
        </p:txBody>
      </p:sp>
      <p:sp>
        <p:nvSpPr>
          <p:cNvPr id="40" name="Shape 38"/>
          <p:cNvSpPr/>
          <p:nvPr/>
        </p:nvSpPr>
        <p:spPr>
          <a:xfrm>
            <a:off x="347472" y="4096512"/>
            <a:ext cx="8394192" cy="438912"/>
          </a:xfrm>
          <a:prstGeom prst="rect">
            <a:avLst/>
          </a:prstGeom>
          <a:solidFill>
            <a:srgbClr val="D4EFE0"/>
          </a:solidFill>
          <a:effectLst>
            <a:outerShdw blurRad="101600" dist="38100" dir="8100000" algn="bl" rotWithShape="0">
              <a:srgbClr val="000000">
                <a:alpha val="12000"/>
              </a:srgbClr>
            </a:outerShdw>
          </a:effectLst>
        </p:spPr>
      </p:sp>
      <p:sp>
        <p:nvSpPr>
          <p:cNvPr id="41" name="Text 39"/>
          <p:cNvSpPr/>
          <p:nvPr/>
        </p:nvSpPr>
        <p:spPr>
          <a:xfrm>
            <a:off x="402336" y="4169664"/>
            <a:ext cx="1755648" cy="292608"/>
          </a:xfrm>
          <a:prstGeom prst="rect">
            <a:avLst/>
          </a:prstGeom>
          <a:noFill/>
        </p:spPr>
        <p:txBody>
          <a:bodyPr wrap="square" rtlCol="0" anchor="ctr"/>
          <a:lstStyle/>
          <a:p>
            <a:pPr marL="0" indent="0">
              <a:buNone/>
            </a:pPr>
            <a:r>
              <a:rPr lang="en-US" sz="1050" b="1" dirty="0">
                <a:solidFill>
                  <a:srgbClr val="0F4D2B"/>
                </a:solidFill>
              </a:rPr>
              <a:t>📈  Platform Avg</a:t>
            </a:r>
            <a:endParaRPr lang="en-US" sz="1050" dirty="0"/>
          </a:p>
        </p:txBody>
      </p:sp>
      <p:sp>
        <p:nvSpPr>
          <p:cNvPr id="42" name="Text 40"/>
          <p:cNvSpPr/>
          <p:nvPr/>
        </p:nvSpPr>
        <p:spPr>
          <a:xfrm>
            <a:off x="2267712" y="4169664"/>
            <a:ext cx="1591056" cy="292608"/>
          </a:xfrm>
          <a:prstGeom prst="rect">
            <a:avLst/>
          </a:prstGeom>
          <a:noFill/>
        </p:spPr>
        <p:txBody>
          <a:bodyPr wrap="square" rtlCol="0" anchor="ctr"/>
          <a:lstStyle/>
          <a:p>
            <a:pPr marL="0" indent="0">
              <a:buNone/>
            </a:pPr>
            <a:r>
              <a:rPr lang="en-US" sz="1100" b="1" dirty="0">
                <a:solidFill>
                  <a:srgbClr val="0F4D2B"/>
                </a:solidFill>
              </a:rPr>
              <a:t>UGX 5M</a:t>
            </a:r>
            <a:endParaRPr lang="en-US" sz="1100" dirty="0"/>
          </a:p>
        </p:txBody>
      </p:sp>
      <p:sp>
        <p:nvSpPr>
          <p:cNvPr id="43" name="Text 41"/>
          <p:cNvSpPr/>
          <p:nvPr/>
        </p:nvSpPr>
        <p:spPr>
          <a:xfrm>
            <a:off x="3968496" y="4169664"/>
            <a:ext cx="1636776" cy="292608"/>
          </a:xfrm>
          <a:prstGeom prst="rect">
            <a:avLst/>
          </a:prstGeom>
          <a:noFill/>
        </p:spPr>
        <p:txBody>
          <a:bodyPr wrap="square" rtlCol="0" anchor="ctr"/>
          <a:lstStyle/>
          <a:p>
            <a:pPr marL="0" indent="0">
              <a:buNone/>
            </a:pPr>
            <a:r>
              <a:rPr lang="en-US" sz="1100" b="1" dirty="0">
                <a:solidFill>
                  <a:srgbClr val="0F4D2B"/>
                </a:solidFill>
              </a:rPr>
              <a:t>UGX 1,000,000</a:t>
            </a:r>
            <a:endParaRPr lang="en-US" sz="1100" dirty="0"/>
          </a:p>
        </p:txBody>
      </p:sp>
      <p:sp>
        <p:nvSpPr>
          <p:cNvPr id="44" name="Text 42"/>
          <p:cNvSpPr/>
          <p:nvPr/>
        </p:nvSpPr>
        <p:spPr>
          <a:xfrm>
            <a:off x="5705856" y="4169664"/>
            <a:ext cx="1545336" cy="292608"/>
          </a:xfrm>
          <a:prstGeom prst="rect">
            <a:avLst/>
          </a:prstGeom>
          <a:noFill/>
        </p:spPr>
        <p:txBody>
          <a:bodyPr wrap="square" rtlCol="0" anchor="ctr"/>
          <a:lstStyle/>
          <a:p>
            <a:pPr marL="0" indent="0">
              <a:buNone/>
            </a:pPr>
            <a:r>
              <a:rPr lang="en-US" sz="1100" b="1" dirty="0">
                <a:solidFill>
                  <a:srgbClr val="0F4D2B"/>
                </a:solidFill>
              </a:rPr>
              <a:t>UGX 20,000 / yr</a:t>
            </a:r>
            <a:endParaRPr lang="en-US" sz="1100" dirty="0"/>
          </a:p>
        </p:txBody>
      </p:sp>
      <p:sp>
        <p:nvSpPr>
          <p:cNvPr id="45" name="Text 43"/>
          <p:cNvSpPr/>
          <p:nvPr/>
        </p:nvSpPr>
        <p:spPr>
          <a:xfrm>
            <a:off x="7351776" y="4169664"/>
            <a:ext cx="1389888" cy="292608"/>
          </a:xfrm>
          <a:prstGeom prst="rect">
            <a:avLst/>
          </a:prstGeom>
          <a:noFill/>
        </p:spPr>
        <p:txBody>
          <a:bodyPr wrap="square" rtlCol="0" anchor="ctr"/>
          <a:lstStyle/>
          <a:p>
            <a:pPr marL="0" indent="0">
              <a:buNone/>
            </a:pPr>
            <a:r>
              <a:rPr lang="en-US" sz="1100" b="1" dirty="0">
                <a:solidFill>
                  <a:srgbClr val="1A7A45"/>
                </a:solidFill>
              </a:rPr>
              <a:t>UGX 1,800,000</a:t>
            </a:r>
            <a:endParaRPr lang="en-US" sz="1100" dirty="0"/>
          </a:p>
        </p:txBody>
      </p:sp>
      <p:sp>
        <p:nvSpPr>
          <p:cNvPr id="46" name="Text 44"/>
          <p:cNvSpPr/>
          <p:nvPr/>
        </p:nvSpPr>
        <p:spPr>
          <a:xfrm>
            <a:off x="347472" y="4663440"/>
            <a:ext cx="8394192" cy="256032"/>
          </a:xfrm>
          <a:prstGeom prst="rect">
            <a:avLst/>
          </a:prstGeom>
          <a:noFill/>
        </p:spPr>
        <p:txBody>
          <a:bodyPr wrap="square" rtlCol="0" anchor="ctr"/>
          <a:lstStyle/>
          <a:p>
            <a:pPr marL="0" indent="0">
              <a:buNone/>
            </a:pPr>
            <a:r>
              <a:rPr lang="en-US" sz="850" i="1" dirty="0">
                <a:solidFill>
                  <a:srgbClr val="5A7A68"/>
                </a:solidFill>
              </a:rPr>
              <a:t>* 30-year investment horizon. NSSF historical average return: 12% p.a. on invested contributions. Pension levy deducted per payout cycle — member never makes a separate contribution decision. Illustrative only.</a:t>
            </a:r>
            <a:endParaRPr lang="en-US" sz="850" dirty="0"/>
          </a:p>
        </p:txBody>
      </p:sp>
      <p:sp>
        <p:nvSpPr>
          <p:cNvPr id="47" name="Shape 45"/>
          <p:cNvSpPr/>
          <p:nvPr/>
        </p:nvSpPr>
        <p:spPr>
          <a:xfrm>
            <a:off x="347472" y="4956048"/>
            <a:ext cx="8394192" cy="438912"/>
          </a:xfrm>
          <a:prstGeom prst="rect">
            <a:avLst/>
          </a:prstGeom>
          <a:solidFill>
            <a:srgbClr val="0F4D2B"/>
          </a:solidFill>
          <a:effectLst>
            <a:outerShdw blurRad="101600" dist="38100" dir="8100000" algn="bl" rotWithShape="0">
              <a:srgbClr val="000000">
                <a:alpha val="12000"/>
              </a:srgbClr>
            </a:outerShdw>
          </a:effectLst>
        </p:spPr>
      </p:sp>
      <p:sp>
        <p:nvSpPr>
          <p:cNvPr id="48" name="Text 46"/>
          <p:cNvSpPr/>
          <p:nvPr/>
        </p:nvSpPr>
        <p:spPr>
          <a:xfrm>
            <a:off x="457200" y="4956048"/>
            <a:ext cx="8229600" cy="438912"/>
          </a:xfrm>
          <a:prstGeom prst="rect">
            <a:avLst/>
          </a:prstGeom>
          <a:noFill/>
        </p:spPr>
        <p:txBody>
          <a:bodyPr wrap="square" rtlCol="0" anchor="ctr"/>
          <a:lstStyle/>
          <a:p>
            <a:pPr marL="0" indent="0">
              <a:buNone/>
            </a:pPr>
            <a:r>
              <a:rPr lang="en-US" sz="1050" dirty="0">
                <a:solidFill>
                  <a:srgbClr val="D4EFE0"/>
                </a:solidFill>
              </a:rPr>
              <a:t>Total 2% Pension Levy — Platform Projection:  </a:t>
            </a:r>
            <a:r>
              <a:rPr lang="en-US" sz="1050" b="1" dirty="0">
                <a:solidFill>
                  <a:srgbClr val="C17F00"/>
                </a:solidFill>
              </a:rPr>
              <a:t>Yr1: UGX 18M  →  Yr2: UGX 108M  →  Yr3: UGX 360M  →  Yr5: UGX 1.2B+  </a:t>
            </a:r>
            <a:r>
              <a:rPr lang="en-US" sz="1050" dirty="0">
                <a:solidFill>
                  <a:srgbClr val="D4EFE0"/>
                </a:solidFill>
              </a:rPr>
              <a:t>|  Cumulative 5-yr: UGX 1.8B+ new NSSF AUM</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NSSF'S FOUR STRATEGIC ROLES IN THE PARTNERSHIP</a:t>
            </a:r>
            <a:endParaRPr lang="en-US" sz="1100" dirty="0"/>
          </a:p>
        </p:txBody>
      </p:sp>
      <p:sp>
        <p:nvSpPr>
          <p:cNvPr id="4" name="Text 2"/>
          <p:cNvSpPr/>
          <p:nvPr/>
        </p:nvSpPr>
        <p:spPr>
          <a:xfrm>
            <a:off x="457200" y="749808"/>
            <a:ext cx="8229600" cy="530352"/>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NSSF's involvement is active, value-creating, and self-reinforcing — not passive.</a:t>
            </a:r>
            <a:endParaRPr lang="en-US" sz="2200" dirty="0"/>
          </a:p>
        </p:txBody>
      </p:sp>
      <p:sp>
        <p:nvSpPr>
          <p:cNvPr id="5" name="Shape 3"/>
          <p:cNvSpPr/>
          <p:nvPr/>
        </p:nvSpPr>
        <p:spPr>
          <a:xfrm>
            <a:off x="320040" y="1417320"/>
            <a:ext cx="4160520" cy="1755648"/>
          </a:xfrm>
          <a:prstGeom prst="rect">
            <a:avLst/>
          </a:prstGeom>
          <a:solidFill>
            <a:srgbClr val="FFFFFF"/>
          </a:solidFill>
          <a:effectLst>
            <a:outerShdw blurRad="101600" dist="38100" dir="8100000" algn="bl" rotWithShape="0">
              <a:srgbClr val="000000">
                <a:alpha val="12000"/>
              </a:srgbClr>
            </a:outerShdw>
          </a:effectLst>
        </p:spPr>
      </p:sp>
      <p:sp>
        <p:nvSpPr>
          <p:cNvPr id="6" name="Shape 4"/>
          <p:cNvSpPr/>
          <p:nvPr/>
        </p:nvSpPr>
        <p:spPr>
          <a:xfrm>
            <a:off x="320040" y="1417320"/>
            <a:ext cx="4160520" cy="73152"/>
          </a:xfrm>
          <a:prstGeom prst="rect">
            <a:avLst/>
          </a:prstGeom>
          <a:solidFill>
            <a:srgbClr val="1A7A45"/>
          </a:solidFill>
        </p:spPr>
      </p:sp>
      <p:sp>
        <p:nvSpPr>
          <p:cNvPr id="7" name="Shape 5"/>
          <p:cNvSpPr/>
          <p:nvPr/>
        </p:nvSpPr>
        <p:spPr>
          <a:xfrm>
            <a:off x="457200" y="1581912"/>
            <a:ext cx="594360" cy="594360"/>
          </a:xfrm>
          <a:prstGeom prst="ellipse">
            <a:avLst/>
          </a:prstGeom>
          <a:solidFill>
            <a:srgbClr val="1A7A45"/>
          </a:solidFill>
        </p:spPr>
      </p:sp>
      <p:sp>
        <p:nvSpPr>
          <p:cNvPr id="8" name="Text 6"/>
          <p:cNvSpPr/>
          <p:nvPr/>
        </p:nvSpPr>
        <p:spPr>
          <a:xfrm>
            <a:off x="457200" y="1581912"/>
            <a:ext cx="594360" cy="594360"/>
          </a:xfrm>
          <a:prstGeom prst="rect">
            <a:avLst/>
          </a:prstGeom>
          <a:noFill/>
        </p:spPr>
        <p:txBody>
          <a:bodyPr wrap="square" rtlCol="0" anchor="ctr"/>
          <a:lstStyle/>
          <a:p>
            <a:pPr marL="0" indent="0" algn="ctr">
              <a:buNone/>
            </a:pPr>
            <a:r>
              <a:rPr lang="en-US" sz="1200" b="1" dirty="0">
                <a:solidFill>
                  <a:srgbClr val="FFFFFF"/>
                </a:solidFill>
              </a:rPr>
              <a:t>01</a:t>
            </a:r>
            <a:endParaRPr lang="en-US" sz="1200" dirty="0"/>
          </a:p>
        </p:txBody>
      </p:sp>
      <p:sp>
        <p:nvSpPr>
          <p:cNvPr id="9" name="Text 7"/>
          <p:cNvSpPr/>
          <p:nvPr/>
        </p:nvSpPr>
        <p:spPr>
          <a:xfrm>
            <a:off x="1161288" y="1618488"/>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10" name="Text 8"/>
          <p:cNvSpPr/>
          <p:nvPr/>
        </p:nvSpPr>
        <p:spPr>
          <a:xfrm>
            <a:off x="1709928" y="1581912"/>
            <a:ext cx="2633472" cy="411480"/>
          </a:xfrm>
          <a:prstGeom prst="rect">
            <a:avLst/>
          </a:prstGeom>
          <a:noFill/>
        </p:spPr>
        <p:txBody>
          <a:bodyPr wrap="square" rtlCol="0" anchor="ctr"/>
          <a:lstStyle/>
          <a:p>
            <a:pPr marL="0" indent="0">
              <a:buNone/>
            </a:pPr>
            <a:r>
              <a:rPr lang="en-US" sz="1200" b="1" dirty="0">
                <a:solidFill>
                  <a:srgbClr val="1A7A45"/>
                </a:solidFill>
              </a:rPr>
              <a:t>Institutional Trust Anchor</a:t>
            </a:r>
            <a:endParaRPr lang="en-US" sz="1200" dirty="0"/>
          </a:p>
        </p:txBody>
      </p:sp>
      <p:sp>
        <p:nvSpPr>
          <p:cNvPr id="11" name="Text 9"/>
          <p:cNvSpPr/>
          <p:nvPr/>
        </p:nvSpPr>
        <p:spPr>
          <a:xfrm>
            <a:off x="457200" y="2258568"/>
            <a:ext cx="3913632" cy="621792"/>
          </a:xfrm>
          <a:prstGeom prst="rect">
            <a:avLst/>
          </a:prstGeom>
          <a:noFill/>
        </p:spPr>
        <p:txBody>
          <a:bodyPr wrap="square" rtlCol="0" anchor="ctr"/>
          <a:lstStyle/>
          <a:p>
            <a:pPr marL="0" indent="0">
              <a:buNone/>
            </a:pPr>
            <a:r>
              <a:rPr lang="en-US" sz="900" dirty="0">
                <a:solidFill>
                  <a:srgbClr val="5A7A68"/>
                </a:solidFill>
              </a:rPr>
              <a:t>Uganda's informal investment sector has been scarred by collapsed pyramid schemes and failed saving groups. NSSF's co-branding provides the single most powerful trust signal available in the Ugandan financial market. For a first-time investor in Gulu or Mbale, the NSSF badge on OwnIt turns a new digital platform into a trusted institution.</a:t>
            </a:r>
            <a:endParaRPr lang="en-US" sz="900" dirty="0"/>
          </a:p>
        </p:txBody>
      </p:sp>
      <p:sp>
        <p:nvSpPr>
          <p:cNvPr id="12" name="Shape 10"/>
          <p:cNvSpPr/>
          <p:nvPr/>
        </p:nvSpPr>
        <p:spPr>
          <a:xfrm>
            <a:off x="457200" y="2907792"/>
            <a:ext cx="3913632" cy="201168"/>
          </a:xfrm>
          <a:prstGeom prst="rect">
            <a:avLst/>
          </a:prstGeom>
          <a:solidFill>
            <a:srgbClr val="D4EFE0"/>
          </a:solidFill>
        </p:spPr>
      </p:sp>
      <p:sp>
        <p:nvSpPr>
          <p:cNvPr id="13" name="Text 11"/>
          <p:cNvSpPr/>
          <p:nvPr/>
        </p:nvSpPr>
        <p:spPr>
          <a:xfrm>
            <a:off x="521208" y="2907792"/>
            <a:ext cx="3794760" cy="201168"/>
          </a:xfrm>
          <a:prstGeom prst="rect">
            <a:avLst/>
          </a:prstGeom>
          <a:noFill/>
        </p:spPr>
        <p:txBody>
          <a:bodyPr wrap="square" rtlCol="0" anchor="ctr"/>
          <a:lstStyle/>
          <a:p>
            <a:pPr marL="0" indent="0">
              <a:buNone/>
            </a:pPr>
            <a:r>
              <a:rPr lang="en-US" sz="850" b="1" dirty="0">
                <a:solidFill>
                  <a:srgbClr val="0F4D2B"/>
                </a:solidFill>
              </a:rPr>
              <a:t>→  Trust converts directly into user acquisition — and user acquisition converts into NSSF membership.</a:t>
            </a:r>
            <a:endParaRPr lang="en-US" sz="850" dirty="0"/>
          </a:p>
        </p:txBody>
      </p:sp>
      <p:sp>
        <p:nvSpPr>
          <p:cNvPr id="14" name="Shape 12"/>
          <p:cNvSpPr/>
          <p:nvPr/>
        </p:nvSpPr>
        <p:spPr>
          <a:xfrm>
            <a:off x="4690872" y="1417320"/>
            <a:ext cx="4160520" cy="1755648"/>
          </a:xfrm>
          <a:prstGeom prst="rect">
            <a:avLst/>
          </a:prstGeom>
          <a:solidFill>
            <a:srgbClr val="FFFFFF"/>
          </a:solidFill>
          <a:effectLst>
            <a:outerShdw blurRad="101600" dist="38100" dir="8100000" algn="bl" rotWithShape="0">
              <a:srgbClr val="000000">
                <a:alpha val="12000"/>
              </a:srgbClr>
            </a:outerShdw>
          </a:effectLst>
        </p:spPr>
      </p:sp>
      <p:sp>
        <p:nvSpPr>
          <p:cNvPr id="15" name="Shape 13"/>
          <p:cNvSpPr/>
          <p:nvPr/>
        </p:nvSpPr>
        <p:spPr>
          <a:xfrm>
            <a:off x="4690872" y="1417320"/>
            <a:ext cx="4160520" cy="73152"/>
          </a:xfrm>
          <a:prstGeom prst="rect">
            <a:avLst/>
          </a:prstGeom>
          <a:solidFill>
            <a:srgbClr val="028090"/>
          </a:solidFill>
        </p:spPr>
      </p:sp>
      <p:sp>
        <p:nvSpPr>
          <p:cNvPr id="16" name="Shape 14"/>
          <p:cNvSpPr/>
          <p:nvPr/>
        </p:nvSpPr>
        <p:spPr>
          <a:xfrm>
            <a:off x="4828032" y="1581912"/>
            <a:ext cx="594360" cy="594360"/>
          </a:xfrm>
          <a:prstGeom prst="ellipse">
            <a:avLst/>
          </a:prstGeom>
          <a:solidFill>
            <a:srgbClr val="028090"/>
          </a:solidFill>
        </p:spPr>
      </p:sp>
      <p:sp>
        <p:nvSpPr>
          <p:cNvPr id="17" name="Text 15"/>
          <p:cNvSpPr/>
          <p:nvPr/>
        </p:nvSpPr>
        <p:spPr>
          <a:xfrm>
            <a:off x="4828032" y="1581912"/>
            <a:ext cx="594360" cy="594360"/>
          </a:xfrm>
          <a:prstGeom prst="rect">
            <a:avLst/>
          </a:prstGeom>
          <a:noFill/>
        </p:spPr>
        <p:txBody>
          <a:bodyPr wrap="square" rtlCol="0" anchor="ctr"/>
          <a:lstStyle/>
          <a:p>
            <a:pPr marL="0" indent="0" algn="ctr">
              <a:buNone/>
            </a:pPr>
            <a:r>
              <a:rPr lang="en-US" sz="1200" b="1" dirty="0">
                <a:solidFill>
                  <a:srgbClr val="FFFFFF"/>
                </a:solidFill>
              </a:rPr>
              <a:t>02</a:t>
            </a:r>
            <a:endParaRPr lang="en-US" sz="1200" dirty="0"/>
          </a:p>
        </p:txBody>
      </p:sp>
      <p:sp>
        <p:nvSpPr>
          <p:cNvPr id="18" name="Text 16"/>
          <p:cNvSpPr/>
          <p:nvPr/>
        </p:nvSpPr>
        <p:spPr>
          <a:xfrm>
            <a:off x="5532120" y="1618488"/>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19" name="Text 17"/>
          <p:cNvSpPr/>
          <p:nvPr/>
        </p:nvSpPr>
        <p:spPr>
          <a:xfrm>
            <a:off x="6080760" y="1581912"/>
            <a:ext cx="2633472" cy="411480"/>
          </a:xfrm>
          <a:prstGeom prst="rect">
            <a:avLst/>
          </a:prstGeom>
          <a:noFill/>
        </p:spPr>
        <p:txBody>
          <a:bodyPr wrap="square" rtlCol="0" anchor="ctr"/>
          <a:lstStyle/>
          <a:p>
            <a:pPr marL="0" indent="0">
              <a:buNone/>
            </a:pPr>
            <a:r>
              <a:rPr lang="en-US" sz="1200" b="1" dirty="0">
                <a:solidFill>
                  <a:srgbClr val="028090"/>
                </a:solidFill>
              </a:rPr>
              <a:t>Regulatory Accelerator</a:t>
            </a:r>
            <a:endParaRPr lang="en-US" sz="1200" dirty="0"/>
          </a:p>
        </p:txBody>
      </p:sp>
      <p:sp>
        <p:nvSpPr>
          <p:cNvPr id="20" name="Text 18"/>
          <p:cNvSpPr/>
          <p:nvPr/>
        </p:nvSpPr>
        <p:spPr>
          <a:xfrm>
            <a:off x="4828032" y="2258568"/>
            <a:ext cx="3913632" cy="621792"/>
          </a:xfrm>
          <a:prstGeom prst="rect">
            <a:avLst/>
          </a:prstGeom>
          <a:noFill/>
        </p:spPr>
        <p:txBody>
          <a:bodyPr wrap="square" rtlCol="0" anchor="ctr"/>
          <a:lstStyle/>
          <a:p>
            <a:pPr marL="0" indent="0">
              <a:buNone/>
            </a:pPr>
            <a:r>
              <a:rPr lang="en-US" sz="900" dirty="0">
                <a:solidFill>
                  <a:srgbClr val="5A7A68"/>
                </a:solidFill>
              </a:rPr>
              <a:t>OwnIt's multi-asset model touches six regulatory jurisdictions: CMA, URBRA, BoU, PAU, DGSM, URA. NSSF's established relationships with each institution and its demonstrated track record of regulatory compliance provides OwnIt with a credibility pathway that would take years to build independently.</a:t>
            </a:r>
            <a:endParaRPr lang="en-US" sz="900" dirty="0"/>
          </a:p>
        </p:txBody>
      </p:sp>
      <p:sp>
        <p:nvSpPr>
          <p:cNvPr id="21" name="Shape 19"/>
          <p:cNvSpPr/>
          <p:nvPr/>
        </p:nvSpPr>
        <p:spPr>
          <a:xfrm>
            <a:off x="4828032" y="2907792"/>
            <a:ext cx="3913632" cy="201168"/>
          </a:xfrm>
          <a:prstGeom prst="rect">
            <a:avLst/>
          </a:prstGeom>
          <a:solidFill>
            <a:srgbClr val="D4EFE0"/>
          </a:solidFill>
        </p:spPr>
      </p:sp>
      <p:sp>
        <p:nvSpPr>
          <p:cNvPr id="22" name="Text 20"/>
          <p:cNvSpPr/>
          <p:nvPr/>
        </p:nvSpPr>
        <p:spPr>
          <a:xfrm>
            <a:off x="4892040" y="2907792"/>
            <a:ext cx="3794760" cy="201168"/>
          </a:xfrm>
          <a:prstGeom prst="rect">
            <a:avLst/>
          </a:prstGeom>
          <a:noFill/>
        </p:spPr>
        <p:txBody>
          <a:bodyPr wrap="square" rtlCol="0" anchor="ctr"/>
          <a:lstStyle/>
          <a:p>
            <a:pPr marL="0" indent="0">
              <a:buNone/>
            </a:pPr>
            <a:r>
              <a:rPr lang="en-US" sz="850" b="1" dirty="0">
                <a:solidFill>
                  <a:srgbClr val="0F4D2B"/>
                </a:solidFill>
              </a:rPr>
              <a:t>→  NSSF co-sponsorship of regulatory submissions significantly reduces time-to-market across all 9 asset classes.</a:t>
            </a:r>
            <a:endParaRPr lang="en-US" sz="850" dirty="0"/>
          </a:p>
        </p:txBody>
      </p:sp>
      <p:sp>
        <p:nvSpPr>
          <p:cNvPr id="23" name="Shape 21"/>
          <p:cNvSpPr/>
          <p:nvPr/>
        </p:nvSpPr>
        <p:spPr>
          <a:xfrm>
            <a:off x="320040" y="3337560"/>
            <a:ext cx="4160520" cy="1755648"/>
          </a:xfrm>
          <a:prstGeom prst="rect">
            <a:avLst/>
          </a:prstGeom>
          <a:solidFill>
            <a:srgbClr val="FFFFFF"/>
          </a:solidFill>
          <a:effectLst>
            <a:outerShdw blurRad="101600" dist="38100" dir="8100000" algn="bl" rotWithShape="0">
              <a:srgbClr val="000000">
                <a:alpha val="12000"/>
              </a:srgbClr>
            </a:outerShdw>
          </a:effectLst>
        </p:spPr>
      </p:sp>
      <p:sp>
        <p:nvSpPr>
          <p:cNvPr id="24" name="Shape 22"/>
          <p:cNvSpPr/>
          <p:nvPr/>
        </p:nvSpPr>
        <p:spPr>
          <a:xfrm>
            <a:off x="320040" y="3337560"/>
            <a:ext cx="4160520" cy="73152"/>
          </a:xfrm>
          <a:prstGeom prst="rect">
            <a:avLst/>
          </a:prstGeom>
          <a:solidFill>
            <a:srgbClr val="C17F00"/>
          </a:solidFill>
        </p:spPr>
      </p:sp>
      <p:sp>
        <p:nvSpPr>
          <p:cNvPr id="25" name="Shape 23"/>
          <p:cNvSpPr/>
          <p:nvPr/>
        </p:nvSpPr>
        <p:spPr>
          <a:xfrm>
            <a:off x="457200" y="3502152"/>
            <a:ext cx="594360" cy="594360"/>
          </a:xfrm>
          <a:prstGeom prst="ellipse">
            <a:avLst/>
          </a:prstGeom>
          <a:solidFill>
            <a:srgbClr val="C17F00"/>
          </a:solidFill>
        </p:spPr>
      </p:sp>
      <p:sp>
        <p:nvSpPr>
          <p:cNvPr id="26" name="Text 24"/>
          <p:cNvSpPr/>
          <p:nvPr/>
        </p:nvSpPr>
        <p:spPr>
          <a:xfrm>
            <a:off x="457200" y="3502152"/>
            <a:ext cx="594360" cy="594360"/>
          </a:xfrm>
          <a:prstGeom prst="rect">
            <a:avLst/>
          </a:prstGeom>
          <a:noFill/>
        </p:spPr>
        <p:txBody>
          <a:bodyPr wrap="square" rtlCol="0" anchor="ctr"/>
          <a:lstStyle/>
          <a:p>
            <a:pPr marL="0" indent="0" algn="ctr">
              <a:buNone/>
            </a:pPr>
            <a:r>
              <a:rPr lang="en-US" sz="1200" b="1" dirty="0">
                <a:solidFill>
                  <a:srgbClr val="FFFFFF"/>
                </a:solidFill>
              </a:rPr>
              <a:t>03</a:t>
            </a:r>
            <a:endParaRPr lang="en-US" sz="1200" dirty="0"/>
          </a:p>
        </p:txBody>
      </p:sp>
      <p:sp>
        <p:nvSpPr>
          <p:cNvPr id="27" name="Text 25"/>
          <p:cNvSpPr/>
          <p:nvPr/>
        </p:nvSpPr>
        <p:spPr>
          <a:xfrm>
            <a:off x="1161288" y="3538728"/>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28" name="Text 26"/>
          <p:cNvSpPr/>
          <p:nvPr/>
        </p:nvSpPr>
        <p:spPr>
          <a:xfrm>
            <a:off x="1709928" y="3502152"/>
            <a:ext cx="2633472" cy="411480"/>
          </a:xfrm>
          <a:prstGeom prst="rect">
            <a:avLst/>
          </a:prstGeom>
          <a:noFill/>
        </p:spPr>
        <p:txBody>
          <a:bodyPr wrap="square" rtlCol="0" anchor="ctr"/>
          <a:lstStyle/>
          <a:p>
            <a:pPr marL="0" indent="0">
              <a:buNone/>
            </a:pPr>
            <a:r>
              <a:rPr lang="en-US" sz="1200" b="1" dirty="0">
                <a:solidFill>
                  <a:srgbClr val="C17F00"/>
                </a:solidFill>
              </a:rPr>
              <a:t>Revenue Collector &amp; Treasury Agent</a:t>
            </a:r>
            <a:endParaRPr lang="en-US" sz="1200" dirty="0"/>
          </a:p>
        </p:txBody>
      </p:sp>
      <p:sp>
        <p:nvSpPr>
          <p:cNvPr id="29" name="Text 27"/>
          <p:cNvSpPr/>
          <p:nvPr/>
        </p:nvSpPr>
        <p:spPr>
          <a:xfrm>
            <a:off x="457200" y="4178808"/>
            <a:ext cx="3913632" cy="621792"/>
          </a:xfrm>
          <a:prstGeom prst="rect">
            <a:avLst/>
          </a:prstGeom>
          <a:noFill/>
        </p:spPr>
        <p:txBody>
          <a:bodyPr wrap="square" rtlCol="0" anchor="ctr"/>
          <a:lstStyle/>
          <a:p>
            <a:pPr marL="0" indent="0">
              <a:buNone/>
            </a:pPr>
            <a:r>
              <a:rPr lang="en-US" sz="900" dirty="0">
                <a:solidFill>
                  <a:srgbClr val="5A7A68"/>
                </a:solidFill>
              </a:rPr>
              <a:t>NSSF's existing treasury and payment infrastructure serves as the collection agent for the 3% payout charge. Rather than building a new collection mechanism, OwnIt routes all payout distributions through NSSF's payment system — NSSF deducts its charge before releasing funds to investors' MoMo accounts.</a:t>
            </a:r>
            <a:endParaRPr lang="en-US" sz="900" dirty="0"/>
          </a:p>
        </p:txBody>
      </p:sp>
      <p:sp>
        <p:nvSpPr>
          <p:cNvPr id="30" name="Shape 28"/>
          <p:cNvSpPr/>
          <p:nvPr/>
        </p:nvSpPr>
        <p:spPr>
          <a:xfrm>
            <a:off x="457200" y="4828032"/>
            <a:ext cx="3913632" cy="201168"/>
          </a:xfrm>
          <a:prstGeom prst="rect">
            <a:avLst/>
          </a:prstGeom>
          <a:solidFill>
            <a:srgbClr val="D4EFE0"/>
          </a:solidFill>
        </p:spPr>
      </p:sp>
      <p:sp>
        <p:nvSpPr>
          <p:cNvPr id="31" name="Text 29"/>
          <p:cNvSpPr/>
          <p:nvPr/>
        </p:nvSpPr>
        <p:spPr>
          <a:xfrm>
            <a:off x="521208" y="4828032"/>
            <a:ext cx="3794760" cy="201168"/>
          </a:xfrm>
          <a:prstGeom prst="rect">
            <a:avLst/>
          </a:prstGeom>
          <a:noFill/>
        </p:spPr>
        <p:txBody>
          <a:bodyPr wrap="square" rtlCol="0" anchor="ctr"/>
          <a:lstStyle/>
          <a:p>
            <a:pPr marL="0" indent="0">
              <a:buNone/>
            </a:pPr>
            <a:r>
              <a:rPr lang="en-US" sz="850" b="1" dirty="0">
                <a:solidFill>
                  <a:srgbClr val="0F4D2B"/>
                </a:solidFill>
              </a:rPr>
              <a:t>→  Leverages NSSF's existing financial infrastructure at minimal incremental cost. Zero new systems required.</a:t>
            </a:r>
            <a:endParaRPr lang="en-US" sz="850" dirty="0"/>
          </a:p>
        </p:txBody>
      </p:sp>
      <p:sp>
        <p:nvSpPr>
          <p:cNvPr id="32" name="Shape 30"/>
          <p:cNvSpPr/>
          <p:nvPr/>
        </p:nvSpPr>
        <p:spPr>
          <a:xfrm>
            <a:off x="4690872" y="3337560"/>
            <a:ext cx="4160520" cy="1755648"/>
          </a:xfrm>
          <a:prstGeom prst="rect">
            <a:avLst/>
          </a:prstGeom>
          <a:solidFill>
            <a:srgbClr val="FFFFFF"/>
          </a:solidFill>
          <a:effectLst>
            <a:outerShdw blurRad="101600" dist="38100" dir="8100000" algn="bl" rotWithShape="0">
              <a:srgbClr val="000000">
                <a:alpha val="12000"/>
              </a:srgbClr>
            </a:outerShdw>
          </a:effectLst>
        </p:spPr>
      </p:sp>
      <p:sp>
        <p:nvSpPr>
          <p:cNvPr id="33" name="Shape 31"/>
          <p:cNvSpPr/>
          <p:nvPr/>
        </p:nvSpPr>
        <p:spPr>
          <a:xfrm>
            <a:off x="4690872" y="3337560"/>
            <a:ext cx="4160520" cy="73152"/>
          </a:xfrm>
          <a:prstGeom prst="rect">
            <a:avLst/>
          </a:prstGeom>
          <a:solidFill>
            <a:srgbClr val="1E2761"/>
          </a:solidFill>
        </p:spPr>
      </p:sp>
      <p:sp>
        <p:nvSpPr>
          <p:cNvPr id="34" name="Shape 32"/>
          <p:cNvSpPr/>
          <p:nvPr/>
        </p:nvSpPr>
        <p:spPr>
          <a:xfrm>
            <a:off x="4828032" y="3502152"/>
            <a:ext cx="594360" cy="594360"/>
          </a:xfrm>
          <a:prstGeom prst="ellipse">
            <a:avLst/>
          </a:prstGeom>
          <a:solidFill>
            <a:srgbClr val="1E2761"/>
          </a:solidFill>
        </p:spPr>
      </p:sp>
      <p:sp>
        <p:nvSpPr>
          <p:cNvPr id="35" name="Text 33"/>
          <p:cNvSpPr/>
          <p:nvPr/>
        </p:nvSpPr>
        <p:spPr>
          <a:xfrm>
            <a:off x="4828032" y="3502152"/>
            <a:ext cx="594360" cy="594360"/>
          </a:xfrm>
          <a:prstGeom prst="rect">
            <a:avLst/>
          </a:prstGeom>
          <a:noFill/>
        </p:spPr>
        <p:txBody>
          <a:bodyPr wrap="square" rtlCol="0" anchor="ctr"/>
          <a:lstStyle/>
          <a:p>
            <a:pPr marL="0" indent="0" algn="ctr">
              <a:buNone/>
            </a:pPr>
            <a:r>
              <a:rPr lang="en-US" sz="1200" b="1" dirty="0">
                <a:solidFill>
                  <a:srgbClr val="FFFFFF"/>
                </a:solidFill>
              </a:rPr>
              <a:t>04</a:t>
            </a:r>
            <a:endParaRPr lang="en-US" sz="1200" dirty="0"/>
          </a:p>
        </p:txBody>
      </p:sp>
      <p:sp>
        <p:nvSpPr>
          <p:cNvPr id="36" name="Text 34"/>
          <p:cNvSpPr/>
          <p:nvPr/>
        </p:nvSpPr>
        <p:spPr>
          <a:xfrm>
            <a:off x="5532120" y="3538728"/>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37" name="Text 35"/>
          <p:cNvSpPr/>
          <p:nvPr/>
        </p:nvSpPr>
        <p:spPr>
          <a:xfrm>
            <a:off x="6080760" y="3502152"/>
            <a:ext cx="2633472" cy="411480"/>
          </a:xfrm>
          <a:prstGeom prst="rect">
            <a:avLst/>
          </a:prstGeom>
          <a:noFill/>
        </p:spPr>
        <p:txBody>
          <a:bodyPr wrap="square" rtlCol="0" anchor="ctr"/>
          <a:lstStyle/>
          <a:p>
            <a:pPr marL="0" indent="0">
              <a:buNone/>
            </a:pPr>
            <a:r>
              <a:rPr lang="en-US" sz="1200" b="1" dirty="0">
                <a:solidFill>
                  <a:srgbClr val="1E2761"/>
                </a:solidFill>
              </a:rPr>
              <a:t>Asset Admissions Committee Seat</a:t>
            </a:r>
            <a:endParaRPr lang="en-US" sz="1200" dirty="0"/>
          </a:p>
        </p:txBody>
      </p:sp>
      <p:sp>
        <p:nvSpPr>
          <p:cNvPr id="38" name="Text 36"/>
          <p:cNvSpPr/>
          <p:nvPr/>
        </p:nvSpPr>
        <p:spPr>
          <a:xfrm>
            <a:off x="4828032" y="4178808"/>
            <a:ext cx="3913632" cy="621792"/>
          </a:xfrm>
          <a:prstGeom prst="rect">
            <a:avLst/>
          </a:prstGeom>
          <a:noFill/>
        </p:spPr>
        <p:txBody>
          <a:bodyPr wrap="square" rtlCol="0" anchor="ctr"/>
          <a:lstStyle/>
          <a:p>
            <a:pPr marL="0" indent="0">
              <a:buNone/>
            </a:pPr>
            <a:r>
              <a:rPr lang="en-US" sz="900" dirty="0">
                <a:solidFill>
                  <a:srgbClr val="5A7A68"/>
                </a:solidFill>
              </a:rPr>
              <a:t>NSSF holds one permanent seat on OwnIt's Asset Admissions Committee — the body responsible for approving new asset listings, particularly in the Open Asset Class. This gives NSSF direct oversight over the quality and risk profile of every asset available to auto-enrolled members.</a:t>
            </a:r>
            <a:endParaRPr lang="en-US" sz="900" dirty="0"/>
          </a:p>
        </p:txBody>
      </p:sp>
      <p:sp>
        <p:nvSpPr>
          <p:cNvPr id="39" name="Shape 37"/>
          <p:cNvSpPr/>
          <p:nvPr/>
        </p:nvSpPr>
        <p:spPr>
          <a:xfrm>
            <a:off x="4828032" y="4828032"/>
            <a:ext cx="3913632" cy="201168"/>
          </a:xfrm>
          <a:prstGeom prst="rect">
            <a:avLst/>
          </a:prstGeom>
          <a:solidFill>
            <a:srgbClr val="D4EFE0"/>
          </a:solidFill>
        </p:spPr>
      </p:sp>
      <p:sp>
        <p:nvSpPr>
          <p:cNvPr id="40" name="Text 38"/>
          <p:cNvSpPr/>
          <p:nvPr/>
        </p:nvSpPr>
        <p:spPr>
          <a:xfrm>
            <a:off x="4892040" y="4828032"/>
            <a:ext cx="3794760" cy="201168"/>
          </a:xfrm>
          <a:prstGeom prst="rect">
            <a:avLst/>
          </a:prstGeom>
          <a:noFill/>
        </p:spPr>
        <p:txBody>
          <a:bodyPr wrap="square" rtlCol="0" anchor="ctr"/>
          <a:lstStyle/>
          <a:p>
            <a:pPr marL="0" indent="0">
              <a:buNone/>
            </a:pPr>
            <a:r>
              <a:rPr lang="en-US" sz="850" b="1" dirty="0">
                <a:solidFill>
                  <a:srgbClr val="0F4D2B"/>
                </a:solidFill>
              </a:rPr>
              <a:t>→  NSSF's institutional reputation is protected. Members who invest via OwnIt are not exposed to unsuitable products.</a:t>
            </a:r>
            <a:endParaRPr lang="en-US" sz="850" dirty="0"/>
          </a:p>
        </p:txBody>
      </p:sp>
      <p:sp>
        <p:nvSpPr>
          <p:cNvPr id="41" name="Shape 39"/>
          <p:cNvSpPr/>
          <p:nvPr/>
        </p:nvSpPr>
        <p:spPr>
          <a:xfrm>
            <a:off x="320040" y="5257800"/>
            <a:ext cx="8503920" cy="128016"/>
          </a:xfrm>
          <a:prstGeom prst="rect">
            <a:avLst/>
          </a:prstGeom>
          <a:solidFill>
            <a:srgbClr val="D4EFE0"/>
          </a:solid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NSSF 2035 MEMBERSHIP GOAL — HOW OWNIT CLOSES THE GAP</a:t>
            </a:r>
            <a:endParaRPr lang="en-US" sz="1100" dirty="0"/>
          </a:p>
        </p:txBody>
      </p:sp>
      <p:sp>
        <p:nvSpPr>
          <p:cNvPr id="4" name="Text 2"/>
          <p:cNvSpPr/>
          <p:nvPr/>
        </p:nvSpPr>
        <p:spPr>
          <a:xfrm>
            <a:off x="457200" y="749808"/>
            <a:ext cx="8229600" cy="548640"/>
          </a:xfrm>
          <a:prstGeom prst="rect">
            <a:avLst/>
          </a:prstGeom>
          <a:noFill/>
        </p:spPr>
        <p:txBody>
          <a:bodyPr wrap="square" rtlCol="0" anchor="ctr"/>
          <a:lstStyle/>
          <a:p>
            <a:pPr marL="0" indent="0">
              <a:buNone/>
            </a:pPr>
            <a:r>
              <a:rPr lang="en-US" sz="2000" b="1" dirty="0">
                <a:solidFill>
                  <a:srgbClr val="0D1F15"/>
                </a:solidFill>
                <a:latin typeface="Georgia" panose="02040502050405020303" pitchFamily="34" charset="0"/>
                <a:ea typeface="Georgia" panose="02040502050405020303" pitchFamily="34" charset="-122"/>
                <a:cs typeface="Georgia" panose="02040502050405020303" pitchFamily="34" charset="-120"/>
              </a:rPr>
              <a:t>OwnIt auto-enrollment delivers 1M+ new NSSF members by 2031 — closing 34% of the gap.</a:t>
            </a:r>
            <a:endParaRPr lang="en-US" sz="2000" dirty="0"/>
          </a:p>
        </p:txBody>
      </p:sp>
      <p:sp>
        <p:nvSpPr>
          <p:cNvPr id="5" name="Text 3"/>
          <p:cNvSpPr/>
          <p:nvPr/>
        </p:nvSpPr>
        <p:spPr>
          <a:xfrm>
            <a:off x="457200" y="1417320"/>
            <a:ext cx="5029200" cy="274320"/>
          </a:xfrm>
          <a:prstGeom prst="rect">
            <a:avLst/>
          </a:prstGeom>
          <a:noFill/>
        </p:spPr>
        <p:txBody>
          <a:bodyPr wrap="square" rtlCol="0" anchor="ctr"/>
          <a:lstStyle/>
          <a:p>
            <a:pPr marL="0" indent="0">
              <a:buNone/>
            </a:pPr>
            <a:r>
              <a:rPr lang="en-US" sz="1100" b="1" dirty="0">
                <a:solidFill>
                  <a:srgbClr val="0F4D2B"/>
                </a:solidFill>
              </a:rPr>
              <a:t>Auto-Enrolled NSSF Members (Cumulative)</a:t>
            </a:r>
            <a:endParaRPr lang="en-US" sz="1100" dirty="0"/>
          </a:p>
        </p:txBody>
      </p:sp>
      <p:sp>
        <p:nvSpPr>
          <p:cNvPr id="6" name="Shape 4"/>
          <p:cNvSpPr/>
          <p:nvPr/>
        </p:nvSpPr>
        <p:spPr>
          <a:xfrm>
            <a:off x="457200" y="1755648"/>
            <a:ext cx="4754880" cy="402336"/>
          </a:xfrm>
          <a:prstGeom prst="rect">
            <a:avLst/>
          </a:prstGeom>
          <a:solidFill>
            <a:srgbClr val="D4EFE0"/>
          </a:solidFill>
        </p:spPr>
      </p:sp>
      <p:sp>
        <p:nvSpPr>
          <p:cNvPr id="7" name="Shape 5"/>
          <p:cNvSpPr/>
          <p:nvPr/>
        </p:nvSpPr>
        <p:spPr>
          <a:xfrm>
            <a:off x="457200" y="1755648"/>
            <a:ext cx="237744" cy="402336"/>
          </a:xfrm>
          <a:prstGeom prst="rect">
            <a:avLst/>
          </a:prstGeom>
          <a:solidFill>
            <a:srgbClr val="028090"/>
          </a:solidFill>
        </p:spPr>
      </p:sp>
      <p:sp>
        <p:nvSpPr>
          <p:cNvPr id="8" name="Text 6"/>
          <p:cNvSpPr/>
          <p:nvPr/>
        </p:nvSpPr>
        <p:spPr>
          <a:xfrm>
            <a:off x="530352" y="1847088"/>
            <a:ext cx="1371600" cy="237744"/>
          </a:xfrm>
          <a:prstGeom prst="rect">
            <a:avLst/>
          </a:prstGeom>
          <a:noFill/>
        </p:spPr>
        <p:txBody>
          <a:bodyPr wrap="square" rtlCol="0" anchor="ctr"/>
          <a:lstStyle/>
          <a:p>
            <a:pPr marL="0" indent="0">
              <a:buNone/>
            </a:pPr>
            <a:r>
              <a:rPr lang="en-US" sz="950" b="1" dirty="0">
                <a:solidFill>
                  <a:srgbClr val="FFFFFF"/>
                </a:solidFill>
              </a:rPr>
              <a:t>2027 (Yr1)</a:t>
            </a:r>
            <a:endParaRPr lang="en-US" sz="950" dirty="0"/>
          </a:p>
        </p:txBody>
      </p:sp>
      <p:sp>
        <p:nvSpPr>
          <p:cNvPr id="9" name="Text 7"/>
          <p:cNvSpPr/>
          <p:nvPr/>
        </p:nvSpPr>
        <p:spPr>
          <a:xfrm>
            <a:off x="1965960" y="1847088"/>
            <a:ext cx="3108960" cy="237744"/>
          </a:xfrm>
          <a:prstGeom prst="rect">
            <a:avLst/>
          </a:prstGeom>
          <a:noFill/>
        </p:spPr>
        <p:txBody>
          <a:bodyPr wrap="square" rtlCol="0" anchor="ctr"/>
          <a:lstStyle/>
          <a:p>
            <a:pPr marL="0" indent="0" algn="r">
              <a:buNone/>
            </a:pPr>
            <a:r>
              <a:rPr lang="en-US" sz="950" dirty="0">
                <a:solidFill>
                  <a:srgbClr val="FFFFFF"/>
                </a:solidFill>
              </a:rPr>
              <a:t>15,000 cumul. (0.5% of 3M gap)</a:t>
            </a:r>
            <a:endParaRPr lang="en-US" sz="950" dirty="0"/>
          </a:p>
        </p:txBody>
      </p:sp>
      <p:sp>
        <p:nvSpPr>
          <p:cNvPr id="10" name="Shape 8"/>
          <p:cNvSpPr/>
          <p:nvPr/>
        </p:nvSpPr>
        <p:spPr>
          <a:xfrm>
            <a:off x="457200" y="2304288"/>
            <a:ext cx="4754880" cy="402336"/>
          </a:xfrm>
          <a:prstGeom prst="rect">
            <a:avLst/>
          </a:prstGeom>
          <a:solidFill>
            <a:srgbClr val="D4EFE0"/>
          </a:solidFill>
        </p:spPr>
      </p:sp>
      <p:sp>
        <p:nvSpPr>
          <p:cNvPr id="11" name="Shape 9"/>
          <p:cNvSpPr/>
          <p:nvPr/>
        </p:nvSpPr>
        <p:spPr>
          <a:xfrm>
            <a:off x="457200" y="2304288"/>
            <a:ext cx="570586" cy="402336"/>
          </a:xfrm>
          <a:prstGeom prst="rect">
            <a:avLst/>
          </a:prstGeom>
          <a:solidFill>
            <a:srgbClr val="028090"/>
          </a:solidFill>
        </p:spPr>
      </p:sp>
      <p:sp>
        <p:nvSpPr>
          <p:cNvPr id="12" name="Text 10"/>
          <p:cNvSpPr/>
          <p:nvPr/>
        </p:nvSpPr>
        <p:spPr>
          <a:xfrm>
            <a:off x="530352" y="2395728"/>
            <a:ext cx="1371600" cy="237744"/>
          </a:xfrm>
          <a:prstGeom prst="rect">
            <a:avLst/>
          </a:prstGeom>
          <a:noFill/>
        </p:spPr>
        <p:txBody>
          <a:bodyPr wrap="square" rtlCol="0" anchor="ctr"/>
          <a:lstStyle/>
          <a:p>
            <a:pPr marL="0" indent="0">
              <a:buNone/>
            </a:pPr>
            <a:r>
              <a:rPr lang="en-US" sz="950" b="1" dirty="0">
                <a:solidFill>
                  <a:srgbClr val="FFFFFF"/>
                </a:solidFill>
              </a:rPr>
              <a:t>2028 (Yr2)</a:t>
            </a:r>
            <a:endParaRPr lang="en-US" sz="950" dirty="0"/>
          </a:p>
        </p:txBody>
      </p:sp>
      <p:sp>
        <p:nvSpPr>
          <p:cNvPr id="13" name="Text 11"/>
          <p:cNvSpPr/>
          <p:nvPr/>
        </p:nvSpPr>
        <p:spPr>
          <a:xfrm>
            <a:off x="1965960" y="2395728"/>
            <a:ext cx="3108960" cy="237744"/>
          </a:xfrm>
          <a:prstGeom prst="rect">
            <a:avLst/>
          </a:prstGeom>
          <a:noFill/>
        </p:spPr>
        <p:txBody>
          <a:bodyPr wrap="square" rtlCol="0" anchor="ctr"/>
          <a:lstStyle/>
          <a:p>
            <a:pPr marL="0" indent="0" algn="r">
              <a:buNone/>
            </a:pPr>
            <a:r>
              <a:rPr lang="en-US" sz="950" dirty="0">
                <a:solidFill>
                  <a:srgbClr val="FFFFFF"/>
                </a:solidFill>
              </a:rPr>
              <a:t>75,000 cumul. (2.5% of 3M gap)</a:t>
            </a:r>
            <a:endParaRPr lang="en-US" sz="950" dirty="0"/>
          </a:p>
        </p:txBody>
      </p:sp>
      <p:sp>
        <p:nvSpPr>
          <p:cNvPr id="14" name="Shape 12"/>
          <p:cNvSpPr/>
          <p:nvPr/>
        </p:nvSpPr>
        <p:spPr>
          <a:xfrm>
            <a:off x="457200" y="2852928"/>
            <a:ext cx="4754880" cy="402336"/>
          </a:xfrm>
          <a:prstGeom prst="rect">
            <a:avLst/>
          </a:prstGeom>
          <a:solidFill>
            <a:srgbClr val="D4EFE0"/>
          </a:solidFill>
        </p:spPr>
      </p:sp>
      <p:sp>
        <p:nvSpPr>
          <p:cNvPr id="15" name="Shape 13"/>
          <p:cNvSpPr/>
          <p:nvPr/>
        </p:nvSpPr>
        <p:spPr>
          <a:xfrm>
            <a:off x="457200" y="2852928"/>
            <a:ext cx="1331366" cy="402336"/>
          </a:xfrm>
          <a:prstGeom prst="rect">
            <a:avLst/>
          </a:prstGeom>
          <a:solidFill>
            <a:srgbClr val="028090"/>
          </a:solidFill>
        </p:spPr>
      </p:sp>
      <p:sp>
        <p:nvSpPr>
          <p:cNvPr id="16" name="Text 14"/>
          <p:cNvSpPr/>
          <p:nvPr/>
        </p:nvSpPr>
        <p:spPr>
          <a:xfrm>
            <a:off x="530352" y="2944368"/>
            <a:ext cx="1371600" cy="237744"/>
          </a:xfrm>
          <a:prstGeom prst="rect">
            <a:avLst/>
          </a:prstGeom>
          <a:noFill/>
        </p:spPr>
        <p:txBody>
          <a:bodyPr wrap="square" rtlCol="0" anchor="ctr"/>
          <a:lstStyle/>
          <a:p>
            <a:pPr marL="0" indent="0">
              <a:buNone/>
            </a:pPr>
            <a:r>
              <a:rPr lang="en-US" sz="950" b="1" dirty="0">
                <a:solidFill>
                  <a:srgbClr val="FFFFFF"/>
                </a:solidFill>
              </a:rPr>
              <a:t>2029 (Yr3)</a:t>
            </a:r>
            <a:endParaRPr lang="en-US" sz="950" dirty="0"/>
          </a:p>
        </p:txBody>
      </p:sp>
      <p:sp>
        <p:nvSpPr>
          <p:cNvPr id="17" name="Text 15"/>
          <p:cNvSpPr/>
          <p:nvPr/>
        </p:nvSpPr>
        <p:spPr>
          <a:xfrm>
            <a:off x="1965960" y="2944368"/>
            <a:ext cx="3108960" cy="237744"/>
          </a:xfrm>
          <a:prstGeom prst="rect">
            <a:avLst/>
          </a:prstGeom>
          <a:noFill/>
        </p:spPr>
        <p:txBody>
          <a:bodyPr wrap="square" rtlCol="0" anchor="ctr"/>
          <a:lstStyle/>
          <a:p>
            <a:pPr marL="0" indent="0" algn="r">
              <a:buNone/>
            </a:pPr>
            <a:r>
              <a:rPr lang="en-US" sz="950" dirty="0">
                <a:solidFill>
                  <a:srgbClr val="FFFFFF"/>
                </a:solidFill>
              </a:rPr>
              <a:t>225,000 cumul. (7.5% of 3M gap)</a:t>
            </a:r>
            <a:endParaRPr lang="en-US" sz="950" dirty="0"/>
          </a:p>
        </p:txBody>
      </p:sp>
      <p:sp>
        <p:nvSpPr>
          <p:cNvPr id="18" name="Shape 16"/>
          <p:cNvSpPr/>
          <p:nvPr/>
        </p:nvSpPr>
        <p:spPr>
          <a:xfrm>
            <a:off x="457200" y="3401568"/>
            <a:ext cx="4754880" cy="402336"/>
          </a:xfrm>
          <a:prstGeom prst="rect">
            <a:avLst/>
          </a:prstGeom>
          <a:solidFill>
            <a:srgbClr val="D4EFE0"/>
          </a:solidFill>
        </p:spPr>
      </p:sp>
      <p:sp>
        <p:nvSpPr>
          <p:cNvPr id="19" name="Shape 17"/>
          <p:cNvSpPr/>
          <p:nvPr/>
        </p:nvSpPr>
        <p:spPr>
          <a:xfrm>
            <a:off x="457200" y="3401568"/>
            <a:ext cx="2615184" cy="402336"/>
          </a:xfrm>
          <a:prstGeom prst="rect">
            <a:avLst/>
          </a:prstGeom>
          <a:solidFill>
            <a:srgbClr val="028090"/>
          </a:solidFill>
        </p:spPr>
      </p:sp>
      <p:sp>
        <p:nvSpPr>
          <p:cNvPr id="20" name="Text 18"/>
          <p:cNvSpPr/>
          <p:nvPr/>
        </p:nvSpPr>
        <p:spPr>
          <a:xfrm>
            <a:off x="530352" y="3493008"/>
            <a:ext cx="1371600" cy="237744"/>
          </a:xfrm>
          <a:prstGeom prst="rect">
            <a:avLst/>
          </a:prstGeom>
          <a:noFill/>
        </p:spPr>
        <p:txBody>
          <a:bodyPr wrap="square" rtlCol="0" anchor="ctr"/>
          <a:lstStyle/>
          <a:p>
            <a:pPr marL="0" indent="0">
              <a:buNone/>
            </a:pPr>
            <a:r>
              <a:rPr lang="en-US" sz="950" b="1" dirty="0">
                <a:solidFill>
                  <a:srgbClr val="FFFFFF"/>
                </a:solidFill>
              </a:rPr>
              <a:t>2030 (Yr4)</a:t>
            </a:r>
            <a:endParaRPr lang="en-US" sz="950" dirty="0"/>
          </a:p>
        </p:txBody>
      </p:sp>
      <p:sp>
        <p:nvSpPr>
          <p:cNvPr id="21" name="Text 19"/>
          <p:cNvSpPr/>
          <p:nvPr/>
        </p:nvSpPr>
        <p:spPr>
          <a:xfrm>
            <a:off x="1965960" y="3493008"/>
            <a:ext cx="3108960" cy="237744"/>
          </a:xfrm>
          <a:prstGeom prst="rect">
            <a:avLst/>
          </a:prstGeom>
          <a:noFill/>
        </p:spPr>
        <p:txBody>
          <a:bodyPr wrap="square" rtlCol="0" anchor="ctr"/>
          <a:lstStyle/>
          <a:p>
            <a:pPr marL="0" indent="0" algn="r">
              <a:buNone/>
            </a:pPr>
            <a:r>
              <a:rPr lang="en-US" sz="950" dirty="0">
                <a:solidFill>
                  <a:srgbClr val="FFFFFF"/>
                </a:solidFill>
              </a:rPr>
              <a:t>525,000 cumul. (17.5% of 3M gap)</a:t>
            </a:r>
            <a:endParaRPr lang="en-US" sz="950" dirty="0"/>
          </a:p>
        </p:txBody>
      </p:sp>
      <p:sp>
        <p:nvSpPr>
          <p:cNvPr id="22" name="Shape 20"/>
          <p:cNvSpPr/>
          <p:nvPr/>
        </p:nvSpPr>
        <p:spPr>
          <a:xfrm>
            <a:off x="457200" y="3950208"/>
            <a:ext cx="4754880" cy="402336"/>
          </a:xfrm>
          <a:prstGeom prst="rect">
            <a:avLst/>
          </a:prstGeom>
          <a:solidFill>
            <a:srgbClr val="D4EFE0"/>
          </a:solidFill>
        </p:spPr>
      </p:sp>
      <p:sp>
        <p:nvSpPr>
          <p:cNvPr id="23" name="Shape 21"/>
          <p:cNvSpPr/>
          <p:nvPr/>
        </p:nvSpPr>
        <p:spPr>
          <a:xfrm>
            <a:off x="457200" y="3950208"/>
            <a:ext cx="4754880" cy="402336"/>
          </a:xfrm>
          <a:prstGeom prst="rect">
            <a:avLst/>
          </a:prstGeom>
          <a:solidFill>
            <a:srgbClr val="1A7A45"/>
          </a:solidFill>
        </p:spPr>
      </p:sp>
      <p:sp>
        <p:nvSpPr>
          <p:cNvPr id="24" name="Text 22"/>
          <p:cNvSpPr/>
          <p:nvPr/>
        </p:nvSpPr>
        <p:spPr>
          <a:xfrm>
            <a:off x="530352" y="4041648"/>
            <a:ext cx="1371600" cy="237744"/>
          </a:xfrm>
          <a:prstGeom prst="rect">
            <a:avLst/>
          </a:prstGeom>
          <a:noFill/>
        </p:spPr>
        <p:txBody>
          <a:bodyPr wrap="square" rtlCol="0" anchor="ctr"/>
          <a:lstStyle/>
          <a:p>
            <a:pPr marL="0" indent="0">
              <a:buNone/>
            </a:pPr>
            <a:r>
              <a:rPr lang="en-US" sz="950" b="1" dirty="0">
                <a:solidFill>
                  <a:srgbClr val="FFFFFF"/>
                </a:solidFill>
              </a:rPr>
              <a:t>2031 (Yr5)</a:t>
            </a:r>
            <a:endParaRPr lang="en-US" sz="950" dirty="0"/>
          </a:p>
        </p:txBody>
      </p:sp>
      <p:sp>
        <p:nvSpPr>
          <p:cNvPr id="25" name="Text 23"/>
          <p:cNvSpPr/>
          <p:nvPr/>
        </p:nvSpPr>
        <p:spPr>
          <a:xfrm>
            <a:off x="1965960" y="4041648"/>
            <a:ext cx="3108960" cy="237744"/>
          </a:xfrm>
          <a:prstGeom prst="rect">
            <a:avLst/>
          </a:prstGeom>
          <a:noFill/>
        </p:spPr>
        <p:txBody>
          <a:bodyPr wrap="square" rtlCol="0" anchor="ctr"/>
          <a:lstStyle/>
          <a:p>
            <a:pPr marL="0" indent="0" algn="r">
              <a:buNone/>
            </a:pPr>
            <a:r>
              <a:rPr lang="en-US" sz="950" dirty="0">
                <a:solidFill>
                  <a:srgbClr val="FFFFFF"/>
                </a:solidFill>
              </a:rPr>
              <a:t>1,025,000 cumul. (34.2% of 3M gap)</a:t>
            </a:r>
            <a:endParaRPr lang="en-US" sz="950" dirty="0"/>
          </a:p>
        </p:txBody>
      </p:sp>
      <p:sp>
        <p:nvSpPr>
          <p:cNvPr id="26" name="Text 24"/>
          <p:cNvSpPr/>
          <p:nvPr/>
        </p:nvSpPr>
        <p:spPr>
          <a:xfrm>
            <a:off x="5394960" y="1417320"/>
            <a:ext cx="3474720" cy="274320"/>
          </a:xfrm>
          <a:prstGeom prst="rect">
            <a:avLst/>
          </a:prstGeom>
          <a:noFill/>
        </p:spPr>
        <p:txBody>
          <a:bodyPr wrap="square" rtlCol="0" anchor="ctr"/>
          <a:lstStyle/>
          <a:p>
            <a:pPr marL="0" indent="0">
              <a:buNone/>
            </a:pPr>
            <a:r>
              <a:rPr lang="en-US" sz="1100" b="1" dirty="0">
                <a:solidFill>
                  <a:srgbClr val="0F4D2B"/>
                </a:solidFill>
              </a:rPr>
              <a:t>How OwnIt Delivers NSSF's 2035 Strategic Goals</a:t>
            </a:r>
            <a:endParaRPr lang="en-US" sz="1100" dirty="0"/>
          </a:p>
        </p:txBody>
      </p:sp>
      <p:sp>
        <p:nvSpPr>
          <p:cNvPr id="27" name="Shape 25"/>
          <p:cNvSpPr/>
          <p:nvPr/>
        </p:nvSpPr>
        <p:spPr>
          <a:xfrm>
            <a:off x="5376672" y="1755648"/>
            <a:ext cx="3429000" cy="420624"/>
          </a:xfrm>
          <a:prstGeom prst="rect">
            <a:avLst/>
          </a:prstGeom>
          <a:solidFill>
            <a:srgbClr val="FFFFFF"/>
          </a:solidFill>
        </p:spPr>
      </p:sp>
      <p:sp>
        <p:nvSpPr>
          <p:cNvPr id="28" name="Text 26"/>
          <p:cNvSpPr/>
          <p:nvPr/>
        </p:nvSpPr>
        <p:spPr>
          <a:xfrm>
            <a:off x="5449824" y="1792224"/>
            <a:ext cx="3291840" cy="182880"/>
          </a:xfrm>
          <a:prstGeom prst="rect">
            <a:avLst/>
          </a:prstGeom>
          <a:noFill/>
        </p:spPr>
        <p:txBody>
          <a:bodyPr wrap="square" rtlCol="0" anchor="ctr"/>
          <a:lstStyle/>
          <a:p>
            <a:pPr marL="0" indent="0">
              <a:buNone/>
            </a:pPr>
            <a:r>
              <a:rPr lang="en-US" sz="900" b="1" dirty="0">
                <a:solidFill>
                  <a:srgbClr val="0F4D2B"/>
                </a:solidFill>
              </a:rPr>
              <a:t>Grow to 5M members</a:t>
            </a:r>
            <a:endParaRPr lang="en-US" sz="900" dirty="0"/>
          </a:p>
        </p:txBody>
      </p:sp>
      <p:sp>
        <p:nvSpPr>
          <p:cNvPr id="29" name="Text 27"/>
          <p:cNvSpPr/>
          <p:nvPr/>
        </p:nvSpPr>
        <p:spPr>
          <a:xfrm>
            <a:off x="5449824" y="1975104"/>
            <a:ext cx="3291840" cy="182880"/>
          </a:xfrm>
          <a:prstGeom prst="rect">
            <a:avLst/>
          </a:prstGeom>
          <a:noFill/>
        </p:spPr>
        <p:txBody>
          <a:bodyPr wrap="square" rtlCol="0" anchor="ctr"/>
          <a:lstStyle/>
          <a:p>
            <a:pPr marL="0" indent="0">
              <a:buNone/>
            </a:pPr>
            <a:r>
              <a:rPr lang="en-US" sz="850" dirty="0">
                <a:solidFill>
                  <a:srgbClr val="5A7A68"/>
                </a:solidFill>
              </a:rPr>
              <a:t>500K+ enrolled by 2031, at zero NSSF cost</a:t>
            </a:r>
            <a:endParaRPr lang="en-US" sz="850" dirty="0"/>
          </a:p>
        </p:txBody>
      </p:sp>
      <p:sp>
        <p:nvSpPr>
          <p:cNvPr id="30" name="Shape 28"/>
          <p:cNvSpPr/>
          <p:nvPr/>
        </p:nvSpPr>
        <p:spPr>
          <a:xfrm>
            <a:off x="5376672" y="2231136"/>
            <a:ext cx="3429000" cy="420624"/>
          </a:xfrm>
          <a:prstGeom prst="rect">
            <a:avLst/>
          </a:prstGeom>
          <a:solidFill>
            <a:srgbClr val="F4F9F5"/>
          </a:solidFill>
        </p:spPr>
      </p:sp>
      <p:sp>
        <p:nvSpPr>
          <p:cNvPr id="31" name="Text 29"/>
          <p:cNvSpPr/>
          <p:nvPr/>
        </p:nvSpPr>
        <p:spPr>
          <a:xfrm>
            <a:off x="5449824" y="2267712"/>
            <a:ext cx="3291840" cy="182880"/>
          </a:xfrm>
          <a:prstGeom prst="rect">
            <a:avLst/>
          </a:prstGeom>
          <a:noFill/>
        </p:spPr>
        <p:txBody>
          <a:bodyPr wrap="square" rtlCol="0" anchor="ctr"/>
          <a:lstStyle/>
          <a:p>
            <a:pPr marL="0" indent="0">
              <a:buNone/>
            </a:pPr>
            <a:r>
              <a:rPr lang="en-US" sz="900" b="1" dirty="0">
                <a:solidFill>
                  <a:srgbClr val="0F4D2B"/>
                </a:solidFill>
              </a:rPr>
              <a:t>Reach informal sector</a:t>
            </a:r>
            <a:endParaRPr lang="en-US" sz="900" dirty="0"/>
          </a:p>
        </p:txBody>
      </p:sp>
      <p:sp>
        <p:nvSpPr>
          <p:cNvPr id="32" name="Text 30"/>
          <p:cNvSpPr/>
          <p:nvPr/>
        </p:nvSpPr>
        <p:spPr>
          <a:xfrm>
            <a:off x="5449824" y="2450592"/>
            <a:ext cx="3291840" cy="182880"/>
          </a:xfrm>
          <a:prstGeom prst="rect">
            <a:avLst/>
          </a:prstGeom>
          <a:noFill/>
        </p:spPr>
        <p:txBody>
          <a:bodyPr wrap="square" rtlCol="0" anchor="ctr"/>
          <a:lstStyle/>
          <a:p>
            <a:pPr marL="0" indent="0">
              <a:buNone/>
            </a:pPr>
            <a:r>
              <a:rPr lang="en-US" sz="850" dirty="0">
                <a:solidFill>
                  <a:srgbClr val="5A7A68"/>
                </a:solidFill>
              </a:rPr>
              <a:t>Built for MoMo — no employer or payslip needed</a:t>
            </a:r>
            <a:endParaRPr lang="en-US" sz="850" dirty="0"/>
          </a:p>
        </p:txBody>
      </p:sp>
      <p:sp>
        <p:nvSpPr>
          <p:cNvPr id="33" name="Shape 31"/>
          <p:cNvSpPr/>
          <p:nvPr/>
        </p:nvSpPr>
        <p:spPr>
          <a:xfrm>
            <a:off x="5376672" y="2706624"/>
            <a:ext cx="3429000" cy="420624"/>
          </a:xfrm>
          <a:prstGeom prst="rect">
            <a:avLst/>
          </a:prstGeom>
          <a:solidFill>
            <a:srgbClr val="FFFFFF"/>
          </a:solidFill>
        </p:spPr>
      </p:sp>
      <p:sp>
        <p:nvSpPr>
          <p:cNvPr id="34" name="Text 32"/>
          <p:cNvSpPr/>
          <p:nvPr/>
        </p:nvSpPr>
        <p:spPr>
          <a:xfrm>
            <a:off x="5449824" y="2743200"/>
            <a:ext cx="3291840" cy="182880"/>
          </a:xfrm>
          <a:prstGeom prst="rect">
            <a:avLst/>
          </a:prstGeom>
          <a:noFill/>
        </p:spPr>
        <p:txBody>
          <a:bodyPr wrap="square" rtlCol="0" anchor="ctr"/>
          <a:lstStyle/>
          <a:p>
            <a:pPr marL="0" indent="0">
              <a:buNone/>
            </a:pPr>
            <a:r>
              <a:rPr lang="en-US" sz="900" b="1" dirty="0">
                <a:solidFill>
                  <a:srgbClr val="0F4D2B"/>
                </a:solidFill>
              </a:rPr>
              <a:t>Capture Gen Z (18–35)</a:t>
            </a:r>
            <a:endParaRPr lang="en-US" sz="900" dirty="0"/>
          </a:p>
        </p:txBody>
      </p:sp>
      <p:sp>
        <p:nvSpPr>
          <p:cNvPr id="35" name="Text 33"/>
          <p:cNvSpPr/>
          <p:nvPr/>
        </p:nvSpPr>
        <p:spPr>
          <a:xfrm>
            <a:off x="5449824" y="2926080"/>
            <a:ext cx="3291840" cy="182880"/>
          </a:xfrm>
          <a:prstGeom prst="rect">
            <a:avLst/>
          </a:prstGeom>
          <a:noFill/>
        </p:spPr>
        <p:txBody>
          <a:bodyPr wrap="square" rtlCol="0" anchor="ctr"/>
          <a:lstStyle/>
          <a:p>
            <a:pPr marL="0" indent="0">
              <a:buNone/>
            </a:pPr>
            <a:r>
              <a:rPr lang="en-US" sz="850" dirty="0">
                <a:solidFill>
                  <a:srgbClr val="5A7A68"/>
                </a:solidFill>
              </a:rPr>
              <a:t>Near-term returns + mobile-first Gen Z UX</a:t>
            </a:r>
            <a:endParaRPr lang="en-US" sz="850" dirty="0"/>
          </a:p>
        </p:txBody>
      </p:sp>
      <p:sp>
        <p:nvSpPr>
          <p:cNvPr id="36" name="Shape 34"/>
          <p:cNvSpPr/>
          <p:nvPr/>
        </p:nvSpPr>
        <p:spPr>
          <a:xfrm>
            <a:off x="5376672" y="3182112"/>
            <a:ext cx="3429000" cy="420624"/>
          </a:xfrm>
          <a:prstGeom prst="rect">
            <a:avLst/>
          </a:prstGeom>
          <a:solidFill>
            <a:srgbClr val="F4F9F5"/>
          </a:solidFill>
        </p:spPr>
      </p:sp>
      <p:sp>
        <p:nvSpPr>
          <p:cNvPr id="37" name="Text 35"/>
          <p:cNvSpPr/>
          <p:nvPr/>
        </p:nvSpPr>
        <p:spPr>
          <a:xfrm>
            <a:off x="5449824" y="3218688"/>
            <a:ext cx="3291840" cy="182880"/>
          </a:xfrm>
          <a:prstGeom prst="rect">
            <a:avLst/>
          </a:prstGeom>
          <a:noFill/>
        </p:spPr>
        <p:txBody>
          <a:bodyPr wrap="square" rtlCol="0" anchor="ctr"/>
          <a:lstStyle/>
          <a:p>
            <a:pPr marL="0" indent="0">
              <a:buNone/>
            </a:pPr>
            <a:r>
              <a:rPr lang="en-US" sz="900" b="1" dirty="0">
                <a:solidFill>
                  <a:srgbClr val="0F4D2B"/>
                </a:solidFill>
              </a:rPr>
              <a:t>Diversify product portfolio</a:t>
            </a:r>
            <a:endParaRPr lang="en-US" sz="900" dirty="0"/>
          </a:p>
        </p:txBody>
      </p:sp>
      <p:sp>
        <p:nvSpPr>
          <p:cNvPr id="38" name="Text 36"/>
          <p:cNvSpPr/>
          <p:nvPr/>
        </p:nvSpPr>
        <p:spPr>
          <a:xfrm>
            <a:off x="5449824" y="3401568"/>
            <a:ext cx="3291840" cy="182880"/>
          </a:xfrm>
          <a:prstGeom prst="rect">
            <a:avLst/>
          </a:prstGeom>
          <a:noFill/>
        </p:spPr>
        <p:txBody>
          <a:bodyPr wrap="square" rtlCol="0" anchor="ctr"/>
          <a:lstStyle/>
          <a:p>
            <a:pPr marL="0" indent="0">
              <a:buNone/>
            </a:pPr>
            <a:r>
              <a:rPr lang="en-US" sz="850" dirty="0">
                <a:solidFill>
                  <a:srgbClr val="5A7A68"/>
                </a:solidFill>
              </a:rPr>
              <a:t>Co-branded voluntary investment product at zero dev cost</a:t>
            </a:r>
            <a:endParaRPr lang="en-US" sz="850" dirty="0"/>
          </a:p>
        </p:txBody>
      </p:sp>
      <p:sp>
        <p:nvSpPr>
          <p:cNvPr id="39" name="Shape 37"/>
          <p:cNvSpPr/>
          <p:nvPr/>
        </p:nvSpPr>
        <p:spPr>
          <a:xfrm>
            <a:off x="5376672" y="3657600"/>
            <a:ext cx="3429000" cy="420624"/>
          </a:xfrm>
          <a:prstGeom prst="rect">
            <a:avLst/>
          </a:prstGeom>
          <a:solidFill>
            <a:srgbClr val="FFFFFF"/>
          </a:solidFill>
        </p:spPr>
      </p:sp>
      <p:sp>
        <p:nvSpPr>
          <p:cNvPr id="40" name="Text 38"/>
          <p:cNvSpPr/>
          <p:nvPr/>
        </p:nvSpPr>
        <p:spPr>
          <a:xfrm>
            <a:off x="5449824" y="3694176"/>
            <a:ext cx="3291840" cy="182880"/>
          </a:xfrm>
          <a:prstGeom prst="rect">
            <a:avLst/>
          </a:prstGeom>
          <a:noFill/>
        </p:spPr>
        <p:txBody>
          <a:bodyPr wrap="square" rtlCol="0" anchor="ctr"/>
          <a:lstStyle/>
          <a:p>
            <a:pPr marL="0" indent="0">
              <a:buNone/>
            </a:pPr>
            <a:r>
              <a:rPr lang="en-US" sz="900" b="1" dirty="0">
                <a:solidFill>
                  <a:srgbClr val="0F4D2B"/>
                </a:solidFill>
              </a:rPr>
              <a:t>Digital member experience</a:t>
            </a:r>
            <a:endParaRPr lang="en-US" sz="900" dirty="0"/>
          </a:p>
        </p:txBody>
      </p:sp>
      <p:sp>
        <p:nvSpPr>
          <p:cNvPr id="41" name="Text 39"/>
          <p:cNvSpPr/>
          <p:nvPr/>
        </p:nvSpPr>
        <p:spPr>
          <a:xfrm>
            <a:off x="5449824" y="3877056"/>
            <a:ext cx="3291840" cy="182880"/>
          </a:xfrm>
          <a:prstGeom prst="rect">
            <a:avLst/>
          </a:prstGeom>
          <a:noFill/>
        </p:spPr>
        <p:txBody>
          <a:bodyPr wrap="square" rtlCol="0" anchor="ctr"/>
          <a:lstStyle/>
          <a:p>
            <a:pPr marL="0" indent="0">
              <a:buNone/>
            </a:pPr>
            <a:r>
              <a:rPr lang="en-US" sz="850" dirty="0">
                <a:solidFill>
                  <a:srgbClr val="5A7A68"/>
                </a:solidFill>
              </a:rPr>
              <a:t>Full digital KYC, real-time dashboards, MoMo payouts</a:t>
            </a:r>
            <a:endParaRPr lang="en-US" sz="850" dirty="0"/>
          </a:p>
        </p:txBody>
      </p:sp>
      <p:sp>
        <p:nvSpPr>
          <p:cNvPr id="42" name="Shape 40"/>
          <p:cNvSpPr/>
          <p:nvPr/>
        </p:nvSpPr>
        <p:spPr>
          <a:xfrm>
            <a:off x="5376672" y="4133088"/>
            <a:ext cx="3429000" cy="420624"/>
          </a:xfrm>
          <a:prstGeom prst="rect">
            <a:avLst/>
          </a:prstGeom>
          <a:solidFill>
            <a:srgbClr val="F4F9F5"/>
          </a:solidFill>
        </p:spPr>
      </p:sp>
      <p:sp>
        <p:nvSpPr>
          <p:cNvPr id="43" name="Text 41"/>
          <p:cNvSpPr/>
          <p:nvPr/>
        </p:nvSpPr>
        <p:spPr>
          <a:xfrm>
            <a:off x="5449824" y="4169664"/>
            <a:ext cx="3291840" cy="182880"/>
          </a:xfrm>
          <a:prstGeom prst="rect">
            <a:avLst/>
          </a:prstGeom>
          <a:noFill/>
        </p:spPr>
        <p:txBody>
          <a:bodyPr wrap="square" rtlCol="0" anchor="ctr"/>
          <a:lstStyle/>
          <a:p>
            <a:pPr marL="0" indent="0">
              <a:buNone/>
            </a:pPr>
            <a:r>
              <a:rPr lang="en-US" sz="900" b="1" dirty="0">
                <a:solidFill>
                  <a:srgbClr val="0F4D2B"/>
                </a:solidFill>
              </a:rPr>
              <a:t>Generate non-contrib. revenue</a:t>
            </a:r>
            <a:endParaRPr lang="en-US" sz="900" dirty="0"/>
          </a:p>
        </p:txBody>
      </p:sp>
      <p:sp>
        <p:nvSpPr>
          <p:cNvPr id="44" name="Text 42"/>
          <p:cNvSpPr/>
          <p:nvPr/>
        </p:nvSpPr>
        <p:spPr>
          <a:xfrm>
            <a:off x="5449824" y="4352544"/>
            <a:ext cx="3291840" cy="182880"/>
          </a:xfrm>
          <a:prstGeom prst="rect">
            <a:avLst/>
          </a:prstGeom>
          <a:noFill/>
        </p:spPr>
        <p:txBody>
          <a:bodyPr wrap="square" rtlCol="0" anchor="ctr"/>
          <a:lstStyle/>
          <a:p>
            <a:pPr marL="0" indent="0">
              <a:buNone/>
            </a:pPr>
            <a:r>
              <a:rPr lang="en-US" sz="850" dirty="0">
                <a:solidFill>
                  <a:srgbClr val="5A7A68"/>
                </a:solidFill>
              </a:rPr>
              <a:t>UGX 4.2B+ annual operating revenue by Year 5</a:t>
            </a:r>
            <a:endParaRPr lang="en-US" sz="850" dirty="0"/>
          </a:p>
        </p:txBody>
      </p:sp>
      <p:sp>
        <p:nvSpPr>
          <p:cNvPr id="45" name="Shape 43"/>
          <p:cNvSpPr/>
          <p:nvPr/>
        </p:nvSpPr>
        <p:spPr>
          <a:xfrm>
            <a:off x="5376672" y="4608576"/>
            <a:ext cx="3429000" cy="420624"/>
          </a:xfrm>
          <a:prstGeom prst="rect">
            <a:avLst/>
          </a:prstGeom>
          <a:solidFill>
            <a:srgbClr val="FFFFFF"/>
          </a:solidFill>
        </p:spPr>
      </p:sp>
      <p:sp>
        <p:nvSpPr>
          <p:cNvPr id="46" name="Text 44"/>
          <p:cNvSpPr/>
          <p:nvPr/>
        </p:nvSpPr>
        <p:spPr>
          <a:xfrm>
            <a:off x="5449824" y="4645152"/>
            <a:ext cx="3291840" cy="182880"/>
          </a:xfrm>
          <a:prstGeom prst="rect">
            <a:avLst/>
          </a:prstGeom>
          <a:noFill/>
        </p:spPr>
        <p:txBody>
          <a:bodyPr wrap="square" rtlCol="0" anchor="ctr"/>
          <a:lstStyle/>
          <a:p>
            <a:pPr marL="0" indent="0">
              <a:buNone/>
            </a:pPr>
            <a:r>
              <a:rPr lang="en-US" sz="900" b="1" dirty="0">
                <a:solidFill>
                  <a:srgbClr val="0F4D2B"/>
                </a:solidFill>
              </a:rPr>
              <a:t>Rural &amp; peri-urban outreach</a:t>
            </a:r>
            <a:endParaRPr lang="en-US" sz="900" dirty="0"/>
          </a:p>
        </p:txBody>
      </p:sp>
      <p:sp>
        <p:nvSpPr>
          <p:cNvPr id="47" name="Text 45"/>
          <p:cNvSpPr/>
          <p:nvPr/>
        </p:nvSpPr>
        <p:spPr>
          <a:xfrm>
            <a:off x="5449824" y="4828032"/>
            <a:ext cx="3291840" cy="182880"/>
          </a:xfrm>
          <a:prstGeom prst="rect">
            <a:avLst/>
          </a:prstGeom>
          <a:noFill/>
        </p:spPr>
        <p:txBody>
          <a:bodyPr wrap="square" rtlCol="0" anchor="ctr"/>
          <a:lstStyle/>
          <a:p>
            <a:pPr marL="0" indent="0">
              <a:buNone/>
            </a:pPr>
            <a:r>
              <a:rPr lang="en-US" sz="850" dirty="0">
                <a:solidFill>
                  <a:srgbClr val="5A7A68"/>
                </a:solidFill>
              </a:rPr>
              <a:t>USSD (*OwnIt#) for feature phone users outside cities</a:t>
            </a:r>
            <a:endParaRPr lang="en-US" sz="850" dirty="0"/>
          </a:p>
        </p:txBody>
      </p:sp>
      <p:sp>
        <p:nvSpPr>
          <p:cNvPr id="48" name="Shape 46"/>
          <p:cNvSpPr/>
          <p:nvPr/>
        </p:nvSpPr>
        <p:spPr>
          <a:xfrm>
            <a:off x="457200" y="5074920"/>
            <a:ext cx="8339328" cy="310896"/>
          </a:xfrm>
          <a:prstGeom prst="rect">
            <a:avLst/>
          </a:prstGeom>
          <a:solidFill>
            <a:srgbClr val="1A7A45"/>
          </a:solidFill>
        </p:spPr>
      </p:sp>
      <p:sp>
        <p:nvSpPr>
          <p:cNvPr id="49" name="Text 47"/>
          <p:cNvSpPr/>
          <p:nvPr/>
        </p:nvSpPr>
        <p:spPr>
          <a:xfrm>
            <a:off x="566928" y="5074920"/>
            <a:ext cx="8229600" cy="310896"/>
          </a:xfrm>
          <a:prstGeom prst="rect">
            <a:avLst/>
          </a:prstGeom>
          <a:noFill/>
        </p:spPr>
        <p:txBody>
          <a:bodyPr wrap="square" rtlCol="0" anchor="ctr"/>
          <a:lstStyle/>
          <a:p>
            <a:pPr marL="0" indent="0">
              <a:buNone/>
            </a:pPr>
            <a:r>
              <a:rPr lang="en-US" sz="1000" i="1" dirty="0">
                <a:solidFill>
                  <a:srgbClr val="FFFFFF"/>
                </a:solidFill>
              </a:rPr>
              <a:t>"The question is not whether a crowd-investment platform like OwnIt will be built. The question is whether NSSF will be a founding partner — or watching from the outside as a competitor does it instead."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MARKET OPPORTUNITY</a:t>
            </a:r>
            <a:endParaRPr lang="en-US" sz="1100" dirty="0"/>
          </a:p>
        </p:txBody>
      </p:sp>
      <p:sp>
        <p:nvSpPr>
          <p:cNvPr id="4" name="Text 2"/>
          <p:cNvSpPr/>
          <p:nvPr/>
        </p:nvSpPr>
        <p:spPr>
          <a:xfrm>
            <a:off x="457200" y="749808"/>
            <a:ext cx="8229600" cy="548640"/>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Uganda's asset markets are booming — but inaccessible to 95% of the population.</a:t>
            </a:r>
            <a:endParaRPr lang="en-US" sz="2200" dirty="0"/>
          </a:p>
        </p:txBody>
      </p:sp>
      <p:sp>
        <p:nvSpPr>
          <p:cNvPr id="5" name="Shape 3"/>
          <p:cNvSpPr/>
          <p:nvPr/>
        </p:nvSpPr>
        <p:spPr>
          <a:xfrm>
            <a:off x="320040" y="1417320"/>
            <a:ext cx="2743200" cy="1572768"/>
          </a:xfrm>
          <a:prstGeom prst="rect">
            <a:avLst/>
          </a:prstGeom>
          <a:solidFill>
            <a:srgbClr val="F4F9F5"/>
          </a:solidFill>
          <a:effectLst>
            <a:outerShdw blurRad="101600" dist="38100" dir="8100000" algn="bl" rotWithShape="0">
              <a:srgbClr val="000000">
                <a:alpha val="12000"/>
              </a:srgbClr>
            </a:outerShdw>
          </a:effectLst>
        </p:spPr>
      </p:sp>
      <p:sp>
        <p:nvSpPr>
          <p:cNvPr id="6" name="Shape 4"/>
          <p:cNvSpPr/>
          <p:nvPr/>
        </p:nvSpPr>
        <p:spPr>
          <a:xfrm>
            <a:off x="320040" y="1417320"/>
            <a:ext cx="2743200" cy="64008"/>
          </a:xfrm>
          <a:prstGeom prst="rect">
            <a:avLst/>
          </a:prstGeom>
          <a:solidFill>
            <a:srgbClr val="1A7A45"/>
          </a:solidFill>
        </p:spPr>
      </p:sp>
      <p:sp>
        <p:nvSpPr>
          <p:cNvPr id="7" name="Text 5"/>
          <p:cNvSpPr/>
          <p:nvPr/>
        </p:nvSpPr>
        <p:spPr>
          <a:xfrm>
            <a:off x="457200" y="1554480"/>
            <a:ext cx="54864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8" name="Text 6"/>
          <p:cNvSpPr/>
          <p:nvPr/>
        </p:nvSpPr>
        <p:spPr>
          <a:xfrm>
            <a:off x="1069848" y="1527048"/>
            <a:ext cx="1920240" cy="475488"/>
          </a:xfrm>
          <a:prstGeom prst="rect">
            <a:avLst/>
          </a:prstGeom>
          <a:noFill/>
        </p:spPr>
        <p:txBody>
          <a:bodyPr wrap="square" rtlCol="0" anchor="ctr"/>
          <a:lstStyle/>
          <a:p>
            <a:pPr marL="0" indent="0">
              <a:buNone/>
            </a:pPr>
            <a:r>
              <a:rPr lang="en-US" sz="2600" b="1" dirty="0">
                <a:solidFill>
                  <a:srgbClr val="1A7A45"/>
                </a:solidFill>
                <a:latin typeface="Georgia" panose="02040502050405020303" pitchFamily="34" charset="0"/>
                <a:ea typeface="Georgia" panose="02040502050405020303" pitchFamily="34" charset="-122"/>
                <a:cs typeface="Georgia" panose="02040502050405020303" pitchFamily="34" charset="-120"/>
              </a:rPr>
              <a:t>30M+</a:t>
            </a:r>
            <a:endParaRPr lang="en-US" sz="2600" dirty="0"/>
          </a:p>
        </p:txBody>
      </p:sp>
      <p:sp>
        <p:nvSpPr>
          <p:cNvPr id="9" name="Text 7"/>
          <p:cNvSpPr/>
          <p:nvPr/>
        </p:nvSpPr>
        <p:spPr>
          <a:xfrm>
            <a:off x="1069848" y="1984248"/>
            <a:ext cx="1920240" cy="228600"/>
          </a:xfrm>
          <a:prstGeom prst="rect">
            <a:avLst/>
          </a:prstGeom>
          <a:noFill/>
        </p:spPr>
        <p:txBody>
          <a:bodyPr wrap="square" rtlCol="0" anchor="ctr"/>
          <a:lstStyle/>
          <a:p>
            <a:pPr marL="0" indent="0">
              <a:buNone/>
            </a:pPr>
            <a:r>
              <a:rPr lang="en-US" sz="1000" b="1" dirty="0">
                <a:solidFill>
                  <a:srgbClr val="0D1F15"/>
                </a:solidFill>
              </a:rPr>
              <a:t>Mobile Money accounts</a:t>
            </a:r>
            <a:endParaRPr lang="en-US" sz="1000" dirty="0"/>
          </a:p>
        </p:txBody>
      </p:sp>
      <p:sp>
        <p:nvSpPr>
          <p:cNvPr id="10" name="Text 8"/>
          <p:cNvSpPr/>
          <p:nvPr/>
        </p:nvSpPr>
        <p:spPr>
          <a:xfrm>
            <a:off x="457200" y="2331720"/>
            <a:ext cx="2514600" cy="566928"/>
          </a:xfrm>
          <a:prstGeom prst="rect">
            <a:avLst/>
          </a:prstGeom>
          <a:noFill/>
        </p:spPr>
        <p:txBody>
          <a:bodyPr wrap="square" rtlCol="0" anchor="ctr"/>
          <a:lstStyle/>
          <a:p>
            <a:pPr marL="0" indent="0">
              <a:buNone/>
            </a:pPr>
            <a:r>
              <a:rPr lang="en-US" sz="900" dirty="0">
                <a:solidFill>
                  <a:srgbClr val="5A7A68"/>
                </a:solidFill>
              </a:rPr>
              <a:t>UGX 200T+ processed annually. The payment rails already exist at scale.</a:t>
            </a:r>
            <a:endParaRPr lang="en-US" sz="900" dirty="0"/>
          </a:p>
        </p:txBody>
      </p:sp>
      <p:sp>
        <p:nvSpPr>
          <p:cNvPr id="11" name="Shape 9"/>
          <p:cNvSpPr/>
          <p:nvPr/>
        </p:nvSpPr>
        <p:spPr>
          <a:xfrm>
            <a:off x="3227832" y="1417320"/>
            <a:ext cx="2743200" cy="1572768"/>
          </a:xfrm>
          <a:prstGeom prst="rect">
            <a:avLst/>
          </a:prstGeom>
          <a:solidFill>
            <a:srgbClr val="F4F9F5"/>
          </a:solidFill>
          <a:effectLst>
            <a:outerShdw blurRad="101600" dist="38100" dir="8100000" algn="bl" rotWithShape="0">
              <a:srgbClr val="000000">
                <a:alpha val="12000"/>
              </a:srgbClr>
            </a:outerShdw>
          </a:effectLst>
        </p:spPr>
      </p:sp>
      <p:sp>
        <p:nvSpPr>
          <p:cNvPr id="12" name="Shape 10"/>
          <p:cNvSpPr/>
          <p:nvPr/>
        </p:nvSpPr>
        <p:spPr>
          <a:xfrm>
            <a:off x="3227832" y="1417320"/>
            <a:ext cx="2743200" cy="64008"/>
          </a:xfrm>
          <a:prstGeom prst="rect">
            <a:avLst/>
          </a:prstGeom>
          <a:solidFill>
            <a:srgbClr val="F59E0B"/>
          </a:solidFill>
        </p:spPr>
      </p:sp>
      <p:sp>
        <p:nvSpPr>
          <p:cNvPr id="13" name="Text 11"/>
          <p:cNvSpPr/>
          <p:nvPr/>
        </p:nvSpPr>
        <p:spPr>
          <a:xfrm>
            <a:off x="3364992" y="1554480"/>
            <a:ext cx="54864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14" name="Text 12"/>
          <p:cNvSpPr/>
          <p:nvPr/>
        </p:nvSpPr>
        <p:spPr>
          <a:xfrm>
            <a:off x="3977640" y="1527048"/>
            <a:ext cx="1920240" cy="475488"/>
          </a:xfrm>
          <a:prstGeom prst="rect">
            <a:avLst/>
          </a:prstGeom>
          <a:noFill/>
        </p:spPr>
        <p:txBody>
          <a:bodyPr wrap="square" rtlCol="0" anchor="ctr"/>
          <a:lstStyle/>
          <a:p>
            <a:pPr marL="0" indent="0">
              <a:buNone/>
            </a:pPr>
            <a:r>
              <a:rPr lang="en-US" sz="2600" b="1" dirty="0">
                <a:solidFill>
                  <a:srgbClr val="F59E0B"/>
                </a:solidFill>
                <a:latin typeface="Georgia" panose="02040502050405020303" pitchFamily="34" charset="0"/>
                <a:ea typeface="Georgia" panose="02040502050405020303" pitchFamily="34" charset="-122"/>
                <a:cs typeface="Georgia" panose="02040502050405020303" pitchFamily="34" charset="-120"/>
              </a:rPr>
              <a:t>USD 1.1B</a:t>
            </a:r>
            <a:endParaRPr lang="en-US" sz="2600" dirty="0"/>
          </a:p>
        </p:txBody>
      </p:sp>
      <p:sp>
        <p:nvSpPr>
          <p:cNvPr id="15" name="Text 13"/>
          <p:cNvSpPr/>
          <p:nvPr/>
        </p:nvSpPr>
        <p:spPr>
          <a:xfrm>
            <a:off x="3977640" y="1984248"/>
            <a:ext cx="1920240" cy="228600"/>
          </a:xfrm>
          <a:prstGeom prst="rect">
            <a:avLst/>
          </a:prstGeom>
          <a:noFill/>
        </p:spPr>
        <p:txBody>
          <a:bodyPr wrap="square" rtlCol="0" anchor="ctr"/>
          <a:lstStyle/>
          <a:p>
            <a:pPr marL="0" indent="0">
              <a:buNone/>
            </a:pPr>
            <a:r>
              <a:rPr lang="en-US" sz="1000" b="1" dirty="0">
                <a:solidFill>
                  <a:srgbClr val="0D1F15"/>
                </a:solidFill>
              </a:rPr>
              <a:t>Coffee exports FY24/25</a:t>
            </a:r>
            <a:endParaRPr lang="en-US" sz="1000" dirty="0"/>
          </a:p>
        </p:txBody>
      </p:sp>
      <p:sp>
        <p:nvSpPr>
          <p:cNvPr id="16" name="Text 14"/>
          <p:cNvSpPr/>
          <p:nvPr/>
        </p:nvSpPr>
        <p:spPr>
          <a:xfrm>
            <a:off x="3364992" y="2331720"/>
            <a:ext cx="2514600" cy="566928"/>
          </a:xfrm>
          <a:prstGeom prst="rect">
            <a:avLst/>
          </a:prstGeom>
          <a:noFill/>
        </p:spPr>
        <p:txBody>
          <a:bodyPr wrap="square" rtlCol="0" anchor="ctr"/>
          <a:lstStyle/>
          <a:p>
            <a:pPr marL="0" indent="0">
              <a:buNone/>
            </a:pPr>
            <a:r>
              <a:rPr lang="en-US" sz="900" dirty="0">
                <a:solidFill>
                  <a:srgbClr val="5A7A68"/>
                </a:solidFill>
              </a:rPr>
              <a:t>Uganda exports UGX 12T+ in agri-commodities annually. Short-cycle trades offer 25–45% returns.</a:t>
            </a:r>
            <a:endParaRPr lang="en-US" sz="900" dirty="0"/>
          </a:p>
        </p:txBody>
      </p:sp>
      <p:sp>
        <p:nvSpPr>
          <p:cNvPr id="17" name="Shape 15"/>
          <p:cNvSpPr/>
          <p:nvPr/>
        </p:nvSpPr>
        <p:spPr>
          <a:xfrm>
            <a:off x="6135624" y="1417320"/>
            <a:ext cx="2743200" cy="1572768"/>
          </a:xfrm>
          <a:prstGeom prst="rect">
            <a:avLst/>
          </a:prstGeom>
          <a:solidFill>
            <a:srgbClr val="F4F9F5"/>
          </a:solidFill>
          <a:effectLst>
            <a:outerShdw blurRad="101600" dist="38100" dir="8100000" algn="bl" rotWithShape="0">
              <a:srgbClr val="000000">
                <a:alpha val="12000"/>
              </a:srgbClr>
            </a:outerShdw>
          </a:effectLst>
        </p:spPr>
      </p:sp>
      <p:sp>
        <p:nvSpPr>
          <p:cNvPr id="18" name="Shape 16"/>
          <p:cNvSpPr/>
          <p:nvPr/>
        </p:nvSpPr>
        <p:spPr>
          <a:xfrm>
            <a:off x="6135624" y="1417320"/>
            <a:ext cx="2743200" cy="64008"/>
          </a:xfrm>
          <a:prstGeom prst="rect">
            <a:avLst/>
          </a:prstGeom>
          <a:solidFill>
            <a:srgbClr val="B45309"/>
          </a:solidFill>
        </p:spPr>
      </p:sp>
      <p:sp>
        <p:nvSpPr>
          <p:cNvPr id="19" name="Text 17"/>
          <p:cNvSpPr/>
          <p:nvPr/>
        </p:nvSpPr>
        <p:spPr>
          <a:xfrm>
            <a:off x="6272784" y="1554480"/>
            <a:ext cx="54864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0" name="Text 18"/>
          <p:cNvSpPr/>
          <p:nvPr/>
        </p:nvSpPr>
        <p:spPr>
          <a:xfrm>
            <a:off x="6885432" y="1527048"/>
            <a:ext cx="1920240" cy="475488"/>
          </a:xfrm>
          <a:prstGeom prst="rect">
            <a:avLst/>
          </a:prstGeom>
          <a:noFill/>
        </p:spPr>
        <p:txBody>
          <a:bodyPr wrap="square" rtlCol="0" anchor="ctr"/>
          <a:lstStyle/>
          <a:p>
            <a:pPr marL="0" indent="0">
              <a:buNone/>
            </a:pPr>
            <a:r>
              <a:rPr lang="en-US" sz="2600" b="1" dirty="0">
                <a:solidFill>
                  <a:srgbClr val="B45309"/>
                </a:solidFill>
                <a:latin typeface="Georgia" panose="02040502050405020303" pitchFamily="34" charset="0"/>
                <a:ea typeface="Georgia" panose="02040502050405020303" pitchFamily="34" charset="-122"/>
                <a:cs typeface="Georgia" panose="02040502050405020303" pitchFamily="34" charset="-120"/>
              </a:rPr>
              <a:t>50,000</a:t>
            </a:r>
            <a:endParaRPr lang="en-US" sz="2600" dirty="0"/>
          </a:p>
        </p:txBody>
      </p:sp>
      <p:sp>
        <p:nvSpPr>
          <p:cNvPr id="21" name="Text 19"/>
          <p:cNvSpPr/>
          <p:nvPr/>
        </p:nvSpPr>
        <p:spPr>
          <a:xfrm>
            <a:off x="6885432" y="1984248"/>
            <a:ext cx="1920240" cy="228600"/>
          </a:xfrm>
          <a:prstGeom prst="rect">
            <a:avLst/>
          </a:prstGeom>
          <a:noFill/>
        </p:spPr>
        <p:txBody>
          <a:bodyPr wrap="square" rtlCol="0" anchor="ctr"/>
          <a:lstStyle/>
          <a:p>
            <a:pPr marL="0" indent="0">
              <a:buNone/>
            </a:pPr>
            <a:r>
              <a:rPr lang="en-US" sz="1000" b="1" dirty="0">
                <a:solidFill>
                  <a:srgbClr val="0D1F15"/>
                </a:solidFill>
              </a:rPr>
              <a:t>Barrels/day petroleum</a:t>
            </a:r>
            <a:endParaRPr lang="en-US" sz="1000" dirty="0"/>
          </a:p>
        </p:txBody>
      </p:sp>
      <p:sp>
        <p:nvSpPr>
          <p:cNvPr id="22" name="Text 20"/>
          <p:cNvSpPr/>
          <p:nvPr/>
        </p:nvSpPr>
        <p:spPr>
          <a:xfrm>
            <a:off x="6272784" y="2331720"/>
            <a:ext cx="2514600" cy="566928"/>
          </a:xfrm>
          <a:prstGeom prst="rect">
            <a:avLst/>
          </a:prstGeom>
          <a:noFill/>
        </p:spPr>
        <p:txBody>
          <a:bodyPr wrap="square" rtlCol="0" anchor="ctr"/>
          <a:lstStyle/>
          <a:p>
            <a:pPr marL="0" indent="0">
              <a:buNone/>
            </a:pPr>
            <a:r>
              <a:rPr lang="en-US" sz="900" dirty="0">
                <a:solidFill>
                  <a:srgbClr val="5A7A68"/>
                </a:solidFill>
              </a:rPr>
              <a:t>Licensed distributors run high-volume, short-cycle oil trades with documented 8–40% margins.</a:t>
            </a:r>
            <a:endParaRPr lang="en-US" sz="900" dirty="0"/>
          </a:p>
        </p:txBody>
      </p:sp>
      <p:sp>
        <p:nvSpPr>
          <p:cNvPr id="23" name="Shape 21"/>
          <p:cNvSpPr/>
          <p:nvPr/>
        </p:nvSpPr>
        <p:spPr>
          <a:xfrm>
            <a:off x="320040" y="3136392"/>
            <a:ext cx="2743200" cy="1572768"/>
          </a:xfrm>
          <a:prstGeom prst="rect">
            <a:avLst/>
          </a:prstGeom>
          <a:solidFill>
            <a:srgbClr val="F4F9F5"/>
          </a:solidFill>
          <a:effectLst>
            <a:outerShdw blurRad="101600" dist="38100" dir="8100000" algn="bl" rotWithShape="0">
              <a:srgbClr val="000000">
                <a:alpha val="12000"/>
              </a:srgbClr>
            </a:outerShdw>
          </a:effectLst>
        </p:spPr>
      </p:sp>
      <p:sp>
        <p:nvSpPr>
          <p:cNvPr id="24" name="Shape 22"/>
          <p:cNvSpPr/>
          <p:nvPr/>
        </p:nvSpPr>
        <p:spPr>
          <a:xfrm>
            <a:off x="320040" y="3136392"/>
            <a:ext cx="2743200" cy="64008"/>
          </a:xfrm>
          <a:prstGeom prst="rect">
            <a:avLst/>
          </a:prstGeom>
          <a:solidFill>
            <a:srgbClr val="028090"/>
          </a:solidFill>
        </p:spPr>
      </p:sp>
      <p:sp>
        <p:nvSpPr>
          <p:cNvPr id="25" name="Text 23"/>
          <p:cNvSpPr/>
          <p:nvPr/>
        </p:nvSpPr>
        <p:spPr>
          <a:xfrm>
            <a:off x="457200" y="3273552"/>
            <a:ext cx="54864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6" name="Text 24"/>
          <p:cNvSpPr/>
          <p:nvPr/>
        </p:nvSpPr>
        <p:spPr>
          <a:xfrm>
            <a:off x="1069848" y="3246120"/>
            <a:ext cx="1920240" cy="475488"/>
          </a:xfrm>
          <a:prstGeom prst="rect">
            <a:avLst/>
          </a:prstGeom>
          <a:noFill/>
        </p:spPr>
        <p:txBody>
          <a:bodyPr wrap="square" rtlCol="0" anchor="ctr"/>
          <a:lstStyle/>
          <a:p>
            <a:pPr marL="0" indent="0">
              <a:buNone/>
            </a:pPr>
            <a:r>
              <a:rPr lang="en-US" sz="2600" b="1" dirty="0">
                <a:solidFill>
                  <a:srgbClr val="028090"/>
                </a:solidFill>
                <a:latin typeface="Georgia" panose="02040502050405020303" pitchFamily="34" charset="0"/>
                <a:ea typeface="Georgia" panose="02040502050405020303" pitchFamily="34" charset="-122"/>
                <a:cs typeface="Georgia" panose="02040502050405020303" pitchFamily="34" charset="-120"/>
              </a:rPr>
              <a:t>14–18%</a:t>
            </a:r>
            <a:endParaRPr lang="en-US" sz="2600" dirty="0"/>
          </a:p>
        </p:txBody>
      </p:sp>
      <p:sp>
        <p:nvSpPr>
          <p:cNvPr id="27" name="Text 25"/>
          <p:cNvSpPr/>
          <p:nvPr/>
        </p:nvSpPr>
        <p:spPr>
          <a:xfrm>
            <a:off x="1069848" y="3703320"/>
            <a:ext cx="1920240" cy="228600"/>
          </a:xfrm>
          <a:prstGeom prst="rect">
            <a:avLst/>
          </a:prstGeom>
          <a:noFill/>
        </p:spPr>
        <p:txBody>
          <a:bodyPr wrap="square" rtlCol="0" anchor="ctr"/>
          <a:lstStyle/>
          <a:p>
            <a:pPr marL="0" indent="0">
              <a:buNone/>
            </a:pPr>
            <a:r>
              <a:rPr lang="en-US" sz="1000" b="1" dirty="0">
                <a:solidFill>
                  <a:srgbClr val="0D1F15"/>
                </a:solidFill>
              </a:rPr>
              <a:t>T-Bill yields (BoU)</a:t>
            </a:r>
            <a:endParaRPr lang="en-US" sz="1000" dirty="0"/>
          </a:p>
        </p:txBody>
      </p:sp>
      <p:sp>
        <p:nvSpPr>
          <p:cNvPr id="28" name="Text 26"/>
          <p:cNvSpPr/>
          <p:nvPr/>
        </p:nvSpPr>
        <p:spPr>
          <a:xfrm>
            <a:off x="457200" y="4050792"/>
            <a:ext cx="2514600" cy="566928"/>
          </a:xfrm>
          <a:prstGeom prst="rect">
            <a:avLst/>
          </a:prstGeom>
          <a:noFill/>
        </p:spPr>
        <p:txBody>
          <a:bodyPr wrap="square" rtlCol="0" anchor="ctr"/>
          <a:lstStyle/>
          <a:p>
            <a:pPr marL="0" indent="0">
              <a:buNone/>
            </a:pPr>
            <a:r>
              <a:rPr lang="en-US" sz="900" dirty="0">
                <a:solidFill>
                  <a:srgbClr val="5A7A68"/>
                </a:solidFill>
              </a:rPr>
              <a:t>T-Bills consistently oversubscribed. Retail participation under 3% — a massive access gap.</a:t>
            </a:r>
            <a:endParaRPr lang="en-US" sz="900" dirty="0"/>
          </a:p>
        </p:txBody>
      </p:sp>
      <p:sp>
        <p:nvSpPr>
          <p:cNvPr id="29" name="Shape 27"/>
          <p:cNvSpPr/>
          <p:nvPr/>
        </p:nvSpPr>
        <p:spPr>
          <a:xfrm>
            <a:off x="3227832" y="3136392"/>
            <a:ext cx="2743200" cy="1572768"/>
          </a:xfrm>
          <a:prstGeom prst="rect">
            <a:avLst/>
          </a:prstGeom>
          <a:solidFill>
            <a:srgbClr val="F4F9F5"/>
          </a:solidFill>
          <a:effectLst>
            <a:outerShdw blurRad="101600" dist="38100" dir="8100000" algn="bl" rotWithShape="0">
              <a:srgbClr val="000000">
                <a:alpha val="12000"/>
              </a:srgbClr>
            </a:outerShdw>
          </a:effectLst>
        </p:spPr>
      </p:sp>
      <p:sp>
        <p:nvSpPr>
          <p:cNvPr id="30" name="Shape 28"/>
          <p:cNvSpPr/>
          <p:nvPr/>
        </p:nvSpPr>
        <p:spPr>
          <a:xfrm>
            <a:off x="3227832" y="3136392"/>
            <a:ext cx="2743200" cy="64008"/>
          </a:xfrm>
          <a:prstGeom prst="rect">
            <a:avLst/>
          </a:prstGeom>
          <a:solidFill>
            <a:srgbClr val="5A2D82"/>
          </a:solidFill>
        </p:spPr>
      </p:sp>
      <p:sp>
        <p:nvSpPr>
          <p:cNvPr id="31" name="Text 29"/>
          <p:cNvSpPr/>
          <p:nvPr/>
        </p:nvSpPr>
        <p:spPr>
          <a:xfrm>
            <a:off x="3364992" y="3273552"/>
            <a:ext cx="54864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32" name="Text 30"/>
          <p:cNvSpPr/>
          <p:nvPr/>
        </p:nvSpPr>
        <p:spPr>
          <a:xfrm>
            <a:off x="3977640" y="3246120"/>
            <a:ext cx="1920240" cy="475488"/>
          </a:xfrm>
          <a:prstGeom prst="rect">
            <a:avLst/>
          </a:prstGeom>
          <a:noFill/>
        </p:spPr>
        <p:txBody>
          <a:bodyPr wrap="square" rtlCol="0" anchor="ctr"/>
          <a:lstStyle/>
          <a:p>
            <a:pPr marL="0" indent="0">
              <a:buNone/>
            </a:pPr>
            <a:r>
              <a:rPr lang="en-US" sz="2600" b="1" dirty="0">
                <a:solidFill>
                  <a:srgbClr val="5A2D82"/>
                </a:solidFill>
                <a:latin typeface="Georgia" panose="02040502050405020303" pitchFamily="34" charset="0"/>
                <a:ea typeface="Georgia" panose="02040502050405020303" pitchFamily="34" charset="-122"/>
                <a:cs typeface="Georgia" panose="02040502050405020303" pitchFamily="34" charset="-120"/>
              </a:rPr>
              <a:t>$700M+</a:t>
            </a:r>
            <a:endParaRPr lang="en-US" sz="2600" dirty="0"/>
          </a:p>
        </p:txBody>
      </p:sp>
      <p:sp>
        <p:nvSpPr>
          <p:cNvPr id="33" name="Text 31"/>
          <p:cNvSpPr/>
          <p:nvPr/>
        </p:nvSpPr>
        <p:spPr>
          <a:xfrm>
            <a:off x="3977640" y="3703320"/>
            <a:ext cx="1920240" cy="228600"/>
          </a:xfrm>
          <a:prstGeom prst="rect">
            <a:avLst/>
          </a:prstGeom>
          <a:noFill/>
        </p:spPr>
        <p:txBody>
          <a:bodyPr wrap="square" rtlCol="0" anchor="ctr"/>
          <a:lstStyle/>
          <a:p>
            <a:pPr marL="0" indent="0">
              <a:buNone/>
            </a:pPr>
            <a:r>
              <a:rPr lang="en-US" sz="1000" b="1" dirty="0">
                <a:solidFill>
                  <a:srgbClr val="0D1F15"/>
                </a:solidFill>
              </a:rPr>
              <a:t>Mineral exports FY24/25</a:t>
            </a:r>
            <a:endParaRPr lang="en-US" sz="1000" dirty="0"/>
          </a:p>
        </p:txBody>
      </p:sp>
      <p:sp>
        <p:nvSpPr>
          <p:cNvPr id="34" name="Text 32"/>
          <p:cNvSpPr/>
          <p:nvPr/>
        </p:nvSpPr>
        <p:spPr>
          <a:xfrm>
            <a:off x="3364992" y="4050792"/>
            <a:ext cx="2514600" cy="566928"/>
          </a:xfrm>
          <a:prstGeom prst="rect">
            <a:avLst/>
          </a:prstGeom>
          <a:noFill/>
        </p:spPr>
        <p:txBody>
          <a:bodyPr wrap="square" rtlCol="0" anchor="ctr"/>
          <a:lstStyle/>
          <a:p>
            <a:pPr marL="0" indent="0">
              <a:buNone/>
            </a:pPr>
            <a:r>
              <a:rPr lang="en-US" sz="900" dirty="0">
                <a:solidFill>
                  <a:srgbClr val="5A7A68"/>
                </a:solidFill>
              </a:rPr>
              <a:t>Uganda holds Africa's 2nd-largest mineral deposits. Global EV demand is surging coltan, cobalt, lithium.</a:t>
            </a:r>
            <a:endParaRPr lang="en-US" sz="900" dirty="0"/>
          </a:p>
        </p:txBody>
      </p:sp>
      <p:sp>
        <p:nvSpPr>
          <p:cNvPr id="35" name="Shape 33"/>
          <p:cNvSpPr/>
          <p:nvPr/>
        </p:nvSpPr>
        <p:spPr>
          <a:xfrm>
            <a:off x="6135624" y="3136392"/>
            <a:ext cx="2743200" cy="1572768"/>
          </a:xfrm>
          <a:prstGeom prst="rect">
            <a:avLst/>
          </a:prstGeom>
          <a:solidFill>
            <a:srgbClr val="F4F9F5"/>
          </a:solidFill>
          <a:effectLst>
            <a:outerShdw blurRad="101600" dist="38100" dir="8100000" algn="bl" rotWithShape="0">
              <a:srgbClr val="000000">
                <a:alpha val="12000"/>
              </a:srgbClr>
            </a:outerShdw>
          </a:effectLst>
        </p:spPr>
      </p:sp>
      <p:sp>
        <p:nvSpPr>
          <p:cNvPr id="36" name="Shape 34"/>
          <p:cNvSpPr/>
          <p:nvPr/>
        </p:nvSpPr>
        <p:spPr>
          <a:xfrm>
            <a:off x="6135624" y="3136392"/>
            <a:ext cx="2743200" cy="64008"/>
          </a:xfrm>
          <a:prstGeom prst="rect">
            <a:avLst/>
          </a:prstGeom>
          <a:solidFill>
            <a:srgbClr val="1E2761"/>
          </a:solidFill>
        </p:spPr>
      </p:sp>
      <p:sp>
        <p:nvSpPr>
          <p:cNvPr id="37" name="Text 35"/>
          <p:cNvSpPr/>
          <p:nvPr/>
        </p:nvSpPr>
        <p:spPr>
          <a:xfrm>
            <a:off x="6272784" y="3273552"/>
            <a:ext cx="548640" cy="50292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38" name="Text 36"/>
          <p:cNvSpPr/>
          <p:nvPr/>
        </p:nvSpPr>
        <p:spPr>
          <a:xfrm>
            <a:off x="6885432" y="3246120"/>
            <a:ext cx="1920240" cy="475488"/>
          </a:xfrm>
          <a:prstGeom prst="rect">
            <a:avLst/>
          </a:prstGeom>
          <a:noFill/>
        </p:spPr>
        <p:txBody>
          <a:bodyPr wrap="square" rtlCol="0" anchor="ctr"/>
          <a:lstStyle/>
          <a:p>
            <a:pPr marL="0" indent="0">
              <a:buNone/>
            </a:pPr>
            <a:r>
              <a:rPr lang="en-US" sz="2600" b="1" dirty="0">
                <a:solidFill>
                  <a:srgbClr val="1E2761"/>
                </a:solidFill>
                <a:latin typeface="Georgia" panose="02040502050405020303" pitchFamily="34" charset="0"/>
                <a:ea typeface="Georgia" panose="02040502050405020303" pitchFamily="34" charset="-122"/>
                <a:cs typeface="Georgia" panose="02040502050405020303" pitchFamily="34" charset="-120"/>
              </a:rPr>
              <a:t>35,000</a:t>
            </a:r>
            <a:endParaRPr lang="en-US" sz="2600" dirty="0"/>
          </a:p>
        </p:txBody>
      </p:sp>
      <p:sp>
        <p:nvSpPr>
          <p:cNvPr id="39" name="Text 37"/>
          <p:cNvSpPr/>
          <p:nvPr/>
        </p:nvSpPr>
        <p:spPr>
          <a:xfrm>
            <a:off x="6885432" y="3703320"/>
            <a:ext cx="1920240" cy="228600"/>
          </a:xfrm>
          <a:prstGeom prst="rect">
            <a:avLst/>
          </a:prstGeom>
          <a:noFill/>
        </p:spPr>
        <p:txBody>
          <a:bodyPr wrap="square" rtlCol="0" anchor="ctr"/>
          <a:lstStyle/>
          <a:p>
            <a:pPr marL="0" indent="0">
              <a:buNone/>
            </a:pPr>
            <a:r>
              <a:rPr lang="en-US" sz="1000" b="1" dirty="0">
                <a:solidFill>
                  <a:srgbClr val="0D1F15"/>
                </a:solidFill>
              </a:rPr>
              <a:t>USE account holders</a:t>
            </a:r>
            <a:endParaRPr lang="en-US" sz="1000" dirty="0"/>
          </a:p>
        </p:txBody>
      </p:sp>
      <p:sp>
        <p:nvSpPr>
          <p:cNvPr id="40" name="Text 38"/>
          <p:cNvSpPr/>
          <p:nvPr/>
        </p:nvSpPr>
        <p:spPr>
          <a:xfrm>
            <a:off x="6272784" y="4050792"/>
            <a:ext cx="2514600" cy="566928"/>
          </a:xfrm>
          <a:prstGeom prst="rect">
            <a:avLst/>
          </a:prstGeom>
          <a:noFill/>
        </p:spPr>
        <p:txBody>
          <a:bodyPr wrap="square" rtlCol="0" anchor="ctr"/>
          <a:lstStyle/>
          <a:p>
            <a:pPr marL="0" indent="0">
              <a:buNone/>
            </a:pPr>
            <a:r>
              <a:rPr lang="en-US" sz="900" dirty="0">
                <a:solidFill>
                  <a:srgbClr val="5A7A68"/>
                </a:solidFill>
              </a:rPr>
              <a:t>Only 35K Ugandans hold USE stock accounts from a market of 45M. Dividend yields 8–15% p.a.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TARGET MARKET SEGMENTS</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400" b="1" dirty="0">
                <a:solidFill>
                  <a:srgbClr val="0D1F15"/>
                </a:solidFill>
                <a:latin typeface="Georgia" panose="02040502050405020303" pitchFamily="34" charset="0"/>
                <a:ea typeface="Georgia" panose="02040502050405020303" pitchFamily="34" charset="-122"/>
                <a:cs typeface="Georgia" panose="02040502050405020303" pitchFamily="34" charset="-120"/>
              </a:rPr>
              <a:t>Six high-value segments. One platform. UGX 50,000 entry.</a:t>
            </a:r>
            <a:endParaRPr lang="en-US" sz="2400" dirty="0"/>
          </a:p>
        </p:txBody>
      </p:sp>
      <p:sp>
        <p:nvSpPr>
          <p:cNvPr id="5" name="Shape 3"/>
          <p:cNvSpPr/>
          <p:nvPr/>
        </p:nvSpPr>
        <p:spPr>
          <a:xfrm>
            <a:off x="320040" y="1371600"/>
            <a:ext cx="4160520" cy="1143000"/>
          </a:xfrm>
          <a:prstGeom prst="rect">
            <a:avLst/>
          </a:prstGeom>
          <a:solidFill>
            <a:srgbClr val="FFFFFF"/>
          </a:solidFill>
          <a:effectLst>
            <a:outerShdw blurRad="101600" dist="38100" dir="8100000" algn="bl" rotWithShape="0">
              <a:srgbClr val="000000">
                <a:alpha val="12000"/>
              </a:srgbClr>
            </a:outerShdw>
          </a:effectLst>
        </p:spPr>
      </p:sp>
      <p:sp>
        <p:nvSpPr>
          <p:cNvPr id="6" name="Shape 4"/>
          <p:cNvSpPr/>
          <p:nvPr/>
        </p:nvSpPr>
        <p:spPr>
          <a:xfrm>
            <a:off x="320040" y="1371600"/>
            <a:ext cx="64008" cy="1143000"/>
          </a:xfrm>
          <a:prstGeom prst="rect">
            <a:avLst/>
          </a:prstGeom>
          <a:solidFill>
            <a:srgbClr val="1A7A45"/>
          </a:solidFill>
        </p:spPr>
      </p:sp>
      <p:sp>
        <p:nvSpPr>
          <p:cNvPr id="7" name="Shape 5"/>
          <p:cNvSpPr/>
          <p:nvPr/>
        </p:nvSpPr>
        <p:spPr>
          <a:xfrm>
            <a:off x="457200" y="1627632"/>
            <a:ext cx="640080" cy="640080"/>
          </a:xfrm>
          <a:prstGeom prst="ellipse">
            <a:avLst/>
          </a:prstGeom>
          <a:solidFill>
            <a:srgbClr val="1A7A45"/>
          </a:solidFill>
        </p:spPr>
      </p:sp>
      <p:sp>
        <p:nvSpPr>
          <p:cNvPr id="8" name="Text 6"/>
          <p:cNvSpPr/>
          <p:nvPr/>
        </p:nvSpPr>
        <p:spPr>
          <a:xfrm>
            <a:off x="457200" y="1627632"/>
            <a:ext cx="640080" cy="6400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1234440" y="1444752"/>
            <a:ext cx="3108960" cy="274320"/>
          </a:xfrm>
          <a:prstGeom prst="rect">
            <a:avLst/>
          </a:prstGeom>
          <a:noFill/>
        </p:spPr>
        <p:txBody>
          <a:bodyPr wrap="square" rtlCol="0" anchor="ctr"/>
          <a:lstStyle/>
          <a:p>
            <a:pPr marL="0" indent="0">
              <a:buNone/>
            </a:pPr>
            <a:r>
              <a:rPr lang="en-US" sz="1200" b="1" dirty="0">
                <a:solidFill>
                  <a:srgbClr val="0D1F15"/>
                </a:solidFill>
              </a:rPr>
              <a:t>Gen Z (18–29)</a:t>
            </a:r>
            <a:endParaRPr lang="en-US" sz="1200" dirty="0"/>
          </a:p>
        </p:txBody>
      </p:sp>
      <p:sp>
        <p:nvSpPr>
          <p:cNvPr id="10" name="Shape 8"/>
          <p:cNvSpPr/>
          <p:nvPr/>
        </p:nvSpPr>
        <p:spPr>
          <a:xfrm>
            <a:off x="1234440" y="1691640"/>
            <a:ext cx="685800" cy="219456"/>
          </a:xfrm>
          <a:prstGeom prst="rect">
            <a:avLst/>
          </a:prstGeom>
          <a:solidFill>
            <a:srgbClr val="1A7A45"/>
          </a:solidFill>
        </p:spPr>
      </p:sp>
      <p:sp>
        <p:nvSpPr>
          <p:cNvPr id="11" name="Text 9"/>
          <p:cNvSpPr/>
          <p:nvPr/>
        </p:nvSpPr>
        <p:spPr>
          <a:xfrm>
            <a:off x="1234440" y="1691640"/>
            <a:ext cx="685800" cy="219456"/>
          </a:xfrm>
          <a:prstGeom prst="rect">
            <a:avLst/>
          </a:prstGeom>
          <a:noFill/>
        </p:spPr>
        <p:txBody>
          <a:bodyPr wrap="square" rtlCol="0" anchor="ctr"/>
          <a:lstStyle/>
          <a:p>
            <a:pPr marL="0" indent="0" algn="ctr">
              <a:buNone/>
            </a:pPr>
            <a:r>
              <a:rPr lang="en-US" sz="900" b="1" dirty="0">
                <a:solidFill>
                  <a:srgbClr val="FFFFFF"/>
                </a:solidFill>
              </a:rPr>
              <a:t>~4.5M</a:t>
            </a:r>
            <a:endParaRPr lang="en-US" sz="900" dirty="0"/>
          </a:p>
        </p:txBody>
      </p:sp>
      <p:sp>
        <p:nvSpPr>
          <p:cNvPr id="12" name="Text 10"/>
          <p:cNvSpPr/>
          <p:nvPr/>
        </p:nvSpPr>
        <p:spPr>
          <a:xfrm>
            <a:off x="2011680" y="1700784"/>
            <a:ext cx="2331720" cy="219456"/>
          </a:xfrm>
          <a:prstGeom prst="rect">
            <a:avLst/>
          </a:prstGeom>
          <a:noFill/>
        </p:spPr>
        <p:txBody>
          <a:bodyPr wrap="square" rtlCol="0" anchor="ctr"/>
          <a:lstStyle/>
          <a:p>
            <a:pPr marL="0" indent="0">
              <a:buNone/>
            </a:pPr>
            <a:r>
              <a:rPr lang="en-US" sz="900" dirty="0">
                <a:solidFill>
                  <a:srgbClr val="5A7A68"/>
                </a:solidFill>
              </a:rPr>
              <a:t>Near-term income, mobile-first</a:t>
            </a:r>
            <a:endParaRPr lang="en-US" sz="900" dirty="0"/>
          </a:p>
        </p:txBody>
      </p:sp>
      <p:sp>
        <p:nvSpPr>
          <p:cNvPr id="13" name="Text 11"/>
          <p:cNvSpPr/>
          <p:nvPr/>
        </p:nvSpPr>
        <p:spPr>
          <a:xfrm>
            <a:off x="1234440" y="1993392"/>
            <a:ext cx="3108960" cy="219456"/>
          </a:xfrm>
          <a:prstGeom prst="rect">
            <a:avLst/>
          </a:prstGeom>
          <a:noFill/>
        </p:spPr>
        <p:txBody>
          <a:bodyPr wrap="square" rtlCol="0" anchor="ctr"/>
          <a:lstStyle/>
          <a:p>
            <a:pPr marL="0" indent="0">
              <a:buNone/>
            </a:pPr>
            <a:r>
              <a:rPr lang="en-US" sz="950" b="1" dirty="0">
                <a:solidFill>
                  <a:srgbClr val="1A7A45"/>
                </a:solidFill>
              </a:rPr>
              <a:t>Best asset classes: Agri, Oil, FX, T-Bills</a:t>
            </a:r>
            <a:endParaRPr lang="en-US" sz="950" dirty="0"/>
          </a:p>
        </p:txBody>
      </p:sp>
      <p:sp>
        <p:nvSpPr>
          <p:cNvPr id="14" name="Shape 12"/>
          <p:cNvSpPr/>
          <p:nvPr/>
        </p:nvSpPr>
        <p:spPr>
          <a:xfrm>
            <a:off x="4690872" y="1371600"/>
            <a:ext cx="4160520" cy="1143000"/>
          </a:xfrm>
          <a:prstGeom prst="rect">
            <a:avLst/>
          </a:prstGeom>
          <a:solidFill>
            <a:srgbClr val="FFFFFF"/>
          </a:solidFill>
          <a:effectLst>
            <a:outerShdw blurRad="101600" dist="38100" dir="8100000" algn="bl" rotWithShape="0">
              <a:srgbClr val="000000">
                <a:alpha val="12000"/>
              </a:srgbClr>
            </a:outerShdw>
          </a:effectLst>
        </p:spPr>
      </p:sp>
      <p:sp>
        <p:nvSpPr>
          <p:cNvPr id="15" name="Shape 13"/>
          <p:cNvSpPr/>
          <p:nvPr/>
        </p:nvSpPr>
        <p:spPr>
          <a:xfrm>
            <a:off x="4690872" y="1371600"/>
            <a:ext cx="64008" cy="1143000"/>
          </a:xfrm>
          <a:prstGeom prst="rect">
            <a:avLst/>
          </a:prstGeom>
          <a:solidFill>
            <a:srgbClr val="028090"/>
          </a:solidFill>
        </p:spPr>
      </p:sp>
      <p:sp>
        <p:nvSpPr>
          <p:cNvPr id="16" name="Shape 14"/>
          <p:cNvSpPr/>
          <p:nvPr/>
        </p:nvSpPr>
        <p:spPr>
          <a:xfrm>
            <a:off x="4828032" y="1627632"/>
            <a:ext cx="640080" cy="640080"/>
          </a:xfrm>
          <a:prstGeom prst="ellipse">
            <a:avLst/>
          </a:prstGeom>
          <a:solidFill>
            <a:srgbClr val="028090"/>
          </a:solidFill>
        </p:spPr>
      </p:sp>
      <p:sp>
        <p:nvSpPr>
          <p:cNvPr id="17" name="Text 15"/>
          <p:cNvSpPr/>
          <p:nvPr/>
        </p:nvSpPr>
        <p:spPr>
          <a:xfrm>
            <a:off x="4828032" y="1627632"/>
            <a:ext cx="640080" cy="6400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5605272" y="1444752"/>
            <a:ext cx="3108960" cy="274320"/>
          </a:xfrm>
          <a:prstGeom prst="rect">
            <a:avLst/>
          </a:prstGeom>
          <a:noFill/>
        </p:spPr>
        <p:txBody>
          <a:bodyPr wrap="square" rtlCol="0" anchor="ctr"/>
          <a:lstStyle/>
          <a:p>
            <a:pPr marL="0" indent="0">
              <a:buNone/>
            </a:pPr>
            <a:r>
              <a:rPr lang="en-US" sz="1200" b="1" dirty="0">
                <a:solidFill>
                  <a:srgbClr val="0D1F15"/>
                </a:solidFill>
              </a:rPr>
              <a:t>Gig / Informal Workers</a:t>
            </a:r>
            <a:endParaRPr lang="en-US" sz="1200" dirty="0"/>
          </a:p>
        </p:txBody>
      </p:sp>
      <p:sp>
        <p:nvSpPr>
          <p:cNvPr id="19" name="Shape 17"/>
          <p:cNvSpPr/>
          <p:nvPr/>
        </p:nvSpPr>
        <p:spPr>
          <a:xfrm>
            <a:off x="5605272" y="1691640"/>
            <a:ext cx="685800" cy="219456"/>
          </a:xfrm>
          <a:prstGeom prst="rect">
            <a:avLst/>
          </a:prstGeom>
          <a:solidFill>
            <a:srgbClr val="028090"/>
          </a:solidFill>
        </p:spPr>
      </p:sp>
      <p:sp>
        <p:nvSpPr>
          <p:cNvPr id="20" name="Text 18"/>
          <p:cNvSpPr/>
          <p:nvPr/>
        </p:nvSpPr>
        <p:spPr>
          <a:xfrm>
            <a:off x="5605272" y="1691640"/>
            <a:ext cx="685800" cy="219456"/>
          </a:xfrm>
          <a:prstGeom prst="rect">
            <a:avLst/>
          </a:prstGeom>
          <a:noFill/>
        </p:spPr>
        <p:txBody>
          <a:bodyPr wrap="square" rtlCol="0" anchor="ctr"/>
          <a:lstStyle/>
          <a:p>
            <a:pPr marL="0" indent="0" algn="ctr">
              <a:buNone/>
            </a:pPr>
            <a:r>
              <a:rPr lang="en-US" sz="900" b="1" dirty="0">
                <a:solidFill>
                  <a:srgbClr val="FFFFFF"/>
                </a:solidFill>
              </a:rPr>
              <a:t>~9M</a:t>
            </a:r>
            <a:endParaRPr lang="en-US" sz="900" dirty="0"/>
          </a:p>
        </p:txBody>
      </p:sp>
      <p:sp>
        <p:nvSpPr>
          <p:cNvPr id="21" name="Text 19"/>
          <p:cNvSpPr/>
          <p:nvPr/>
        </p:nvSpPr>
        <p:spPr>
          <a:xfrm>
            <a:off x="6382512" y="1700784"/>
            <a:ext cx="2331720" cy="219456"/>
          </a:xfrm>
          <a:prstGeom prst="rect">
            <a:avLst/>
          </a:prstGeom>
          <a:noFill/>
        </p:spPr>
        <p:txBody>
          <a:bodyPr wrap="square" rtlCol="0" anchor="ctr"/>
          <a:lstStyle/>
          <a:p>
            <a:pPr marL="0" indent="0">
              <a:buNone/>
            </a:pPr>
            <a:r>
              <a:rPr lang="en-US" sz="900" dirty="0">
                <a:solidFill>
                  <a:srgbClr val="5A7A68"/>
                </a:solidFill>
              </a:rPr>
              <a:t>Flexible, low-min, MoMo</a:t>
            </a:r>
            <a:endParaRPr lang="en-US" sz="900" dirty="0"/>
          </a:p>
        </p:txBody>
      </p:sp>
      <p:sp>
        <p:nvSpPr>
          <p:cNvPr id="22" name="Text 20"/>
          <p:cNvSpPr/>
          <p:nvPr/>
        </p:nvSpPr>
        <p:spPr>
          <a:xfrm>
            <a:off x="5605272" y="1993392"/>
            <a:ext cx="3108960" cy="219456"/>
          </a:xfrm>
          <a:prstGeom prst="rect">
            <a:avLst/>
          </a:prstGeom>
          <a:noFill/>
        </p:spPr>
        <p:txBody>
          <a:bodyPr wrap="square" rtlCol="0" anchor="ctr"/>
          <a:lstStyle/>
          <a:p>
            <a:pPr marL="0" indent="0">
              <a:buNone/>
            </a:pPr>
            <a:r>
              <a:rPr lang="en-US" sz="950" b="1" dirty="0">
                <a:solidFill>
                  <a:srgbClr val="028090"/>
                </a:solidFill>
              </a:rPr>
              <a:t>Best asset classes: Agri, Real Estate, Bonds</a:t>
            </a:r>
            <a:endParaRPr lang="en-US" sz="950" dirty="0"/>
          </a:p>
        </p:txBody>
      </p:sp>
      <p:sp>
        <p:nvSpPr>
          <p:cNvPr id="23" name="Shape 21"/>
          <p:cNvSpPr/>
          <p:nvPr/>
        </p:nvSpPr>
        <p:spPr>
          <a:xfrm>
            <a:off x="320040" y="2633472"/>
            <a:ext cx="4160520" cy="1143000"/>
          </a:xfrm>
          <a:prstGeom prst="rect">
            <a:avLst/>
          </a:prstGeom>
          <a:solidFill>
            <a:srgbClr val="FFFFFF"/>
          </a:solidFill>
          <a:effectLst>
            <a:outerShdw blurRad="101600" dist="38100" dir="8100000" algn="bl" rotWithShape="0">
              <a:srgbClr val="000000">
                <a:alpha val="12000"/>
              </a:srgbClr>
            </a:outerShdw>
          </a:effectLst>
        </p:spPr>
      </p:sp>
      <p:sp>
        <p:nvSpPr>
          <p:cNvPr id="24" name="Shape 22"/>
          <p:cNvSpPr/>
          <p:nvPr/>
        </p:nvSpPr>
        <p:spPr>
          <a:xfrm>
            <a:off x="320040" y="2633472"/>
            <a:ext cx="64008" cy="1143000"/>
          </a:xfrm>
          <a:prstGeom prst="rect">
            <a:avLst/>
          </a:prstGeom>
          <a:solidFill>
            <a:srgbClr val="1E2761"/>
          </a:solidFill>
        </p:spPr>
      </p:sp>
      <p:sp>
        <p:nvSpPr>
          <p:cNvPr id="25" name="Shape 23"/>
          <p:cNvSpPr/>
          <p:nvPr/>
        </p:nvSpPr>
        <p:spPr>
          <a:xfrm>
            <a:off x="457200" y="2889504"/>
            <a:ext cx="640080" cy="640080"/>
          </a:xfrm>
          <a:prstGeom prst="ellipse">
            <a:avLst/>
          </a:prstGeom>
          <a:solidFill>
            <a:srgbClr val="1E2761"/>
          </a:solidFill>
        </p:spPr>
      </p:sp>
      <p:sp>
        <p:nvSpPr>
          <p:cNvPr id="26" name="Text 24"/>
          <p:cNvSpPr/>
          <p:nvPr/>
        </p:nvSpPr>
        <p:spPr>
          <a:xfrm>
            <a:off x="457200" y="2889504"/>
            <a:ext cx="640080" cy="6400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1234440" y="2706624"/>
            <a:ext cx="3108960" cy="274320"/>
          </a:xfrm>
          <a:prstGeom prst="rect">
            <a:avLst/>
          </a:prstGeom>
          <a:noFill/>
        </p:spPr>
        <p:txBody>
          <a:bodyPr wrap="square" rtlCol="0" anchor="ctr"/>
          <a:lstStyle/>
          <a:p>
            <a:pPr marL="0" indent="0">
              <a:buNone/>
            </a:pPr>
            <a:r>
              <a:rPr lang="en-US" sz="1200" b="1" dirty="0">
                <a:solidFill>
                  <a:srgbClr val="0D1F15"/>
                </a:solidFill>
              </a:rPr>
              <a:t>Salaried NSSF Members</a:t>
            </a:r>
            <a:endParaRPr lang="en-US" sz="1200" dirty="0"/>
          </a:p>
        </p:txBody>
      </p:sp>
      <p:sp>
        <p:nvSpPr>
          <p:cNvPr id="28" name="Shape 26"/>
          <p:cNvSpPr/>
          <p:nvPr/>
        </p:nvSpPr>
        <p:spPr>
          <a:xfrm>
            <a:off x="1234440" y="2953512"/>
            <a:ext cx="685800" cy="219456"/>
          </a:xfrm>
          <a:prstGeom prst="rect">
            <a:avLst/>
          </a:prstGeom>
          <a:solidFill>
            <a:srgbClr val="1E2761"/>
          </a:solidFill>
        </p:spPr>
      </p:sp>
      <p:sp>
        <p:nvSpPr>
          <p:cNvPr id="29" name="Text 27"/>
          <p:cNvSpPr/>
          <p:nvPr/>
        </p:nvSpPr>
        <p:spPr>
          <a:xfrm>
            <a:off x="1234440" y="2953512"/>
            <a:ext cx="685800" cy="219456"/>
          </a:xfrm>
          <a:prstGeom prst="rect">
            <a:avLst/>
          </a:prstGeom>
          <a:noFill/>
        </p:spPr>
        <p:txBody>
          <a:bodyPr wrap="square" rtlCol="0" anchor="ctr"/>
          <a:lstStyle/>
          <a:p>
            <a:pPr marL="0" indent="0" algn="ctr">
              <a:buNone/>
            </a:pPr>
            <a:r>
              <a:rPr lang="en-US" sz="900" b="1" dirty="0">
                <a:solidFill>
                  <a:srgbClr val="FFFFFF"/>
                </a:solidFill>
              </a:rPr>
              <a:t>~2M</a:t>
            </a:r>
            <a:endParaRPr lang="en-US" sz="900" dirty="0"/>
          </a:p>
        </p:txBody>
      </p:sp>
      <p:sp>
        <p:nvSpPr>
          <p:cNvPr id="30" name="Text 28"/>
          <p:cNvSpPr/>
          <p:nvPr/>
        </p:nvSpPr>
        <p:spPr>
          <a:xfrm>
            <a:off x="2011680" y="2962656"/>
            <a:ext cx="2331720" cy="219456"/>
          </a:xfrm>
          <a:prstGeom prst="rect">
            <a:avLst/>
          </a:prstGeom>
          <a:noFill/>
        </p:spPr>
        <p:txBody>
          <a:bodyPr wrap="square" rtlCol="0" anchor="ctr"/>
          <a:lstStyle/>
          <a:p>
            <a:pPr marL="0" indent="0">
              <a:buNone/>
            </a:pPr>
            <a:r>
              <a:rPr lang="en-US" sz="900" dirty="0">
                <a:solidFill>
                  <a:srgbClr val="5A7A68"/>
                </a:solidFill>
              </a:rPr>
              <a:t>Supplement pension w/ near-term</a:t>
            </a:r>
            <a:endParaRPr lang="en-US" sz="900" dirty="0"/>
          </a:p>
        </p:txBody>
      </p:sp>
      <p:sp>
        <p:nvSpPr>
          <p:cNvPr id="31" name="Text 29"/>
          <p:cNvSpPr/>
          <p:nvPr/>
        </p:nvSpPr>
        <p:spPr>
          <a:xfrm>
            <a:off x="1234440" y="3255264"/>
            <a:ext cx="3108960" cy="219456"/>
          </a:xfrm>
          <a:prstGeom prst="rect">
            <a:avLst/>
          </a:prstGeom>
          <a:noFill/>
        </p:spPr>
        <p:txBody>
          <a:bodyPr wrap="square" rtlCol="0" anchor="ctr"/>
          <a:lstStyle/>
          <a:p>
            <a:pPr marL="0" indent="0">
              <a:buNone/>
            </a:pPr>
            <a:r>
              <a:rPr lang="en-US" sz="950" b="1" dirty="0">
                <a:solidFill>
                  <a:srgbClr val="1E2761"/>
                </a:solidFill>
              </a:rPr>
              <a:t>Best asset classes: Bonds, Stocks, Real Estate</a:t>
            </a:r>
            <a:endParaRPr lang="en-US" sz="950" dirty="0"/>
          </a:p>
        </p:txBody>
      </p:sp>
      <p:sp>
        <p:nvSpPr>
          <p:cNvPr id="32" name="Shape 30"/>
          <p:cNvSpPr/>
          <p:nvPr/>
        </p:nvSpPr>
        <p:spPr>
          <a:xfrm>
            <a:off x="4690872" y="2633472"/>
            <a:ext cx="4160520" cy="1143000"/>
          </a:xfrm>
          <a:prstGeom prst="rect">
            <a:avLst/>
          </a:prstGeom>
          <a:solidFill>
            <a:srgbClr val="FFFFFF"/>
          </a:solidFill>
          <a:effectLst>
            <a:outerShdw blurRad="101600" dist="38100" dir="8100000" algn="bl" rotWithShape="0">
              <a:srgbClr val="000000">
                <a:alpha val="12000"/>
              </a:srgbClr>
            </a:outerShdw>
          </a:effectLst>
        </p:spPr>
      </p:sp>
      <p:sp>
        <p:nvSpPr>
          <p:cNvPr id="33" name="Shape 31"/>
          <p:cNvSpPr/>
          <p:nvPr/>
        </p:nvSpPr>
        <p:spPr>
          <a:xfrm>
            <a:off x="4690872" y="2633472"/>
            <a:ext cx="64008" cy="1143000"/>
          </a:xfrm>
          <a:prstGeom prst="rect">
            <a:avLst/>
          </a:prstGeom>
          <a:solidFill>
            <a:srgbClr val="F59E0B"/>
          </a:solidFill>
        </p:spPr>
      </p:sp>
      <p:sp>
        <p:nvSpPr>
          <p:cNvPr id="34" name="Shape 32"/>
          <p:cNvSpPr/>
          <p:nvPr/>
        </p:nvSpPr>
        <p:spPr>
          <a:xfrm>
            <a:off x="4828032" y="2889504"/>
            <a:ext cx="640080" cy="640080"/>
          </a:xfrm>
          <a:prstGeom prst="ellipse">
            <a:avLst/>
          </a:prstGeom>
          <a:solidFill>
            <a:srgbClr val="F59E0B"/>
          </a:solidFill>
        </p:spPr>
      </p:sp>
      <p:sp>
        <p:nvSpPr>
          <p:cNvPr id="35" name="Text 33"/>
          <p:cNvSpPr/>
          <p:nvPr/>
        </p:nvSpPr>
        <p:spPr>
          <a:xfrm>
            <a:off x="4828032" y="2889504"/>
            <a:ext cx="640080" cy="6400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36" name="Text 34"/>
          <p:cNvSpPr/>
          <p:nvPr/>
        </p:nvSpPr>
        <p:spPr>
          <a:xfrm>
            <a:off x="5605272" y="2706624"/>
            <a:ext cx="3108960" cy="274320"/>
          </a:xfrm>
          <a:prstGeom prst="rect">
            <a:avLst/>
          </a:prstGeom>
          <a:noFill/>
        </p:spPr>
        <p:txBody>
          <a:bodyPr wrap="square" rtlCol="0" anchor="ctr"/>
          <a:lstStyle/>
          <a:p>
            <a:pPr marL="0" indent="0">
              <a:buNone/>
            </a:pPr>
            <a:r>
              <a:rPr lang="en-US" sz="1200" b="1" dirty="0">
                <a:solidFill>
                  <a:srgbClr val="0D1F15"/>
                </a:solidFill>
              </a:rPr>
              <a:t>Rural Savers / SACCOs</a:t>
            </a:r>
            <a:endParaRPr lang="en-US" sz="1200" dirty="0"/>
          </a:p>
        </p:txBody>
      </p:sp>
      <p:sp>
        <p:nvSpPr>
          <p:cNvPr id="37" name="Shape 35"/>
          <p:cNvSpPr/>
          <p:nvPr/>
        </p:nvSpPr>
        <p:spPr>
          <a:xfrm>
            <a:off x="5605272" y="2953512"/>
            <a:ext cx="685800" cy="219456"/>
          </a:xfrm>
          <a:prstGeom prst="rect">
            <a:avLst/>
          </a:prstGeom>
          <a:solidFill>
            <a:srgbClr val="F59E0B"/>
          </a:solidFill>
        </p:spPr>
      </p:sp>
      <p:sp>
        <p:nvSpPr>
          <p:cNvPr id="38" name="Text 36"/>
          <p:cNvSpPr/>
          <p:nvPr/>
        </p:nvSpPr>
        <p:spPr>
          <a:xfrm>
            <a:off x="5605272" y="2953512"/>
            <a:ext cx="685800" cy="219456"/>
          </a:xfrm>
          <a:prstGeom prst="rect">
            <a:avLst/>
          </a:prstGeom>
          <a:noFill/>
        </p:spPr>
        <p:txBody>
          <a:bodyPr wrap="square" rtlCol="0" anchor="ctr"/>
          <a:lstStyle/>
          <a:p>
            <a:pPr marL="0" indent="0" algn="ctr">
              <a:buNone/>
            </a:pPr>
            <a:r>
              <a:rPr lang="en-US" sz="900" b="1" dirty="0">
                <a:solidFill>
                  <a:srgbClr val="FFFFFF"/>
                </a:solidFill>
              </a:rPr>
              <a:t>~5M</a:t>
            </a:r>
            <a:endParaRPr lang="en-US" sz="900" dirty="0"/>
          </a:p>
        </p:txBody>
      </p:sp>
      <p:sp>
        <p:nvSpPr>
          <p:cNvPr id="39" name="Text 37"/>
          <p:cNvSpPr/>
          <p:nvPr/>
        </p:nvSpPr>
        <p:spPr>
          <a:xfrm>
            <a:off x="6382512" y="2962656"/>
            <a:ext cx="2331720" cy="219456"/>
          </a:xfrm>
          <a:prstGeom prst="rect">
            <a:avLst/>
          </a:prstGeom>
          <a:noFill/>
        </p:spPr>
        <p:txBody>
          <a:bodyPr wrap="square" rtlCol="0" anchor="ctr"/>
          <a:lstStyle/>
          <a:p>
            <a:pPr marL="0" indent="0">
              <a:buNone/>
            </a:pPr>
            <a:r>
              <a:rPr lang="en-US" sz="900" dirty="0">
                <a:solidFill>
                  <a:srgbClr val="5A7A68"/>
                </a:solidFill>
              </a:rPr>
              <a:t>Higher yields than savings accts</a:t>
            </a:r>
            <a:endParaRPr lang="en-US" sz="900" dirty="0"/>
          </a:p>
        </p:txBody>
      </p:sp>
      <p:sp>
        <p:nvSpPr>
          <p:cNvPr id="40" name="Text 38"/>
          <p:cNvSpPr/>
          <p:nvPr/>
        </p:nvSpPr>
        <p:spPr>
          <a:xfrm>
            <a:off x="5605272" y="3255264"/>
            <a:ext cx="3108960" cy="219456"/>
          </a:xfrm>
          <a:prstGeom prst="rect">
            <a:avLst/>
          </a:prstGeom>
          <a:noFill/>
        </p:spPr>
        <p:txBody>
          <a:bodyPr wrap="square" rtlCol="0" anchor="ctr"/>
          <a:lstStyle/>
          <a:p>
            <a:pPr marL="0" indent="0">
              <a:buNone/>
            </a:pPr>
            <a:r>
              <a:rPr lang="en-US" sz="950" b="1" dirty="0">
                <a:solidFill>
                  <a:srgbClr val="F59E0B"/>
                </a:solidFill>
              </a:rPr>
              <a:t>Best asset classes: Agri, Minerals, Bonds</a:t>
            </a:r>
            <a:endParaRPr lang="en-US" sz="950" dirty="0"/>
          </a:p>
        </p:txBody>
      </p:sp>
      <p:sp>
        <p:nvSpPr>
          <p:cNvPr id="41" name="Shape 39"/>
          <p:cNvSpPr/>
          <p:nvPr/>
        </p:nvSpPr>
        <p:spPr>
          <a:xfrm>
            <a:off x="320040" y="3895344"/>
            <a:ext cx="4160520" cy="1143000"/>
          </a:xfrm>
          <a:prstGeom prst="rect">
            <a:avLst/>
          </a:prstGeom>
          <a:solidFill>
            <a:srgbClr val="FFFFFF"/>
          </a:solidFill>
          <a:effectLst>
            <a:outerShdw blurRad="101600" dist="38100" dir="8100000" algn="bl" rotWithShape="0">
              <a:srgbClr val="000000">
                <a:alpha val="12000"/>
              </a:srgbClr>
            </a:outerShdw>
          </a:effectLst>
        </p:spPr>
      </p:sp>
      <p:sp>
        <p:nvSpPr>
          <p:cNvPr id="42" name="Shape 40"/>
          <p:cNvSpPr/>
          <p:nvPr/>
        </p:nvSpPr>
        <p:spPr>
          <a:xfrm>
            <a:off x="320040" y="3895344"/>
            <a:ext cx="64008" cy="1143000"/>
          </a:xfrm>
          <a:prstGeom prst="rect">
            <a:avLst/>
          </a:prstGeom>
          <a:solidFill>
            <a:srgbClr val="5A2D82"/>
          </a:solidFill>
        </p:spPr>
      </p:sp>
      <p:sp>
        <p:nvSpPr>
          <p:cNvPr id="43" name="Shape 41"/>
          <p:cNvSpPr/>
          <p:nvPr/>
        </p:nvSpPr>
        <p:spPr>
          <a:xfrm>
            <a:off x="457200" y="4151376"/>
            <a:ext cx="640080" cy="640080"/>
          </a:xfrm>
          <a:prstGeom prst="ellipse">
            <a:avLst/>
          </a:prstGeom>
          <a:solidFill>
            <a:srgbClr val="5A2D82"/>
          </a:solidFill>
        </p:spPr>
      </p:sp>
      <p:sp>
        <p:nvSpPr>
          <p:cNvPr id="44" name="Text 42"/>
          <p:cNvSpPr/>
          <p:nvPr/>
        </p:nvSpPr>
        <p:spPr>
          <a:xfrm>
            <a:off x="457200" y="4151376"/>
            <a:ext cx="640080" cy="6400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45" name="Text 43"/>
          <p:cNvSpPr/>
          <p:nvPr/>
        </p:nvSpPr>
        <p:spPr>
          <a:xfrm>
            <a:off x="1234440" y="3968496"/>
            <a:ext cx="3108960" cy="274320"/>
          </a:xfrm>
          <a:prstGeom prst="rect">
            <a:avLst/>
          </a:prstGeom>
          <a:noFill/>
        </p:spPr>
        <p:txBody>
          <a:bodyPr wrap="square" rtlCol="0" anchor="ctr"/>
          <a:lstStyle/>
          <a:p>
            <a:pPr marL="0" indent="0">
              <a:buNone/>
            </a:pPr>
            <a:r>
              <a:rPr lang="en-US" sz="1200" b="1" dirty="0">
                <a:solidFill>
                  <a:srgbClr val="0D1F15"/>
                </a:solidFill>
              </a:rPr>
              <a:t>Diaspora Ugandans</a:t>
            </a:r>
            <a:endParaRPr lang="en-US" sz="1200" dirty="0"/>
          </a:p>
        </p:txBody>
      </p:sp>
      <p:sp>
        <p:nvSpPr>
          <p:cNvPr id="46" name="Shape 44"/>
          <p:cNvSpPr/>
          <p:nvPr/>
        </p:nvSpPr>
        <p:spPr>
          <a:xfrm>
            <a:off x="1234440" y="4215384"/>
            <a:ext cx="685800" cy="219456"/>
          </a:xfrm>
          <a:prstGeom prst="rect">
            <a:avLst/>
          </a:prstGeom>
          <a:solidFill>
            <a:srgbClr val="5A2D82"/>
          </a:solidFill>
        </p:spPr>
      </p:sp>
      <p:sp>
        <p:nvSpPr>
          <p:cNvPr id="47" name="Text 45"/>
          <p:cNvSpPr/>
          <p:nvPr/>
        </p:nvSpPr>
        <p:spPr>
          <a:xfrm>
            <a:off x="1234440" y="4215384"/>
            <a:ext cx="685800" cy="219456"/>
          </a:xfrm>
          <a:prstGeom prst="rect">
            <a:avLst/>
          </a:prstGeom>
          <a:noFill/>
        </p:spPr>
        <p:txBody>
          <a:bodyPr wrap="square" rtlCol="0" anchor="ctr"/>
          <a:lstStyle/>
          <a:p>
            <a:pPr marL="0" indent="0" algn="ctr">
              <a:buNone/>
            </a:pPr>
            <a:r>
              <a:rPr lang="en-US" sz="900" b="1" dirty="0">
                <a:solidFill>
                  <a:srgbClr val="FFFFFF"/>
                </a:solidFill>
              </a:rPr>
              <a:t>~700K</a:t>
            </a:r>
            <a:endParaRPr lang="en-US" sz="900" dirty="0"/>
          </a:p>
        </p:txBody>
      </p:sp>
      <p:sp>
        <p:nvSpPr>
          <p:cNvPr id="48" name="Text 46"/>
          <p:cNvSpPr/>
          <p:nvPr/>
        </p:nvSpPr>
        <p:spPr>
          <a:xfrm>
            <a:off x="2011680" y="4224528"/>
            <a:ext cx="2331720" cy="219456"/>
          </a:xfrm>
          <a:prstGeom prst="rect">
            <a:avLst/>
          </a:prstGeom>
          <a:noFill/>
        </p:spPr>
        <p:txBody>
          <a:bodyPr wrap="square" rtlCol="0" anchor="ctr"/>
          <a:lstStyle/>
          <a:p>
            <a:pPr marL="0" indent="0">
              <a:buNone/>
            </a:pPr>
            <a:r>
              <a:rPr lang="en-US" sz="900" dirty="0">
                <a:solidFill>
                  <a:srgbClr val="5A7A68"/>
                </a:solidFill>
              </a:rPr>
              <a:t>Uganda asset exposure from abroad</a:t>
            </a:r>
            <a:endParaRPr lang="en-US" sz="900" dirty="0"/>
          </a:p>
        </p:txBody>
      </p:sp>
      <p:sp>
        <p:nvSpPr>
          <p:cNvPr id="49" name="Text 47"/>
          <p:cNvSpPr/>
          <p:nvPr/>
        </p:nvSpPr>
        <p:spPr>
          <a:xfrm>
            <a:off x="1234440" y="4517136"/>
            <a:ext cx="3108960" cy="219456"/>
          </a:xfrm>
          <a:prstGeom prst="rect">
            <a:avLst/>
          </a:prstGeom>
          <a:noFill/>
        </p:spPr>
        <p:txBody>
          <a:bodyPr wrap="square" rtlCol="0" anchor="ctr"/>
          <a:lstStyle/>
          <a:p>
            <a:pPr marL="0" indent="0">
              <a:buNone/>
            </a:pPr>
            <a:r>
              <a:rPr lang="en-US" sz="950" b="1" dirty="0">
                <a:solidFill>
                  <a:srgbClr val="5A2D82"/>
                </a:solidFill>
              </a:rPr>
              <a:t>Best asset classes: FX Diaspora, Real Estate, Stocks</a:t>
            </a:r>
            <a:endParaRPr lang="en-US" sz="950" dirty="0"/>
          </a:p>
        </p:txBody>
      </p:sp>
      <p:sp>
        <p:nvSpPr>
          <p:cNvPr id="50" name="Shape 48"/>
          <p:cNvSpPr/>
          <p:nvPr/>
        </p:nvSpPr>
        <p:spPr>
          <a:xfrm>
            <a:off x="4690872" y="3895344"/>
            <a:ext cx="4160520" cy="1143000"/>
          </a:xfrm>
          <a:prstGeom prst="rect">
            <a:avLst/>
          </a:prstGeom>
          <a:solidFill>
            <a:srgbClr val="FFFFFF"/>
          </a:solidFill>
          <a:effectLst>
            <a:outerShdw blurRad="101600" dist="38100" dir="8100000" algn="bl" rotWithShape="0">
              <a:srgbClr val="000000">
                <a:alpha val="12000"/>
              </a:srgbClr>
            </a:outerShdw>
          </a:effectLst>
        </p:spPr>
      </p:sp>
      <p:sp>
        <p:nvSpPr>
          <p:cNvPr id="51" name="Shape 49"/>
          <p:cNvSpPr/>
          <p:nvPr/>
        </p:nvSpPr>
        <p:spPr>
          <a:xfrm>
            <a:off x="4690872" y="3895344"/>
            <a:ext cx="64008" cy="1143000"/>
          </a:xfrm>
          <a:prstGeom prst="rect">
            <a:avLst/>
          </a:prstGeom>
          <a:solidFill>
            <a:srgbClr val="B45309"/>
          </a:solidFill>
        </p:spPr>
      </p:sp>
      <p:sp>
        <p:nvSpPr>
          <p:cNvPr id="52" name="Shape 50"/>
          <p:cNvSpPr/>
          <p:nvPr/>
        </p:nvSpPr>
        <p:spPr>
          <a:xfrm>
            <a:off x="4828032" y="4151376"/>
            <a:ext cx="640080" cy="640080"/>
          </a:xfrm>
          <a:prstGeom prst="ellipse">
            <a:avLst/>
          </a:prstGeom>
          <a:solidFill>
            <a:srgbClr val="B45309"/>
          </a:solidFill>
        </p:spPr>
      </p:sp>
      <p:sp>
        <p:nvSpPr>
          <p:cNvPr id="53" name="Text 51"/>
          <p:cNvSpPr/>
          <p:nvPr/>
        </p:nvSpPr>
        <p:spPr>
          <a:xfrm>
            <a:off x="4828032" y="4151376"/>
            <a:ext cx="640080" cy="640080"/>
          </a:xfrm>
          <a:prstGeom prst="rect">
            <a:avLst/>
          </a:prstGeom>
          <a:noFill/>
        </p:spPr>
        <p:txBody>
          <a:bodyPr wrap="square" rtlCol="0" anchor="ctr"/>
          <a:lstStyle/>
          <a:p>
            <a:pPr marL="0" indent="0" algn="ctr">
              <a:buNone/>
            </a:pPr>
            <a:r>
              <a:rPr lang="en-US" sz="2200" dirty="0">
                <a:solidFill>
                  <a:srgbClr val="000000"/>
                </a:solidFill>
              </a:rPr>
              <a:t>🏪</a:t>
            </a:r>
            <a:endParaRPr lang="en-US" sz="2200" dirty="0"/>
          </a:p>
        </p:txBody>
      </p:sp>
      <p:sp>
        <p:nvSpPr>
          <p:cNvPr id="54" name="Text 52"/>
          <p:cNvSpPr/>
          <p:nvPr/>
        </p:nvSpPr>
        <p:spPr>
          <a:xfrm>
            <a:off x="5605272" y="3968496"/>
            <a:ext cx="3108960" cy="274320"/>
          </a:xfrm>
          <a:prstGeom prst="rect">
            <a:avLst/>
          </a:prstGeom>
          <a:noFill/>
        </p:spPr>
        <p:txBody>
          <a:bodyPr wrap="square" rtlCol="0" anchor="ctr"/>
          <a:lstStyle/>
          <a:p>
            <a:pPr marL="0" indent="0">
              <a:buNone/>
            </a:pPr>
            <a:r>
              <a:rPr lang="en-US" sz="1200" b="1" dirty="0">
                <a:solidFill>
                  <a:srgbClr val="0D1F15"/>
                </a:solidFill>
              </a:rPr>
              <a:t>Small Business Owners</a:t>
            </a:r>
            <a:endParaRPr lang="en-US" sz="1200" dirty="0"/>
          </a:p>
        </p:txBody>
      </p:sp>
      <p:sp>
        <p:nvSpPr>
          <p:cNvPr id="55" name="Shape 53"/>
          <p:cNvSpPr/>
          <p:nvPr/>
        </p:nvSpPr>
        <p:spPr>
          <a:xfrm>
            <a:off x="5605272" y="4215384"/>
            <a:ext cx="685800" cy="219456"/>
          </a:xfrm>
          <a:prstGeom prst="rect">
            <a:avLst/>
          </a:prstGeom>
          <a:solidFill>
            <a:srgbClr val="B45309"/>
          </a:solidFill>
        </p:spPr>
      </p:sp>
      <p:sp>
        <p:nvSpPr>
          <p:cNvPr id="56" name="Text 54"/>
          <p:cNvSpPr/>
          <p:nvPr/>
        </p:nvSpPr>
        <p:spPr>
          <a:xfrm>
            <a:off x="5605272" y="4215384"/>
            <a:ext cx="685800" cy="219456"/>
          </a:xfrm>
          <a:prstGeom prst="rect">
            <a:avLst/>
          </a:prstGeom>
          <a:noFill/>
        </p:spPr>
        <p:txBody>
          <a:bodyPr wrap="square" rtlCol="0" anchor="ctr"/>
          <a:lstStyle/>
          <a:p>
            <a:pPr marL="0" indent="0" algn="ctr">
              <a:buNone/>
            </a:pPr>
            <a:r>
              <a:rPr lang="en-US" sz="900" b="1" dirty="0">
                <a:solidFill>
                  <a:srgbClr val="FFFFFF"/>
                </a:solidFill>
              </a:rPr>
              <a:t>~3M</a:t>
            </a:r>
            <a:endParaRPr lang="en-US" sz="900" dirty="0"/>
          </a:p>
        </p:txBody>
      </p:sp>
      <p:sp>
        <p:nvSpPr>
          <p:cNvPr id="57" name="Text 55"/>
          <p:cNvSpPr/>
          <p:nvPr/>
        </p:nvSpPr>
        <p:spPr>
          <a:xfrm>
            <a:off x="6382512" y="4224528"/>
            <a:ext cx="2331720" cy="219456"/>
          </a:xfrm>
          <a:prstGeom prst="rect">
            <a:avLst/>
          </a:prstGeom>
          <a:noFill/>
        </p:spPr>
        <p:txBody>
          <a:bodyPr wrap="square" rtlCol="0" anchor="ctr"/>
          <a:lstStyle/>
          <a:p>
            <a:pPr marL="0" indent="0">
              <a:buNone/>
            </a:pPr>
            <a:r>
              <a:rPr lang="en-US" sz="900" dirty="0">
                <a:solidFill>
                  <a:srgbClr val="5A7A68"/>
                </a:solidFill>
              </a:rPr>
              <a:t>Asset diversification beyond biz</a:t>
            </a:r>
            <a:endParaRPr lang="en-US" sz="900" dirty="0"/>
          </a:p>
        </p:txBody>
      </p:sp>
      <p:sp>
        <p:nvSpPr>
          <p:cNvPr id="58" name="Text 56"/>
          <p:cNvSpPr/>
          <p:nvPr/>
        </p:nvSpPr>
        <p:spPr>
          <a:xfrm>
            <a:off x="5605272" y="4517136"/>
            <a:ext cx="3108960" cy="219456"/>
          </a:xfrm>
          <a:prstGeom prst="rect">
            <a:avLst/>
          </a:prstGeom>
          <a:noFill/>
        </p:spPr>
        <p:txBody>
          <a:bodyPr wrap="square" rtlCol="0" anchor="ctr"/>
          <a:lstStyle/>
          <a:p>
            <a:pPr marL="0" indent="0">
              <a:buNone/>
            </a:pPr>
            <a:r>
              <a:rPr lang="en-US" sz="950" b="1" dirty="0">
                <a:solidFill>
                  <a:srgbClr val="B45309"/>
                </a:solidFill>
              </a:rPr>
              <a:t>Best asset classes: Bonds, Stocks, Real Estate</a:t>
            </a:r>
            <a:endParaRPr lang="en-US" sz="950" dirty="0"/>
          </a:p>
        </p:txBody>
      </p:sp>
      <p:sp>
        <p:nvSpPr>
          <p:cNvPr id="59" name="Text 57"/>
          <p:cNvSpPr/>
          <p:nvPr/>
        </p:nvSpPr>
        <p:spPr>
          <a:xfrm>
            <a:off x="457200" y="5257800"/>
            <a:ext cx="2011680" cy="228600"/>
          </a:xfrm>
          <a:prstGeom prst="rect">
            <a:avLst/>
          </a:prstGeom>
          <a:noFill/>
        </p:spPr>
        <p:txBody>
          <a:bodyPr wrap="square" rtlCol="0" anchor="ctr"/>
          <a:lstStyle/>
          <a:p>
            <a:pPr marL="0" indent="0">
              <a:buNone/>
            </a:pPr>
            <a:r>
              <a:rPr lang="en-US" sz="1000" b="1" dirty="0">
                <a:solidFill>
                  <a:srgbClr val="0D1F15"/>
                </a:solidFill>
              </a:rPr>
              <a:t>Total Addressable Market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4D2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p:spPr>
        <p:txBody>
          <a:bodyPr wrap="square" rtlCol="0" anchor="ctr"/>
          <a:lstStyle/>
          <a:p>
            <a:pPr marL="0" indent="0">
              <a:buNone/>
            </a:pPr>
            <a:r>
              <a:rPr lang="en-US" sz="1100" b="1" kern="0" spc="400" dirty="0">
                <a:solidFill>
                  <a:srgbClr val="D4EFE0"/>
                </a:solidFill>
              </a:rPr>
              <a:t>BUSINESS MODEL &amp; REVENUE ARCHITECTURE</a:t>
            </a:r>
            <a:endParaRPr lang="en-US" sz="1100" dirty="0"/>
          </a:p>
        </p:txBody>
      </p:sp>
      <p:sp>
        <p:nvSpPr>
          <p:cNvPr id="3" name="Text 1"/>
          <p:cNvSpPr/>
          <p:nvPr/>
        </p:nvSpPr>
        <p:spPr>
          <a:xfrm>
            <a:off x="457200" y="566928"/>
            <a:ext cx="8229600" cy="640080"/>
          </a:xfrm>
          <a:prstGeom prst="rect">
            <a:avLst/>
          </a:prstGeom>
          <a:noFill/>
        </p:spPr>
        <p:txBody>
          <a:bodyPr wrap="square" rtlCol="0" anchor="ctr"/>
          <a:lstStyle/>
          <a:p>
            <a:pPr marL="0" indent="0">
              <a:buNone/>
            </a:pPr>
            <a:r>
              <a:rPr lang="en-US" sz="2600" b="1" dirty="0">
                <a:solidFill>
                  <a:srgbClr val="FFFFFF"/>
                </a:solidFill>
                <a:latin typeface="Georgia" panose="02040502050405020303" pitchFamily="34" charset="0"/>
                <a:ea typeface="Georgia" panose="02040502050405020303" pitchFamily="34" charset="-122"/>
                <a:cs typeface="Georgia" panose="02040502050405020303" pitchFamily="34" charset="-120"/>
              </a:rPr>
              <a:t>Three structural layers. Seven revenue streams. Every transaction earns.</a:t>
            </a:r>
            <a:endParaRPr lang="en-US" sz="2600" dirty="0"/>
          </a:p>
        </p:txBody>
      </p:sp>
      <p:sp>
        <p:nvSpPr>
          <p:cNvPr id="4" name="Text 2"/>
          <p:cNvSpPr/>
          <p:nvPr/>
        </p:nvSpPr>
        <p:spPr>
          <a:xfrm>
            <a:off x="457200" y="1261872"/>
            <a:ext cx="5029200" cy="274320"/>
          </a:xfrm>
          <a:prstGeom prst="rect">
            <a:avLst/>
          </a:prstGeom>
          <a:noFill/>
        </p:spPr>
        <p:txBody>
          <a:bodyPr wrap="square" rtlCol="0" anchor="ctr"/>
          <a:lstStyle/>
          <a:p>
            <a:pPr marL="0" indent="0">
              <a:buNone/>
            </a:pPr>
            <a:r>
              <a:rPr lang="en-US" sz="1000" b="1" kern="0" spc="300" dirty="0">
                <a:solidFill>
                  <a:srgbClr val="C17F00"/>
                </a:solidFill>
              </a:rPr>
              <a:t>NSSF REVENUE SHARE TABLE</a:t>
            </a:r>
            <a:endParaRPr lang="en-US" sz="1000" dirty="0"/>
          </a:p>
        </p:txBody>
      </p:sp>
      <p:sp>
        <p:nvSpPr>
          <p:cNvPr id="5" name="Shape 3"/>
          <p:cNvSpPr/>
          <p:nvPr/>
        </p:nvSpPr>
        <p:spPr>
          <a:xfrm>
            <a:off x="411480" y="1572768"/>
            <a:ext cx="6035040" cy="384048"/>
          </a:xfrm>
          <a:prstGeom prst="rect">
            <a:avLst/>
          </a:prstGeom>
          <a:solidFill>
            <a:srgbClr val="1A7A45"/>
          </a:solidFill>
        </p:spPr>
      </p:sp>
      <p:sp>
        <p:nvSpPr>
          <p:cNvPr id="6" name="Text 4"/>
          <p:cNvSpPr/>
          <p:nvPr/>
        </p:nvSpPr>
        <p:spPr>
          <a:xfrm>
            <a:off x="411480" y="1645920"/>
            <a:ext cx="3063240" cy="237744"/>
          </a:xfrm>
          <a:prstGeom prst="rect">
            <a:avLst/>
          </a:prstGeom>
          <a:noFill/>
        </p:spPr>
        <p:txBody>
          <a:bodyPr wrap="square" rtlCol="0" anchor="ctr"/>
          <a:lstStyle/>
          <a:p>
            <a:pPr marL="0" indent="0">
              <a:buNone/>
            </a:pPr>
            <a:r>
              <a:rPr lang="en-US" sz="900" b="1" dirty="0">
                <a:solidFill>
                  <a:srgbClr val="FFFFFF"/>
                </a:solidFill>
              </a:rPr>
              <a:t>Revenue Line</a:t>
            </a:r>
            <a:endParaRPr lang="en-US" sz="900" dirty="0"/>
          </a:p>
        </p:txBody>
      </p:sp>
      <p:sp>
        <p:nvSpPr>
          <p:cNvPr id="7" name="Text 5"/>
          <p:cNvSpPr/>
          <p:nvPr/>
        </p:nvSpPr>
        <p:spPr>
          <a:xfrm>
            <a:off x="3520440" y="1645920"/>
            <a:ext cx="987552" cy="237744"/>
          </a:xfrm>
          <a:prstGeom prst="rect">
            <a:avLst/>
          </a:prstGeom>
          <a:noFill/>
        </p:spPr>
        <p:txBody>
          <a:bodyPr wrap="square" rtlCol="0" anchor="ctr"/>
          <a:lstStyle/>
          <a:p>
            <a:pPr marL="0" indent="0">
              <a:buNone/>
            </a:pPr>
            <a:r>
              <a:rPr lang="en-US" sz="950" b="1" dirty="0">
                <a:solidFill>
                  <a:srgbClr val="FFFFFF"/>
                </a:solidFill>
              </a:rPr>
              <a:t>NSSF Share</a:t>
            </a:r>
            <a:endParaRPr lang="en-US" sz="950" dirty="0"/>
          </a:p>
        </p:txBody>
      </p:sp>
      <p:sp>
        <p:nvSpPr>
          <p:cNvPr id="8" name="Text 6"/>
          <p:cNvSpPr/>
          <p:nvPr/>
        </p:nvSpPr>
        <p:spPr>
          <a:xfrm>
            <a:off x="4553712" y="1645920"/>
            <a:ext cx="841248" cy="237744"/>
          </a:xfrm>
          <a:prstGeom prst="rect">
            <a:avLst/>
          </a:prstGeom>
          <a:noFill/>
        </p:spPr>
        <p:txBody>
          <a:bodyPr wrap="square" rtlCol="0" anchor="ctr"/>
          <a:lstStyle/>
          <a:p>
            <a:pPr marL="0" indent="0">
              <a:buNone/>
            </a:pPr>
            <a:r>
              <a:rPr lang="en-US" sz="950" b="1" dirty="0">
                <a:solidFill>
                  <a:srgbClr val="FFFFFF"/>
                </a:solidFill>
              </a:rPr>
              <a:t>OwnIt Share</a:t>
            </a:r>
            <a:endParaRPr lang="en-US" sz="950" dirty="0"/>
          </a:p>
        </p:txBody>
      </p:sp>
      <p:sp>
        <p:nvSpPr>
          <p:cNvPr id="9" name="Text 7"/>
          <p:cNvSpPr/>
          <p:nvPr/>
        </p:nvSpPr>
        <p:spPr>
          <a:xfrm>
            <a:off x="5440680" y="1645920"/>
            <a:ext cx="960120" cy="237744"/>
          </a:xfrm>
          <a:prstGeom prst="rect">
            <a:avLst/>
          </a:prstGeom>
          <a:noFill/>
        </p:spPr>
        <p:txBody>
          <a:bodyPr wrap="square" rtlCol="0" anchor="ctr"/>
          <a:lstStyle/>
          <a:p>
            <a:pPr marL="0" indent="0">
              <a:buNone/>
            </a:pPr>
            <a:r>
              <a:rPr lang="en-US" sz="950" b="1" dirty="0">
                <a:solidFill>
                  <a:srgbClr val="FFFFFF"/>
                </a:solidFill>
              </a:rPr>
              <a:t>Trigger</a:t>
            </a:r>
            <a:endParaRPr lang="en-US" sz="950" dirty="0"/>
          </a:p>
        </p:txBody>
      </p:sp>
      <p:sp>
        <p:nvSpPr>
          <p:cNvPr id="10" name="Shape 8"/>
          <p:cNvSpPr/>
          <p:nvPr/>
        </p:nvSpPr>
        <p:spPr>
          <a:xfrm>
            <a:off x="411480" y="1984248"/>
            <a:ext cx="6035040" cy="384048"/>
          </a:xfrm>
          <a:prstGeom prst="rect">
            <a:avLst/>
          </a:prstGeom>
          <a:solidFill>
            <a:srgbClr val="0F4D2B"/>
          </a:solidFill>
        </p:spPr>
      </p:sp>
      <p:sp>
        <p:nvSpPr>
          <p:cNvPr id="11" name="Text 9"/>
          <p:cNvSpPr/>
          <p:nvPr/>
        </p:nvSpPr>
        <p:spPr>
          <a:xfrm>
            <a:off x="411480" y="2057400"/>
            <a:ext cx="3063240" cy="237744"/>
          </a:xfrm>
          <a:prstGeom prst="rect">
            <a:avLst/>
          </a:prstGeom>
          <a:noFill/>
        </p:spPr>
        <p:txBody>
          <a:bodyPr wrap="square" rtlCol="0" anchor="ctr"/>
          <a:lstStyle/>
          <a:p>
            <a:pPr marL="0" indent="0">
              <a:buNone/>
            </a:pPr>
            <a:r>
              <a:rPr lang="en-US" sz="900" dirty="0">
                <a:solidFill>
                  <a:srgbClr val="D4EFE0"/>
                </a:solidFill>
              </a:rPr>
              <a:t>3% Service Charge — Investor Side</a:t>
            </a:r>
            <a:endParaRPr lang="en-US" sz="900" dirty="0"/>
          </a:p>
        </p:txBody>
      </p:sp>
      <p:sp>
        <p:nvSpPr>
          <p:cNvPr id="12" name="Text 10"/>
          <p:cNvSpPr/>
          <p:nvPr/>
        </p:nvSpPr>
        <p:spPr>
          <a:xfrm>
            <a:off x="3520440" y="2057400"/>
            <a:ext cx="987552" cy="237744"/>
          </a:xfrm>
          <a:prstGeom prst="rect">
            <a:avLst/>
          </a:prstGeom>
          <a:noFill/>
        </p:spPr>
        <p:txBody>
          <a:bodyPr wrap="square" rtlCol="0" anchor="ctr"/>
          <a:lstStyle/>
          <a:p>
            <a:pPr marL="0" indent="0">
              <a:buNone/>
            </a:pPr>
            <a:r>
              <a:rPr lang="en-US" sz="950" b="1" dirty="0">
                <a:solidFill>
                  <a:srgbClr val="C17F00"/>
                </a:solidFill>
              </a:rPr>
              <a:t>60% (1.8%)</a:t>
            </a:r>
            <a:endParaRPr lang="en-US" sz="950" dirty="0"/>
          </a:p>
        </p:txBody>
      </p:sp>
      <p:sp>
        <p:nvSpPr>
          <p:cNvPr id="13" name="Text 11"/>
          <p:cNvSpPr/>
          <p:nvPr/>
        </p:nvSpPr>
        <p:spPr>
          <a:xfrm>
            <a:off x="4553712" y="2057400"/>
            <a:ext cx="841248" cy="237744"/>
          </a:xfrm>
          <a:prstGeom prst="rect">
            <a:avLst/>
          </a:prstGeom>
          <a:noFill/>
        </p:spPr>
        <p:txBody>
          <a:bodyPr wrap="square" rtlCol="0" anchor="ctr"/>
          <a:lstStyle/>
          <a:p>
            <a:pPr marL="0" indent="0">
              <a:buNone/>
            </a:pPr>
            <a:r>
              <a:rPr lang="en-US" sz="950" dirty="0">
                <a:solidFill>
                  <a:srgbClr val="FFFFFF"/>
                </a:solidFill>
              </a:rPr>
              <a:t>40% (1.2%)</a:t>
            </a:r>
            <a:endParaRPr lang="en-US" sz="950" dirty="0"/>
          </a:p>
        </p:txBody>
      </p:sp>
      <p:sp>
        <p:nvSpPr>
          <p:cNvPr id="14" name="Text 12"/>
          <p:cNvSpPr/>
          <p:nvPr/>
        </p:nvSpPr>
        <p:spPr>
          <a:xfrm>
            <a:off x="5440680" y="2057400"/>
            <a:ext cx="960120" cy="237744"/>
          </a:xfrm>
          <a:prstGeom prst="rect">
            <a:avLst/>
          </a:prstGeom>
          <a:noFill/>
        </p:spPr>
        <p:txBody>
          <a:bodyPr wrap="square" rtlCol="0" anchor="ctr"/>
          <a:lstStyle/>
          <a:p>
            <a:pPr marL="0" indent="0">
              <a:buNone/>
            </a:pPr>
            <a:r>
              <a:rPr lang="en-US" sz="950" dirty="0">
                <a:solidFill>
                  <a:srgbClr val="FFFFFF"/>
                </a:solidFill>
              </a:rPr>
              <a:t>Every payout</a:t>
            </a:r>
            <a:endParaRPr lang="en-US" sz="950" dirty="0"/>
          </a:p>
        </p:txBody>
      </p:sp>
      <p:sp>
        <p:nvSpPr>
          <p:cNvPr id="15" name="Shape 13"/>
          <p:cNvSpPr/>
          <p:nvPr/>
        </p:nvSpPr>
        <p:spPr>
          <a:xfrm>
            <a:off x="411480" y="2395728"/>
            <a:ext cx="6035040" cy="384048"/>
          </a:xfrm>
          <a:prstGeom prst="rect">
            <a:avLst/>
          </a:prstGeom>
          <a:solidFill>
            <a:srgbClr val="0F4D2B"/>
          </a:solidFill>
        </p:spPr>
      </p:sp>
      <p:sp>
        <p:nvSpPr>
          <p:cNvPr id="16" name="Text 14"/>
          <p:cNvSpPr/>
          <p:nvPr/>
        </p:nvSpPr>
        <p:spPr>
          <a:xfrm>
            <a:off x="411480" y="2468880"/>
            <a:ext cx="3063240" cy="237744"/>
          </a:xfrm>
          <a:prstGeom prst="rect">
            <a:avLst/>
          </a:prstGeom>
          <a:noFill/>
        </p:spPr>
        <p:txBody>
          <a:bodyPr wrap="square" rtlCol="0" anchor="ctr"/>
          <a:lstStyle/>
          <a:p>
            <a:pPr marL="0" indent="0">
              <a:buNone/>
            </a:pPr>
            <a:r>
              <a:rPr lang="en-US" sz="900" dirty="0">
                <a:solidFill>
                  <a:srgbClr val="D4EFE0"/>
                </a:solidFill>
              </a:rPr>
              <a:t>3% Service Charge — Lister Side</a:t>
            </a:r>
            <a:endParaRPr lang="en-US" sz="900" dirty="0"/>
          </a:p>
        </p:txBody>
      </p:sp>
      <p:sp>
        <p:nvSpPr>
          <p:cNvPr id="17" name="Text 15"/>
          <p:cNvSpPr/>
          <p:nvPr/>
        </p:nvSpPr>
        <p:spPr>
          <a:xfrm>
            <a:off x="3520440" y="2468880"/>
            <a:ext cx="987552" cy="237744"/>
          </a:xfrm>
          <a:prstGeom prst="rect">
            <a:avLst/>
          </a:prstGeom>
          <a:noFill/>
        </p:spPr>
        <p:txBody>
          <a:bodyPr wrap="square" rtlCol="0" anchor="ctr"/>
          <a:lstStyle/>
          <a:p>
            <a:pPr marL="0" indent="0">
              <a:buNone/>
            </a:pPr>
            <a:r>
              <a:rPr lang="en-US" sz="950" b="1" dirty="0">
                <a:solidFill>
                  <a:srgbClr val="C17F00"/>
                </a:solidFill>
              </a:rPr>
              <a:t>60% (1.8%)</a:t>
            </a:r>
            <a:endParaRPr lang="en-US" sz="950" dirty="0"/>
          </a:p>
        </p:txBody>
      </p:sp>
      <p:sp>
        <p:nvSpPr>
          <p:cNvPr id="18" name="Text 16"/>
          <p:cNvSpPr/>
          <p:nvPr/>
        </p:nvSpPr>
        <p:spPr>
          <a:xfrm>
            <a:off x="4553712" y="2468880"/>
            <a:ext cx="841248" cy="237744"/>
          </a:xfrm>
          <a:prstGeom prst="rect">
            <a:avLst/>
          </a:prstGeom>
          <a:noFill/>
        </p:spPr>
        <p:txBody>
          <a:bodyPr wrap="square" rtlCol="0" anchor="ctr"/>
          <a:lstStyle/>
          <a:p>
            <a:pPr marL="0" indent="0">
              <a:buNone/>
            </a:pPr>
            <a:r>
              <a:rPr lang="en-US" sz="950" dirty="0">
                <a:solidFill>
                  <a:srgbClr val="FFFFFF"/>
                </a:solidFill>
              </a:rPr>
              <a:t>40% (1.2%)</a:t>
            </a:r>
            <a:endParaRPr lang="en-US" sz="950" dirty="0"/>
          </a:p>
        </p:txBody>
      </p:sp>
      <p:sp>
        <p:nvSpPr>
          <p:cNvPr id="19" name="Text 17"/>
          <p:cNvSpPr/>
          <p:nvPr/>
        </p:nvSpPr>
        <p:spPr>
          <a:xfrm>
            <a:off x="5440680" y="2468880"/>
            <a:ext cx="960120" cy="237744"/>
          </a:xfrm>
          <a:prstGeom prst="rect">
            <a:avLst/>
          </a:prstGeom>
          <a:noFill/>
        </p:spPr>
        <p:txBody>
          <a:bodyPr wrap="square" rtlCol="0" anchor="ctr"/>
          <a:lstStyle/>
          <a:p>
            <a:pPr marL="0" indent="0">
              <a:buNone/>
            </a:pPr>
            <a:r>
              <a:rPr lang="en-US" sz="950" dirty="0">
                <a:solidFill>
                  <a:srgbClr val="FFFFFF"/>
                </a:solidFill>
              </a:rPr>
              <a:t>Every payout</a:t>
            </a:r>
            <a:endParaRPr lang="en-US" sz="950" dirty="0"/>
          </a:p>
        </p:txBody>
      </p:sp>
      <p:sp>
        <p:nvSpPr>
          <p:cNvPr id="20" name="Shape 18"/>
          <p:cNvSpPr/>
          <p:nvPr/>
        </p:nvSpPr>
        <p:spPr>
          <a:xfrm>
            <a:off x="411480" y="2807208"/>
            <a:ext cx="6035040" cy="384048"/>
          </a:xfrm>
          <a:prstGeom prst="rect">
            <a:avLst/>
          </a:prstGeom>
          <a:solidFill>
            <a:srgbClr val="028090"/>
          </a:solidFill>
        </p:spPr>
      </p:sp>
      <p:sp>
        <p:nvSpPr>
          <p:cNvPr id="21" name="Text 19"/>
          <p:cNvSpPr/>
          <p:nvPr/>
        </p:nvSpPr>
        <p:spPr>
          <a:xfrm>
            <a:off x="411480" y="2880360"/>
            <a:ext cx="3063240" cy="237744"/>
          </a:xfrm>
          <a:prstGeom prst="rect">
            <a:avLst/>
          </a:prstGeom>
          <a:noFill/>
        </p:spPr>
        <p:txBody>
          <a:bodyPr wrap="square" rtlCol="0" anchor="ctr"/>
          <a:lstStyle/>
          <a:p>
            <a:pPr marL="0" indent="0">
              <a:buNone/>
            </a:pPr>
            <a:r>
              <a:rPr lang="en-US" sz="900" dirty="0">
                <a:solidFill>
                  <a:srgbClr val="D4EFE0"/>
                </a:solidFill>
              </a:rPr>
              <a:t>2% Pension Levy — Investor Payout</a:t>
            </a:r>
            <a:endParaRPr lang="en-US" sz="900" dirty="0"/>
          </a:p>
        </p:txBody>
      </p:sp>
      <p:sp>
        <p:nvSpPr>
          <p:cNvPr id="22" name="Text 20"/>
          <p:cNvSpPr/>
          <p:nvPr/>
        </p:nvSpPr>
        <p:spPr>
          <a:xfrm>
            <a:off x="3520440" y="2880360"/>
            <a:ext cx="987552" cy="237744"/>
          </a:xfrm>
          <a:prstGeom prst="rect">
            <a:avLst/>
          </a:prstGeom>
          <a:noFill/>
        </p:spPr>
        <p:txBody>
          <a:bodyPr wrap="square" rtlCol="0" anchor="ctr"/>
          <a:lstStyle/>
          <a:p>
            <a:pPr marL="0" indent="0">
              <a:buNone/>
            </a:pPr>
            <a:r>
              <a:rPr lang="en-US" sz="950" b="1" dirty="0">
                <a:solidFill>
                  <a:srgbClr val="C17F00"/>
                </a:solidFill>
              </a:rPr>
              <a:t>100% → invested</a:t>
            </a:r>
            <a:endParaRPr lang="en-US" sz="950" dirty="0"/>
          </a:p>
        </p:txBody>
      </p:sp>
      <p:sp>
        <p:nvSpPr>
          <p:cNvPr id="23" name="Text 21"/>
          <p:cNvSpPr/>
          <p:nvPr/>
        </p:nvSpPr>
        <p:spPr>
          <a:xfrm>
            <a:off x="4553712" y="2880360"/>
            <a:ext cx="841248" cy="237744"/>
          </a:xfrm>
          <a:prstGeom prst="rect">
            <a:avLst/>
          </a:prstGeom>
          <a:noFill/>
        </p:spPr>
        <p:txBody>
          <a:bodyPr wrap="square" rtlCol="0" anchor="ctr"/>
          <a:lstStyle/>
          <a:p>
            <a:pPr marL="0" indent="0">
              <a:buNone/>
            </a:pPr>
            <a:r>
              <a:rPr lang="en-US" sz="950" dirty="0">
                <a:solidFill>
                  <a:srgbClr val="FFFFFF"/>
                </a:solidFill>
              </a:rPr>
              <a:t>0%</a:t>
            </a:r>
            <a:endParaRPr lang="en-US" sz="950" dirty="0"/>
          </a:p>
        </p:txBody>
      </p:sp>
      <p:sp>
        <p:nvSpPr>
          <p:cNvPr id="24" name="Text 22"/>
          <p:cNvSpPr/>
          <p:nvPr/>
        </p:nvSpPr>
        <p:spPr>
          <a:xfrm>
            <a:off x="5440680" y="2880360"/>
            <a:ext cx="960120" cy="237744"/>
          </a:xfrm>
          <a:prstGeom prst="rect">
            <a:avLst/>
          </a:prstGeom>
          <a:noFill/>
        </p:spPr>
        <p:txBody>
          <a:bodyPr wrap="square" rtlCol="0" anchor="ctr"/>
          <a:lstStyle/>
          <a:p>
            <a:pPr marL="0" indent="0">
              <a:buNone/>
            </a:pPr>
            <a:r>
              <a:rPr lang="en-US" sz="950" dirty="0">
                <a:solidFill>
                  <a:srgbClr val="FFFFFF"/>
                </a:solidFill>
              </a:rPr>
              <a:t>Every payout</a:t>
            </a:r>
            <a:endParaRPr lang="en-US" sz="950" dirty="0"/>
          </a:p>
        </p:txBody>
      </p:sp>
      <p:sp>
        <p:nvSpPr>
          <p:cNvPr id="25" name="Shape 23"/>
          <p:cNvSpPr/>
          <p:nvPr/>
        </p:nvSpPr>
        <p:spPr>
          <a:xfrm>
            <a:off x="411480" y="3218688"/>
            <a:ext cx="6035040" cy="384048"/>
          </a:xfrm>
          <a:prstGeom prst="rect">
            <a:avLst/>
          </a:prstGeom>
          <a:solidFill>
            <a:srgbClr val="0F4D2B"/>
          </a:solidFill>
        </p:spPr>
      </p:sp>
      <p:sp>
        <p:nvSpPr>
          <p:cNvPr id="26" name="Text 24"/>
          <p:cNvSpPr/>
          <p:nvPr/>
        </p:nvSpPr>
        <p:spPr>
          <a:xfrm>
            <a:off x="411480" y="3291840"/>
            <a:ext cx="3063240" cy="237744"/>
          </a:xfrm>
          <a:prstGeom prst="rect">
            <a:avLst/>
          </a:prstGeom>
          <a:noFill/>
        </p:spPr>
        <p:txBody>
          <a:bodyPr wrap="square" rtlCol="0" anchor="ctr"/>
          <a:lstStyle/>
          <a:p>
            <a:pPr marL="0" indent="0">
              <a:buNone/>
            </a:pPr>
            <a:r>
              <a:rPr lang="en-US" sz="900" dirty="0">
                <a:solidFill>
                  <a:srgbClr val="D4EFE0"/>
                </a:solidFill>
              </a:rPr>
              <a:t>Listing Fees (all 10 classes)</a:t>
            </a:r>
            <a:endParaRPr lang="en-US" sz="900" dirty="0"/>
          </a:p>
        </p:txBody>
      </p:sp>
      <p:sp>
        <p:nvSpPr>
          <p:cNvPr id="27" name="Text 25"/>
          <p:cNvSpPr/>
          <p:nvPr/>
        </p:nvSpPr>
        <p:spPr>
          <a:xfrm>
            <a:off x="3520440" y="3291840"/>
            <a:ext cx="987552" cy="237744"/>
          </a:xfrm>
          <a:prstGeom prst="rect">
            <a:avLst/>
          </a:prstGeom>
          <a:noFill/>
        </p:spPr>
        <p:txBody>
          <a:bodyPr wrap="square" rtlCol="0" anchor="ctr"/>
          <a:lstStyle/>
          <a:p>
            <a:pPr marL="0" indent="0">
              <a:buNone/>
            </a:pPr>
            <a:r>
              <a:rPr lang="en-US" sz="950" b="1" dirty="0">
                <a:solidFill>
                  <a:srgbClr val="C17F00"/>
                </a:solidFill>
              </a:rPr>
              <a:t>30%</a:t>
            </a:r>
            <a:endParaRPr lang="en-US" sz="950" dirty="0"/>
          </a:p>
        </p:txBody>
      </p:sp>
      <p:sp>
        <p:nvSpPr>
          <p:cNvPr id="28" name="Text 26"/>
          <p:cNvSpPr/>
          <p:nvPr/>
        </p:nvSpPr>
        <p:spPr>
          <a:xfrm>
            <a:off x="4553712" y="3291840"/>
            <a:ext cx="841248" cy="237744"/>
          </a:xfrm>
          <a:prstGeom prst="rect">
            <a:avLst/>
          </a:prstGeom>
          <a:noFill/>
        </p:spPr>
        <p:txBody>
          <a:bodyPr wrap="square" rtlCol="0" anchor="ctr"/>
          <a:lstStyle/>
          <a:p>
            <a:pPr marL="0" indent="0">
              <a:buNone/>
            </a:pPr>
            <a:r>
              <a:rPr lang="en-US" sz="950" dirty="0">
                <a:solidFill>
                  <a:srgbClr val="FFFFFF"/>
                </a:solidFill>
              </a:rPr>
              <a:t>70%</a:t>
            </a:r>
            <a:endParaRPr lang="en-US" sz="950" dirty="0"/>
          </a:p>
        </p:txBody>
      </p:sp>
      <p:sp>
        <p:nvSpPr>
          <p:cNvPr id="29" name="Text 27"/>
          <p:cNvSpPr/>
          <p:nvPr/>
        </p:nvSpPr>
        <p:spPr>
          <a:xfrm>
            <a:off x="5440680" y="3291840"/>
            <a:ext cx="960120" cy="237744"/>
          </a:xfrm>
          <a:prstGeom prst="rect">
            <a:avLst/>
          </a:prstGeom>
          <a:noFill/>
        </p:spPr>
        <p:txBody>
          <a:bodyPr wrap="square" rtlCol="0" anchor="ctr"/>
          <a:lstStyle/>
          <a:p>
            <a:pPr marL="0" indent="0">
              <a:buNone/>
            </a:pPr>
            <a:r>
              <a:rPr lang="en-US" sz="950" dirty="0">
                <a:solidFill>
                  <a:srgbClr val="FFFFFF"/>
                </a:solidFill>
              </a:rPr>
              <a:t>Per listing</a:t>
            </a:r>
            <a:endParaRPr lang="en-US" sz="950" dirty="0"/>
          </a:p>
        </p:txBody>
      </p:sp>
      <p:sp>
        <p:nvSpPr>
          <p:cNvPr id="30" name="Shape 28"/>
          <p:cNvSpPr/>
          <p:nvPr/>
        </p:nvSpPr>
        <p:spPr>
          <a:xfrm>
            <a:off x="411480" y="3630168"/>
            <a:ext cx="6035040" cy="384048"/>
          </a:xfrm>
          <a:prstGeom prst="rect">
            <a:avLst/>
          </a:prstGeom>
          <a:solidFill>
            <a:srgbClr val="0F4D2B"/>
          </a:solidFill>
        </p:spPr>
      </p:sp>
      <p:sp>
        <p:nvSpPr>
          <p:cNvPr id="31" name="Text 29"/>
          <p:cNvSpPr/>
          <p:nvPr/>
        </p:nvSpPr>
        <p:spPr>
          <a:xfrm>
            <a:off x="411480" y="3703320"/>
            <a:ext cx="3063240" cy="237744"/>
          </a:xfrm>
          <a:prstGeom prst="rect">
            <a:avLst/>
          </a:prstGeom>
          <a:noFill/>
        </p:spPr>
        <p:txBody>
          <a:bodyPr wrap="square" rtlCol="0" anchor="ctr"/>
          <a:lstStyle/>
          <a:p>
            <a:pPr marL="0" indent="0">
              <a:buNone/>
            </a:pPr>
            <a:r>
              <a:rPr lang="en-US" sz="900" dirty="0">
                <a:solidFill>
                  <a:srgbClr val="D4EFE0"/>
                </a:solidFill>
              </a:rPr>
              <a:t>2% Investor Platform Fee</a:t>
            </a:r>
            <a:endParaRPr lang="en-US" sz="900" dirty="0"/>
          </a:p>
        </p:txBody>
      </p:sp>
      <p:sp>
        <p:nvSpPr>
          <p:cNvPr id="32" name="Text 30"/>
          <p:cNvSpPr/>
          <p:nvPr/>
        </p:nvSpPr>
        <p:spPr>
          <a:xfrm>
            <a:off x="3520440" y="3703320"/>
            <a:ext cx="987552" cy="237744"/>
          </a:xfrm>
          <a:prstGeom prst="rect">
            <a:avLst/>
          </a:prstGeom>
          <a:noFill/>
        </p:spPr>
        <p:txBody>
          <a:bodyPr wrap="square" rtlCol="0" anchor="ctr"/>
          <a:lstStyle/>
          <a:p>
            <a:pPr marL="0" indent="0">
              <a:buNone/>
            </a:pPr>
            <a:r>
              <a:rPr lang="en-US" sz="950" b="1" dirty="0">
                <a:solidFill>
                  <a:srgbClr val="C17F00"/>
                </a:solidFill>
              </a:rPr>
              <a:t>0%</a:t>
            </a:r>
            <a:endParaRPr lang="en-US" sz="950" dirty="0"/>
          </a:p>
        </p:txBody>
      </p:sp>
      <p:sp>
        <p:nvSpPr>
          <p:cNvPr id="33" name="Text 31"/>
          <p:cNvSpPr/>
          <p:nvPr/>
        </p:nvSpPr>
        <p:spPr>
          <a:xfrm>
            <a:off x="4553712" y="3703320"/>
            <a:ext cx="841248" cy="237744"/>
          </a:xfrm>
          <a:prstGeom prst="rect">
            <a:avLst/>
          </a:prstGeom>
          <a:noFill/>
        </p:spPr>
        <p:txBody>
          <a:bodyPr wrap="square" rtlCol="0" anchor="ctr"/>
          <a:lstStyle/>
          <a:p>
            <a:pPr marL="0" indent="0">
              <a:buNone/>
            </a:pPr>
            <a:r>
              <a:rPr lang="en-US" sz="950" dirty="0">
                <a:solidFill>
                  <a:srgbClr val="FFFFFF"/>
                </a:solidFill>
              </a:rPr>
              <a:t>100%</a:t>
            </a:r>
            <a:endParaRPr lang="en-US" sz="950" dirty="0"/>
          </a:p>
        </p:txBody>
      </p:sp>
      <p:sp>
        <p:nvSpPr>
          <p:cNvPr id="34" name="Text 32"/>
          <p:cNvSpPr/>
          <p:nvPr/>
        </p:nvSpPr>
        <p:spPr>
          <a:xfrm>
            <a:off x="5440680" y="3703320"/>
            <a:ext cx="960120" cy="237744"/>
          </a:xfrm>
          <a:prstGeom prst="rect">
            <a:avLst/>
          </a:prstGeom>
          <a:noFill/>
        </p:spPr>
        <p:txBody>
          <a:bodyPr wrap="square" rtlCol="0" anchor="ctr"/>
          <a:lstStyle/>
          <a:p>
            <a:pPr marL="0" indent="0">
              <a:buNone/>
            </a:pPr>
            <a:r>
              <a:rPr lang="en-US" sz="950" dirty="0">
                <a:solidFill>
                  <a:srgbClr val="FFFFFF"/>
                </a:solidFill>
              </a:rPr>
              <a:t>Per investment</a:t>
            </a:r>
            <a:endParaRPr lang="en-US" sz="950" dirty="0"/>
          </a:p>
        </p:txBody>
      </p:sp>
      <p:sp>
        <p:nvSpPr>
          <p:cNvPr id="35" name="Shape 33"/>
          <p:cNvSpPr/>
          <p:nvPr/>
        </p:nvSpPr>
        <p:spPr>
          <a:xfrm>
            <a:off x="411480" y="4041648"/>
            <a:ext cx="6035040" cy="384048"/>
          </a:xfrm>
          <a:prstGeom prst="rect">
            <a:avLst/>
          </a:prstGeom>
          <a:solidFill>
            <a:srgbClr val="0F4D2B"/>
          </a:solidFill>
        </p:spPr>
      </p:sp>
      <p:sp>
        <p:nvSpPr>
          <p:cNvPr id="36" name="Text 34"/>
          <p:cNvSpPr/>
          <p:nvPr/>
        </p:nvSpPr>
        <p:spPr>
          <a:xfrm>
            <a:off x="411480" y="4114800"/>
            <a:ext cx="3063240" cy="237744"/>
          </a:xfrm>
          <a:prstGeom prst="rect">
            <a:avLst/>
          </a:prstGeom>
          <a:noFill/>
        </p:spPr>
        <p:txBody>
          <a:bodyPr wrap="square" rtlCol="0" anchor="ctr"/>
          <a:lstStyle/>
          <a:p>
            <a:pPr marL="0" indent="0">
              <a:buNone/>
            </a:pPr>
            <a:r>
              <a:rPr lang="en-US" sz="900" dirty="0">
                <a:solidFill>
                  <a:srgbClr val="D4EFE0"/>
                </a:solidFill>
              </a:rPr>
              <a:t>Premium Lister Analytics (UGX 300K/m)</a:t>
            </a:r>
            <a:endParaRPr lang="en-US" sz="900" dirty="0"/>
          </a:p>
        </p:txBody>
      </p:sp>
      <p:sp>
        <p:nvSpPr>
          <p:cNvPr id="37" name="Text 35"/>
          <p:cNvSpPr/>
          <p:nvPr/>
        </p:nvSpPr>
        <p:spPr>
          <a:xfrm>
            <a:off x="3520440" y="4114800"/>
            <a:ext cx="987552" cy="237744"/>
          </a:xfrm>
          <a:prstGeom prst="rect">
            <a:avLst/>
          </a:prstGeom>
          <a:noFill/>
        </p:spPr>
        <p:txBody>
          <a:bodyPr wrap="square" rtlCol="0" anchor="ctr"/>
          <a:lstStyle/>
          <a:p>
            <a:pPr marL="0" indent="0">
              <a:buNone/>
            </a:pPr>
            <a:r>
              <a:rPr lang="en-US" sz="950" b="1" dirty="0">
                <a:solidFill>
                  <a:srgbClr val="C17F00"/>
                </a:solidFill>
              </a:rPr>
              <a:t>0%</a:t>
            </a:r>
            <a:endParaRPr lang="en-US" sz="950" dirty="0"/>
          </a:p>
        </p:txBody>
      </p:sp>
      <p:sp>
        <p:nvSpPr>
          <p:cNvPr id="38" name="Text 36"/>
          <p:cNvSpPr/>
          <p:nvPr/>
        </p:nvSpPr>
        <p:spPr>
          <a:xfrm>
            <a:off x="4553712" y="4114800"/>
            <a:ext cx="841248" cy="237744"/>
          </a:xfrm>
          <a:prstGeom prst="rect">
            <a:avLst/>
          </a:prstGeom>
          <a:noFill/>
        </p:spPr>
        <p:txBody>
          <a:bodyPr wrap="square" rtlCol="0" anchor="ctr"/>
          <a:lstStyle/>
          <a:p>
            <a:pPr marL="0" indent="0">
              <a:buNone/>
            </a:pPr>
            <a:r>
              <a:rPr lang="en-US" sz="950" dirty="0">
                <a:solidFill>
                  <a:srgbClr val="FFFFFF"/>
                </a:solidFill>
              </a:rPr>
              <a:t>100%</a:t>
            </a:r>
            <a:endParaRPr lang="en-US" sz="950" dirty="0"/>
          </a:p>
        </p:txBody>
      </p:sp>
      <p:sp>
        <p:nvSpPr>
          <p:cNvPr id="39" name="Text 37"/>
          <p:cNvSpPr/>
          <p:nvPr/>
        </p:nvSpPr>
        <p:spPr>
          <a:xfrm>
            <a:off x="5440680" y="4114800"/>
            <a:ext cx="960120" cy="237744"/>
          </a:xfrm>
          <a:prstGeom prst="rect">
            <a:avLst/>
          </a:prstGeom>
          <a:noFill/>
        </p:spPr>
        <p:txBody>
          <a:bodyPr wrap="square" rtlCol="0" anchor="ctr"/>
          <a:lstStyle/>
          <a:p>
            <a:pPr marL="0" indent="0">
              <a:buNone/>
            </a:pPr>
            <a:r>
              <a:rPr lang="en-US" sz="950" dirty="0">
                <a:solidFill>
                  <a:srgbClr val="FFFFFF"/>
                </a:solidFill>
              </a:rPr>
              <a:t>Monthly sub</a:t>
            </a:r>
            <a:endParaRPr lang="en-US" sz="950" dirty="0"/>
          </a:p>
        </p:txBody>
      </p:sp>
      <p:sp>
        <p:nvSpPr>
          <p:cNvPr id="40" name="Text 38"/>
          <p:cNvSpPr/>
          <p:nvPr/>
        </p:nvSpPr>
        <p:spPr>
          <a:xfrm>
            <a:off x="6537960" y="1261872"/>
            <a:ext cx="2395728" cy="274320"/>
          </a:xfrm>
          <a:prstGeom prst="rect">
            <a:avLst/>
          </a:prstGeom>
          <a:noFill/>
        </p:spPr>
        <p:txBody>
          <a:bodyPr wrap="square" rtlCol="0" anchor="ctr"/>
          <a:lstStyle/>
          <a:p>
            <a:pPr marL="0" indent="0">
              <a:buNone/>
            </a:pPr>
            <a:r>
              <a:rPr lang="en-US" sz="900" b="1" kern="0" spc="200" dirty="0">
                <a:solidFill>
                  <a:srgbClr val="C17F00"/>
                </a:solidFill>
              </a:rPr>
              <a:t>WORKED EXAMPLE — MAIZE EXPORT LOT</a:t>
            </a:r>
            <a:endParaRPr lang="en-US" sz="900" dirty="0"/>
          </a:p>
        </p:txBody>
      </p:sp>
      <p:sp>
        <p:nvSpPr>
          <p:cNvPr id="41" name="Text 39"/>
          <p:cNvSpPr/>
          <p:nvPr/>
        </p:nvSpPr>
        <p:spPr>
          <a:xfrm>
            <a:off x="6537960" y="1609344"/>
            <a:ext cx="1554480" cy="274320"/>
          </a:xfrm>
          <a:prstGeom prst="rect">
            <a:avLst/>
          </a:prstGeom>
          <a:noFill/>
        </p:spPr>
        <p:txBody>
          <a:bodyPr wrap="square" rtlCol="0" anchor="ctr"/>
          <a:lstStyle/>
          <a:p>
            <a:pPr marL="0" indent="0">
              <a:buNone/>
            </a:pPr>
            <a:r>
              <a:rPr lang="en-US" sz="850" dirty="0">
                <a:solidFill>
                  <a:srgbClr val="D4EFE0"/>
                </a:solidFill>
              </a:rPr>
              <a:t>Crowd-funded maize (500 bags)</a:t>
            </a:r>
            <a:endParaRPr lang="en-US" sz="850" dirty="0"/>
          </a:p>
        </p:txBody>
      </p:sp>
      <p:sp>
        <p:nvSpPr>
          <p:cNvPr id="42" name="Text 40"/>
          <p:cNvSpPr/>
          <p:nvPr/>
        </p:nvSpPr>
        <p:spPr>
          <a:xfrm>
            <a:off x="8138160" y="1609344"/>
            <a:ext cx="822960" cy="274320"/>
          </a:xfrm>
          <a:prstGeom prst="rect">
            <a:avLst/>
          </a:prstGeom>
          <a:noFill/>
        </p:spPr>
        <p:txBody>
          <a:bodyPr wrap="square" rtlCol="0" anchor="ctr"/>
          <a:lstStyle/>
          <a:p>
            <a:pPr marL="0" indent="0" algn="r">
              <a:buNone/>
            </a:pPr>
            <a:r>
              <a:rPr lang="en-US" sz="850" dirty="0">
                <a:solidFill>
                  <a:srgbClr val="FFFFFF"/>
                </a:solidFill>
              </a:rPr>
              <a:t>UGX 25M</a:t>
            </a:r>
            <a:endParaRPr lang="en-US" sz="850" dirty="0"/>
          </a:p>
        </p:txBody>
      </p:sp>
      <p:sp>
        <p:nvSpPr>
          <p:cNvPr id="43" name="Text 41"/>
          <p:cNvSpPr/>
          <p:nvPr/>
        </p:nvSpPr>
        <p:spPr>
          <a:xfrm>
            <a:off x="6537960" y="1956816"/>
            <a:ext cx="1554480" cy="274320"/>
          </a:xfrm>
          <a:prstGeom prst="rect">
            <a:avLst/>
          </a:prstGeom>
          <a:noFill/>
        </p:spPr>
        <p:txBody>
          <a:bodyPr wrap="square" rtlCol="0" anchor="ctr"/>
          <a:lstStyle/>
          <a:p>
            <a:pPr marL="0" indent="0">
              <a:buNone/>
            </a:pPr>
            <a:r>
              <a:rPr lang="en-US" sz="850" dirty="0">
                <a:solidFill>
                  <a:srgbClr val="D4EFE0"/>
                </a:solidFill>
              </a:rPr>
              <a:t>Sold to Kenya (75 days later)</a:t>
            </a:r>
            <a:endParaRPr lang="en-US" sz="850" dirty="0"/>
          </a:p>
        </p:txBody>
      </p:sp>
      <p:sp>
        <p:nvSpPr>
          <p:cNvPr id="44" name="Text 42"/>
          <p:cNvSpPr/>
          <p:nvPr/>
        </p:nvSpPr>
        <p:spPr>
          <a:xfrm>
            <a:off x="8138160" y="1956816"/>
            <a:ext cx="822960" cy="274320"/>
          </a:xfrm>
          <a:prstGeom prst="rect">
            <a:avLst/>
          </a:prstGeom>
          <a:noFill/>
        </p:spPr>
        <p:txBody>
          <a:bodyPr wrap="square" rtlCol="0" anchor="ctr"/>
          <a:lstStyle/>
          <a:p>
            <a:pPr marL="0" indent="0" algn="r">
              <a:buNone/>
            </a:pPr>
            <a:r>
              <a:rPr lang="en-US" sz="850" dirty="0">
                <a:solidFill>
                  <a:srgbClr val="FFFFFF"/>
                </a:solidFill>
              </a:rPr>
              <a:t>UGX 34M</a:t>
            </a:r>
            <a:endParaRPr lang="en-US" sz="850" dirty="0"/>
          </a:p>
        </p:txBody>
      </p:sp>
      <p:sp>
        <p:nvSpPr>
          <p:cNvPr id="45" name="Text 43"/>
          <p:cNvSpPr/>
          <p:nvPr/>
        </p:nvSpPr>
        <p:spPr>
          <a:xfrm>
            <a:off x="6537960" y="2304288"/>
            <a:ext cx="1554480" cy="274320"/>
          </a:xfrm>
          <a:prstGeom prst="rect">
            <a:avLst/>
          </a:prstGeom>
          <a:noFill/>
        </p:spPr>
        <p:txBody>
          <a:bodyPr wrap="square" rtlCol="0" anchor="ctr"/>
          <a:lstStyle/>
          <a:p>
            <a:pPr marL="0" indent="0">
              <a:buNone/>
            </a:pPr>
            <a:r>
              <a:rPr lang="en-US" sz="850" dirty="0">
                <a:solidFill>
                  <a:srgbClr val="D4EFE0"/>
                </a:solidFill>
              </a:rPr>
              <a:t>Gross profit</a:t>
            </a:r>
            <a:endParaRPr lang="en-US" sz="850" dirty="0"/>
          </a:p>
        </p:txBody>
      </p:sp>
      <p:sp>
        <p:nvSpPr>
          <p:cNvPr id="46" name="Text 44"/>
          <p:cNvSpPr/>
          <p:nvPr/>
        </p:nvSpPr>
        <p:spPr>
          <a:xfrm>
            <a:off x="8138160" y="2304288"/>
            <a:ext cx="822960" cy="274320"/>
          </a:xfrm>
          <a:prstGeom prst="rect">
            <a:avLst/>
          </a:prstGeom>
          <a:noFill/>
        </p:spPr>
        <p:txBody>
          <a:bodyPr wrap="square" rtlCol="0" anchor="ctr"/>
          <a:lstStyle/>
          <a:p>
            <a:pPr marL="0" indent="0" algn="r">
              <a:buNone/>
            </a:pPr>
            <a:r>
              <a:rPr lang="en-US" sz="850" dirty="0">
                <a:solidFill>
                  <a:srgbClr val="FFFFFF"/>
                </a:solidFill>
              </a:rPr>
              <a:t>UGX 9M</a:t>
            </a:r>
            <a:endParaRPr lang="en-US" sz="850" dirty="0"/>
          </a:p>
        </p:txBody>
      </p:sp>
      <p:sp>
        <p:nvSpPr>
          <p:cNvPr id="47" name="Shape 45"/>
          <p:cNvSpPr/>
          <p:nvPr/>
        </p:nvSpPr>
        <p:spPr>
          <a:xfrm>
            <a:off x="6537960" y="2724912"/>
            <a:ext cx="2395728" cy="18288"/>
          </a:xfrm>
          <a:prstGeom prst="rect">
            <a:avLst/>
          </a:prstGeom>
          <a:solidFill>
            <a:srgbClr val="5A7A68"/>
          </a:solidFill>
        </p:spPr>
      </p:sp>
      <p:sp>
        <p:nvSpPr>
          <p:cNvPr id="48" name="Text 46"/>
          <p:cNvSpPr/>
          <p:nvPr/>
        </p:nvSpPr>
        <p:spPr>
          <a:xfrm>
            <a:off x="6537960" y="2999232"/>
            <a:ext cx="1554480" cy="274320"/>
          </a:xfrm>
          <a:prstGeom prst="rect">
            <a:avLst/>
          </a:prstGeom>
          <a:noFill/>
        </p:spPr>
        <p:txBody>
          <a:bodyPr wrap="square" rtlCol="0" anchor="ctr"/>
          <a:lstStyle/>
          <a:p>
            <a:pPr marL="0" indent="0">
              <a:buNone/>
            </a:pPr>
            <a:r>
              <a:rPr lang="en-US" sz="850" dirty="0">
                <a:solidFill>
                  <a:srgbClr val="D4EFE0"/>
                </a:solidFill>
              </a:rPr>
              <a:t>NSSF service charge (3%+3%)</a:t>
            </a:r>
            <a:endParaRPr lang="en-US" sz="850" dirty="0"/>
          </a:p>
        </p:txBody>
      </p:sp>
      <p:sp>
        <p:nvSpPr>
          <p:cNvPr id="49" name="Text 47"/>
          <p:cNvSpPr/>
          <p:nvPr/>
        </p:nvSpPr>
        <p:spPr>
          <a:xfrm>
            <a:off x="8138160" y="2999232"/>
            <a:ext cx="822960" cy="274320"/>
          </a:xfrm>
          <a:prstGeom prst="rect">
            <a:avLst/>
          </a:prstGeom>
          <a:noFill/>
        </p:spPr>
        <p:txBody>
          <a:bodyPr wrap="square" rtlCol="0" anchor="ctr"/>
          <a:lstStyle/>
          <a:p>
            <a:pPr marL="0" indent="0" algn="r">
              <a:buNone/>
            </a:pPr>
            <a:r>
              <a:rPr lang="en-US" sz="850" dirty="0">
                <a:solidFill>
                  <a:srgbClr val="FFFFFF"/>
                </a:solidFill>
              </a:rPr>
              <a:t>UGX 270K → NSSF</a:t>
            </a:r>
            <a:endParaRPr lang="en-US" sz="850" dirty="0"/>
          </a:p>
        </p:txBody>
      </p:sp>
      <p:sp>
        <p:nvSpPr>
          <p:cNvPr id="50" name="Text 48"/>
          <p:cNvSpPr/>
          <p:nvPr/>
        </p:nvSpPr>
        <p:spPr>
          <a:xfrm>
            <a:off x="6537960" y="3346704"/>
            <a:ext cx="1554480" cy="274320"/>
          </a:xfrm>
          <a:prstGeom prst="rect">
            <a:avLst/>
          </a:prstGeom>
          <a:noFill/>
        </p:spPr>
        <p:txBody>
          <a:bodyPr wrap="square" rtlCol="0" anchor="ctr"/>
          <a:lstStyle/>
          <a:p>
            <a:pPr marL="0" indent="0">
              <a:buNone/>
            </a:pPr>
            <a:r>
              <a:rPr lang="en-US" sz="850" dirty="0">
                <a:solidFill>
                  <a:srgbClr val="D4EFE0"/>
                </a:solidFill>
              </a:rPr>
              <a:t>2% pension levy</a:t>
            </a:r>
            <a:endParaRPr lang="en-US" sz="850" dirty="0"/>
          </a:p>
        </p:txBody>
      </p:sp>
      <p:sp>
        <p:nvSpPr>
          <p:cNvPr id="51" name="Text 49"/>
          <p:cNvSpPr/>
          <p:nvPr/>
        </p:nvSpPr>
        <p:spPr>
          <a:xfrm>
            <a:off x="8138160" y="3346704"/>
            <a:ext cx="822960" cy="274320"/>
          </a:xfrm>
          <a:prstGeom prst="rect">
            <a:avLst/>
          </a:prstGeom>
          <a:noFill/>
        </p:spPr>
        <p:txBody>
          <a:bodyPr wrap="square" rtlCol="0" anchor="ctr"/>
          <a:lstStyle/>
          <a:p>
            <a:pPr marL="0" indent="0" algn="r">
              <a:buNone/>
            </a:pPr>
            <a:r>
              <a:rPr lang="en-US" sz="850" dirty="0">
                <a:solidFill>
                  <a:srgbClr val="FFFFFF"/>
                </a:solidFill>
              </a:rPr>
              <a:t>UGX 166K → NSSF pots</a:t>
            </a:r>
            <a:endParaRPr lang="en-US" sz="850" dirty="0"/>
          </a:p>
        </p:txBody>
      </p:sp>
      <p:sp>
        <p:nvSpPr>
          <p:cNvPr id="52" name="Text 50"/>
          <p:cNvSpPr/>
          <p:nvPr/>
        </p:nvSpPr>
        <p:spPr>
          <a:xfrm>
            <a:off x="6537960" y="3694176"/>
            <a:ext cx="1554480" cy="274320"/>
          </a:xfrm>
          <a:prstGeom prst="rect">
            <a:avLst/>
          </a:prstGeom>
          <a:noFill/>
        </p:spPr>
        <p:txBody>
          <a:bodyPr wrap="square" rtlCol="0" anchor="ctr"/>
          <a:lstStyle/>
          <a:p>
            <a:pPr marL="0" indent="0">
              <a:buNone/>
            </a:pPr>
            <a:r>
              <a:rPr lang="en-US" sz="850" dirty="0">
                <a:solidFill>
                  <a:srgbClr val="D4EFE0"/>
                </a:solidFill>
              </a:rPr>
              <a:t>Lister management fee</a:t>
            </a:r>
            <a:endParaRPr lang="en-US" sz="850" dirty="0"/>
          </a:p>
        </p:txBody>
      </p:sp>
      <p:sp>
        <p:nvSpPr>
          <p:cNvPr id="53" name="Text 51"/>
          <p:cNvSpPr/>
          <p:nvPr/>
        </p:nvSpPr>
        <p:spPr>
          <a:xfrm>
            <a:off x="8138160" y="3694176"/>
            <a:ext cx="822960" cy="274320"/>
          </a:xfrm>
          <a:prstGeom prst="rect">
            <a:avLst/>
          </a:prstGeom>
          <a:noFill/>
        </p:spPr>
        <p:txBody>
          <a:bodyPr wrap="square" rtlCol="0" anchor="ctr"/>
          <a:lstStyle/>
          <a:p>
            <a:pPr marL="0" indent="0" algn="r">
              <a:buNone/>
            </a:pPr>
            <a:r>
              <a:rPr lang="en-US" sz="850" dirty="0">
                <a:solidFill>
                  <a:srgbClr val="FFFFFF"/>
                </a:solidFill>
              </a:rPr>
              <a:t>UGX 698K → Lister</a:t>
            </a:r>
            <a:endParaRPr lang="en-US" sz="850" dirty="0"/>
          </a:p>
        </p:txBody>
      </p:sp>
      <p:sp>
        <p:nvSpPr>
          <p:cNvPr id="54" name="Text 52"/>
          <p:cNvSpPr/>
          <p:nvPr/>
        </p:nvSpPr>
        <p:spPr>
          <a:xfrm>
            <a:off x="6537960" y="4041648"/>
            <a:ext cx="1554480" cy="274320"/>
          </a:xfrm>
          <a:prstGeom prst="rect">
            <a:avLst/>
          </a:prstGeom>
          <a:noFill/>
        </p:spPr>
        <p:txBody>
          <a:bodyPr wrap="square" rtlCol="0" anchor="ctr"/>
          <a:lstStyle/>
          <a:p>
            <a:pPr marL="0" indent="0">
              <a:buNone/>
            </a:pPr>
            <a:r>
              <a:rPr lang="en-US" sz="850" dirty="0">
                <a:solidFill>
                  <a:srgbClr val="D4EFE0"/>
                </a:solidFill>
              </a:rPr>
              <a:t>NET to 330 investors (MoMo)</a:t>
            </a:r>
            <a:endParaRPr lang="en-US" sz="850" dirty="0"/>
          </a:p>
        </p:txBody>
      </p:sp>
      <p:sp>
        <p:nvSpPr>
          <p:cNvPr id="55" name="Text 53"/>
          <p:cNvSpPr/>
          <p:nvPr/>
        </p:nvSpPr>
        <p:spPr>
          <a:xfrm>
            <a:off x="8138160" y="4041648"/>
            <a:ext cx="822960" cy="274320"/>
          </a:xfrm>
          <a:prstGeom prst="rect">
            <a:avLst/>
          </a:prstGeom>
          <a:noFill/>
        </p:spPr>
        <p:txBody>
          <a:bodyPr wrap="square" rtlCol="0" anchor="ctr"/>
          <a:lstStyle/>
          <a:p>
            <a:pPr marL="0" indent="0" algn="r">
              <a:buNone/>
            </a:pPr>
            <a:r>
              <a:rPr lang="en-US" sz="850" dirty="0">
                <a:solidFill>
                  <a:srgbClr val="FFFFFF"/>
                </a:solidFill>
              </a:rPr>
              <a:t>UGX 7.87M</a:t>
            </a:r>
            <a:endParaRPr lang="en-US" sz="850" dirty="0"/>
          </a:p>
        </p:txBody>
      </p:sp>
      <p:sp>
        <p:nvSpPr>
          <p:cNvPr id="56" name="Shape 54"/>
          <p:cNvSpPr/>
          <p:nvPr/>
        </p:nvSpPr>
        <p:spPr>
          <a:xfrm>
            <a:off x="6537960" y="4462272"/>
            <a:ext cx="2395728" cy="18288"/>
          </a:xfrm>
          <a:prstGeom prst="rect">
            <a:avLst/>
          </a:prstGeom>
          <a:solidFill>
            <a:srgbClr val="5A7A68"/>
          </a:solidFill>
        </p:spPr>
      </p:sp>
      <p:sp>
        <p:nvSpPr>
          <p:cNvPr id="57" name="Text 55"/>
          <p:cNvSpPr/>
          <p:nvPr/>
        </p:nvSpPr>
        <p:spPr>
          <a:xfrm>
            <a:off x="6537960" y="4736592"/>
            <a:ext cx="1554480" cy="274320"/>
          </a:xfrm>
          <a:prstGeom prst="rect">
            <a:avLst/>
          </a:prstGeom>
          <a:noFill/>
        </p:spPr>
        <p:txBody>
          <a:bodyPr wrap="square" rtlCol="0" anchor="ctr"/>
          <a:lstStyle/>
          <a:p>
            <a:pPr marL="0" indent="0">
              <a:buNone/>
            </a:pPr>
            <a:r>
              <a:rPr lang="en-US" sz="850" b="1" dirty="0">
                <a:solidFill>
                  <a:srgbClr val="C17F00"/>
                </a:solidFill>
              </a:rPr>
              <a:t>Total NSSF deducted this cycle</a:t>
            </a:r>
            <a:endParaRPr lang="en-US" sz="850" dirty="0"/>
          </a:p>
        </p:txBody>
      </p:sp>
      <p:sp>
        <p:nvSpPr>
          <p:cNvPr id="58" name="Text 56"/>
          <p:cNvSpPr/>
          <p:nvPr/>
        </p:nvSpPr>
        <p:spPr>
          <a:xfrm>
            <a:off x="8138160" y="4736592"/>
            <a:ext cx="822960" cy="274320"/>
          </a:xfrm>
          <a:prstGeom prst="rect">
            <a:avLst/>
          </a:prstGeom>
          <a:noFill/>
        </p:spPr>
        <p:txBody>
          <a:bodyPr wrap="square" rtlCol="0" anchor="ctr"/>
          <a:lstStyle/>
          <a:p>
            <a:pPr marL="0" indent="0" algn="r">
              <a:buNone/>
            </a:pPr>
            <a:r>
              <a:rPr lang="en-US" sz="850" b="1" dirty="0">
                <a:solidFill>
                  <a:srgbClr val="C17F00"/>
                </a:solidFill>
              </a:rPr>
              <a:t>UGX 436K</a:t>
            </a:r>
            <a:endParaRPr lang="en-US" sz="850" dirty="0"/>
          </a:p>
        </p:txBody>
      </p:sp>
      <p:sp>
        <p:nvSpPr>
          <p:cNvPr id="59" name="Shape 57"/>
          <p:cNvSpPr/>
          <p:nvPr/>
        </p:nvSpPr>
        <p:spPr>
          <a:xfrm>
            <a:off x="411480" y="4956048"/>
            <a:ext cx="8366760" cy="256032"/>
          </a:xfrm>
          <a:prstGeom prst="rect">
            <a:avLst/>
          </a:prstGeom>
          <a:solidFill>
            <a:srgbClr val="C17F00"/>
          </a:solidFill>
        </p:spPr>
      </p:sp>
      <p:sp>
        <p:nvSpPr>
          <p:cNvPr id="60" name="Text 58"/>
          <p:cNvSpPr/>
          <p:nvPr/>
        </p:nvSpPr>
        <p:spPr>
          <a:xfrm>
            <a:off x="502920" y="4956048"/>
            <a:ext cx="8229600" cy="256032"/>
          </a:xfrm>
          <a:prstGeom prst="rect">
            <a:avLst/>
          </a:prstGeom>
          <a:noFill/>
        </p:spPr>
        <p:txBody>
          <a:bodyPr wrap="square" rtlCol="0" anchor="ctr"/>
          <a:lstStyle/>
          <a:p>
            <a:pPr marL="0" indent="0">
              <a:buNone/>
            </a:pPr>
            <a:r>
              <a:rPr lang="en-US" sz="950" dirty="0">
                <a:solidFill>
                  <a:srgbClr val="FFFFFF"/>
                </a:solidFill>
              </a:rPr>
              <a:t>Layer 3 (OwnIt only): 2% investor platform fee on every initial investment — covers KYC, tech, and platform maintenance. NSSF does not share this layer.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THE LISTER PARTNER ECOSYSTEM</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Listers are the supply side — vetted commercial partners with skin in the game.</a:t>
            </a:r>
            <a:endParaRPr lang="en-US" sz="2200" dirty="0"/>
          </a:p>
        </p:txBody>
      </p:sp>
      <p:sp>
        <p:nvSpPr>
          <p:cNvPr id="5" name="Text 3"/>
          <p:cNvSpPr/>
          <p:nvPr/>
        </p:nvSpPr>
        <p:spPr>
          <a:xfrm>
            <a:off x="457200" y="1353312"/>
            <a:ext cx="4114800" cy="320040"/>
          </a:xfrm>
          <a:prstGeom prst="rect">
            <a:avLst/>
          </a:prstGeom>
          <a:noFill/>
        </p:spPr>
        <p:txBody>
          <a:bodyPr wrap="square" rtlCol="0" anchor="ctr"/>
          <a:lstStyle/>
          <a:p>
            <a:pPr marL="0" indent="0">
              <a:buNone/>
            </a:pPr>
            <a:r>
              <a:rPr lang="en-US" sz="1200" b="1" dirty="0">
                <a:solidFill>
                  <a:srgbClr val="0F4D2B"/>
                </a:solidFill>
              </a:rPr>
              <a:t>What Is a Lister?</a:t>
            </a:r>
            <a:endParaRPr lang="en-US" sz="1200" dirty="0"/>
          </a:p>
        </p:txBody>
      </p:sp>
      <p:sp>
        <p:nvSpPr>
          <p:cNvPr id="6" name="Text 4"/>
          <p:cNvSpPr/>
          <p:nvPr/>
        </p:nvSpPr>
        <p:spPr>
          <a:xfrm>
            <a:off x="457200" y="1700784"/>
            <a:ext cx="4114800" cy="1024128"/>
          </a:xfrm>
          <a:prstGeom prst="rect">
            <a:avLst/>
          </a:prstGeom>
          <a:noFill/>
        </p:spPr>
        <p:txBody>
          <a:bodyPr wrap="square" rtlCol="0" anchor="ctr"/>
          <a:lstStyle/>
          <a:p>
            <a:pPr marL="0" indent="0">
              <a:buNone/>
            </a:pPr>
            <a:r>
              <a:rPr lang="en-US" sz="1000" dirty="0">
                <a:solidFill>
                  <a:srgbClr val="0D1F15"/>
                </a:solidFill>
              </a:rPr>
              <a:t>Listers are licensed, vetted commercial entities that list income-generating assets on OwnIt to raise capital from the crowd. Every lister must: hold a valid sector licence (PAU, DGSM, CMA, etc.), provide audited financials, accept escrow-based milestone fund release, carry commercial insurance, and explicitly agree that 3% of their proceeds will be deducted at payout and remitted to NSSF.</a:t>
            </a:r>
            <a:endParaRPr lang="en-US" sz="1000" dirty="0"/>
          </a:p>
        </p:txBody>
      </p:sp>
      <p:sp>
        <p:nvSpPr>
          <p:cNvPr id="7" name="Text 5"/>
          <p:cNvSpPr/>
          <p:nvPr/>
        </p:nvSpPr>
        <p:spPr>
          <a:xfrm>
            <a:off x="4663440" y="1353312"/>
            <a:ext cx="4114800" cy="320040"/>
          </a:xfrm>
          <a:prstGeom prst="rect">
            <a:avLst/>
          </a:prstGeom>
          <a:noFill/>
        </p:spPr>
        <p:txBody>
          <a:bodyPr wrap="square" rtlCol="0" anchor="ctr"/>
          <a:lstStyle/>
          <a:p>
            <a:pPr marL="0" indent="0">
              <a:buNone/>
            </a:pPr>
            <a:r>
              <a:rPr lang="en-US" sz="1200" b="1" dirty="0">
                <a:solidFill>
                  <a:srgbClr val="0F4D2B"/>
                </a:solidFill>
              </a:rPr>
              <a:t>Lister Fee Schedule</a:t>
            </a:r>
            <a:endParaRPr lang="en-US" sz="1200" dirty="0"/>
          </a:p>
        </p:txBody>
      </p:sp>
      <p:sp>
        <p:nvSpPr>
          <p:cNvPr id="8" name="Shape 6"/>
          <p:cNvSpPr/>
          <p:nvPr/>
        </p:nvSpPr>
        <p:spPr>
          <a:xfrm>
            <a:off x="4663440" y="1700784"/>
            <a:ext cx="4133088" cy="246888"/>
          </a:xfrm>
          <a:prstGeom prst="rect">
            <a:avLst/>
          </a:prstGeom>
          <a:solidFill>
            <a:srgbClr val="FFFFFF"/>
          </a:solidFill>
        </p:spPr>
      </p:sp>
      <p:sp>
        <p:nvSpPr>
          <p:cNvPr id="9" name="Text 7"/>
          <p:cNvSpPr/>
          <p:nvPr/>
        </p:nvSpPr>
        <p:spPr>
          <a:xfrm>
            <a:off x="4736592" y="1737360"/>
            <a:ext cx="2743200" cy="182880"/>
          </a:xfrm>
          <a:prstGeom prst="rect">
            <a:avLst/>
          </a:prstGeom>
          <a:noFill/>
        </p:spPr>
        <p:txBody>
          <a:bodyPr wrap="square" rtlCol="0" anchor="ctr"/>
          <a:lstStyle/>
          <a:p>
            <a:pPr marL="0" indent="0">
              <a:buNone/>
            </a:pPr>
            <a:r>
              <a:rPr lang="en-US" sz="900" dirty="0">
                <a:solidFill>
                  <a:srgbClr val="0D1F15"/>
                </a:solidFill>
              </a:rPr>
              <a:t>Real Estate (Rental)</a:t>
            </a:r>
            <a:endParaRPr lang="en-US" sz="900" dirty="0"/>
          </a:p>
        </p:txBody>
      </p:sp>
      <p:sp>
        <p:nvSpPr>
          <p:cNvPr id="10" name="Text 8"/>
          <p:cNvSpPr/>
          <p:nvPr/>
        </p:nvSpPr>
        <p:spPr>
          <a:xfrm>
            <a:off x="7452360" y="1737360"/>
            <a:ext cx="1280160" cy="182880"/>
          </a:xfrm>
          <a:prstGeom prst="rect">
            <a:avLst/>
          </a:prstGeom>
          <a:noFill/>
        </p:spPr>
        <p:txBody>
          <a:bodyPr wrap="square" rtlCol="0" anchor="ctr"/>
          <a:lstStyle/>
          <a:p>
            <a:pPr marL="0" indent="0" algn="r">
              <a:buNone/>
            </a:pPr>
            <a:r>
              <a:rPr lang="en-US" sz="900" b="1" dirty="0">
                <a:solidFill>
                  <a:srgbClr val="1A7A45"/>
                </a:solidFill>
              </a:rPr>
              <a:t>UGX 500K flat</a:t>
            </a:r>
            <a:endParaRPr lang="en-US" sz="900" dirty="0"/>
          </a:p>
        </p:txBody>
      </p:sp>
      <p:sp>
        <p:nvSpPr>
          <p:cNvPr id="11" name="Shape 9"/>
          <p:cNvSpPr/>
          <p:nvPr/>
        </p:nvSpPr>
        <p:spPr>
          <a:xfrm>
            <a:off x="4663440" y="1933956"/>
            <a:ext cx="4133088" cy="246888"/>
          </a:xfrm>
          <a:prstGeom prst="rect">
            <a:avLst/>
          </a:prstGeom>
          <a:solidFill>
            <a:srgbClr val="F4F9F5"/>
          </a:solidFill>
        </p:spPr>
      </p:sp>
      <p:sp>
        <p:nvSpPr>
          <p:cNvPr id="12" name="Text 10"/>
          <p:cNvSpPr/>
          <p:nvPr/>
        </p:nvSpPr>
        <p:spPr>
          <a:xfrm>
            <a:off x="4736592" y="1970532"/>
            <a:ext cx="2743200" cy="182880"/>
          </a:xfrm>
          <a:prstGeom prst="rect">
            <a:avLst/>
          </a:prstGeom>
          <a:noFill/>
        </p:spPr>
        <p:txBody>
          <a:bodyPr wrap="square" rtlCol="0" anchor="ctr"/>
          <a:lstStyle/>
          <a:p>
            <a:pPr marL="0" indent="0">
              <a:buNone/>
            </a:pPr>
            <a:r>
              <a:rPr lang="en-US" sz="900" dirty="0">
                <a:solidFill>
                  <a:srgbClr val="0D1F15"/>
                </a:solidFill>
              </a:rPr>
              <a:t>Real Estate (Construction)</a:t>
            </a:r>
            <a:endParaRPr lang="en-US" sz="900" dirty="0"/>
          </a:p>
        </p:txBody>
      </p:sp>
      <p:sp>
        <p:nvSpPr>
          <p:cNvPr id="13" name="Text 11"/>
          <p:cNvSpPr/>
          <p:nvPr/>
        </p:nvSpPr>
        <p:spPr>
          <a:xfrm>
            <a:off x="7452360" y="1970532"/>
            <a:ext cx="1280160" cy="182880"/>
          </a:xfrm>
          <a:prstGeom prst="rect">
            <a:avLst/>
          </a:prstGeom>
          <a:noFill/>
        </p:spPr>
        <p:txBody>
          <a:bodyPr wrap="square" rtlCol="0" anchor="ctr"/>
          <a:lstStyle/>
          <a:p>
            <a:pPr marL="0" indent="0" algn="r">
              <a:buNone/>
            </a:pPr>
            <a:r>
              <a:rPr lang="en-US" sz="900" b="1" dirty="0">
                <a:solidFill>
                  <a:srgbClr val="1A7A45"/>
                </a:solidFill>
              </a:rPr>
              <a:t>1% of target</a:t>
            </a:r>
            <a:endParaRPr lang="en-US" sz="900" dirty="0"/>
          </a:p>
        </p:txBody>
      </p:sp>
      <p:sp>
        <p:nvSpPr>
          <p:cNvPr id="14" name="Shape 12"/>
          <p:cNvSpPr/>
          <p:nvPr/>
        </p:nvSpPr>
        <p:spPr>
          <a:xfrm>
            <a:off x="4663440" y="2167128"/>
            <a:ext cx="4133088" cy="246888"/>
          </a:xfrm>
          <a:prstGeom prst="rect">
            <a:avLst/>
          </a:prstGeom>
          <a:solidFill>
            <a:srgbClr val="FFFFFF"/>
          </a:solidFill>
        </p:spPr>
      </p:sp>
      <p:sp>
        <p:nvSpPr>
          <p:cNvPr id="15" name="Text 13"/>
          <p:cNvSpPr/>
          <p:nvPr/>
        </p:nvSpPr>
        <p:spPr>
          <a:xfrm>
            <a:off x="4736592" y="2203704"/>
            <a:ext cx="2743200" cy="182880"/>
          </a:xfrm>
          <a:prstGeom prst="rect">
            <a:avLst/>
          </a:prstGeom>
          <a:noFill/>
        </p:spPr>
        <p:txBody>
          <a:bodyPr wrap="square" rtlCol="0" anchor="ctr"/>
          <a:lstStyle/>
          <a:p>
            <a:pPr marL="0" indent="0">
              <a:buNone/>
            </a:pPr>
            <a:r>
              <a:rPr lang="en-US" sz="900" dirty="0">
                <a:solidFill>
                  <a:srgbClr val="0D1F15"/>
                </a:solidFill>
              </a:rPr>
              <a:t>Petroleum Tanker (Consign.)</a:t>
            </a:r>
            <a:endParaRPr lang="en-US" sz="900" dirty="0"/>
          </a:p>
        </p:txBody>
      </p:sp>
      <p:sp>
        <p:nvSpPr>
          <p:cNvPr id="16" name="Text 14"/>
          <p:cNvSpPr/>
          <p:nvPr/>
        </p:nvSpPr>
        <p:spPr>
          <a:xfrm>
            <a:off x="7452360" y="2203704"/>
            <a:ext cx="1280160" cy="182880"/>
          </a:xfrm>
          <a:prstGeom prst="rect">
            <a:avLst/>
          </a:prstGeom>
          <a:noFill/>
        </p:spPr>
        <p:txBody>
          <a:bodyPr wrap="square" rtlCol="0" anchor="ctr"/>
          <a:lstStyle/>
          <a:p>
            <a:pPr marL="0" indent="0" algn="r">
              <a:buNone/>
            </a:pPr>
            <a:r>
              <a:rPr lang="en-US" sz="900" b="1" dirty="0">
                <a:solidFill>
                  <a:srgbClr val="1A7A45"/>
                </a:solidFill>
              </a:rPr>
              <a:t>UGX 750K flat</a:t>
            </a:r>
            <a:endParaRPr lang="en-US" sz="900" dirty="0"/>
          </a:p>
        </p:txBody>
      </p:sp>
      <p:sp>
        <p:nvSpPr>
          <p:cNvPr id="17" name="Shape 15"/>
          <p:cNvSpPr/>
          <p:nvPr/>
        </p:nvSpPr>
        <p:spPr>
          <a:xfrm>
            <a:off x="4663440" y="2400300"/>
            <a:ext cx="4133088" cy="246888"/>
          </a:xfrm>
          <a:prstGeom prst="rect">
            <a:avLst/>
          </a:prstGeom>
          <a:solidFill>
            <a:srgbClr val="F4F9F5"/>
          </a:solidFill>
        </p:spPr>
      </p:sp>
      <p:sp>
        <p:nvSpPr>
          <p:cNvPr id="18" name="Text 16"/>
          <p:cNvSpPr/>
          <p:nvPr/>
        </p:nvSpPr>
        <p:spPr>
          <a:xfrm>
            <a:off x="4736592" y="2436876"/>
            <a:ext cx="2743200" cy="182880"/>
          </a:xfrm>
          <a:prstGeom prst="rect">
            <a:avLst/>
          </a:prstGeom>
          <a:noFill/>
        </p:spPr>
        <p:txBody>
          <a:bodyPr wrap="square" rtlCol="0" anchor="ctr"/>
          <a:lstStyle/>
          <a:p>
            <a:pPr marL="0" indent="0">
              <a:buNone/>
            </a:pPr>
            <a:r>
              <a:rPr lang="en-US" sz="900" dirty="0">
                <a:solidFill>
                  <a:srgbClr val="0D1F15"/>
                </a:solidFill>
              </a:rPr>
              <a:t>Oil Options</a:t>
            </a:r>
            <a:endParaRPr lang="en-US" sz="900" dirty="0"/>
          </a:p>
        </p:txBody>
      </p:sp>
      <p:sp>
        <p:nvSpPr>
          <p:cNvPr id="19" name="Text 17"/>
          <p:cNvSpPr/>
          <p:nvPr/>
        </p:nvSpPr>
        <p:spPr>
          <a:xfrm>
            <a:off x="7452360" y="2436876"/>
            <a:ext cx="1280160" cy="182880"/>
          </a:xfrm>
          <a:prstGeom prst="rect">
            <a:avLst/>
          </a:prstGeom>
          <a:noFill/>
        </p:spPr>
        <p:txBody>
          <a:bodyPr wrap="square" rtlCol="0" anchor="ctr"/>
          <a:lstStyle/>
          <a:p>
            <a:pPr marL="0" indent="0" algn="r">
              <a:buNone/>
            </a:pPr>
            <a:r>
              <a:rPr lang="en-US" sz="900" b="1" dirty="0">
                <a:solidFill>
                  <a:srgbClr val="1A7A45"/>
                </a:solidFill>
              </a:rPr>
              <a:t>0.75% of value</a:t>
            </a:r>
            <a:endParaRPr lang="en-US" sz="900" dirty="0"/>
          </a:p>
        </p:txBody>
      </p:sp>
      <p:sp>
        <p:nvSpPr>
          <p:cNvPr id="20" name="Shape 18"/>
          <p:cNvSpPr/>
          <p:nvPr/>
        </p:nvSpPr>
        <p:spPr>
          <a:xfrm>
            <a:off x="4663440" y="2633472"/>
            <a:ext cx="4133088" cy="246888"/>
          </a:xfrm>
          <a:prstGeom prst="rect">
            <a:avLst/>
          </a:prstGeom>
          <a:solidFill>
            <a:srgbClr val="FFFFFF"/>
          </a:solidFill>
        </p:spPr>
      </p:sp>
      <p:sp>
        <p:nvSpPr>
          <p:cNvPr id="21" name="Text 19"/>
          <p:cNvSpPr/>
          <p:nvPr/>
        </p:nvSpPr>
        <p:spPr>
          <a:xfrm>
            <a:off x="4736592" y="2670048"/>
            <a:ext cx="2743200" cy="182880"/>
          </a:xfrm>
          <a:prstGeom prst="rect">
            <a:avLst/>
          </a:prstGeom>
          <a:noFill/>
        </p:spPr>
        <p:txBody>
          <a:bodyPr wrap="square" rtlCol="0" anchor="ctr"/>
          <a:lstStyle/>
          <a:p>
            <a:pPr marL="0" indent="0">
              <a:buNone/>
            </a:pPr>
            <a:r>
              <a:rPr lang="en-US" sz="900" dirty="0">
                <a:solidFill>
                  <a:srgbClr val="0D1F15"/>
                </a:solidFill>
              </a:rPr>
              <a:t>Agri-Commodity (Domestic)</a:t>
            </a:r>
            <a:endParaRPr lang="en-US" sz="900" dirty="0"/>
          </a:p>
        </p:txBody>
      </p:sp>
      <p:sp>
        <p:nvSpPr>
          <p:cNvPr id="22" name="Text 20"/>
          <p:cNvSpPr/>
          <p:nvPr/>
        </p:nvSpPr>
        <p:spPr>
          <a:xfrm>
            <a:off x="7452360" y="2670048"/>
            <a:ext cx="1280160" cy="182880"/>
          </a:xfrm>
          <a:prstGeom prst="rect">
            <a:avLst/>
          </a:prstGeom>
          <a:noFill/>
        </p:spPr>
        <p:txBody>
          <a:bodyPr wrap="square" rtlCol="0" anchor="ctr"/>
          <a:lstStyle/>
          <a:p>
            <a:pPr marL="0" indent="0" algn="r">
              <a:buNone/>
            </a:pPr>
            <a:r>
              <a:rPr lang="en-US" sz="900" b="1" dirty="0">
                <a:solidFill>
                  <a:srgbClr val="1A7A45"/>
                </a:solidFill>
              </a:rPr>
              <a:t>UGX 250K flat</a:t>
            </a:r>
            <a:endParaRPr lang="en-US" sz="900" dirty="0"/>
          </a:p>
        </p:txBody>
      </p:sp>
      <p:sp>
        <p:nvSpPr>
          <p:cNvPr id="23" name="Shape 21"/>
          <p:cNvSpPr/>
          <p:nvPr/>
        </p:nvSpPr>
        <p:spPr>
          <a:xfrm>
            <a:off x="4663440" y="2866644"/>
            <a:ext cx="4133088" cy="246888"/>
          </a:xfrm>
          <a:prstGeom prst="rect">
            <a:avLst/>
          </a:prstGeom>
          <a:solidFill>
            <a:srgbClr val="F4F9F5"/>
          </a:solidFill>
        </p:spPr>
      </p:sp>
      <p:sp>
        <p:nvSpPr>
          <p:cNvPr id="24" name="Text 22"/>
          <p:cNvSpPr/>
          <p:nvPr/>
        </p:nvSpPr>
        <p:spPr>
          <a:xfrm>
            <a:off x="4736592" y="2903220"/>
            <a:ext cx="2743200" cy="182880"/>
          </a:xfrm>
          <a:prstGeom prst="rect">
            <a:avLst/>
          </a:prstGeom>
          <a:noFill/>
        </p:spPr>
        <p:txBody>
          <a:bodyPr wrap="square" rtlCol="0" anchor="ctr"/>
          <a:lstStyle/>
          <a:p>
            <a:pPr marL="0" indent="0">
              <a:buNone/>
            </a:pPr>
            <a:r>
              <a:rPr lang="en-US" sz="900" dirty="0">
                <a:solidFill>
                  <a:srgbClr val="0D1F15"/>
                </a:solidFill>
              </a:rPr>
              <a:t>Agri-Commodity (Export)</a:t>
            </a:r>
            <a:endParaRPr lang="en-US" sz="900" dirty="0"/>
          </a:p>
        </p:txBody>
      </p:sp>
      <p:sp>
        <p:nvSpPr>
          <p:cNvPr id="25" name="Text 23"/>
          <p:cNvSpPr/>
          <p:nvPr/>
        </p:nvSpPr>
        <p:spPr>
          <a:xfrm>
            <a:off x="7452360" y="2903220"/>
            <a:ext cx="1280160" cy="182880"/>
          </a:xfrm>
          <a:prstGeom prst="rect">
            <a:avLst/>
          </a:prstGeom>
          <a:noFill/>
        </p:spPr>
        <p:txBody>
          <a:bodyPr wrap="square" rtlCol="0" anchor="ctr"/>
          <a:lstStyle/>
          <a:p>
            <a:pPr marL="0" indent="0" algn="r">
              <a:buNone/>
            </a:pPr>
            <a:r>
              <a:rPr lang="en-US" sz="900" b="1" dirty="0">
                <a:solidFill>
                  <a:srgbClr val="1A7A45"/>
                </a:solidFill>
              </a:rPr>
              <a:t>0.5% of lot value</a:t>
            </a:r>
            <a:endParaRPr lang="en-US" sz="900" dirty="0"/>
          </a:p>
        </p:txBody>
      </p:sp>
      <p:sp>
        <p:nvSpPr>
          <p:cNvPr id="26" name="Shape 24"/>
          <p:cNvSpPr/>
          <p:nvPr/>
        </p:nvSpPr>
        <p:spPr>
          <a:xfrm>
            <a:off x="4663440" y="3099816"/>
            <a:ext cx="4133088" cy="246888"/>
          </a:xfrm>
          <a:prstGeom prst="rect">
            <a:avLst/>
          </a:prstGeom>
          <a:solidFill>
            <a:srgbClr val="FFFFFF"/>
          </a:solidFill>
        </p:spPr>
      </p:sp>
      <p:sp>
        <p:nvSpPr>
          <p:cNvPr id="27" name="Text 25"/>
          <p:cNvSpPr/>
          <p:nvPr/>
        </p:nvSpPr>
        <p:spPr>
          <a:xfrm>
            <a:off x="4736592" y="3136392"/>
            <a:ext cx="2743200" cy="182880"/>
          </a:xfrm>
          <a:prstGeom prst="rect">
            <a:avLst/>
          </a:prstGeom>
          <a:noFill/>
        </p:spPr>
        <p:txBody>
          <a:bodyPr wrap="square" rtlCol="0" anchor="ctr"/>
          <a:lstStyle/>
          <a:p>
            <a:pPr marL="0" indent="0">
              <a:buNone/>
            </a:pPr>
            <a:r>
              <a:rPr lang="en-US" sz="900" dirty="0">
                <a:solidFill>
                  <a:srgbClr val="0D1F15"/>
                </a:solidFill>
              </a:rPr>
              <a:t>T-Bills / Bonds</a:t>
            </a:r>
            <a:endParaRPr lang="en-US" sz="900" dirty="0"/>
          </a:p>
        </p:txBody>
      </p:sp>
      <p:sp>
        <p:nvSpPr>
          <p:cNvPr id="28" name="Text 26"/>
          <p:cNvSpPr/>
          <p:nvPr/>
        </p:nvSpPr>
        <p:spPr>
          <a:xfrm>
            <a:off x="7452360" y="3136392"/>
            <a:ext cx="1280160" cy="182880"/>
          </a:xfrm>
          <a:prstGeom prst="rect">
            <a:avLst/>
          </a:prstGeom>
          <a:noFill/>
        </p:spPr>
        <p:txBody>
          <a:bodyPr wrap="square" rtlCol="0" anchor="ctr"/>
          <a:lstStyle/>
          <a:p>
            <a:pPr marL="0" indent="0" algn="r">
              <a:buNone/>
            </a:pPr>
            <a:r>
              <a:rPr lang="en-US" sz="900" b="1" dirty="0">
                <a:solidFill>
                  <a:srgbClr val="1A7A45"/>
                </a:solidFill>
              </a:rPr>
              <a:t>0.5% pooled cap.</a:t>
            </a:r>
            <a:endParaRPr lang="en-US" sz="900" dirty="0"/>
          </a:p>
        </p:txBody>
      </p:sp>
      <p:sp>
        <p:nvSpPr>
          <p:cNvPr id="29" name="Shape 27"/>
          <p:cNvSpPr/>
          <p:nvPr/>
        </p:nvSpPr>
        <p:spPr>
          <a:xfrm>
            <a:off x="4663440" y="3332988"/>
            <a:ext cx="4133088" cy="246888"/>
          </a:xfrm>
          <a:prstGeom prst="rect">
            <a:avLst/>
          </a:prstGeom>
          <a:solidFill>
            <a:srgbClr val="F4F9F5"/>
          </a:solidFill>
        </p:spPr>
      </p:sp>
      <p:sp>
        <p:nvSpPr>
          <p:cNvPr id="30" name="Text 28"/>
          <p:cNvSpPr/>
          <p:nvPr/>
        </p:nvSpPr>
        <p:spPr>
          <a:xfrm>
            <a:off x="4736592" y="3369564"/>
            <a:ext cx="2743200" cy="182880"/>
          </a:xfrm>
          <a:prstGeom prst="rect">
            <a:avLst/>
          </a:prstGeom>
          <a:noFill/>
        </p:spPr>
        <p:txBody>
          <a:bodyPr wrap="square" rtlCol="0" anchor="ctr"/>
          <a:lstStyle/>
          <a:p>
            <a:pPr marL="0" indent="0">
              <a:buNone/>
            </a:pPr>
            <a:r>
              <a:rPr lang="en-US" sz="900" dirty="0">
                <a:solidFill>
                  <a:srgbClr val="0D1F15"/>
                </a:solidFill>
              </a:rPr>
              <a:t>FX Instrument</a:t>
            </a:r>
            <a:endParaRPr lang="en-US" sz="900" dirty="0"/>
          </a:p>
        </p:txBody>
      </p:sp>
      <p:sp>
        <p:nvSpPr>
          <p:cNvPr id="31" name="Text 29"/>
          <p:cNvSpPr/>
          <p:nvPr/>
        </p:nvSpPr>
        <p:spPr>
          <a:xfrm>
            <a:off x="7452360" y="3369564"/>
            <a:ext cx="1280160" cy="182880"/>
          </a:xfrm>
          <a:prstGeom prst="rect">
            <a:avLst/>
          </a:prstGeom>
          <a:noFill/>
        </p:spPr>
        <p:txBody>
          <a:bodyPr wrap="square" rtlCol="0" anchor="ctr"/>
          <a:lstStyle/>
          <a:p>
            <a:pPr marL="0" indent="0" algn="r">
              <a:buNone/>
            </a:pPr>
            <a:r>
              <a:rPr lang="en-US" sz="900" b="1" dirty="0">
                <a:solidFill>
                  <a:srgbClr val="1A7A45"/>
                </a:solidFill>
              </a:rPr>
              <a:t>0.5% position</a:t>
            </a:r>
            <a:endParaRPr lang="en-US" sz="900" dirty="0"/>
          </a:p>
        </p:txBody>
      </p:sp>
      <p:sp>
        <p:nvSpPr>
          <p:cNvPr id="32" name="Shape 30"/>
          <p:cNvSpPr/>
          <p:nvPr/>
        </p:nvSpPr>
        <p:spPr>
          <a:xfrm>
            <a:off x="4663440" y="3566160"/>
            <a:ext cx="4133088" cy="246888"/>
          </a:xfrm>
          <a:prstGeom prst="rect">
            <a:avLst/>
          </a:prstGeom>
          <a:solidFill>
            <a:srgbClr val="FFFFFF"/>
          </a:solidFill>
        </p:spPr>
      </p:sp>
      <p:sp>
        <p:nvSpPr>
          <p:cNvPr id="33" name="Text 31"/>
          <p:cNvSpPr/>
          <p:nvPr/>
        </p:nvSpPr>
        <p:spPr>
          <a:xfrm>
            <a:off x="4736592" y="3602736"/>
            <a:ext cx="2743200" cy="182880"/>
          </a:xfrm>
          <a:prstGeom prst="rect">
            <a:avLst/>
          </a:prstGeom>
          <a:noFill/>
        </p:spPr>
        <p:txBody>
          <a:bodyPr wrap="square" rtlCol="0" anchor="ctr"/>
          <a:lstStyle/>
          <a:p>
            <a:pPr marL="0" indent="0">
              <a:buNone/>
            </a:pPr>
            <a:r>
              <a:rPr lang="en-US" sz="900" dirty="0">
                <a:solidFill>
                  <a:srgbClr val="0D1F15"/>
                </a:solidFill>
              </a:rPr>
              <a:t>Rare Earth Minerals</a:t>
            </a:r>
            <a:endParaRPr lang="en-US" sz="900" dirty="0"/>
          </a:p>
        </p:txBody>
      </p:sp>
      <p:sp>
        <p:nvSpPr>
          <p:cNvPr id="34" name="Text 32"/>
          <p:cNvSpPr/>
          <p:nvPr/>
        </p:nvSpPr>
        <p:spPr>
          <a:xfrm>
            <a:off x="7452360" y="3602736"/>
            <a:ext cx="1280160" cy="182880"/>
          </a:xfrm>
          <a:prstGeom prst="rect">
            <a:avLst/>
          </a:prstGeom>
          <a:noFill/>
        </p:spPr>
        <p:txBody>
          <a:bodyPr wrap="square" rtlCol="0" anchor="ctr"/>
          <a:lstStyle/>
          <a:p>
            <a:pPr marL="0" indent="0" algn="r">
              <a:buNone/>
            </a:pPr>
            <a:r>
              <a:rPr lang="en-US" sz="900" b="1" dirty="0">
                <a:solidFill>
                  <a:srgbClr val="1A7A45"/>
                </a:solidFill>
              </a:rPr>
              <a:t>1% of lot value</a:t>
            </a:r>
            <a:endParaRPr lang="en-US" sz="900" dirty="0"/>
          </a:p>
        </p:txBody>
      </p:sp>
      <p:sp>
        <p:nvSpPr>
          <p:cNvPr id="35" name="Shape 33"/>
          <p:cNvSpPr/>
          <p:nvPr/>
        </p:nvSpPr>
        <p:spPr>
          <a:xfrm>
            <a:off x="4663440" y="3799332"/>
            <a:ext cx="4133088" cy="246888"/>
          </a:xfrm>
          <a:prstGeom prst="rect">
            <a:avLst/>
          </a:prstGeom>
          <a:solidFill>
            <a:srgbClr val="F4F9F5"/>
          </a:solidFill>
        </p:spPr>
      </p:sp>
      <p:sp>
        <p:nvSpPr>
          <p:cNvPr id="36" name="Text 34"/>
          <p:cNvSpPr/>
          <p:nvPr/>
        </p:nvSpPr>
        <p:spPr>
          <a:xfrm>
            <a:off x="4736592" y="3835908"/>
            <a:ext cx="2743200" cy="182880"/>
          </a:xfrm>
          <a:prstGeom prst="rect">
            <a:avLst/>
          </a:prstGeom>
          <a:noFill/>
        </p:spPr>
        <p:txBody>
          <a:bodyPr wrap="square" rtlCol="0" anchor="ctr"/>
          <a:lstStyle/>
          <a:p>
            <a:pPr marL="0" indent="0">
              <a:buNone/>
            </a:pPr>
            <a:r>
              <a:rPr lang="en-US" sz="900" dirty="0">
                <a:solidFill>
                  <a:srgbClr val="0D1F15"/>
                </a:solidFill>
              </a:rPr>
              <a:t>Domestic Stocks (USE)</a:t>
            </a:r>
            <a:endParaRPr lang="en-US" sz="900" dirty="0"/>
          </a:p>
        </p:txBody>
      </p:sp>
      <p:sp>
        <p:nvSpPr>
          <p:cNvPr id="37" name="Text 35"/>
          <p:cNvSpPr/>
          <p:nvPr/>
        </p:nvSpPr>
        <p:spPr>
          <a:xfrm>
            <a:off x="7452360" y="3835908"/>
            <a:ext cx="1280160" cy="182880"/>
          </a:xfrm>
          <a:prstGeom prst="rect">
            <a:avLst/>
          </a:prstGeom>
          <a:noFill/>
        </p:spPr>
        <p:txBody>
          <a:bodyPr wrap="square" rtlCol="0" anchor="ctr"/>
          <a:lstStyle/>
          <a:p>
            <a:pPr marL="0" indent="0" algn="r">
              <a:buNone/>
            </a:pPr>
            <a:r>
              <a:rPr lang="en-US" sz="900" b="1" dirty="0">
                <a:solidFill>
                  <a:srgbClr val="1A7A45"/>
                </a:solidFill>
              </a:rPr>
              <a:t>UGX 400K flat</a:t>
            </a:r>
            <a:endParaRPr lang="en-US" sz="900" dirty="0"/>
          </a:p>
        </p:txBody>
      </p:sp>
      <p:sp>
        <p:nvSpPr>
          <p:cNvPr id="38" name="Shape 36"/>
          <p:cNvSpPr/>
          <p:nvPr/>
        </p:nvSpPr>
        <p:spPr>
          <a:xfrm>
            <a:off x="4663440" y="4032504"/>
            <a:ext cx="4133088" cy="246888"/>
          </a:xfrm>
          <a:prstGeom prst="rect">
            <a:avLst/>
          </a:prstGeom>
          <a:solidFill>
            <a:srgbClr val="FFFFFF"/>
          </a:solidFill>
        </p:spPr>
      </p:sp>
      <p:sp>
        <p:nvSpPr>
          <p:cNvPr id="39" name="Text 37"/>
          <p:cNvSpPr/>
          <p:nvPr/>
        </p:nvSpPr>
        <p:spPr>
          <a:xfrm>
            <a:off x="4736592" y="4069080"/>
            <a:ext cx="2743200" cy="182880"/>
          </a:xfrm>
          <a:prstGeom prst="rect">
            <a:avLst/>
          </a:prstGeom>
          <a:noFill/>
        </p:spPr>
        <p:txBody>
          <a:bodyPr wrap="square" rtlCol="0" anchor="ctr"/>
          <a:lstStyle/>
          <a:p>
            <a:pPr marL="0" indent="0">
              <a:buNone/>
            </a:pPr>
            <a:r>
              <a:rPr lang="en-US" sz="900" dirty="0">
                <a:solidFill>
                  <a:srgbClr val="0D1F15"/>
                </a:solidFill>
              </a:rPr>
              <a:t>Foreign Stocks</a:t>
            </a:r>
            <a:endParaRPr lang="en-US" sz="900" dirty="0"/>
          </a:p>
        </p:txBody>
      </p:sp>
      <p:sp>
        <p:nvSpPr>
          <p:cNvPr id="40" name="Text 38"/>
          <p:cNvSpPr/>
          <p:nvPr/>
        </p:nvSpPr>
        <p:spPr>
          <a:xfrm>
            <a:off x="7452360" y="4069080"/>
            <a:ext cx="1280160" cy="182880"/>
          </a:xfrm>
          <a:prstGeom prst="rect">
            <a:avLst/>
          </a:prstGeom>
          <a:noFill/>
        </p:spPr>
        <p:txBody>
          <a:bodyPr wrap="square" rtlCol="0" anchor="ctr"/>
          <a:lstStyle/>
          <a:p>
            <a:pPr marL="0" indent="0" algn="r">
              <a:buNone/>
            </a:pPr>
            <a:r>
              <a:rPr lang="en-US" sz="900" b="1" dirty="0">
                <a:solidFill>
                  <a:srgbClr val="1A7A45"/>
                </a:solidFill>
              </a:rPr>
              <a:t>0.75% of pool</a:t>
            </a:r>
            <a:endParaRPr lang="en-US" sz="900" dirty="0"/>
          </a:p>
        </p:txBody>
      </p:sp>
      <p:sp>
        <p:nvSpPr>
          <p:cNvPr id="41" name="Shape 39"/>
          <p:cNvSpPr/>
          <p:nvPr/>
        </p:nvSpPr>
        <p:spPr>
          <a:xfrm>
            <a:off x="4663440" y="4265676"/>
            <a:ext cx="4133088" cy="246888"/>
          </a:xfrm>
          <a:prstGeom prst="rect">
            <a:avLst/>
          </a:prstGeom>
          <a:solidFill>
            <a:srgbClr val="F4F9F5"/>
          </a:solidFill>
        </p:spPr>
      </p:sp>
      <p:sp>
        <p:nvSpPr>
          <p:cNvPr id="42" name="Text 40"/>
          <p:cNvSpPr/>
          <p:nvPr/>
        </p:nvSpPr>
        <p:spPr>
          <a:xfrm>
            <a:off x="4736592" y="4302252"/>
            <a:ext cx="2743200" cy="182880"/>
          </a:xfrm>
          <a:prstGeom prst="rect">
            <a:avLst/>
          </a:prstGeom>
          <a:noFill/>
        </p:spPr>
        <p:txBody>
          <a:bodyPr wrap="square" rtlCol="0" anchor="ctr"/>
          <a:lstStyle/>
          <a:p>
            <a:pPr marL="0" indent="0">
              <a:buNone/>
            </a:pPr>
            <a:r>
              <a:rPr lang="en-US" sz="900" dirty="0">
                <a:solidFill>
                  <a:srgbClr val="0D1F15"/>
                </a:solidFill>
              </a:rPr>
              <a:t>SME / Private Equity</a:t>
            </a:r>
            <a:endParaRPr lang="en-US" sz="900" dirty="0"/>
          </a:p>
        </p:txBody>
      </p:sp>
      <p:sp>
        <p:nvSpPr>
          <p:cNvPr id="43" name="Text 41"/>
          <p:cNvSpPr/>
          <p:nvPr/>
        </p:nvSpPr>
        <p:spPr>
          <a:xfrm>
            <a:off x="7452360" y="4302252"/>
            <a:ext cx="1280160" cy="182880"/>
          </a:xfrm>
          <a:prstGeom prst="rect">
            <a:avLst/>
          </a:prstGeom>
          <a:noFill/>
        </p:spPr>
        <p:txBody>
          <a:bodyPr wrap="square" rtlCol="0" anchor="ctr"/>
          <a:lstStyle/>
          <a:p>
            <a:pPr marL="0" indent="0" algn="r">
              <a:buNone/>
            </a:pPr>
            <a:r>
              <a:rPr lang="en-US" sz="900" b="1" dirty="0">
                <a:solidFill>
                  <a:srgbClr val="1A7A45"/>
                </a:solidFill>
              </a:rPr>
              <a:t>1.5% of target</a:t>
            </a:r>
            <a:endParaRPr lang="en-US" sz="900" dirty="0"/>
          </a:p>
        </p:txBody>
      </p:sp>
      <p:sp>
        <p:nvSpPr>
          <p:cNvPr id="44" name="Shape 42"/>
          <p:cNvSpPr/>
          <p:nvPr/>
        </p:nvSpPr>
        <p:spPr>
          <a:xfrm>
            <a:off x="4663440" y="4498848"/>
            <a:ext cx="4133088" cy="246888"/>
          </a:xfrm>
          <a:prstGeom prst="rect">
            <a:avLst/>
          </a:prstGeom>
          <a:solidFill>
            <a:srgbClr val="FFFFFF"/>
          </a:solidFill>
        </p:spPr>
      </p:sp>
      <p:sp>
        <p:nvSpPr>
          <p:cNvPr id="45" name="Text 43"/>
          <p:cNvSpPr/>
          <p:nvPr/>
        </p:nvSpPr>
        <p:spPr>
          <a:xfrm>
            <a:off x="4736592" y="4535424"/>
            <a:ext cx="2743200" cy="182880"/>
          </a:xfrm>
          <a:prstGeom prst="rect">
            <a:avLst/>
          </a:prstGeom>
          <a:noFill/>
        </p:spPr>
        <p:txBody>
          <a:bodyPr wrap="square" rtlCol="0" anchor="ctr"/>
          <a:lstStyle/>
          <a:p>
            <a:pPr marL="0" indent="0">
              <a:buNone/>
            </a:pPr>
            <a:r>
              <a:rPr lang="en-US" sz="900" dirty="0">
                <a:solidFill>
                  <a:srgbClr val="0D1F15"/>
                </a:solidFill>
              </a:rPr>
              <a:t>Crowd Loans (Bank/MFI)</a:t>
            </a:r>
            <a:endParaRPr lang="en-US" sz="900" dirty="0"/>
          </a:p>
        </p:txBody>
      </p:sp>
      <p:sp>
        <p:nvSpPr>
          <p:cNvPr id="46" name="Text 44"/>
          <p:cNvSpPr/>
          <p:nvPr/>
        </p:nvSpPr>
        <p:spPr>
          <a:xfrm>
            <a:off x="7452360" y="4535424"/>
            <a:ext cx="1280160" cy="182880"/>
          </a:xfrm>
          <a:prstGeom prst="rect">
            <a:avLst/>
          </a:prstGeom>
          <a:noFill/>
        </p:spPr>
        <p:txBody>
          <a:bodyPr wrap="square" rtlCol="0" anchor="ctr"/>
          <a:lstStyle/>
          <a:p>
            <a:pPr marL="0" indent="0" algn="r">
              <a:buNone/>
            </a:pPr>
            <a:r>
              <a:rPr lang="en-US" sz="900" b="1" dirty="0">
                <a:solidFill>
                  <a:srgbClr val="1A7A45"/>
                </a:solidFill>
              </a:rPr>
              <a:t>0.5% of loan value</a:t>
            </a:r>
            <a:endParaRPr lang="en-US" sz="900" dirty="0"/>
          </a:p>
        </p:txBody>
      </p:sp>
      <p:sp>
        <p:nvSpPr>
          <p:cNvPr id="47" name="Shape 45"/>
          <p:cNvSpPr/>
          <p:nvPr/>
        </p:nvSpPr>
        <p:spPr>
          <a:xfrm>
            <a:off x="4663440" y="4732020"/>
            <a:ext cx="4133088" cy="246888"/>
          </a:xfrm>
          <a:prstGeom prst="rect">
            <a:avLst/>
          </a:prstGeom>
          <a:solidFill>
            <a:srgbClr val="F4F9F5"/>
          </a:solidFill>
        </p:spPr>
      </p:sp>
      <p:sp>
        <p:nvSpPr>
          <p:cNvPr id="48" name="Text 46"/>
          <p:cNvSpPr/>
          <p:nvPr/>
        </p:nvSpPr>
        <p:spPr>
          <a:xfrm>
            <a:off x="4736592" y="4768596"/>
            <a:ext cx="2743200" cy="182880"/>
          </a:xfrm>
          <a:prstGeom prst="rect">
            <a:avLst/>
          </a:prstGeom>
          <a:noFill/>
        </p:spPr>
        <p:txBody>
          <a:bodyPr wrap="square" rtlCol="0" anchor="ctr"/>
          <a:lstStyle/>
          <a:p>
            <a:pPr marL="0" indent="0">
              <a:buNone/>
            </a:pPr>
            <a:r>
              <a:rPr lang="en-US" sz="900" dirty="0">
                <a:solidFill>
                  <a:srgbClr val="0D1F15"/>
                </a:solidFill>
              </a:rPr>
              <a:t>Open Asset Class</a:t>
            </a:r>
            <a:endParaRPr lang="en-US" sz="900" dirty="0"/>
          </a:p>
        </p:txBody>
      </p:sp>
      <p:sp>
        <p:nvSpPr>
          <p:cNvPr id="49" name="Text 47"/>
          <p:cNvSpPr/>
          <p:nvPr/>
        </p:nvSpPr>
        <p:spPr>
          <a:xfrm>
            <a:off x="7452360" y="4768596"/>
            <a:ext cx="1280160" cy="182880"/>
          </a:xfrm>
          <a:prstGeom prst="rect">
            <a:avLst/>
          </a:prstGeom>
          <a:noFill/>
        </p:spPr>
        <p:txBody>
          <a:bodyPr wrap="square" rtlCol="0" anchor="ctr"/>
          <a:lstStyle/>
          <a:p>
            <a:pPr marL="0" indent="0" algn="r">
              <a:buNone/>
            </a:pPr>
            <a:r>
              <a:rPr lang="en-US" sz="900" b="1" dirty="0">
                <a:solidFill>
                  <a:srgbClr val="1A7A45"/>
                </a:solidFill>
              </a:rPr>
              <a:t>Min UGX 1M+</a:t>
            </a:r>
            <a:endParaRPr lang="en-US" sz="900" dirty="0"/>
          </a:p>
        </p:txBody>
      </p:sp>
      <p:sp>
        <p:nvSpPr>
          <p:cNvPr id="50" name="Shape 48"/>
          <p:cNvSpPr/>
          <p:nvPr/>
        </p:nvSpPr>
        <p:spPr>
          <a:xfrm>
            <a:off x="457200" y="2816352"/>
            <a:ext cx="4114800" cy="2148840"/>
          </a:xfrm>
          <a:prstGeom prst="rect">
            <a:avLst/>
          </a:prstGeom>
          <a:solidFill>
            <a:srgbClr val="F4F9F5"/>
          </a:solidFill>
          <a:effectLst>
            <a:outerShdw blurRad="101600" dist="38100" dir="8100000" algn="bl" rotWithShape="0">
              <a:srgbClr val="000000">
                <a:alpha val="12000"/>
              </a:srgbClr>
            </a:outerShdw>
          </a:effectLst>
        </p:spPr>
      </p:sp>
      <p:sp>
        <p:nvSpPr>
          <p:cNvPr id="51" name="Shape 49"/>
          <p:cNvSpPr/>
          <p:nvPr/>
        </p:nvSpPr>
        <p:spPr>
          <a:xfrm>
            <a:off x="457200" y="2816352"/>
            <a:ext cx="4114800" cy="64008"/>
          </a:xfrm>
          <a:prstGeom prst="rect">
            <a:avLst/>
          </a:prstGeom>
          <a:solidFill>
            <a:srgbClr val="C17F00"/>
          </a:solidFill>
        </p:spPr>
      </p:sp>
      <p:sp>
        <p:nvSpPr>
          <p:cNvPr id="52" name="Text 50"/>
          <p:cNvSpPr/>
          <p:nvPr/>
        </p:nvSpPr>
        <p:spPr>
          <a:xfrm>
            <a:off x="566928" y="2907792"/>
            <a:ext cx="3840480" cy="320040"/>
          </a:xfrm>
          <a:prstGeom prst="rect">
            <a:avLst/>
          </a:prstGeom>
          <a:noFill/>
        </p:spPr>
        <p:txBody>
          <a:bodyPr wrap="square" rtlCol="0" anchor="ctr"/>
          <a:lstStyle/>
          <a:p>
            <a:pPr marL="0" indent="0">
              <a:buNone/>
            </a:pPr>
            <a:r>
              <a:rPr lang="en-US" sz="1100" b="1" dirty="0">
                <a:solidFill>
                  <a:srgbClr val="0F4D2B"/>
                </a:solidFill>
              </a:rPr>
              <a:t>NSSF Earns the 3% Charge TWICE Per Cycle</a:t>
            </a:r>
            <a:endParaRPr lang="en-US" sz="1100" dirty="0"/>
          </a:p>
        </p:txBody>
      </p:sp>
      <p:sp>
        <p:nvSpPr>
          <p:cNvPr id="53" name="Text 51"/>
          <p:cNvSpPr/>
          <p:nvPr/>
        </p:nvSpPr>
        <p:spPr>
          <a:xfrm>
            <a:off x="566928" y="3273552"/>
            <a:ext cx="3840480" cy="274320"/>
          </a:xfrm>
          <a:prstGeom prst="rect">
            <a:avLst/>
          </a:prstGeom>
          <a:noFill/>
        </p:spPr>
        <p:txBody>
          <a:bodyPr wrap="square" rtlCol="0" anchor="ctr"/>
          <a:lstStyle/>
          <a:p>
            <a:pPr marL="0" indent="0">
              <a:buNone/>
            </a:pPr>
            <a:r>
              <a:rPr lang="en-US" sz="1000" b="1" dirty="0">
                <a:solidFill>
                  <a:srgbClr val="0F4D2B"/>
                </a:solidFill>
              </a:rPr>
              <a:t>→ Once on the Investor side:</a:t>
            </a:r>
            <a:r>
              <a:rPr lang="en-US" sz="1000" dirty="0">
                <a:solidFill>
                  <a:srgbClr val="0D1F15"/>
                </a:solidFill>
              </a:rPr>
              <a:t>  3% of investor gross return</a:t>
            </a:r>
            <a:endParaRPr lang="en-US" sz="1000" dirty="0"/>
          </a:p>
        </p:txBody>
      </p:sp>
      <p:sp>
        <p:nvSpPr>
          <p:cNvPr id="54" name="Text 52"/>
          <p:cNvSpPr/>
          <p:nvPr/>
        </p:nvSpPr>
        <p:spPr>
          <a:xfrm>
            <a:off x="566928" y="3584448"/>
            <a:ext cx="3840480" cy="274320"/>
          </a:xfrm>
          <a:prstGeom prst="rect">
            <a:avLst/>
          </a:prstGeom>
          <a:noFill/>
        </p:spPr>
        <p:txBody>
          <a:bodyPr wrap="square" rtlCol="0" anchor="ctr"/>
          <a:lstStyle/>
          <a:p>
            <a:pPr marL="0" indent="0">
              <a:buNone/>
            </a:pPr>
            <a:r>
              <a:rPr lang="en-US" sz="1000" b="1" dirty="0">
                <a:solidFill>
                  <a:srgbClr val="0F4D2B"/>
                </a:solidFill>
              </a:rPr>
              <a:t>→ Once on the Lister side:</a:t>
            </a:r>
            <a:r>
              <a:rPr lang="en-US" sz="1000" dirty="0">
                <a:solidFill>
                  <a:srgbClr val="0D1F15"/>
                </a:solidFill>
              </a:rPr>
              <a:t>    3% of lister proceeds / mgmt fee</a:t>
            </a:r>
            <a:endParaRPr lang="en-US" sz="1000" dirty="0"/>
          </a:p>
        </p:txBody>
      </p:sp>
      <p:sp>
        <p:nvSpPr>
          <p:cNvPr id="55" name="Text 53"/>
          <p:cNvSpPr/>
          <p:nvPr/>
        </p:nvSpPr>
        <p:spPr>
          <a:xfrm>
            <a:off x="566928" y="3913632"/>
            <a:ext cx="3840480" cy="384048"/>
          </a:xfrm>
          <a:prstGeom prst="rect">
            <a:avLst/>
          </a:prstGeom>
          <a:noFill/>
        </p:spPr>
        <p:txBody>
          <a:bodyPr wrap="square" rtlCol="0" anchor="ctr"/>
          <a:lstStyle/>
          <a:p>
            <a:pPr marL="0" indent="0">
              <a:buNone/>
            </a:pPr>
            <a:r>
              <a:rPr lang="en-US" sz="950" dirty="0">
                <a:solidFill>
                  <a:srgbClr val="5A7A68"/>
                </a:solidFill>
              </a:rPr>
              <a:t>Both charges are disclosed to all parties at the point of listing acceptance and contractually binding in the Lister Agreement.</a:t>
            </a:r>
            <a:endParaRPr lang="en-US" sz="950" dirty="0"/>
          </a:p>
        </p:txBody>
      </p:sp>
      <p:sp>
        <p:nvSpPr>
          <p:cNvPr id="56" name="Shape 54"/>
          <p:cNvSpPr/>
          <p:nvPr/>
        </p:nvSpPr>
        <p:spPr>
          <a:xfrm>
            <a:off x="457200" y="4343400"/>
            <a:ext cx="4114800" cy="502920"/>
          </a:xfrm>
          <a:prstGeom prst="rect">
            <a:avLst/>
          </a:prstGeom>
          <a:solidFill>
            <a:srgbClr val="0F4D2B"/>
          </a:solidFill>
        </p:spPr>
      </p:sp>
      <p:sp>
        <p:nvSpPr>
          <p:cNvPr id="57" name="Text 55"/>
          <p:cNvSpPr/>
          <p:nvPr/>
        </p:nvSpPr>
        <p:spPr>
          <a:xfrm>
            <a:off x="566928" y="4370832"/>
            <a:ext cx="3886200" cy="438912"/>
          </a:xfrm>
          <a:prstGeom prst="rect">
            <a:avLst/>
          </a:prstGeom>
          <a:noFill/>
        </p:spPr>
        <p:txBody>
          <a:bodyPr wrap="square" rtlCol="0" anchor="ctr"/>
          <a:lstStyle/>
          <a:p>
            <a:pPr marL="0" indent="0">
              <a:buNone/>
            </a:pPr>
            <a:r>
              <a:rPr lang="en-US" sz="900" b="1" dirty="0">
                <a:solidFill>
                  <a:srgbClr val="C17F00"/>
                </a:solidFill>
              </a:rPr>
              <a:t>Annualised (4 cycles p.a., 400 active listings):  NSSF operating revenue: UGX 432M+  |  Pension levy: UGX 265M+  |  Combined: UGX 697M+</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NSSF PARTNERSHIP STRUCTURE — THREE TIERS</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NSSF may begin at Tier 1 and progress based on performance milestones.</a:t>
            </a:r>
            <a:endParaRPr lang="en-US" sz="2200" dirty="0"/>
          </a:p>
        </p:txBody>
      </p:sp>
      <p:sp>
        <p:nvSpPr>
          <p:cNvPr id="5" name="Shape 3"/>
          <p:cNvSpPr/>
          <p:nvPr/>
        </p:nvSpPr>
        <p:spPr>
          <a:xfrm>
            <a:off x="274320" y="1371600"/>
            <a:ext cx="2788920" cy="566928"/>
          </a:xfrm>
          <a:prstGeom prst="rect">
            <a:avLst/>
          </a:prstGeom>
          <a:solidFill>
            <a:srgbClr val="1A7A45"/>
          </a:solidFill>
        </p:spPr>
      </p:sp>
      <p:sp>
        <p:nvSpPr>
          <p:cNvPr id="6" name="Shape 4"/>
          <p:cNvSpPr/>
          <p:nvPr/>
        </p:nvSpPr>
        <p:spPr>
          <a:xfrm>
            <a:off x="274320" y="1938528"/>
            <a:ext cx="2788920" cy="2926080"/>
          </a:xfrm>
          <a:prstGeom prst="rect">
            <a:avLst/>
          </a:prstGeom>
          <a:solidFill>
            <a:srgbClr val="FFFFFF"/>
          </a:solidFill>
          <a:effectLst>
            <a:outerShdw blurRad="101600" dist="38100" dir="8100000" algn="bl" rotWithShape="0">
              <a:srgbClr val="000000">
                <a:alpha val="12000"/>
              </a:srgbClr>
            </a:outerShdw>
          </a:effectLst>
        </p:spPr>
      </p:sp>
      <p:sp>
        <p:nvSpPr>
          <p:cNvPr id="7" name="Text 5"/>
          <p:cNvSpPr/>
          <p:nvPr/>
        </p:nvSpPr>
        <p:spPr>
          <a:xfrm>
            <a:off x="384048" y="1389888"/>
            <a:ext cx="1371600" cy="274320"/>
          </a:xfrm>
          <a:prstGeom prst="rect">
            <a:avLst/>
          </a:prstGeom>
          <a:noFill/>
        </p:spPr>
        <p:txBody>
          <a:bodyPr wrap="square" rtlCol="0" anchor="ctr"/>
          <a:lstStyle/>
          <a:p>
            <a:pPr marL="0" indent="0">
              <a:buNone/>
            </a:pPr>
            <a:r>
              <a:rPr lang="en-US" sz="1400" b="1" dirty="0">
                <a:solidFill>
                  <a:srgbClr val="FFFFFF"/>
                </a:solidFill>
              </a:rPr>
              <a:t>Tier 1</a:t>
            </a:r>
            <a:endParaRPr lang="en-US" sz="1400" dirty="0"/>
          </a:p>
        </p:txBody>
      </p:sp>
      <p:sp>
        <p:nvSpPr>
          <p:cNvPr id="8" name="Text 6"/>
          <p:cNvSpPr/>
          <p:nvPr/>
        </p:nvSpPr>
        <p:spPr>
          <a:xfrm>
            <a:off x="384048" y="1664208"/>
            <a:ext cx="2560320" cy="201168"/>
          </a:xfrm>
          <a:prstGeom prst="rect">
            <a:avLst/>
          </a:prstGeom>
          <a:noFill/>
        </p:spPr>
        <p:txBody>
          <a:bodyPr wrap="square" rtlCol="0" anchor="ctr"/>
          <a:lstStyle/>
          <a:p>
            <a:pPr marL="0" indent="0">
              <a:buNone/>
            </a:pPr>
            <a:r>
              <a:rPr lang="en-US" sz="850" dirty="0">
                <a:solidFill>
                  <a:srgbClr val="FFFFFF"/>
                </a:solidFill>
              </a:rPr>
              <a:t>Months 0–6  (Recommended Entry)</a:t>
            </a:r>
            <a:endParaRPr lang="en-US" sz="850" dirty="0"/>
          </a:p>
        </p:txBody>
      </p:sp>
      <p:sp>
        <p:nvSpPr>
          <p:cNvPr id="9" name="Text 7"/>
          <p:cNvSpPr/>
          <p:nvPr/>
        </p:nvSpPr>
        <p:spPr>
          <a:xfrm>
            <a:off x="384048" y="2029968"/>
            <a:ext cx="2560320" cy="347472"/>
          </a:xfrm>
          <a:prstGeom prst="rect">
            <a:avLst/>
          </a:prstGeom>
          <a:noFill/>
        </p:spPr>
        <p:txBody>
          <a:bodyPr wrap="square" rtlCol="0" anchor="ctr"/>
          <a:lstStyle/>
          <a:p>
            <a:pPr marL="0" indent="0">
              <a:buNone/>
            </a:pPr>
            <a:r>
              <a:rPr lang="en-US" sz="1100" b="1" dirty="0">
                <a:solidFill>
                  <a:srgbClr val="1A7A45"/>
                </a:solidFill>
              </a:rPr>
              <a:t>Revenue &amp; Co-Brand Partnership</a:t>
            </a:r>
            <a:endParaRPr lang="en-US" sz="1100" dirty="0"/>
          </a:p>
        </p:txBody>
      </p:sp>
      <p:sp>
        <p:nvSpPr>
          <p:cNvPr id="10" name="Text 8"/>
          <p:cNvSpPr/>
          <p:nvPr/>
        </p:nvSpPr>
        <p:spPr>
          <a:xfrm>
            <a:off x="384048" y="2423160"/>
            <a:ext cx="2560320" cy="320040"/>
          </a:xfrm>
          <a:prstGeom prst="rect">
            <a:avLst/>
          </a:prstGeom>
          <a:noFill/>
        </p:spPr>
        <p:txBody>
          <a:bodyPr wrap="square" rtlCol="0" anchor="ctr"/>
          <a:lstStyle/>
          <a:p>
            <a:pPr marL="0" indent="0">
              <a:buNone/>
            </a:pPr>
            <a:r>
              <a:rPr lang="en-US" sz="850" dirty="0">
                <a:solidFill>
                  <a:srgbClr val="0D1F15"/>
                </a:solidFill>
              </a:rPr>
              <a:t>✓  NSSF co-brands OwnIt Uganda with institutional endorsement</a:t>
            </a:r>
            <a:endParaRPr lang="en-US" sz="850" dirty="0"/>
          </a:p>
        </p:txBody>
      </p:sp>
      <p:sp>
        <p:nvSpPr>
          <p:cNvPr id="11" name="Text 9"/>
          <p:cNvSpPr/>
          <p:nvPr/>
        </p:nvSpPr>
        <p:spPr>
          <a:xfrm>
            <a:off x="384048" y="2770632"/>
            <a:ext cx="2560320" cy="320040"/>
          </a:xfrm>
          <a:prstGeom prst="rect">
            <a:avLst/>
          </a:prstGeom>
          <a:noFill/>
        </p:spPr>
        <p:txBody>
          <a:bodyPr wrap="square" rtlCol="0" anchor="ctr"/>
          <a:lstStyle/>
          <a:p>
            <a:pPr marL="0" indent="0">
              <a:buNone/>
            </a:pPr>
            <a:r>
              <a:rPr lang="en-US" sz="850" dirty="0">
                <a:solidFill>
                  <a:srgbClr val="0D1F15"/>
                </a:solidFill>
              </a:rPr>
              <a:t>✓  OwnIt integrates NSSF auto-enrollment API — every registration = 1 new member</a:t>
            </a:r>
            <a:endParaRPr lang="en-US" sz="850" dirty="0"/>
          </a:p>
        </p:txBody>
      </p:sp>
      <p:sp>
        <p:nvSpPr>
          <p:cNvPr id="12" name="Text 10"/>
          <p:cNvSpPr/>
          <p:nvPr/>
        </p:nvSpPr>
        <p:spPr>
          <a:xfrm>
            <a:off x="384048" y="3118104"/>
            <a:ext cx="2560320" cy="320040"/>
          </a:xfrm>
          <a:prstGeom prst="rect">
            <a:avLst/>
          </a:prstGeom>
          <a:noFill/>
        </p:spPr>
        <p:txBody>
          <a:bodyPr wrap="square" rtlCol="0" anchor="ctr"/>
          <a:lstStyle/>
          <a:p>
            <a:pPr marL="0" indent="0">
              <a:buNone/>
            </a:pPr>
            <a:r>
              <a:rPr lang="en-US" sz="850" dirty="0">
                <a:solidFill>
                  <a:srgbClr val="0D1F15"/>
                </a:solidFill>
              </a:rPr>
              <a:t>✓  NSSF earns 60% of 3% payout charge from Day 1 — no capital investment required</a:t>
            </a:r>
            <a:endParaRPr lang="en-US" sz="850" dirty="0"/>
          </a:p>
        </p:txBody>
      </p:sp>
      <p:sp>
        <p:nvSpPr>
          <p:cNvPr id="13" name="Text 11"/>
          <p:cNvSpPr/>
          <p:nvPr/>
        </p:nvSpPr>
        <p:spPr>
          <a:xfrm>
            <a:off x="384048" y="3465576"/>
            <a:ext cx="2560320" cy="320040"/>
          </a:xfrm>
          <a:prstGeom prst="rect">
            <a:avLst/>
          </a:prstGeom>
          <a:noFill/>
        </p:spPr>
        <p:txBody>
          <a:bodyPr wrap="square" rtlCol="0" anchor="ctr"/>
          <a:lstStyle/>
          <a:p>
            <a:pPr marL="0" indent="0">
              <a:buNone/>
            </a:pPr>
            <a:r>
              <a:rPr lang="en-US" sz="850" dirty="0">
                <a:solidFill>
                  <a:srgbClr val="0D1F15"/>
                </a:solidFill>
              </a:rPr>
              <a:t>✓  NSSF earns 30% of all listing fees across all asset classes</a:t>
            </a:r>
            <a:endParaRPr lang="en-US" sz="850" dirty="0"/>
          </a:p>
        </p:txBody>
      </p:sp>
      <p:sp>
        <p:nvSpPr>
          <p:cNvPr id="14" name="Text 12"/>
          <p:cNvSpPr/>
          <p:nvPr/>
        </p:nvSpPr>
        <p:spPr>
          <a:xfrm>
            <a:off x="384048" y="3813048"/>
            <a:ext cx="2560320" cy="320040"/>
          </a:xfrm>
          <a:prstGeom prst="rect">
            <a:avLst/>
          </a:prstGeom>
          <a:noFill/>
        </p:spPr>
        <p:txBody>
          <a:bodyPr wrap="square" rtlCol="0" anchor="ctr"/>
          <a:lstStyle/>
          <a:p>
            <a:pPr marL="0" indent="0">
              <a:buNone/>
            </a:pPr>
            <a:r>
              <a:rPr lang="en-US" sz="850" dirty="0">
                <a:solidFill>
                  <a:srgbClr val="0D1F15"/>
                </a:solidFill>
              </a:rPr>
              <a:t>✓  NSSF promotes OwnIt through agent network, social media, member comms</a:t>
            </a:r>
            <a:endParaRPr lang="en-US" sz="850" dirty="0"/>
          </a:p>
        </p:txBody>
      </p:sp>
      <p:sp>
        <p:nvSpPr>
          <p:cNvPr id="15" name="Text 13"/>
          <p:cNvSpPr/>
          <p:nvPr/>
        </p:nvSpPr>
        <p:spPr>
          <a:xfrm>
            <a:off x="384048" y="4160520"/>
            <a:ext cx="2560320" cy="320040"/>
          </a:xfrm>
          <a:prstGeom prst="rect">
            <a:avLst/>
          </a:prstGeom>
          <a:noFill/>
        </p:spPr>
        <p:txBody>
          <a:bodyPr wrap="square" rtlCol="0" anchor="ctr"/>
          <a:lstStyle/>
          <a:p>
            <a:pPr marL="0" indent="0">
              <a:buNone/>
            </a:pPr>
            <a:r>
              <a:rPr lang="en-US" sz="850" dirty="0">
                <a:solidFill>
                  <a:srgbClr val="0D1F15"/>
                </a:solidFill>
              </a:rPr>
              <a:t>✓  NSSF holds one seat on OwnIt Asset Admissions Committee</a:t>
            </a:r>
            <a:endParaRPr lang="en-US" sz="850" dirty="0"/>
          </a:p>
        </p:txBody>
      </p:sp>
      <p:sp>
        <p:nvSpPr>
          <p:cNvPr id="16" name="Shape 14"/>
          <p:cNvSpPr/>
          <p:nvPr/>
        </p:nvSpPr>
        <p:spPr>
          <a:xfrm>
            <a:off x="274320" y="4389120"/>
            <a:ext cx="2788920" cy="256032"/>
          </a:xfrm>
          <a:prstGeom prst="rect">
            <a:avLst/>
          </a:prstGeom>
          <a:solidFill>
            <a:srgbClr val="F4F9F5"/>
          </a:solidFill>
        </p:spPr>
      </p:sp>
      <p:sp>
        <p:nvSpPr>
          <p:cNvPr id="17" name="Text 15"/>
          <p:cNvSpPr/>
          <p:nvPr/>
        </p:nvSpPr>
        <p:spPr>
          <a:xfrm>
            <a:off x="365760" y="4389120"/>
            <a:ext cx="2633472" cy="256032"/>
          </a:xfrm>
          <a:prstGeom prst="rect">
            <a:avLst/>
          </a:prstGeom>
          <a:noFill/>
        </p:spPr>
        <p:txBody>
          <a:bodyPr wrap="square" rtlCol="0" anchor="ctr"/>
          <a:lstStyle/>
          <a:p>
            <a:pPr marL="0" indent="0">
              <a:buNone/>
            </a:pPr>
            <a:r>
              <a:rPr lang="en-US" sz="800" b="1" dirty="0">
                <a:solidFill>
                  <a:srgbClr val="1A7A45"/>
                </a:solidFill>
              </a:rPr>
              <a:t>Capital required from NSSF: None</a:t>
            </a:r>
            <a:endParaRPr lang="en-US" sz="800" dirty="0"/>
          </a:p>
        </p:txBody>
      </p:sp>
      <p:sp>
        <p:nvSpPr>
          <p:cNvPr id="18" name="Shape 16"/>
          <p:cNvSpPr/>
          <p:nvPr/>
        </p:nvSpPr>
        <p:spPr>
          <a:xfrm>
            <a:off x="274320" y="4663440"/>
            <a:ext cx="2788920" cy="384048"/>
          </a:xfrm>
          <a:prstGeom prst="rect">
            <a:avLst/>
          </a:prstGeom>
          <a:solidFill>
            <a:srgbClr val="0F4D2B"/>
          </a:solidFill>
        </p:spPr>
      </p:sp>
      <p:sp>
        <p:nvSpPr>
          <p:cNvPr id="19" name="Text 17"/>
          <p:cNvSpPr/>
          <p:nvPr/>
        </p:nvSpPr>
        <p:spPr>
          <a:xfrm>
            <a:off x="347472" y="4663440"/>
            <a:ext cx="2651760" cy="384048"/>
          </a:xfrm>
          <a:prstGeom prst="rect">
            <a:avLst/>
          </a:prstGeom>
          <a:noFill/>
        </p:spPr>
        <p:txBody>
          <a:bodyPr wrap="square" rtlCol="0" anchor="ctr"/>
          <a:lstStyle/>
          <a:p>
            <a:pPr marL="0" indent="0">
              <a:buNone/>
            </a:pPr>
            <a:r>
              <a:rPr lang="en-US" sz="800" dirty="0">
                <a:solidFill>
                  <a:srgbClr val="C17F00"/>
                </a:solidFill>
              </a:rPr>
              <a:t>🎯  Month 6: 15,000 users  |  15,000 new NSSF members  |  UGX 61M NSSF revenue</a:t>
            </a:r>
            <a:endParaRPr lang="en-US" sz="800" dirty="0"/>
          </a:p>
        </p:txBody>
      </p:sp>
      <p:sp>
        <p:nvSpPr>
          <p:cNvPr id="20" name="Shape 18"/>
          <p:cNvSpPr/>
          <p:nvPr/>
        </p:nvSpPr>
        <p:spPr>
          <a:xfrm>
            <a:off x="3200400" y="1371600"/>
            <a:ext cx="2788920" cy="566928"/>
          </a:xfrm>
          <a:prstGeom prst="rect">
            <a:avLst/>
          </a:prstGeom>
          <a:solidFill>
            <a:srgbClr val="028090"/>
          </a:solidFill>
        </p:spPr>
      </p:sp>
      <p:sp>
        <p:nvSpPr>
          <p:cNvPr id="21" name="Shape 19"/>
          <p:cNvSpPr/>
          <p:nvPr/>
        </p:nvSpPr>
        <p:spPr>
          <a:xfrm>
            <a:off x="3200400" y="1938528"/>
            <a:ext cx="2788920" cy="2926080"/>
          </a:xfrm>
          <a:prstGeom prst="rect">
            <a:avLst/>
          </a:prstGeom>
          <a:solidFill>
            <a:srgbClr val="FFFFFF"/>
          </a:solidFill>
          <a:effectLst>
            <a:outerShdw blurRad="101600" dist="38100" dir="8100000" algn="bl" rotWithShape="0">
              <a:srgbClr val="000000">
                <a:alpha val="12000"/>
              </a:srgbClr>
            </a:outerShdw>
          </a:effectLst>
        </p:spPr>
      </p:sp>
      <p:sp>
        <p:nvSpPr>
          <p:cNvPr id="22" name="Text 20"/>
          <p:cNvSpPr/>
          <p:nvPr/>
        </p:nvSpPr>
        <p:spPr>
          <a:xfrm>
            <a:off x="3310128" y="1389888"/>
            <a:ext cx="1371600" cy="274320"/>
          </a:xfrm>
          <a:prstGeom prst="rect">
            <a:avLst/>
          </a:prstGeom>
          <a:noFill/>
        </p:spPr>
        <p:txBody>
          <a:bodyPr wrap="square" rtlCol="0" anchor="ctr"/>
          <a:lstStyle/>
          <a:p>
            <a:pPr marL="0" indent="0">
              <a:buNone/>
            </a:pPr>
            <a:r>
              <a:rPr lang="en-US" sz="1400" b="1" dirty="0">
                <a:solidFill>
                  <a:srgbClr val="FFFFFF"/>
                </a:solidFill>
              </a:rPr>
              <a:t>Tier 2</a:t>
            </a:r>
            <a:endParaRPr lang="en-US" sz="1400" dirty="0"/>
          </a:p>
        </p:txBody>
      </p:sp>
      <p:sp>
        <p:nvSpPr>
          <p:cNvPr id="23" name="Text 21"/>
          <p:cNvSpPr/>
          <p:nvPr/>
        </p:nvSpPr>
        <p:spPr>
          <a:xfrm>
            <a:off x="3310128" y="1664208"/>
            <a:ext cx="2560320" cy="201168"/>
          </a:xfrm>
          <a:prstGeom prst="rect">
            <a:avLst/>
          </a:prstGeom>
          <a:noFill/>
        </p:spPr>
        <p:txBody>
          <a:bodyPr wrap="square" rtlCol="0" anchor="ctr"/>
          <a:lstStyle/>
          <a:p>
            <a:pPr marL="0" indent="0">
              <a:buNone/>
            </a:pPr>
            <a:r>
              <a:rPr lang="en-US" sz="850" dirty="0">
                <a:solidFill>
                  <a:srgbClr val="FFFFFF"/>
                </a:solidFill>
              </a:rPr>
              <a:t>Months 6–18</a:t>
            </a:r>
            <a:endParaRPr lang="en-US" sz="850" dirty="0"/>
          </a:p>
        </p:txBody>
      </p:sp>
      <p:sp>
        <p:nvSpPr>
          <p:cNvPr id="24" name="Text 22"/>
          <p:cNvSpPr/>
          <p:nvPr/>
        </p:nvSpPr>
        <p:spPr>
          <a:xfrm>
            <a:off x="3310128" y="2029968"/>
            <a:ext cx="2560320" cy="347472"/>
          </a:xfrm>
          <a:prstGeom prst="rect">
            <a:avLst/>
          </a:prstGeom>
          <a:noFill/>
        </p:spPr>
        <p:txBody>
          <a:bodyPr wrap="square" rtlCol="0" anchor="ctr"/>
          <a:lstStyle/>
          <a:p>
            <a:pPr marL="0" indent="0">
              <a:buNone/>
            </a:pPr>
            <a:r>
              <a:rPr lang="en-US" sz="1100" b="1" dirty="0">
                <a:solidFill>
                  <a:srgbClr val="028090"/>
                </a:solidFill>
              </a:rPr>
              <a:t>NSSF Hisa Co-Branded Product</a:t>
            </a:r>
            <a:endParaRPr lang="en-US" sz="1100" dirty="0"/>
          </a:p>
        </p:txBody>
      </p:sp>
      <p:sp>
        <p:nvSpPr>
          <p:cNvPr id="25" name="Text 23"/>
          <p:cNvSpPr/>
          <p:nvPr/>
        </p:nvSpPr>
        <p:spPr>
          <a:xfrm>
            <a:off x="3310128" y="2423160"/>
            <a:ext cx="2560320" cy="320040"/>
          </a:xfrm>
          <a:prstGeom prst="rect">
            <a:avLst/>
          </a:prstGeom>
          <a:noFill/>
        </p:spPr>
        <p:txBody>
          <a:bodyPr wrap="square" rtlCol="0" anchor="ctr"/>
          <a:lstStyle/>
          <a:p>
            <a:pPr marL="0" indent="0">
              <a:buNone/>
            </a:pPr>
            <a:r>
              <a:rPr lang="en-US" sz="850" dirty="0">
                <a:solidFill>
                  <a:srgbClr val="0D1F15"/>
                </a:solidFill>
              </a:rPr>
              <a:t>✓  Joint launch of 'NSSF Hisa' — a branded voluntary near-term investment product</a:t>
            </a:r>
            <a:endParaRPr lang="en-US" sz="850" dirty="0"/>
          </a:p>
        </p:txBody>
      </p:sp>
      <p:sp>
        <p:nvSpPr>
          <p:cNvPr id="26" name="Text 24"/>
          <p:cNvSpPr/>
          <p:nvPr/>
        </p:nvSpPr>
        <p:spPr>
          <a:xfrm>
            <a:off x="3310128" y="2770632"/>
            <a:ext cx="2560320" cy="320040"/>
          </a:xfrm>
          <a:prstGeom prst="rect">
            <a:avLst/>
          </a:prstGeom>
          <a:noFill/>
        </p:spPr>
        <p:txBody>
          <a:bodyPr wrap="square" rtlCol="0" anchor="ctr"/>
          <a:lstStyle/>
          <a:p>
            <a:pPr marL="0" indent="0">
              <a:buNone/>
            </a:pPr>
            <a:r>
              <a:rPr lang="en-US" sz="850" dirty="0">
                <a:solidFill>
                  <a:srgbClr val="0D1F15"/>
                </a:solidFill>
              </a:rPr>
              <a:t>✓  Investors can auto-sweep % of each payout to NSSF voluntary account (one-tap)</a:t>
            </a:r>
            <a:endParaRPr lang="en-US" sz="850" dirty="0"/>
          </a:p>
        </p:txBody>
      </p:sp>
      <p:sp>
        <p:nvSpPr>
          <p:cNvPr id="27" name="Text 25"/>
          <p:cNvSpPr/>
          <p:nvPr/>
        </p:nvSpPr>
        <p:spPr>
          <a:xfrm>
            <a:off x="3310128" y="3118104"/>
            <a:ext cx="2560320" cy="320040"/>
          </a:xfrm>
          <a:prstGeom prst="rect">
            <a:avLst/>
          </a:prstGeom>
          <a:noFill/>
        </p:spPr>
        <p:txBody>
          <a:bodyPr wrap="square" rtlCol="0" anchor="ctr"/>
          <a:lstStyle/>
          <a:p>
            <a:pPr marL="0" indent="0">
              <a:buNone/>
            </a:pPr>
            <a:r>
              <a:rPr lang="en-US" sz="850" dirty="0">
                <a:solidFill>
                  <a:srgbClr val="0D1F15"/>
                </a:solidFill>
              </a:rPr>
              <a:t>✓  NSSF-vetted assets listed with NSSF due diligence seal</a:t>
            </a:r>
            <a:endParaRPr lang="en-US" sz="850" dirty="0"/>
          </a:p>
        </p:txBody>
      </p:sp>
      <p:sp>
        <p:nvSpPr>
          <p:cNvPr id="28" name="Text 26"/>
          <p:cNvSpPr/>
          <p:nvPr/>
        </p:nvSpPr>
        <p:spPr>
          <a:xfrm>
            <a:off x="3310128" y="3465576"/>
            <a:ext cx="2560320" cy="320040"/>
          </a:xfrm>
          <a:prstGeom prst="rect">
            <a:avLst/>
          </a:prstGeom>
          <a:noFill/>
        </p:spPr>
        <p:txBody>
          <a:bodyPr wrap="square" rtlCol="0" anchor="ctr"/>
          <a:lstStyle/>
          <a:p>
            <a:pPr marL="0" indent="0">
              <a:buNone/>
            </a:pPr>
            <a:r>
              <a:rPr lang="en-US" sz="850" dirty="0">
                <a:solidFill>
                  <a:srgbClr val="0D1F15"/>
                </a:solidFill>
              </a:rPr>
              <a:t>✓  USSD channel (*OwnIt#) launched for feature phone / rural access</a:t>
            </a:r>
            <a:endParaRPr lang="en-US" sz="850" dirty="0"/>
          </a:p>
        </p:txBody>
      </p:sp>
      <p:sp>
        <p:nvSpPr>
          <p:cNvPr id="29" name="Text 27"/>
          <p:cNvSpPr/>
          <p:nvPr/>
        </p:nvSpPr>
        <p:spPr>
          <a:xfrm>
            <a:off x="3310128" y="3813048"/>
            <a:ext cx="2560320" cy="320040"/>
          </a:xfrm>
          <a:prstGeom prst="rect">
            <a:avLst/>
          </a:prstGeom>
          <a:noFill/>
        </p:spPr>
        <p:txBody>
          <a:bodyPr wrap="square" rtlCol="0" anchor="ctr"/>
          <a:lstStyle/>
          <a:p>
            <a:pPr marL="0" indent="0">
              <a:buNone/>
            </a:pPr>
            <a:r>
              <a:rPr lang="en-US" sz="850" dirty="0">
                <a:solidFill>
                  <a:srgbClr val="0D1F15"/>
                </a:solidFill>
              </a:rPr>
              <a:t>✓  Joint national campaign: 'Own it today. Secure it tomorrow.'</a:t>
            </a:r>
            <a:endParaRPr lang="en-US" sz="850" dirty="0"/>
          </a:p>
        </p:txBody>
      </p:sp>
      <p:sp>
        <p:nvSpPr>
          <p:cNvPr id="30" name="Shape 28"/>
          <p:cNvSpPr/>
          <p:nvPr/>
        </p:nvSpPr>
        <p:spPr>
          <a:xfrm>
            <a:off x="3200400" y="4389120"/>
            <a:ext cx="2788920" cy="256032"/>
          </a:xfrm>
          <a:prstGeom prst="rect">
            <a:avLst/>
          </a:prstGeom>
          <a:solidFill>
            <a:srgbClr val="F4F9F5"/>
          </a:solidFill>
        </p:spPr>
      </p:sp>
      <p:sp>
        <p:nvSpPr>
          <p:cNvPr id="31" name="Text 29"/>
          <p:cNvSpPr/>
          <p:nvPr/>
        </p:nvSpPr>
        <p:spPr>
          <a:xfrm>
            <a:off x="3291840" y="4389120"/>
            <a:ext cx="2633472" cy="256032"/>
          </a:xfrm>
          <a:prstGeom prst="rect">
            <a:avLst/>
          </a:prstGeom>
          <a:noFill/>
        </p:spPr>
        <p:txBody>
          <a:bodyPr wrap="square" rtlCol="0" anchor="ctr"/>
          <a:lstStyle/>
          <a:p>
            <a:pPr marL="0" indent="0">
              <a:buNone/>
            </a:pPr>
            <a:r>
              <a:rPr lang="en-US" sz="800" b="1" dirty="0">
                <a:solidFill>
                  <a:srgbClr val="028090"/>
                </a:solidFill>
              </a:rPr>
              <a:t>Capital required: Minimal (marketing co-contribution + API integration cost)</a:t>
            </a:r>
            <a:endParaRPr lang="en-US" sz="800" dirty="0"/>
          </a:p>
        </p:txBody>
      </p:sp>
      <p:sp>
        <p:nvSpPr>
          <p:cNvPr id="32" name="Shape 30"/>
          <p:cNvSpPr/>
          <p:nvPr/>
        </p:nvSpPr>
        <p:spPr>
          <a:xfrm>
            <a:off x="3200400" y="4663440"/>
            <a:ext cx="2788920" cy="384048"/>
          </a:xfrm>
          <a:prstGeom prst="rect">
            <a:avLst/>
          </a:prstGeom>
          <a:solidFill>
            <a:srgbClr val="0F4D2B"/>
          </a:solidFill>
        </p:spPr>
      </p:sp>
      <p:sp>
        <p:nvSpPr>
          <p:cNvPr id="33" name="Text 31"/>
          <p:cNvSpPr/>
          <p:nvPr/>
        </p:nvSpPr>
        <p:spPr>
          <a:xfrm>
            <a:off x="3273552" y="4663440"/>
            <a:ext cx="2651760" cy="384048"/>
          </a:xfrm>
          <a:prstGeom prst="rect">
            <a:avLst/>
          </a:prstGeom>
          <a:noFill/>
        </p:spPr>
        <p:txBody>
          <a:bodyPr wrap="square" rtlCol="0" anchor="ctr"/>
          <a:lstStyle/>
          <a:p>
            <a:pPr marL="0" indent="0">
              <a:buNone/>
            </a:pPr>
            <a:r>
              <a:rPr lang="en-US" sz="800" dirty="0">
                <a:solidFill>
                  <a:srgbClr val="C17F00"/>
                </a:solidFill>
              </a:rPr>
              <a:t>🎯  Month 18: 150,000 users  |  150,000 new NSSF members  |  UGX 1B NSSF revenue</a:t>
            </a:r>
            <a:endParaRPr lang="en-US" sz="800" dirty="0"/>
          </a:p>
        </p:txBody>
      </p:sp>
      <p:sp>
        <p:nvSpPr>
          <p:cNvPr id="34" name="Shape 32"/>
          <p:cNvSpPr/>
          <p:nvPr/>
        </p:nvSpPr>
        <p:spPr>
          <a:xfrm>
            <a:off x="6126480" y="1371600"/>
            <a:ext cx="2788920" cy="566928"/>
          </a:xfrm>
          <a:prstGeom prst="rect">
            <a:avLst/>
          </a:prstGeom>
          <a:solidFill>
            <a:srgbClr val="C17F00"/>
          </a:solidFill>
        </p:spPr>
      </p:sp>
      <p:sp>
        <p:nvSpPr>
          <p:cNvPr id="35" name="Shape 33"/>
          <p:cNvSpPr/>
          <p:nvPr/>
        </p:nvSpPr>
        <p:spPr>
          <a:xfrm>
            <a:off x="6126480" y="1938528"/>
            <a:ext cx="2788920" cy="2926080"/>
          </a:xfrm>
          <a:prstGeom prst="rect">
            <a:avLst/>
          </a:prstGeom>
          <a:solidFill>
            <a:srgbClr val="FFFFFF"/>
          </a:solidFill>
          <a:effectLst>
            <a:outerShdw blurRad="101600" dist="38100" dir="8100000" algn="bl" rotWithShape="0">
              <a:srgbClr val="000000">
                <a:alpha val="12000"/>
              </a:srgbClr>
            </a:outerShdw>
          </a:effectLst>
        </p:spPr>
      </p:sp>
      <p:sp>
        <p:nvSpPr>
          <p:cNvPr id="36" name="Text 34"/>
          <p:cNvSpPr/>
          <p:nvPr/>
        </p:nvSpPr>
        <p:spPr>
          <a:xfrm>
            <a:off x="6236208" y="1389888"/>
            <a:ext cx="1371600" cy="274320"/>
          </a:xfrm>
          <a:prstGeom prst="rect">
            <a:avLst/>
          </a:prstGeom>
          <a:noFill/>
        </p:spPr>
        <p:txBody>
          <a:bodyPr wrap="square" rtlCol="0" anchor="ctr"/>
          <a:lstStyle/>
          <a:p>
            <a:pPr marL="0" indent="0">
              <a:buNone/>
            </a:pPr>
            <a:r>
              <a:rPr lang="en-US" sz="1400" b="1" dirty="0">
                <a:solidFill>
                  <a:srgbClr val="FFFFFF"/>
                </a:solidFill>
              </a:rPr>
              <a:t>Tier 3</a:t>
            </a:r>
            <a:endParaRPr lang="en-US" sz="1400" dirty="0"/>
          </a:p>
        </p:txBody>
      </p:sp>
      <p:sp>
        <p:nvSpPr>
          <p:cNvPr id="37" name="Text 35"/>
          <p:cNvSpPr/>
          <p:nvPr/>
        </p:nvSpPr>
        <p:spPr>
          <a:xfrm>
            <a:off x="6236208" y="1664208"/>
            <a:ext cx="2560320" cy="201168"/>
          </a:xfrm>
          <a:prstGeom prst="rect">
            <a:avLst/>
          </a:prstGeom>
          <a:noFill/>
        </p:spPr>
        <p:txBody>
          <a:bodyPr wrap="square" rtlCol="0" anchor="ctr"/>
          <a:lstStyle/>
          <a:p>
            <a:pPr marL="0" indent="0">
              <a:buNone/>
            </a:pPr>
            <a:r>
              <a:rPr lang="en-US" sz="850" dirty="0">
                <a:solidFill>
                  <a:srgbClr val="FFFFFF"/>
                </a:solidFill>
              </a:rPr>
              <a:t>Months 18+</a:t>
            </a:r>
            <a:endParaRPr lang="en-US" sz="850" dirty="0"/>
          </a:p>
        </p:txBody>
      </p:sp>
      <p:sp>
        <p:nvSpPr>
          <p:cNvPr id="38" name="Text 36"/>
          <p:cNvSpPr/>
          <p:nvPr/>
        </p:nvSpPr>
        <p:spPr>
          <a:xfrm>
            <a:off x="6236208" y="2029968"/>
            <a:ext cx="2560320" cy="347472"/>
          </a:xfrm>
          <a:prstGeom prst="rect">
            <a:avLst/>
          </a:prstGeom>
          <a:noFill/>
        </p:spPr>
        <p:txBody>
          <a:bodyPr wrap="square" rtlCol="0" anchor="ctr"/>
          <a:lstStyle/>
          <a:p>
            <a:pPr marL="0" indent="0">
              <a:buNone/>
            </a:pPr>
            <a:r>
              <a:rPr lang="en-US" sz="1100" b="1" dirty="0">
                <a:solidFill>
                  <a:srgbClr val="C17F00"/>
                </a:solidFill>
              </a:rPr>
              <a:t>Strategic Equity &amp; Joint Venture</a:t>
            </a:r>
            <a:endParaRPr lang="en-US" sz="1100" dirty="0"/>
          </a:p>
        </p:txBody>
      </p:sp>
      <p:sp>
        <p:nvSpPr>
          <p:cNvPr id="39" name="Text 37"/>
          <p:cNvSpPr/>
          <p:nvPr/>
        </p:nvSpPr>
        <p:spPr>
          <a:xfrm>
            <a:off x="6236208" y="2423160"/>
            <a:ext cx="2560320" cy="320040"/>
          </a:xfrm>
          <a:prstGeom prst="rect">
            <a:avLst/>
          </a:prstGeom>
          <a:noFill/>
        </p:spPr>
        <p:txBody>
          <a:bodyPr wrap="square" rtlCol="0" anchor="ctr"/>
          <a:lstStyle/>
          <a:p>
            <a:pPr marL="0" indent="0">
              <a:buNone/>
            </a:pPr>
            <a:r>
              <a:rPr lang="en-US" sz="850" dirty="0">
                <a:solidFill>
                  <a:srgbClr val="0D1F15"/>
                </a:solidFill>
              </a:rPr>
              <a:t>✓  NSSF acquires strategic equity stake in OwnIt Uganda Ltd.</a:t>
            </a:r>
            <a:endParaRPr lang="en-US" sz="850" dirty="0"/>
          </a:p>
        </p:txBody>
      </p:sp>
      <p:sp>
        <p:nvSpPr>
          <p:cNvPr id="40" name="Text 38"/>
          <p:cNvSpPr/>
          <p:nvPr/>
        </p:nvSpPr>
        <p:spPr>
          <a:xfrm>
            <a:off x="6236208" y="2770632"/>
            <a:ext cx="2560320" cy="320040"/>
          </a:xfrm>
          <a:prstGeom prst="rect">
            <a:avLst/>
          </a:prstGeom>
          <a:noFill/>
        </p:spPr>
        <p:txBody>
          <a:bodyPr wrap="square" rtlCol="0" anchor="ctr"/>
          <a:lstStyle/>
          <a:p>
            <a:pPr marL="0" indent="0">
              <a:buNone/>
            </a:pPr>
            <a:r>
              <a:rPr lang="en-US" sz="850" dirty="0">
                <a:solidFill>
                  <a:srgbClr val="0D1F15"/>
                </a:solidFill>
              </a:rPr>
              <a:t>✓  NSSF's own real estate &amp; bond portfolio listed on OwnIt for member co-investment</a:t>
            </a:r>
            <a:endParaRPr lang="en-US" sz="850" dirty="0"/>
          </a:p>
        </p:txBody>
      </p:sp>
      <p:sp>
        <p:nvSpPr>
          <p:cNvPr id="41" name="Text 39"/>
          <p:cNvSpPr/>
          <p:nvPr/>
        </p:nvSpPr>
        <p:spPr>
          <a:xfrm>
            <a:off x="6236208" y="3118104"/>
            <a:ext cx="2560320" cy="320040"/>
          </a:xfrm>
          <a:prstGeom prst="rect">
            <a:avLst/>
          </a:prstGeom>
          <a:noFill/>
        </p:spPr>
        <p:txBody>
          <a:bodyPr wrap="square" rtlCol="0" anchor="ctr"/>
          <a:lstStyle/>
          <a:p>
            <a:pPr marL="0" indent="0">
              <a:buNone/>
            </a:pPr>
            <a:r>
              <a:rPr lang="en-US" sz="850" dirty="0">
                <a:solidFill>
                  <a:srgbClr val="0D1F15"/>
                </a:solidFill>
              </a:rPr>
              <a:t>✓  OwnIt becomes the digital voluntary investment arm of NSSF's product portfolio</a:t>
            </a:r>
            <a:endParaRPr lang="en-US" sz="850" dirty="0"/>
          </a:p>
        </p:txBody>
      </p:sp>
      <p:sp>
        <p:nvSpPr>
          <p:cNvPr id="42" name="Text 40"/>
          <p:cNvSpPr/>
          <p:nvPr/>
        </p:nvSpPr>
        <p:spPr>
          <a:xfrm>
            <a:off x="6236208" y="3465576"/>
            <a:ext cx="2560320" cy="320040"/>
          </a:xfrm>
          <a:prstGeom prst="rect">
            <a:avLst/>
          </a:prstGeom>
          <a:noFill/>
        </p:spPr>
        <p:txBody>
          <a:bodyPr wrap="square" rtlCol="0" anchor="ctr"/>
          <a:lstStyle/>
          <a:p>
            <a:pPr marL="0" indent="0">
              <a:buNone/>
            </a:pPr>
            <a:r>
              <a:rPr lang="en-US" sz="850" dirty="0">
                <a:solidFill>
                  <a:srgbClr val="0D1F15"/>
                </a:solidFill>
              </a:rPr>
              <a:t>✓  Joint URBRA + CMA regulatory framework for 'Fractional Asset Investment' category</a:t>
            </a:r>
            <a:endParaRPr lang="en-US" sz="850" dirty="0"/>
          </a:p>
        </p:txBody>
      </p:sp>
      <p:sp>
        <p:nvSpPr>
          <p:cNvPr id="43" name="Text 41"/>
          <p:cNvSpPr/>
          <p:nvPr/>
        </p:nvSpPr>
        <p:spPr>
          <a:xfrm>
            <a:off x="6236208" y="3813048"/>
            <a:ext cx="2560320" cy="320040"/>
          </a:xfrm>
          <a:prstGeom prst="rect">
            <a:avLst/>
          </a:prstGeom>
          <a:noFill/>
        </p:spPr>
        <p:txBody>
          <a:bodyPr wrap="square" rtlCol="0" anchor="ctr"/>
          <a:lstStyle/>
          <a:p>
            <a:pPr marL="0" indent="0">
              <a:buNone/>
            </a:pPr>
            <a:r>
              <a:rPr lang="en-US" sz="850" dirty="0">
                <a:solidFill>
                  <a:srgbClr val="0D1F15"/>
                </a:solidFill>
              </a:rPr>
              <a:t>✓  East Africa expansion (Kenya, Tanzania, Rwanda) co-piloted by NSSF and OwnIt</a:t>
            </a:r>
            <a:endParaRPr lang="en-US" sz="850" dirty="0"/>
          </a:p>
        </p:txBody>
      </p:sp>
      <p:sp>
        <p:nvSpPr>
          <p:cNvPr id="44" name="Shape 42"/>
          <p:cNvSpPr/>
          <p:nvPr/>
        </p:nvSpPr>
        <p:spPr>
          <a:xfrm>
            <a:off x="6126480" y="4389120"/>
            <a:ext cx="2788920" cy="256032"/>
          </a:xfrm>
          <a:prstGeom prst="rect">
            <a:avLst/>
          </a:prstGeom>
          <a:solidFill>
            <a:srgbClr val="F4F9F5"/>
          </a:solidFill>
        </p:spPr>
      </p:sp>
      <p:sp>
        <p:nvSpPr>
          <p:cNvPr id="45" name="Text 43"/>
          <p:cNvSpPr/>
          <p:nvPr/>
        </p:nvSpPr>
        <p:spPr>
          <a:xfrm>
            <a:off x="6217920" y="4389120"/>
            <a:ext cx="2633472" cy="256032"/>
          </a:xfrm>
          <a:prstGeom prst="rect">
            <a:avLst/>
          </a:prstGeom>
          <a:noFill/>
        </p:spPr>
        <p:txBody>
          <a:bodyPr wrap="square" rtlCol="0" anchor="ctr"/>
          <a:lstStyle/>
          <a:p>
            <a:pPr marL="0" indent="0">
              <a:buNone/>
            </a:pPr>
            <a:r>
              <a:rPr lang="en-US" sz="800" b="1" dirty="0">
                <a:solidFill>
                  <a:srgbClr val="C17F00"/>
                </a:solidFill>
              </a:rPr>
              <a:t>Capital required: NSSF equity investment (amount to be negotiated)</a:t>
            </a:r>
            <a:endParaRPr lang="en-US" sz="800" dirty="0"/>
          </a:p>
        </p:txBody>
      </p:sp>
      <p:sp>
        <p:nvSpPr>
          <p:cNvPr id="46" name="Shape 44"/>
          <p:cNvSpPr/>
          <p:nvPr/>
        </p:nvSpPr>
        <p:spPr>
          <a:xfrm>
            <a:off x="6126480" y="4663440"/>
            <a:ext cx="2788920" cy="384048"/>
          </a:xfrm>
          <a:prstGeom prst="rect">
            <a:avLst/>
          </a:prstGeom>
          <a:solidFill>
            <a:srgbClr val="0F4D2B"/>
          </a:solidFill>
        </p:spPr>
      </p:sp>
      <p:sp>
        <p:nvSpPr>
          <p:cNvPr id="47" name="Text 45"/>
          <p:cNvSpPr/>
          <p:nvPr/>
        </p:nvSpPr>
        <p:spPr>
          <a:xfrm>
            <a:off x="6199632" y="4663440"/>
            <a:ext cx="2651760" cy="384048"/>
          </a:xfrm>
          <a:prstGeom prst="rect">
            <a:avLst/>
          </a:prstGeom>
          <a:noFill/>
        </p:spPr>
        <p:txBody>
          <a:bodyPr wrap="square" rtlCol="0" anchor="ctr"/>
          <a:lstStyle/>
          <a:p>
            <a:pPr marL="0" indent="0">
              <a:buNone/>
            </a:pPr>
            <a:r>
              <a:rPr lang="en-US" sz="800" dirty="0">
                <a:solidFill>
                  <a:srgbClr val="C17F00"/>
                </a:solidFill>
              </a:rPr>
              <a:t>🎯  Month 36: 500,000+ users  |  500,000+ NSSF members  |  UGX 4.2B+ NSSF annual revenue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COMPETITIVE LANDSCAPE</a:t>
            </a:r>
            <a:endParaRPr lang="en-US" sz="1100" dirty="0"/>
          </a:p>
        </p:txBody>
      </p:sp>
      <p:sp>
        <p:nvSpPr>
          <p:cNvPr id="4" name="Text 2"/>
          <p:cNvSpPr/>
          <p:nvPr/>
        </p:nvSpPr>
        <p:spPr>
          <a:xfrm>
            <a:off x="457200" y="749808"/>
            <a:ext cx="8229600" cy="530352"/>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Greenfield market. No direct competitor in Uganda's multi-asset fractional space.</a:t>
            </a:r>
            <a:endParaRPr lang="en-US" sz="2200" dirty="0"/>
          </a:p>
        </p:txBody>
      </p:sp>
      <p:sp>
        <p:nvSpPr>
          <p:cNvPr id="5" name="Shape 3"/>
          <p:cNvSpPr/>
          <p:nvPr/>
        </p:nvSpPr>
        <p:spPr>
          <a:xfrm>
            <a:off x="347472" y="1389888"/>
            <a:ext cx="1883664" cy="384048"/>
          </a:xfrm>
          <a:prstGeom prst="rect">
            <a:avLst/>
          </a:prstGeom>
          <a:solidFill>
            <a:srgbClr val="0F4D2B"/>
          </a:solidFill>
        </p:spPr>
      </p:sp>
      <p:sp>
        <p:nvSpPr>
          <p:cNvPr id="6" name="Text 4"/>
          <p:cNvSpPr/>
          <p:nvPr/>
        </p:nvSpPr>
        <p:spPr>
          <a:xfrm>
            <a:off x="393192" y="1389888"/>
            <a:ext cx="1837944" cy="384048"/>
          </a:xfrm>
          <a:prstGeom prst="rect">
            <a:avLst/>
          </a:prstGeom>
          <a:noFill/>
        </p:spPr>
        <p:txBody>
          <a:bodyPr wrap="square" rtlCol="0" anchor="ctr"/>
          <a:lstStyle/>
          <a:p>
            <a:pPr marL="0" indent="0" algn="l">
              <a:buNone/>
            </a:pPr>
            <a:r>
              <a:rPr lang="en-US" sz="1000" b="1" dirty="0">
                <a:solidFill>
                  <a:srgbClr val="FFFFFF"/>
                </a:solidFill>
              </a:rPr>
              <a:t>Feature</a:t>
            </a:r>
            <a:endParaRPr lang="en-US" sz="1000" dirty="0"/>
          </a:p>
        </p:txBody>
      </p:sp>
      <p:sp>
        <p:nvSpPr>
          <p:cNvPr id="7" name="Shape 5"/>
          <p:cNvSpPr/>
          <p:nvPr/>
        </p:nvSpPr>
        <p:spPr>
          <a:xfrm>
            <a:off x="2286000" y="1389888"/>
            <a:ext cx="1664208" cy="384048"/>
          </a:xfrm>
          <a:prstGeom prst="rect">
            <a:avLst/>
          </a:prstGeom>
          <a:solidFill>
            <a:srgbClr val="1A7A45"/>
          </a:solidFill>
        </p:spPr>
      </p:sp>
      <p:sp>
        <p:nvSpPr>
          <p:cNvPr id="8" name="Text 6"/>
          <p:cNvSpPr/>
          <p:nvPr/>
        </p:nvSpPr>
        <p:spPr>
          <a:xfrm>
            <a:off x="2331720" y="1389888"/>
            <a:ext cx="1618488" cy="384048"/>
          </a:xfrm>
          <a:prstGeom prst="rect">
            <a:avLst/>
          </a:prstGeom>
          <a:noFill/>
        </p:spPr>
        <p:txBody>
          <a:bodyPr wrap="square" rtlCol="0" anchor="ctr"/>
          <a:lstStyle/>
          <a:p>
            <a:pPr marL="0" indent="0" algn="ctr">
              <a:buNone/>
            </a:pPr>
            <a:r>
              <a:rPr lang="en-US" sz="950" b="1" dirty="0">
                <a:solidFill>
                  <a:srgbClr val="FFFFFF"/>
                </a:solidFill>
              </a:rPr>
              <a:t>OwnIt Uganda</a:t>
            </a:r>
            <a:endParaRPr lang="en-US" sz="950" dirty="0"/>
          </a:p>
        </p:txBody>
      </p:sp>
      <p:sp>
        <p:nvSpPr>
          <p:cNvPr id="9" name="Shape 7"/>
          <p:cNvSpPr/>
          <p:nvPr/>
        </p:nvSpPr>
        <p:spPr>
          <a:xfrm>
            <a:off x="4005072" y="1389888"/>
            <a:ext cx="1170432" cy="384048"/>
          </a:xfrm>
          <a:prstGeom prst="rect">
            <a:avLst/>
          </a:prstGeom>
          <a:solidFill>
            <a:srgbClr val="0F4D2B"/>
          </a:solidFill>
        </p:spPr>
      </p:sp>
      <p:sp>
        <p:nvSpPr>
          <p:cNvPr id="10" name="Text 8"/>
          <p:cNvSpPr/>
          <p:nvPr/>
        </p:nvSpPr>
        <p:spPr>
          <a:xfrm>
            <a:off x="4050792" y="1389888"/>
            <a:ext cx="1124712" cy="384048"/>
          </a:xfrm>
          <a:prstGeom prst="rect">
            <a:avLst/>
          </a:prstGeom>
          <a:noFill/>
        </p:spPr>
        <p:txBody>
          <a:bodyPr wrap="square" rtlCol="0" anchor="ctr"/>
          <a:lstStyle/>
          <a:p>
            <a:pPr marL="0" indent="0" algn="ctr">
              <a:buNone/>
            </a:pPr>
            <a:r>
              <a:rPr lang="en-US" sz="950" b="1" dirty="0">
                <a:solidFill>
                  <a:srgbClr val="FFFFFF"/>
                </a:solidFill>
              </a:rPr>
              <a:t>Unit Trusts</a:t>
            </a:r>
            <a:endParaRPr lang="en-US" sz="950" dirty="0"/>
          </a:p>
        </p:txBody>
      </p:sp>
      <p:sp>
        <p:nvSpPr>
          <p:cNvPr id="11" name="Shape 9"/>
          <p:cNvSpPr/>
          <p:nvPr/>
        </p:nvSpPr>
        <p:spPr>
          <a:xfrm>
            <a:off x="5230368" y="1389888"/>
            <a:ext cx="1051560" cy="384048"/>
          </a:xfrm>
          <a:prstGeom prst="rect">
            <a:avLst/>
          </a:prstGeom>
          <a:solidFill>
            <a:srgbClr val="0F4D2B"/>
          </a:solidFill>
        </p:spPr>
      </p:sp>
      <p:sp>
        <p:nvSpPr>
          <p:cNvPr id="12" name="Text 10"/>
          <p:cNvSpPr/>
          <p:nvPr/>
        </p:nvSpPr>
        <p:spPr>
          <a:xfrm>
            <a:off x="5276088" y="1389888"/>
            <a:ext cx="1005840" cy="384048"/>
          </a:xfrm>
          <a:prstGeom prst="rect">
            <a:avLst/>
          </a:prstGeom>
          <a:noFill/>
        </p:spPr>
        <p:txBody>
          <a:bodyPr wrap="square" rtlCol="0" anchor="ctr"/>
          <a:lstStyle/>
          <a:p>
            <a:pPr marL="0" indent="0" algn="ctr">
              <a:buNone/>
            </a:pPr>
            <a:r>
              <a:rPr lang="en-US" sz="950" b="1" dirty="0">
                <a:solidFill>
                  <a:srgbClr val="FFFFFF"/>
                </a:solidFill>
              </a:rPr>
              <a:t>SACCOs</a:t>
            </a:r>
            <a:endParaRPr lang="en-US" sz="950" dirty="0"/>
          </a:p>
        </p:txBody>
      </p:sp>
      <p:sp>
        <p:nvSpPr>
          <p:cNvPr id="13" name="Shape 11"/>
          <p:cNvSpPr/>
          <p:nvPr/>
        </p:nvSpPr>
        <p:spPr>
          <a:xfrm>
            <a:off x="6327648" y="1389888"/>
            <a:ext cx="1188720" cy="384048"/>
          </a:xfrm>
          <a:prstGeom prst="rect">
            <a:avLst/>
          </a:prstGeom>
          <a:solidFill>
            <a:srgbClr val="0F4D2B"/>
          </a:solidFill>
        </p:spPr>
      </p:sp>
      <p:sp>
        <p:nvSpPr>
          <p:cNvPr id="14" name="Text 12"/>
          <p:cNvSpPr/>
          <p:nvPr/>
        </p:nvSpPr>
        <p:spPr>
          <a:xfrm>
            <a:off x="6373368" y="1389888"/>
            <a:ext cx="1143000" cy="384048"/>
          </a:xfrm>
          <a:prstGeom prst="rect">
            <a:avLst/>
          </a:prstGeom>
          <a:noFill/>
        </p:spPr>
        <p:txBody>
          <a:bodyPr wrap="square" rtlCol="0" anchor="ctr"/>
          <a:lstStyle/>
          <a:p>
            <a:pPr marL="0" indent="0" algn="ctr">
              <a:buNone/>
            </a:pPr>
            <a:r>
              <a:rPr lang="en-US" sz="950" b="1" dirty="0">
                <a:solidFill>
                  <a:srgbClr val="FFFFFF"/>
                </a:solidFill>
              </a:rPr>
              <a:t>NSSF (Current)</a:t>
            </a:r>
            <a:endParaRPr lang="en-US" sz="950" dirty="0"/>
          </a:p>
        </p:txBody>
      </p:sp>
      <p:sp>
        <p:nvSpPr>
          <p:cNvPr id="15" name="Shape 13"/>
          <p:cNvSpPr/>
          <p:nvPr/>
        </p:nvSpPr>
        <p:spPr>
          <a:xfrm>
            <a:off x="7571232" y="1389888"/>
            <a:ext cx="1234440" cy="384048"/>
          </a:xfrm>
          <a:prstGeom prst="rect">
            <a:avLst/>
          </a:prstGeom>
          <a:solidFill>
            <a:srgbClr val="0F4D2B"/>
          </a:solidFill>
        </p:spPr>
      </p:sp>
      <p:sp>
        <p:nvSpPr>
          <p:cNvPr id="16" name="Text 14"/>
          <p:cNvSpPr/>
          <p:nvPr/>
        </p:nvSpPr>
        <p:spPr>
          <a:xfrm>
            <a:off x="7616952" y="1389888"/>
            <a:ext cx="1188720" cy="384048"/>
          </a:xfrm>
          <a:prstGeom prst="rect">
            <a:avLst/>
          </a:prstGeom>
          <a:noFill/>
        </p:spPr>
        <p:txBody>
          <a:bodyPr wrap="square" rtlCol="0" anchor="ctr"/>
          <a:lstStyle/>
          <a:p>
            <a:pPr marL="0" indent="0" algn="ctr">
              <a:buNone/>
            </a:pPr>
            <a:r>
              <a:rPr lang="en-US" sz="950" b="1" dirty="0">
                <a:solidFill>
                  <a:srgbClr val="FFFFFF"/>
                </a:solidFill>
              </a:rPr>
              <a:t>USE Broker</a:t>
            </a:r>
            <a:endParaRPr lang="en-US" sz="950" dirty="0"/>
          </a:p>
        </p:txBody>
      </p:sp>
      <p:sp>
        <p:nvSpPr>
          <p:cNvPr id="17" name="Shape 15"/>
          <p:cNvSpPr/>
          <p:nvPr/>
        </p:nvSpPr>
        <p:spPr>
          <a:xfrm>
            <a:off x="347472" y="1810512"/>
            <a:ext cx="8449056" cy="274320"/>
          </a:xfrm>
          <a:prstGeom prst="rect">
            <a:avLst/>
          </a:prstGeom>
          <a:solidFill>
            <a:srgbClr val="FFFFFF"/>
          </a:solidFill>
        </p:spPr>
      </p:sp>
      <p:sp>
        <p:nvSpPr>
          <p:cNvPr id="18" name="Text 16"/>
          <p:cNvSpPr/>
          <p:nvPr/>
        </p:nvSpPr>
        <p:spPr>
          <a:xfrm>
            <a:off x="393192" y="1847088"/>
            <a:ext cx="1837944" cy="201168"/>
          </a:xfrm>
          <a:prstGeom prst="rect">
            <a:avLst/>
          </a:prstGeom>
          <a:noFill/>
        </p:spPr>
        <p:txBody>
          <a:bodyPr wrap="square" rtlCol="0" anchor="ctr"/>
          <a:lstStyle/>
          <a:p>
            <a:pPr marL="0" indent="0" algn="l">
              <a:buNone/>
            </a:pPr>
            <a:r>
              <a:rPr lang="en-US" sz="950" dirty="0">
                <a:solidFill>
                  <a:srgbClr val="0D1F15"/>
                </a:solidFill>
              </a:rPr>
              <a:t>Min. Entry</a:t>
            </a:r>
            <a:endParaRPr lang="en-US" sz="950" dirty="0"/>
          </a:p>
        </p:txBody>
      </p:sp>
      <p:sp>
        <p:nvSpPr>
          <p:cNvPr id="19" name="Text 17"/>
          <p:cNvSpPr/>
          <p:nvPr/>
        </p:nvSpPr>
        <p:spPr>
          <a:xfrm>
            <a:off x="2331720" y="1847088"/>
            <a:ext cx="1618488" cy="201168"/>
          </a:xfrm>
          <a:prstGeom prst="rect">
            <a:avLst/>
          </a:prstGeom>
          <a:noFill/>
        </p:spPr>
        <p:txBody>
          <a:bodyPr wrap="square" rtlCol="0" anchor="ctr"/>
          <a:lstStyle/>
          <a:p>
            <a:pPr marL="0" indent="0" algn="ctr">
              <a:buNone/>
            </a:pPr>
            <a:r>
              <a:rPr lang="en-US" sz="950" b="1" dirty="0">
                <a:solidFill>
                  <a:srgbClr val="1A7A45"/>
                </a:solidFill>
              </a:rPr>
              <a:t>UGX 50,000</a:t>
            </a:r>
            <a:endParaRPr lang="en-US" sz="950" dirty="0"/>
          </a:p>
        </p:txBody>
      </p:sp>
      <p:sp>
        <p:nvSpPr>
          <p:cNvPr id="20" name="Text 18"/>
          <p:cNvSpPr/>
          <p:nvPr/>
        </p:nvSpPr>
        <p:spPr>
          <a:xfrm>
            <a:off x="4050792" y="1847088"/>
            <a:ext cx="1124712" cy="201168"/>
          </a:xfrm>
          <a:prstGeom prst="rect">
            <a:avLst/>
          </a:prstGeom>
          <a:noFill/>
        </p:spPr>
        <p:txBody>
          <a:bodyPr wrap="square" rtlCol="0" anchor="ctr"/>
          <a:lstStyle/>
          <a:p>
            <a:pPr marL="0" indent="0" algn="ctr">
              <a:buNone/>
            </a:pPr>
            <a:r>
              <a:rPr lang="en-US" sz="950" dirty="0">
                <a:solidFill>
                  <a:srgbClr val="0D1F15"/>
                </a:solidFill>
              </a:rPr>
              <a:t>UGX 100K+</a:t>
            </a:r>
            <a:endParaRPr lang="en-US" sz="950" dirty="0"/>
          </a:p>
        </p:txBody>
      </p:sp>
      <p:sp>
        <p:nvSpPr>
          <p:cNvPr id="21" name="Text 19"/>
          <p:cNvSpPr/>
          <p:nvPr/>
        </p:nvSpPr>
        <p:spPr>
          <a:xfrm>
            <a:off x="5276088" y="1847088"/>
            <a:ext cx="1005840" cy="201168"/>
          </a:xfrm>
          <a:prstGeom prst="rect">
            <a:avLst/>
          </a:prstGeom>
          <a:noFill/>
        </p:spPr>
        <p:txBody>
          <a:bodyPr wrap="square" rtlCol="0" anchor="ctr"/>
          <a:lstStyle/>
          <a:p>
            <a:pPr marL="0" indent="0" algn="ctr">
              <a:buNone/>
            </a:pPr>
            <a:r>
              <a:rPr lang="en-US" sz="950" dirty="0">
                <a:solidFill>
                  <a:srgbClr val="0D1F15"/>
                </a:solidFill>
              </a:rPr>
              <a:t>UGX 20K</a:t>
            </a:r>
            <a:endParaRPr lang="en-US" sz="950" dirty="0"/>
          </a:p>
        </p:txBody>
      </p:sp>
      <p:sp>
        <p:nvSpPr>
          <p:cNvPr id="22" name="Text 20"/>
          <p:cNvSpPr/>
          <p:nvPr/>
        </p:nvSpPr>
        <p:spPr>
          <a:xfrm>
            <a:off x="6373368" y="1847088"/>
            <a:ext cx="1143000" cy="201168"/>
          </a:xfrm>
          <a:prstGeom prst="rect">
            <a:avLst/>
          </a:prstGeom>
          <a:noFill/>
        </p:spPr>
        <p:txBody>
          <a:bodyPr wrap="square" rtlCol="0" anchor="ctr"/>
          <a:lstStyle/>
          <a:p>
            <a:pPr marL="0" indent="0" algn="ctr">
              <a:buNone/>
            </a:pPr>
            <a:r>
              <a:rPr lang="en-US" sz="950" dirty="0">
                <a:solidFill>
                  <a:srgbClr val="0D1F15"/>
                </a:solidFill>
              </a:rPr>
              <a:t>Salary %</a:t>
            </a:r>
            <a:endParaRPr lang="en-US" sz="950" dirty="0"/>
          </a:p>
        </p:txBody>
      </p:sp>
      <p:sp>
        <p:nvSpPr>
          <p:cNvPr id="23" name="Text 21"/>
          <p:cNvSpPr/>
          <p:nvPr/>
        </p:nvSpPr>
        <p:spPr>
          <a:xfrm>
            <a:off x="7616952" y="1847088"/>
            <a:ext cx="1188720" cy="201168"/>
          </a:xfrm>
          <a:prstGeom prst="rect">
            <a:avLst/>
          </a:prstGeom>
          <a:noFill/>
        </p:spPr>
        <p:txBody>
          <a:bodyPr wrap="square" rtlCol="0" anchor="ctr"/>
          <a:lstStyle/>
          <a:p>
            <a:pPr marL="0" indent="0" algn="ctr">
              <a:buNone/>
            </a:pPr>
            <a:r>
              <a:rPr lang="en-US" sz="950" dirty="0">
                <a:solidFill>
                  <a:srgbClr val="0D1F15"/>
                </a:solidFill>
              </a:rPr>
              <a:t>UGX 1M+</a:t>
            </a:r>
            <a:endParaRPr lang="en-US" sz="950" dirty="0"/>
          </a:p>
        </p:txBody>
      </p:sp>
      <p:sp>
        <p:nvSpPr>
          <p:cNvPr id="24" name="Shape 22"/>
          <p:cNvSpPr/>
          <p:nvPr/>
        </p:nvSpPr>
        <p:spPr>
          <a:xfrm>
            <a:off x="347472" y="2112264"/>
            <a:ext cx="8449056" cy="274320"/>
          </a:xfrm>
          <a:prstGeom prst="rect">
            <a:avLst/>
          </a:prstGeom>
          <a:solidFill>
            <a:srgbClr val="F4F9F5"/>
          </a:solidFill>
        </p:spPr>
      </p:sp>
      <p:sp>
        <p:nvSpPr>
          <p:cNvPr id="25" name="Text 23"/>
          <p:cNvSpPr/>
          <p:nvPr/>
        </p:nvSpPr>
        <p:spPr>
          <a:xfrm>
            <a:off x="393192" y="2148840"/>
            <a:ext cx="1837944" cy="201168"/>
          </a:xfrm>
          <a:prstGeom prst="rect">
            <a:avLst/>
          </a:prstGeom>
          <a:noFill/>
        </p:spPr>
        <p:txBody>
          <a:bodyPr wrap="square" rtlCol="0" anchor="ctr"/>
          <a:lstStyle/>
          <a:p>
            <a:pPr marL="0" indent="0" algn="l">
              <a:buNone/>
            </a:pPr>
            <a:r>
              <a:rPr lang="en-US" sz="950" dirty="0">
                <a:solidFill>
                  <a:srgbClr val="0D1F15"/>
                </a:solidFill>
              </a:rPr>
              <a:t>Asset Classes</a:t>
            </a:r>
            <a:endParaRPr lang="en-US" sz="950" dirty="0"/>
          </a:p>
        </p:txBody>
      </p:sp>
      <p:sp>
        <p:nvSpPr>
          <p:cNvPr id="26" name="Text 24"/>
          <p:cNvSpPr/>
          <p:nvPr/>
        </p:nvSpPr>
        <p:spPr>
          <a:xfrm>
            <a:off x="2331720" y="2148840"/>
            <a:ext cx="1618488" cy="201168"/>
          </a:xfrm>
          <a:prstGeom prst="rect">
            <a:avLst/>
          </a:prstGeom>
          <a:noFill/>
        </p:spPr>
        <p:txBody>
          <a:bodyPr wrap="square" rtlCol="0" anchor="ctr"/>
          <a:lstStyle/>
          <a:p>
            <a:pPr marL="0" indent="0" algn="ctr">
              <a:buNone/>
            </a:pPr>
            <a:r>
              <a:rPr lang="en-US" sz="950" b="1" dirty="0">
                <a:solidFill>
                  <a:srgbClr val="1A7A45"/>
                </a:solidFill>
              </a:rPr>
              <a:t>9 classes</a:t>
            </a:r>
            <a:endParaRPr lang="en-US" sz="950" dirty="0"/>
          </a:p>
        </p:txBody>
      </p:sp>
      <p:sp>
        <p:nvSpPr>
          <p:cNvPr id="27" name="Text 25"/>
          <p:cNvSpPr/>
          <p:nvPr/>
        </p:nvSpPr>
        <p:spPr>
          <a:xfrm>
            <a:off x="4050792" y="2148840"/>
            <a:ext cx="1124712" cy="201168"/>
          </a:xfrm>
          <a:prstGeom prst="rect">
            <a:avLst/>
          </a:prstGeom>
          <a:noFill/>
        </p:spPr>
        <p:txBody>
          <a:bodyPr wrap="square" rtlCol="0" anchor="ctr"/>
          <a:lstStyle/>
          <a:p>
            <a:pPr marL="0" indent="0" algn="ctr">
              <a:buNone/>
            </a:pPr>
            <a:r>
              <a:rPr lang="en-US" sz="950" dirty="0">
                <a:solidFill>
                  <a:srgbClr val="0D1F15"/>
                </a:solidFill>
              </a:rPr>
              <a:t>1–2</a:t>
            </a:r>
            <a:endParaRPr lang="en-US" sz="950" dirty="0"/>
          </a:p>
        </p:txBody>
      </p:sp>
      <p:sp>
        <p:nvSpPr>
          <p:cNvPr id="28" name="Text 26"/>
          <p:cNvSpPr/>
          <p:nvPr/>
        </p:nvSpPr>
        <p:spPr>
          <a:xfrm>
            <a:off x="5276088" y="2148840"/>
            <a:ext cx="1005840" cy="201168"/>
          </a:xfrm>
          <a:prstGeom prst="rect">
            <a:avLst/>
          </a:prstGeom>
          <a:noFill/>
        </p:spPr>
        <p:txBody>
          <a:bodyPr wrap="square" rtlCol="0" anchor="ctr"/>
          <a:lstStyle/>
          <a:p>
            <a:pPr marL="0" indent="0" algn="ctr">
              <a:buNone/>
            </a:pPr>
            <a:r>
              <a:rPr lang="en-US" sz="950" dirty="0">
                <a:solidFill>
                  <a:srgbClr val="0D1F15"/>
                </a:solidFill>
              </a:rPr>
              <a:t>Savings</a:t>
            </a:r>
            <a:endParaRPr lang="en-US" sz="950" dirty="0"/>
          </a:p>
        </p:txBody>
      </p:sp>
      <p:sp>
        <p:nvSpPr>
          <p:cNvPr id="29" name="Text 27"/>
          <p:cNvSpPr/>
          <p:nvPr/>
        </p:nvSpPr>
        <p:spPr>
          <a:xfrm>
            <a:off x="6373368" y="2148840"/>
            <a:ext cx="1143000" cy="201168"/>
          </a:xfrm>
          <a:prstGeom prst="rect">
            <a:avLst/>
          </a:prstGeom>
          <a:noFill/>
        </p:spPr>
        <p:txBody>
          <a:bodyPr wrap="square" rtlCol="0" anchor="ctr"/>
          <a:lstStyle/>
          <a:p>
            <a:pPr marL="0" indent="0" algn="ctr">
              <a:buNone/>
            </a:pPr>
            <a:r>
              <a:rPr lang="en-US" sz="950" dirty="0">
                <a:solidFill>
                  <a:srgbClr val="0D1F15"/>
                </a:solidFill>
              </a:rPr>
              <a:t>1 (pension)</a:t>
            </a:r>
            <a:endParaRPr lang="en-US" sz="950" dirty="0"/>
          </a:p>
        </p:txBody>
      </p:sp>
      <p:sp>
        <p:nvSpPr>
          <p:cNvPr id="30" name="Text 28"/>
          <p:cNvSpPr/>
          <p:nvPr/>
        </p:nvSpPr>
        <p:spPr>
          <a:xfrm>
            <a:off x="7616952" y="2148840"/>
            <a:ext cx="1188720" cy="201168"/>
          </a:xfrm>
          <a:prstGeom prst="rect">
            <a:avLst/>
          </a:prstGeom>
          <a:noFill/>
        </p:spPr>
        <p:txBody>
          <a:bodyPr wrap="square" rtlCol="0" anchor="ctr"/>
          <a:lstStyle/>
          <a:p>
            <a:pPr marL="0" indent="0" algn="ctr">
              <a:buNone/>
            </a:pPr>
            <a:r>
              <a:rPr lang="en-US" sz="950" dirty="0">
                <a:solidFill>
                  <a:srgbClr val="0D1F15"/>
                </a:solidFill>
              </a:rPr>
              <a:t>Stocks only</a:t>
            </a:r>
            <a:endParaRPr lang="en-US" sz="950" dirty="0"/>
          </a:p>
        </p:txBody>
      </p:sp>
      <p:sp>
        <p:nvSpPr>
          <p:cNvPr id="31" name="Shape 29"/>
          <p:cNvSpPr/>
          <p:nvPr/>
        </p:nvSpPr>
        <p:spPr>
          <a:xfrm>
            <a:off x="347472" y="2414016"/>
            <a:ext cx="8449056" cy="274320"/>
          </a:xfrm>
          <a:prstGeom prst="rect">
            <a:avLst/>
          </a:prstGeom>
          <a:solidFill>
            <a:srgbClr val="FFFFFF"/>
          </a:solidFill>
        </p:spPr>
      </p:sp>
      <p:sp>
        <p:nvSpPr>
          <p:cNvPr id="32" name="Text 30"/>
          <p:cNvSpPr/>
          <p:nvPr/>
        </p:nvSpPr>
        <p:spPr>
          <a:xfrm>
            <a:off x="393192" y="2450592"/>
            <a:ext cx="1837944" cy="201168"/>
          </a:xfrm>
          <a:prstGeom prst="rect">
            <a:avLst/>
          </a:prstGeom>
          <a:noFill/>
        </p:spPr>
        <p:txBody>
          <a:bodyPr wrap="square" rtlCol="0" anchor="ctr"/>
          <a:lstStyle/>
          <a:p>
            <a:pPr marL="0" indent="0" algn="l">
              <a:buNone/>
            </a:pPr>
            <a:r>
              <a:rPr lang="en-US" sz="950" dirty="0">
                <a:solidFill>
                  <a:srgbClr val="0D1F15"/>
                </a:solidFill>
              </a:rPr>
              <a:t>Payout Speed</a:t>
            </a:r>
            <a:endParaRPr lang="en-US" sz="950" dirty="0"/>
          </a:p>
        </p:txBody>
      </p:sp>
      <p:sp>
        <p:nvSpPr>
          <p:cNvPr id="33" name="Text 31"/>
          <p:cNvSpPr/>
          <p:nvPr/>
        </p:nvSpPr>
        <p:spPr>
          <a:xfrm>
            <a:off x="2331720" y="2450592"/>
            <a:ext cx="1618488" cy="201168"/>
          </a:xfrm>
          <a:prstGeom prst="rect">
            <a:avLst/>
          </a:prstGeom>
          <a:noFill/>
        </p:spPr>
        <p:txBody>
          <a:bodyPr wrap="square" rtlCol="0" anchor="ctr"/>
          <a:lstStyle/>
          <a:p>
            <a:pPr marL="0" indent="0" algn="ctr">
              <a:buNone/>
            </a:pPr>
            <a:r>
              <a:rPr lang="en-US" sz="950" b="1" dirty="0">
                <a:solidFill>
                  <a:srgbClr val="1A7A45"/>
                </a:solidFill>
              </a:rPr>
              <a:t>30–365 days</a:t>
            </a:r>
            <a:endParaRPr lang="en-US" sz="950" dirty="0"/>
          </a:p>
        </p:txBody>
      </p:sp>
      <p:sp>
        <p:nvSpPr>
          <p:cNvPr id="34" name="Text 32"/>
          <p:cNvSpPr/>
          <p:nvPr/>
        </p:nvSpPr>
        <p:spPr>
          <a:xfrm>
            <a:off x="4050792" y="2450592"/>
            <a:ext cx="1124712" cy="201168"/>
          </a:xfrm>
          <a:prstGeom prst="rect">
            <a:avLst/>
          </a:prstGeom>
          <a:noFill/>
        </p:spPr>
        <p:txBody>
          <a:bodyPr wrap="square" rtlCol="0" anchor="ctr"/>
          <a:lstStyle/>
          <a:p>
            <a:pPr marL="0" indent="0" algn="ctr">
              <a:buNone/>
            </a:pPr>
            <a:r>
              <a:rPr lang="en-US" sz="950" dirty="0">
                <a:solidFill>
                  <a:srgbClr val="0D1F15"/>
                </a:solidFill>
              </a:rPr>
              <a:t>Quarterly</a:t>
            </a:r>
            <a:endParaRPr lang="en-US" sz="950" dirty="0"/>
          </a:p>
        </p:txBody>
      </p:sp>
      <p:sp>
        <p:nvSpPr>
          <p:cNvPr id="35" name="Text 33"/>
          <p:cNvSpPr/>
          <p:nvPr/>
        </p:nvSpPr>
        <p:spPr>
          <a:xfrm>
            <a:off x="5276088" y="2450592"/>
            <a:ext cx="1005840" cy="201168"/>
          </a:xfrm>
          <a:prstGeom prst="rect">
            <a:avLst/>
          </a:prstGeom>
          <a:noFill/>
        </p:spPr>
        <p:txBody>
          <a:bodyPr wrap="square" rtlCol="0" anchor="ctr"/>
          <a:lstStyle/>
          <a:p>
            <a:pPr marL="0" indent="0" algn="ctr">
              <a:buNone/>
            </a:pPr>
            <a:r>
              <a:rPr lang="en-US" sz="950" dirty="0">
                <a:solidFill>
                  <a:srgbClr val="0D1F15"/>
                </a:solidFill>
              </a:rPr>
              <a:t>Annual</a:t>
            </a:r>
            <a:endParaRPr lang="en-US" sz="950" dirty="0"/>
          </a:p>
        </p:txBody>
      </p:sp>
      <p:sp>
        <p:nvSpPr>
          <p:cNvPr id="36" name="Text 34"/>
          <p:cNvSpPr/>
          <p:nvPr/>
        </p:nvSpPr>
        <p:spPr>
          <a:xfrm>
            <a:off x="6373368" y="2450592"/>
            <a:ext cx="1143000" cy="201168"/>
          </a:xfrm>
          <a:prstGeom prst="rect">
            <a:avLst/>
          </a:prstGeom>
          <a:noFill/>
        </p:spPr>
        <p:txBody>
          <a:bodyPr wrap="square" rtlCol="0" anchor="ctr"/>
          <a:lstStyle/>
          <a:p>
            <a:pPr marL="0" indent="0" algn="ctr">
              <a:buNone/>
            </a:pPr>
            <a:r>
              <a:rPr lang="en-US" sz="950" dirty="0">
                <a:solidFill>
                  <a:srgbClr val="0D1F15"/>
                </a:solidFill>
              </a:rPr>
              <a:t>Age 55</a:t>
            </a:r>
            <a:endParaRPr lang="en-US" sz="950" dirty="0"/>
          </a:p>
        </p:txBody>
      </p:sp>
      <p:sp>
        <p:nvSpPr>
          <p:cNvPr id="37" name="Text 35"/>
          <p:cNvSpPr/>
          <p:nvPr/>
        </p:nvSpPr>
        <p:spPr>
          <a:xfrm>
            <a:off x="7616952" y="2450592"/>
            <a:ext cx="1188720" cy="201168"/>
          </a:xfrm>
          <a:prstGeom prst="rect">
            <a:avLst/>
          </a:prstGeom>
          <a:noFill/>
        </p:spPr>
        <p:txBody>
          <a:bodyPr wrap="square" rtlCol="0" anchor="ctr"/>
          <a:lstStyle/>
          <a:p>
            <a:pPr marL="0" indent="0" algn="ctr">
              <a:buNone/>
            </a:pPr>
            <a:r>
              <a:rPr lang="en-US" sz="950" dirty="0">
                <a:solidFill>
                  <a:srgbClr val="0D1F15"/>
                </a:solidFill>
              </a:rPr>
              <a:t>Quarterly+</a:t>
            </a:r>
            <a:endParaRPr lang="en-US" sz="950" dirty="0"/>
          </a:p>
        </p:txBody>
      </p:sp>
      <p:sp>
        <p:nvSpPr>
          <p:cNvPr id="38" name="Shape 36"/>
          <p:cNvSpPr/>
          <p:nvPr/>
        </p:nvSpPr>
        <p:spPr>
          <a:xfrm>
            <a:off x="347472" y="2715768"/>
            <a:ext cx="8449056" cy="274320"/>
          </a:xfrm>
          <a:prstGeom prst="rect">
            <a:avLst/>
          </a:prstGeom>
          <a:solidFill>
            <a:srgbClr val="F4F9F5"/>
          </a:solidFill>
        </p:spPr>
      </p:sp>
      <p:sp>
        <p:nvSpPr>
          <p:cNvPr id="39" name="Text 37"/>
          <p:cNvSpPr/>
          <p:nvPr/>
        </p:nvSpPr>
        <p:spPr>
          <a:xfrm>
            <a:off x="393192" y="2752344"/>
            <a:ext cx="1837944" cy="201168"/>
          </a:xfrm>
          <a:prstGeom prst="rect">
            <a:avLst/>
          </a:prstGeom>
          <a:noFill/>
        </p:spPr>
        <p:txBody>
          <a:bodyPr wrap="square" rtlCol="0" anchor="ctr"/>
          <a:lstStyle/>
          <a:p>
            <a:pPr marL="0" indent="0" algn="l">
              <a:buNone/>
            </a:pPr>
            <a:r>
              <a:rPr lang="en-US" sz="950" dirty="0">
                <a:solidFill>
                  <a:srgbClr val="0D1F15"/>
                </a:solidFill>
              </a:rPr>
              <a:t>Mobile-First (MoMo)</a:t>
            </a:r>
            <a:endParaRPr lang="en-US" sz="950" dirty="0"/>
          </a:p>
        </p:txBody>
      </p:sp>
      <p:sp>
        <p:nvSpPr>
          <p:cNvPr id="40" name="Text 38"/>
          <p:cNvSpPr/>
          <p:nvPr/>
        </p:nvSpPr>
        <p:spPr>
          <a:xfrm>
            <a:off x="2331720" y="2752344"/>
            <a:ext cx="1618488" cy="201168"/>
          </a:xfrm>
          <a:prstGeom prst="rect">
            <a:avLst/>
          </a:prstGeom>
          <a:noFill/>
        </p:spPr>
        <p:txBody>
          <a:bodyPr wrap="square" rtlCol="0" anchor="ctr"/>
          <a:lstStyle/>
          <a:p>
            <a:pPr marL="0" indent="0" algn="ctr">
              <a:buNone/>
            </a:pPr>
            <a:r>
              <a:rPr lang="en-US" sz="950" b="1" dirty="0">
                <a:solidFill>
                  <a:srgbClr val="1A7A45"/>
                </a:solidFill>
              </a:rPr>
              <a:t>✓ Full</a:t>
            </a:r>
            <a:endParaRPr lang="en-US" sz="950" dirty="0"/>
          </a:p>
        </p:txBody>
      </p:sp>
      <p:sp>
        <p:nvSpPr>
          <p:cNvPr id="41" name="Text 39"/>
          <p:cNvSpPr/>
          <p:nvPr/>
        </p:nvSpPr>
        <p:spPr>
          <a:xfrm>
            <a:off x="4050792" y="2752344"/>
            <a:ext cx="1124712" cy="201168"/>
          </a:xfrm>
          <a:prstGeom prst="rect">
            <a:avLst/>
          </a:prstGeom>
          <a:noFill/>
        </p:spPr>
        <p:txBody>
          <a:bodyPr wrap="square" rtlCol="0" anchor="ctr"/>
          <a:lstStyle/>
          <a:p>
            <a:pPr marL="0" indent="0" algn="ctr">
              <a:buNone/>
            </a:pPr>
            <a:r>
              <a:rPr lang="en-US" sz="950" dirty="0">
                <a:solidFill>
                  <a:srgbClr val="AAAAAA"/>
                </a:solidFill>
              </a:rPr>
              <a:t>Partial</a:t>
            </a:r>
            <a:endParaRPr lang="en-US" sz="950" dirty="0"/>
          </a:p>
        </p:txBody>
      </p:sp>
      <p:sp>
        <p:nvSpPr>
          <p:cNvPr id="42" name="Text 40"/>
          <p:cNvSpPr/>
          <p:nvPr/>
        </p:nvSpPr>
        <p:spPr>
          <a:xfrm>
            <a:off x="5276088" y="2752344"/>
            <a:ext cx="100584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43" name="Text 41"/>
          <p:cNvSpPr/>
          <p:nvPr/>
        </p:nvSpPr>
        <p:spPr>
          <a:xfrm>
            <a:off x="6373368" y="2752344"/>
            <a:ext cx="1143000" cy="201168"/>
          </a:xfrm>
          <a:prstGeom prst="rect">
            <a:avLst/>
          </a:prstGeom>
          <a:noFill/>
        </p:spPr>
        <p:txBody>
          <a:bodyPr wrap="square" rtlCol="0" anchor="ctr"/>
          <a:lstStyle/>
          <a:p>
            <a:pPr marL="0" indent="0" algn="ctr">
              <a:buNone/>
            </a:pPr>
            <a:r>
              <a:rPr lang="en-US" sz="950" dirty="0">
                <a:solidFill>
                  <a:srgbClr val="AAAAAA"/>
                </a:solidFill>
              </a:rPr>
              <a:t>Partial</a:t>
            </a:r>
            <a:endParaRPr lang="en-US" sz="950" dirty="0"/>
          </a:p>
        </p:txBody>
      </p:sp>
      <p:sp>
        <p:nvSpPr>
          <p:cNvPr id="44" name="Text 42"/>
          <p:cNvSpPr/>
          <p:nvPr/>
        </p:nvSpPr>
        <p:spPr>
          <a:xfrm>
            <a:off x="7616952" y="2752344"/>
            <a:ext cx="118872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45" name="Shape 43"/>
          <p:cNvSpPr/>
          <p:nvPr/>
        </p:nvSpPr>
        <p:spPr>
          <a:xfrm>
            <a:off x="347472" y="3017520"/>
            <a:ext cx="8449056" cy="274320"/>
          </a:xfrm>
          <a:prstGeom prst="rect">
            <a:avLst/>
          </a:prstGeom>
          <a:solidFill>
            <a:srgbClr val="FFFFFF"/>
          </a:solidFill>
        </p:spPr>
      </p:sp>
      <p:sp>
        <p:nvSpPr>
          <p:cNvPr id="46" name="Text 44"/>
          <p:cNvSpPr/>
          <p:nvPr/>
        </p:nvSpPr>
        <p:spPr>
          <a:xfrm>
            <a:off x="393192" y="3054096"/>
            <a:ext cx="1837944" cy="201168"/>
          </a:xfrm>
          <a:prstGeom prst="rect">
            <a:avLst/>
          </a:prstGeom>
          <a:noFill/>
        </p:spPr>
        <p:txBody>
          <a:bodyPr wrap="square" rtlCol="0" anchor="ctr"/>
          <a:lstStyle/>
          <a:p>
            <a:pPr marL="0" indent="0" algn="l">
              <a:buNone/>
            </a:pPr>
            <a:r>
              <a:rPr lang="en-US" sz="950" dirty="0">
                <a:solidFill>
                  <a:srgbClr val="0D1F15"/>
                </a:solidFill>
              </a:rPr>
              <a:t>Employer Required</a:t>
            </a:r>
            <a:endParaRPr lang="en-US" sz="950" dirty="0"/>
          </a:p>
        </p:txBody>
      </p:sp>
      <p:sp>
        <p:nvSpPr>
          <p:cNvPr id="47" name="Text 45"/>
          <p:cNvSpPr/>
          <p:nvPr/>
        </p:nvSpPr>
        <p:spPr>
          <a:xfrm>
            <a:off x="2331720" y="3054096"/>
            <a:ext cx="1618488" cy="201168"/>
          </a:xfrm>
          <a:prstGeom prst="rect">
            <a:avLst/>
          </a:prstGeom>
          <a:noFill/>
        </p:spPr>
        <p:txBody>
          <a:bodyPr wrap="square" rtlCol="0" anchor="ctr"/>
          <a:lstStyle/>
          <a:p>
            <a:pPr marL="0" indent="0" algn="ctr">
              <a:buNone/>
            </a:pPr>
            <a:r>
              <a:rPr lang="en-US" sz="950" b="1" dirty="0">
                <a:solidFill>
                  <a:srgbClr val="1A7A45"/>
                </a:solidFill>
              </a:rPr>
              <a:t>No</a:t>
            </a:r>
            <a:endParaRPr lang="en-US" sz="950" dirty="0"/>
          </a:p>
        </p:txBody>
      </p:sp>
      <p:sp>
        <p:nvSpPr>
          <p:cNvPr id="48" name="Text 46"/>
          <p:cNvSpPr/>
          <p:nvPr/>
        </p:nvSpPr>
        <p:spPr>
          <a:xfrm>
            <a:off x="4050792" y="3054096"/>
            <a:ext cx="1124712"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49" name="Text 47"/>
          <p:cNvSpPr/>
          <p:nvPr/>
        </p:nvSpPr>
        <p:spPr>
          <a:xfrm>
            <a:off x="5276088" y="3054096"/>
            <a:ext cx="1005840" cy="201168"/>
          </a:xfrm>
          <a:prstGeom prst="rect">
            <a:avLst/>
          </a:prstGeom>
          <a:noFill/>
        </p:spPr>
        <p:txBody>
          <a:bodyPr wrap="square" rtlCol="0" anchor="ctr"/>
          <a:lstStyle/>
          <a:p>
            <a:pPr marL="0" indent="0" algn="ctr">
              <a:buNone/>
            </a:pPr>
            <a:r>
              <a:rPr lang="en-US" sz="950" dirty="0">
                <a:solidFill>
                  <a:srgbClr val="0D1F15"/>
                </a:solidFill>
              </a:rPr>
              <a:t>Group</a:t>
            </a:r>
            <a:endParaRPr lang="en-US" sz="950" dirty="0"/>
          </a:p>
        </p:txBody>
      </p:sp>
      <p:sp>
        <p:nvSpPr>
          <p:cNvPr id="50" name="Text 48"/>
          <p:cNvSpPr/>
          <p:nvPr/>
        </p:nvSpPr>
        <p:spPr>
          <a:xfrm>
            <a:off x="6373368" y="3054096"/>
            <a:ext cx="1143000" cy="201168"/>
          </a:xfrm>
          <a:prstGeom prst="rect">
            <a:avLst/>
          </a:prstGeom>
          <a:noFill/>
        </p:spPr>
        <p:txBody>
          <a:bodyPr wrap="square" rtlCol="0" anchor="ctr"/>
          <a:lstStyle/>
          <a:p>
            <a:pPr marL="0" indent="0" algn="ctr">
              <a:buNone/>
            </a:pPr>
            <a:r>
              <a:rPr lang="en-US" sz="950" dirty="0">
                <a:solidFill>
                  <a:srgbClr val="0D1F15"/>
                </a:solidFill>
              </a:rPr>
              <a:t>Yes</a:t>
            </a:r>
            <a:endParaRPr lang="en-US" sz="950" dirty="0"/>
          </a:p>
        </p:txBody>
      </p:sp>
      <p:sp>
        <p:nvSpPr>
          <p:cNvPr id="51" name="Text 49"/>
          <p:cNvSpPr/>
          <p:nvPr/>
        </p:nvSpPr>
        <p:spPr>
          <a:xfrm>
            <a:off x="7616952" y="3054096"/>
            <a:ext cx="118872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52" name="Shape 50"/>
          <p:cNvSpPr/>
          <p:nvPr/>
        </p:nvSpPr>
        <p:spPr>
          <a:xfrm>
            <a:off x="347472" y="3319272"/>
            <a:ext cx="8449056" cy="274320"/>
          </a:xfrm>
          <a:prstGeom prst="rect">
            <a:avLst/>
          </a:prstGeom>
          <a:solidFill>
            <a:srgbClr val="F4F9F5"/>
          </a:solidFill>
        </p:spPr>
      </p:sp>
      <p:sp>
        <p:nvSpPr>
          <p:cNvPr id="53" name="Text 51"/>
          <p:cNvSpPr/>
          <p:nvPr/>
        </p:nvSpPr>
        <p:spPr>
          <a:xfrm>
            <a:off x="393192" y="3355848"/>
            <a:ext cx="1837944" cy="201168"/>
          </a:xfrm>
          <a:prstGeom prst="rect">
            <a:avLst/>
          </a:prstGeom>
          <a:noFill/>
        </p:spPr>
        <p:txBody>
          <a:bodyPr wrap="square" rtlCol="0" anchor="ctr"/>
          <a:lstStyle/>
          <a:p>
            <a:pPr marL="0" indent="0" algn="l">
              <a:buNone/>
            </a:pPr>
            <a:r>
              <a:rPr lang="en-US" sz="950" dirty="0">
                <a:solidFill>
                  <a:srgbClr val="0D1F15"/>
                </a:solidFill>
              </a:rPr>
              <a:t>Short-Term Option</a:t>
            </a:r>
            <a:endParaRPr lang="en-US" sz="950" dirty="0"/>
          </a:p>
        </p:txBody>
      </p:sp>
      <p:sp>
        <p:nvSpPr>
          <p:cNvPr id="54" name="Text 52"/>
          <p:cNvSpPr/>
          <p:nvPr/>
        </p:nvSpPr>
        <p:spPr>
          <a:xfrm>
            <a:off x="2331720" y="3355848"/>
            <a:ext cx="1618488" cy="201168"/>
          </a:xfrm>
          <a:prstGeom prst="rect">
            <a:avLst/>
          </a:prstGeom>
          <a:noFill/>
        </p:spPr>
        <p:txBody>
          <a:bodyPr wrap="square" rtlCol="0" anchor="ctr"/>
          <a:lstStyle/>
          <a:p>
            <a:pPr marL="0" indent="0" algn="ctr">
              <a:buNone/>
            </a:pPr>
            <a:r>
              <a:rPr lang="en-US" sz="950" b="1" dirty="0">
                <a:solidFill>
                  <a:srgbClr val="1A7A45"/>
                </a:solidFill>
              </a:rPr>
              <a:t>✓ Yes</a:t>
            </a:r>
            <a:endParaRPr lang="en-US" sz="950" dirty="0"/>
          </a:p>
        </p:txBody>
      </p:sp>
      <p:sp>
        <p:nvSpPr>
          <p:cNvPr id="55" name="Text 53"/>
          <p:cNvSpPr/>
          <p:nvPr/>
        </p:nvSpPr>
        <p:spPr>
          <a:xfrm>
            <a:off x="4050792" y="3355848"/>
            <a:ext cx="1124712" cy="201168"/>
          </a:xfrm>
          <a:prstGeom prst="rect">
            <a:avLst/>
          </a:prstGeom>
          <a:noFill/>
        </p:spPr>
        <p:txBody>
          <a:bodyPr wrap="square" rtlCol="0" anchor="ctr"/>
          <a:lstStyle/>
          <a:p>
            <a:pPr marL="0" indent="0" algn="ctr">
              <a:buNone/>
            </a:pPr>
            <a:r>
              <a:rPr lang="en-US" sz="950" dirty="0">
                <a:solidFill>
                  <a:srgbClr val="0D1F15"/>
                </a:solidFill>
              </a:rPr>
              <a:t>Limited</a:t>
            </a:r>
            <a:endParaRPr lang="en-US" sz="950" dirty="0"/>
          </a:p>
        </p:txBody>
      </p:sp>
      <p:sp>
        <p:nvSpPr>
          <p:cNvPr id="56" name="Text 54"/>
          <p:cNvSpPr/>
          <p:nvPr/>
        </p:nvSpPr>
        <p:spPr>
          <a:xfrm>
            <a:off x="5276088" y="3355848"/>
            <a:ext cx="100584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57" name="Text 55"/>
          <p:cNvSpPr/>
          <p:nvPr/>
        </p:nvSpPr>
        <p:spPr>
          <a:xfrm>
            <a:off x="6373368" y="3355848"/>
            <a:ext cx="114300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58" name="Text 56"/>
          <p:cNvSpPr/>
          <p:nvPr/>
        </p:nvSpPr>
        <p:spPr>
          <a:xfrm>
            <a:off x="7616952" y="3355848"/>
            <a:ext cx="118872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59" name="Shape 57"/>
          <p:cNvSpPr/>
          <p:nvPr/>
        </p:nvSpPr>
        <p:spPr>
          <a:xfrm>
            <a:off x="347472" y="3621024"/>
            <a:ext cx="8449056" cy="274320"/>
          </a:xfrm>
          <a:prstGeom prst="rect">
            <a:avLst/>
          </a:prstGeom>
          <a:solidFill>
            <a:srgbClr val="FFFFFF"/>
          </a:solidFill>
        </p:spPr>
      </p:sp>
      <p:sp>
        <p:nvSpPr>
          <p:cNvPr id="60" name="Text 58"/>
          <p:cNvSpPr/>
          <p:nvPr/>
        </p:nvSpPr>
        <p:spPr>
          <a:xfrm>
            <a:off x="393192" y="3657600"/>
            <a:ext cx="1837944" cy="201168"/>
          </a:xfrm>
          <a:prstGeom prst="rect">
            <a:avLst/>
          </a:prstGeom>
          <a:noFill/>
        </p:spPr>
        <p:txBody>
          <a:bodyPr wrap="square" rtlCol="0" anchor="ctr"/>
          <a:lstStyle/>
          <a:p>
            <a:pPr marL="0" indent="0" algn="l">
              <a:buNone/>
            </a:pPr>
            <a:r>
              <a:rPr lang="en-US" sz="950" dirty="0">
                <a:solidFill>
                  <a:srgbClr val="0D1F15"/>
                </a:solidFill>
              </a:rPr>
              <a:t>NSSF Auto-Enrolment</a:t>
            </a:r>
            <a:endParaRPr lang="en-US" sz="950" dirty="0"/>
          </a:p>
        </p:txBody>
      </p:sp>
      <p:sp>
        <p:nvSpPr>
          <p:cNvPr id="61" name="Text 59"/>
          <p:cNvSpPr/>
          <p:nvPr/>
        </p:nvSpPr>
        <p:spPr>
          <a:xfrm>
            <a:off x="2331720" y="3657600"/>
            <a:ext cx="1618488" cy="201168"/>
          </a:xfrm>
          <a:prstGeom prst="rect">
            <a:avLst/>
          </a:prstGeom>
          <a:noFill/>
        </p:spPr>
        <p:txBody>
          <a:bodyPr wrap="square" rtlCol="0" anchor="ctr"/>
          <a:lstStyle/>
          <a:p>
            <a:pPr marL="0" indent="0" algn="ctr">
              <a:buNone/>
            </a:pPr>
            <a:r>
              <a:rPr lang="en-US" sz="950" b="1" dirty="0">
                <a:solidFill>
                  <a:srgbClr val="1A7A45"/>
                </a:solidFill>
              </a:rPr>
              <a:t>✓ Built-in</a:t>
            </a:r>
            <a:endParaRPr lang="en-US" sz="950" dirty="0"/>
          </a:p>
        </p:txBody>
      </p:sp>
      <p:sp>
        <p:nvSpPr>
          <p:cNvPr id="62" name="Text 60"/>
          <p:cNvSpPr/>
          <p:nvPr/>
        </p:nvSpPr>
        <p:spPr>
          <a:xfrm>
            <a:off x="4050792" y="3657600"/>
            <a:ext cx="1124712"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63" name="Text 61"/>
          <p:cNvSpPr/>
          <p:nvPr/>
        </p:nvSpPr>
        <p:spPr>
          <a:xfrm>
            <a:off x="5276088" y="3657600"/>
            <a:ext cx="100584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64" name="Text 62"/>
          <p:cNvSpPr/>
          <p:nvPr/>
        </p:nvSpPr>
        <p:spPr>
          <a:xfrm>
            <a:off x="6373368" y="3657600"/>
            <a:ext cx="1143000" cy="201168"/>
          </a:xfrm>
          <a:prstGeom prst="rect">
            <a:avLst/>
          </a:prstGeom>
          <a:noFill/>
        </p:spPr>
        <p:txBody>
          <a:bodyPr wrap="square" rtlCol="0" anchor="ctr"/>
          <a:lstStyle/>
          <a:p>
            <a:pPr marL="0" indent="0" algn="ctr">
              <a:buNone/>
            </a:pPr>
            <a:r>
              <a:rPr lang="en-US" sz="950" dirty="0">
                <a:solidFill>
                  <a:srgbClr val="0D1F15"/>
                </a:solidFill>
              </a:rPr>
              <a:t>N/A</a:t>
            </a:r>
            <a:endParaRPr lang="en-US" sz="950" dirty="0"/>
          </a:p>
        </p:txBody>
      </p:sp>
      <p:sp>
        <p:nvSpPr>
          <p:cNvPr id="65" name="Text 63"/>
          <p:cNvSpPr/>
          <p:nvPr/>
        </p:nvSpPr>
        <p:spPr>
          <a:xfrm>
            <a:off x="7616952" y="3657600"/>
            <a:ext cx="118872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66" name="Shape 64"/>
          <p:cNvSpPr/>
          <p:nvPr/>
        </p:nvSpPr>
        <p:spPr>
          <a:xfrm>
            <a:off x="347472" y="3922776"/>
            <a:ext cx="8449056" cy="274320"/>
          </a:xfrm>
          <a:prstGeom prst="rect">
            <a:avLst/>
          </a:prstGeom>
          <a:solidFill>
            <a:srgbClr val="F4F9F5"/>
          </a:solidFill>
        </p:spPr>
      </p:sp>
      <p:sp>
        <p:nvSpPr>
          <p:cNvPr id="67" name="Text 65"/>
          <p:cNvSpPr/>
          <p:nvPr/>
        </p:nvSpPr>
        <p:spPr>
          <a:xfrm>
            <a:off x="393192" y="3959352"/>
            <a:ext cx="1837944" cy="201168"/>
          </a:xfrm>
          <a:prstGeom prst="rect">
            <a:avLst/>
          </a:prstGeom>
          <a:noFill/>
        </p:spPr>
        <p:txBody>
          <a:bodyPr wrap="square" rtlCol="0" anchor="ctr"/>
          <a:lstStyle/>
          <a:p>
            <a:pPr marL="0" indent="0" algn="l">
              <a:buNone/>
            </a:pPr>
            <a:r>
              <a:rPr lang="en-US" sz="950" dirty="0">
                <a:solidFill>
                  <a:srgbClr val="0D1F15"/>
                </a:solidFill>
              </a:rPr>
              <a:t>Petroleum &amp; Agri</a:t>
            </a:r>
            <a:endParaRPr lang="en-US" sz="950" dirty="0"/>
          </a:p>
        </p:txBody>
      </p:sp>
      <p:sp>
        <p:nvSpPr>
          <p:cNvPr id="68" name="Text 66"/>
          <p:cNvSpPr/>
          <p:nvPr/>
        </p:nvSpPr>
        <p:spPr>
          <a:xfrm>
            <a:off x="2331720" y="3959352"/>
            <a:ext cx="1618488" cy="201168"/>
          </a:xfrm>
          <a:prstGeom prst="rect">
            <a:avLst/>
          </a:prstGeom>
          <a:noFill/>
        </p:spPr>
        <p:txBody>
          <a:bodyPr wrap="square" rtlCol="0" anchor="ctr"/>
          <a:lstStyle/>
          <a:p>
            <a:pPr marL="0" indent="0" algn="ctr">
              <a:buNone/>
            </a:pPr>
            <a:r>
              <a:rPr lang="en-US" sz="950" b="1" dirty="0">
                <a:solidFill>
                  <a:srgbClr val="1A7A45"/>
                </a:solidFill>
              </a:rPr>
              <a:t>✓ Yes</a:t>
            </a:r>
            <a:endParaRPr lang="en-US" sz="950" dirty="0"/>
          </a:p>
        </p:txBody>
      </p:sp>
      <p:sp>
        <p:nvSpPr>
          <p:cNvPr id="69" name="Text 67"/>
          <p:cNvSpPr/>
          <p:nvPr/>
        </p:nvSpPr>
        <p:spPr>
          <a:xfrm>
            <a:off x="4050792" y="3959352"/>
            <a:ext cx="1124712"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70" name="Text 68"/>
          <p:cNvSpPr/>
          <p:nvPr/>
        </p:nvSpPr>
        <p:spPr>
          <a:xfrm>
            <a:off x="5276088" y="3959352"/>
            <a:ext cx="100584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71" name="Text 69"/>
          <p:cNvSpPr/>
          <p:nvPr/>
        </p:nvSpPr>
        <p:spPr>
          <a:xfrm>
            <a:off x="6373368" y="3959352"/>
            <a:ext cx="114300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72" name="Text 70"/>
          <p:cNvSpPr/>
          <p:nvPr/>
        </p:nvSpPr>
        <p:spPr>
          <a:xfrm>
            <a:off x="7616952" y="3959352"/>
            <a:ext cx="118872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73" name="Shape 71"/>
          <p:cNvSpPr/>
          <p:nvPr/>
        </p:nvSpPr>
        <p:spPr>
          <a:xfrm>
            <a:off x="347472" y="4224528"/>
            <a:ext cx="8449056" cy="274320"/>
          </a:xfrm>
          <a:prstGeom prst="rect">
            <a:avLst/>
          </a:prstGeom>
          <a:solidFill>
            <a:srgbClr val="FFFFFF"/>
          </a:solidFill>
        </p:spPr>
      </p:sp>
      <p:sp>
        <p:nvSpPr>
          <p:cNvPr id="74" name="Text 72"/>
          <p:cNvSpPr/>
          <p:nvPr/>
        </p:nvSpPr>
        <p:spPr>
          <a:xfrm>
            <a:off x="393192" y="4261104"/>
            <a:ext cx="1837944" cy="201168"/>
          </a:xfrm>
          <a:prstGeom prst="rect">
            <a:avLst/>
          </a:prstGeom>
          <a:noFill/>
        </p:spPr>
        <p:txBody>
          <a:bodyPr wrap="square" rtlCol="0" anchor="ctr"/>
          <a:lstStyle/>
          <a:p>
            <a:pPr marL="0" indent="0" algn="l">
              <a:buNone/>
            </a:pPr>
            <a:r>
              <a:rPr lang="en-US" sz="950" dirty="0">
                <a:solidFill>
                  <a:srgbClr val="0D1F15"/>
                </a:solidFill>
              </a:rPr>
              <a:t>Minerals &amp; FX</a:t>
            </a:r>
            <a:endParaRPr lang="en-US" sz="950" dirty="0"/>
          </a:p>
        </p:txBody>
      </p:sp>
      <p:sp>
        <p:nvSpPr>
          <p:cNvPr id="75" name="Text 73"/>
          <p:cNvSpPr/>
          <p:nvPr/>
        </p:nvSpPr>
        <p:spPr>
          <a:xfrm>
            <a:off x="2331720" y="4261104"/>
            <a:ext cx="1618488" cy="201168"/>
          </a:xfrm>
          <a:prstGeom prst="rect">
            <a:avLst/>
          </a:prstGeom>
          <a:noFill/>
        </p:spPr>
        <p:txBody>
          <a:bodyPr wrap="square" rtlCol="0" anchor="ctr"/>
          <a:lstStyle/>
          <a:p>
            <a:pPr marL="0" indent="0" algn="ctr">
              <a:buNone/>
            </a:pPr>
            <a:r>
              <a:rPr lang="en-US" sz="950" b="1" dirty="0">
                <a:solidFill>
                  <a:srgbClr val="1A7A45"/>
                </a:solidFill>
              </a:rPr>
              <a:t>✓ Yes</a:t>
            </a:r>
            <a:endParaRPr lang="en-US" sz="950" dirty="0"/>
          </a:p>
        </p:txBody>
      </p:sp>
      <p:sp>
        <p:nvSpPr>
          <p:cNvPr id="76" name="Text 74"/>
          <p:cNvSpPr/>
          <p:nvPr/>
        </p:nvSpPr>
        <p:spPr>
          <a:xfrm>
            <a:off x="4050792" y="4261104"/>
            <a:ext cx="1124712"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77" name="Text 75"/>
          <p:cNvSpPr/>
          <p:nvPr/>
        </p:nvSpPr>
        <p:spPr>
          <a:xfrm>
            <a:off x="5276088" y="4261104"/>
            <a:ext cx="100584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78" name="Text 76"/>
          <p:cNvSpPr/>
          <p:nvPr/>
        </p:nvSpPr>
        <p:spPr>
          <a:xfrm>
            <a:off x="6373368" y="4261104"/>
            <a:ext cx="114300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79" name="Text 77"/>
          <p:cNvSpPr/>
          <p:nvPr/>
        </p:nvSpPr>
        <p:spPr>
          <a:xfrm>
            <a:off x="7616952" y="4261104"/>
            <a:ext cx="118872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80" name="Shape 78"/>
          <p:cNvSpPr/>
          <p:nvPr/>
        </p:nvSpPr>
        <p:spPr>
          <a:xfrm>
            <a:off x="347472" y="4526280"/>
            <a:ext cx="8449056" cy="274320"/>
          </a:xfrm>
          <a:prstGeom prst="rect">
            <a:avLst/>
          </a:prstGeom>
          <a:solidFill>
            <a:srgbClr val="F4F9F5"/>
          </a:solidFill>
        </p:spPr>
      </p:sp>
      <p:sp>
        <p:nvSpPr>
          <p:cNvPr id="81" name="Text 79"/>
          <p:cNvSpPr/>
          <p:nvPr/>
        </p:nvSpPr>
        <p:spPr>
          <a:xfrm>
            <a:off x="393192" y="4562856"/>
            <a:ext cx="1837944" cy="201168"/>
          </a:xfrm>
          <a:prstGeom prst="rect">
            <a:avLst/>
          </a:prstGeom>
          <a:noFill/>
        </p:spPr>
        <p:txBody>
          <a:bodyPr wrap="square" rtlCol="0" anchor="ctr"/>
          <a:lstStyle/>
          <a:p>
            <a:pPr marL="0" indent="0" algn="l">
              <a:buNone/>
            </a:pPr>
            <a:r>
              <a:rPr lang="en-US" sz="950" dirty="0">
                <a:solidFill>
                  <a:srgbClr val="0D1F15"/>
                </a:solidFill>
              </a:rPr>
              <a:t>Foreign Stocks (Frac)</a:t>
            </a:r>
            <a:endParaRPr lang="en-US" sz="950" dirty="0"/>
          </a:p>
        </p:txBody>
      </p:sp>
      <p:sp>
        <p:nvSpPr>
          <p:cNvPr id="82" name="Text 80"/>
          <p:cNvSpPr/>
          <p:nvPr/>
        </p:nvSpPr>
        <p:spPr>
          <a:xfrm>
            <a:off x="2331720" y="4562856"/>
            <a:ext cx="1618488" cy="201168"/>
          </a:xfrm>
          <a:prstGeom prst="rect">
            <a:avLst/>
          </a:prstGeom>
          <a:noFill/>
        </p:spPr>
        <p:txBody>
          <a:bodyPr wrap="square" rtlCol="0" anchor="ctr"/>
          <a:lstStyle/>
          <a:p>
            <a:pPr marL="0" indent="0" algn="ctr">
              <a:buNone/>
            </a:pPr>
            <a:r>
              <a:rPr lang="en-US" sz="950" b="1" dirty="0">
                <a:solidFill>
                  <a:srgbClr val="1A7A45"/>
                </a:solidFill>
              </a:rPr>
              <a:t>✓ Yes</a:t>
            </a:r>
            <a:endParaRPr lang="en-US" sz="950" dirty="0"/>
          </a:p>
        </p:txBody>
      </p:sp>
      <p:sp>
        <p:nvSpPr>
          <p:cNvPr id="83" name="Text 81"/>
          <p:cNvSpPr/>
          <p:nvPr/>
        </p:nvSpPr>
        <p:spPr>
          <a:xfrm>
            <a:off x="4050792" y="4562856"/>
            <a:ext cx="1124712"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84" name="Text 82"/>
          <p:cNvSpPr/>
          <p:nvPr/>
        </p:nvSpPr>
        <p:spPr>
          <a:xfrm>
            <a:off x="5276088" y="4562856"/>
            <a:ext cx="100584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85" name="Text 83"/>
          <p:cNvSpPr/>
          <p:nvPr/>
        </p:nvSpPr>
        <p:spPr>
          <a:xfrm>
            <a:off x="6373368" y="4562856"/>
            <a:ext cx="114300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86" name="Text 84"/>
          <p:cNvSpPr/>
          <p:nvPr/>
        </p:nvSpPr>
        <p:spPr>
          <a:xfrm>
            <a:off x="7616952" y="4562856"/>
            <a:ext cx="1188720" cy="201168"/>
          </a:xfrm>
          <a:prstGeom prst="rect">
            <a:avLst/>
          </a:prstGeom>
          <a:noFill/>
        </p:spPr>
        <p:txBody>
          <a:bodyPr wrap="square" rtlCol="0" anchor="ctr"/>
          <a:lstStyle/>
          <a:p>
            <a:pPr marL="0" indent="0" algn="ctr">
              <a:buNone/>
            </a:pPr>
            <a:r>
              <a:rPr lang="en-US" sz="950" dirty="0">
                <a:solidFill>
                  <a:srgbClr val="AAAAAA"/>
                </a:solidFill>
              </a:rPr>
              <a:t>Partial</a:t>
            </a:r>
            <a:endParaRPr lang="en-US" sz="950" dirty="0"/>
          </a:p>
        </p:txBody>
      </p:sp>
      <p:sp>
        <p:nvSpPr>
          <p:cNvPr id="87" name="Shape 85"/>
          <p:cNvSpPr/>
          <p:nvPr/>
        </p:nvSpPr>
        <p:spPr>
          <a:xfrm>
            <a:off x="347472" y="4828032"/>
            <a:ext cx="8449056" cy="274320"/>
          </a:xfrm>
          <a:prstGeom prst="rect">
            <a:avLst/>
          </a:prstGeom>
          <a:solidFill>
            <a:srgbClr val="FFFFFF"/>
          </a:solidFill>
        </p:spPr>
      </p:sp>
      <p:sp>
        <p:nvSpPr>
          <p:cNvPr id="88" name="Text 86"/>
          <p:cNvSpPr/>
          <p:nvPr/>
        </p:nvSpPr>
        <p:spPr>
          <a:xfrm>
            <a:off x="393192" y="4864608"/>
            <a:ext cx="1837944" cy="201168"/>
          </a:xfrm>
          <a:prstGeom prst="rect">
            <a:avLst/>
          </a:prstGeom>
          <a:noFill/>
        </p:spPr>
        <p:txBody>
          <a:bodyPr wrap="square" rtlCol="0" anchor="ctr"/>
          <a:lstStyle/>
          <a:p>
            <a:pPr marL="0" indent="0" algn="l">
              <a:buNone/>
            </a:pPr>
            <a:r>
              <a:rPr lang="en-US" sz="950" dirty="0">
                <a:solidFill>
                  <a:srgbClr val="0D1F15"/>
                </a:solidFill>
              </a:rPr>
              <a:t>Crowd Loans</a:t>
            </a:r>
            <a:endParaRPr lang="en-US" sz="950" dirty="0"/>
          </a:p>
        </p:txBody>
      </p:sp>
      <p:sp>
        <p:nvSpPr>
          <p:cNvPr id="89" name="Text 87"/>
          <p:cNvSpPr/>
          <p:nvPr/>
        </p:nvSpPr>
        <p:spPr>
          <a:xfrm>
            <a:off x="2331720" y="4864608"/>
            <a:ext cx="1618488" cy="201168"/>
          </a:xfrm>
          <a:prstGeom prst="rect">
            <a:avLst/>
          </a:prstGeom>
          <a:noFill/>
        </p:spPr>
        <p:txBody>
          <a:bodyPr wrap="square" rtlCol="0" anchor="ctr"/>
          <a:lstStyle/>
          <a:p>
            <a:pPr marL="0" indent="0" algn="ctr">
              <a:buNone/>
            </a:pPr>
            <a:r>
              <a:rPr lang="en-US" sz="950" b="1" dirty="0">
                <a:solidFill>
                  <a:srgbClr val="1A7A45"/>
                </a:solidFill>
              </a:rPr>
              <a:t>✓ Yes</a:t>
            </a:r>
            <a:endParaRPr lang="en-US" sz="950" dirty="0"/>
          </a:p>
        </p:txBody>
      </p:sp>
      <p:sp>
        <p:nvSpPr>
          <p:cNvPr id="90" name="Text 88"/>
          <p:cNvSpPr/>
          <p:nvPr/>
        </p:nvSpPr>
        <p:spPr>
          <a:xfrm>
            <a:off x="4050792" y="4864608"/>
            <a:ext cx="1124712"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91" name="Text 89"/>
          <p:cNvSpPr/>
          <p:nvPr/>
        </p:nvSpPr>
        <p:spPr>
          <a:xfrm>
            <a:off x="5276088" y="4864608"/>
            <a:ext cx="1005840" cy="201168"/>
          </a:xfrm>
          <a:prstGeom prst="rect">
            <a:avLst/>
          </a:prstGeom>
          <a:noFill/>
        </p:spPr>
        <p:txBody>
          <a:bodyPr wrap="square" rtlCol="0" anchor="ctr"/>
          <a:lstStyle/>
          <a:p>
            <a:pPr marL="0" indent="0" algn="ctr">
              <a:buNone/>
            </a:pPr>
            <a:r>
              <a:rPr lang="en-US" sz="950" dirty="0">
                <a:solidFill>
                  <a:srgbClr val="AAAAAA"/>
                </a:solidFill>
              </a:rPr>
              <a:t>Partial</a:t>
            </a:r>
            <a:endParaRPr lang="en-US" sz="950" dirty="0"/>
          </a:p>
        </p:txBody>
      </p:sp>
      <p:sp>
        <p:nvSpPr>
          <p:cNvPr id="92" name="Text 90"/>
          <p:cNvSpPr/>
          <p:nvPr/>
        </p:nvSpPr>
        <p:spPr>
          <a:xfrm>
            <a:off x="6373368" y="4864608"/>
            <a:ext cx="114300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93" name="Text 91"/>
          <p:cNvSpPr/>
          <p:nvPr/>
        </p:nvSpPr>
        <p:spPr>
          <a:xfrm>
            <a:off x="7616952" y="4864608"/>
            <a:ext cx="1188720" cy="201168"/>
          </a:xfrm>
          <a:prstGeom prst="rect">
            <a:avLst/>
          </a:prstGeom>
          <a:noFill/>
        </p:spPr>
        <p:txBody>
          <a:bodyPr wrap="square" rtlCol="0" anchor="ctr"/>
          <a:lstStyle/>
          <a:p>
            <a:pPr marL="0" indent="0" algn="ctr">
              <a:buNone/>
            </a:pPr>
            <a:r>
              <a:rPr lang="en-US" sz="950" dirty="0">
                <a:solidFill>
                  <a:srgbClr val="AAAAAA"/>
                </a:solidFill>
              </a:rPr>
              <a:t>No</a:t>
            </a:r>
            <a:endParaRPr lang="en-US" sz="950" dirty="0"/>
          </a:p>
        </p:txBody>
      </p:sp>
      <p:sp>
        <p:nvSpPr>
          <p:cNvPr id="94" name="Shape 92"/>
          <p:cNvSpPr/>
          <p:nvPr/>
        </p:nvSpPr>
        <p:spPr>
          <a:xfrm>
            <a:off x="347472" y="4846320"/>
            <a:ext cx="8449056" cy="310896"/>
          </a:xfrm>
          <a:prstGeom prst="rect">
            <a:avLst/>
          </a:prstGeom>
          <a:solidFill>
            <a:srgbClr val="D4EFE0"/>
          </a:solidFill>
        </p:spPr>
      </p:sp>
      <p:sp>
        <p:nvSpPr>
          <p:cNvPr id="95" name="Text 93"/>
          <p:cNvSpPr/>
          <p:nvPr/>
        </p:nvSpPr>
        <p:spPr>
          <a:xfrm>
            <a:off x="457200" y="4846320"/>
            <a:ext cx="8321040" cy="310896"/>
          </a:xfrm>
          <a:prstGeom prst="rect">
            <a:avLst/>
          </a:prstGeom>
          <a:noFill/>
        </p:spPr>
        <p:txBody>
          <a:bodyPr wrap="square" rtlCol="0" anchor="ctr"/>
          <a:lstStyle/>
          <a:p>
            <a:pPr marL="0" indent="0">
              <a:buNone/>
            </a:pPr>
            <a:r>
              <a:rPr lang="en-US" sz="900" dirty="0">
                <a:solidFill>
                  <a:srgbClr val="0F4D2B"/>
                </a:solidFill>
              </a:rPr>
              <a:t>🌍  Globally comparable: Risevest (Nigeria), Cowrywise, Republic, Seedrs — all operate in 1–2 asset classes with no Uganda presence and no NSSF-equivalent institutional co-brand. OwnIt is the first mover in Uganda's multi-asset fractional investment space.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TECHNOLOGY, COMPLIANCE &amp; REGULATORY FRAMEWORK</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Built for compliance from Day 1 — across six regulatory jurisdictions.</a:t>
            </a:r>
            <a:endParaRPr lang="en-US" sz="2200" dirty="0"/>
          </a:p>
        </p:txBody>
      </p:sp>
      <p:sp>
        <p:nvSpPr>
          <p:cNvPr id="5" name="Text 3"/>
          <p:cNvSpPr/>
          <p:nvPr/>
        </p:nvSpPr>
        <p:spPr>
          <a:xfrm>
            <a:off x="457200" y="1353312"/>
            <a:ext cx="4114800" cy="292608"/>
          </a:xfrm>
          <a:prstGeom prst="rect">
            <a:avLst/>
          </a:prstGeom>
          <a:noFill/>
        </p:spPr>
        <p:txBody>
          <a:bodyPr wrap="square" rtlCol="0" anchor="ctr"/>
          <a:lstStyle/>
          <a:p>
            <a:pPr marL="0" indent="0">
              <a:buNone/>
            </a:pPr>
            <a:r>
              <a:rPr lang="en-US" sz="1200" b="1" dirty="0">
                <a:solidFill>
                  <a:srgbClr val="0F4D2B"/>
                </a:solidFill>
              </a:rPr>
              <a:t>Platform Technology</a:t>
            </a:r>
            <a:endParaRPr lang="en-US" sz="1200" dirty="0"/>
          </a:p>
        </p:txBody>
      </p:sp>
      <p:sp>
        <p:nvSpPr>
          <p:cNvPr id="6" name="Shape 4"/>
          <p:cNvSpPr/>
          <p:nvPr/>
        </p:nvSpPr>
        <p:spPr>
          <a:xfrm>
            <a:off x="457200" y="1691640"/>
            <a:ext cx="4069080" cy="475488"/>
          </a:xfrm>
          <a:prstGeom prst="rect">
            <a:avLst/>
          </a:prstGeom>
          <a:solidFill>
            <a:srgbClr val="FFFFFF"/>
          </a:solidFill>
          <a:effectLst>
            <a:outerShdw blurRad="101600" dist="38100" dir="8100000" algn="bl" rotWithShape="0">
              <a:srgbClr val="000000">
                <a:alpha val="12000"/>
              </a:srgbClr>
            </a:outerShdw>
          </a:effectLst>
        </p:spPr>
      </p:sp>
      <p:sp>
        <p:nvSpPr>
          <p:cNvPr id="7" name="Text 5"/>
          <p:cNvSpPr/>
          <p:nvPr/>
        </p:nvSpPr>
        <p:spPr>
          <a:xfrm>
            <a:off x="548640" y="1764792"/>
            <a:ext cx="411480"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8" name="Text 6"/>
          <p:cNvSpPr/>
          <p:nvPr/>
        </p:nvSpPr>
        <p:spPr>
          <a:xfrm>
            <a:off x="1024128" y="1737360"/>
            <a:ext cx="3401568" cy="228600"/>
          </a:xfrm>
          <a:prstGeom prst="rect">
            <a:avLst/>
          </a:prstGeom>
          <a:noFill/>
        </p:spPr>
        <p:txBody>
          <a:bodyPr wrap="square" rtlCol="0" anchor="ctr"/>
          <a:lstStyle/>
          <a:p>
            <a:pPr marL="0" indent="0">
              <a:buNone/>
            </a:pPr>
            <a:r>
              <a:rPr lang="en-US" sz="1000" b="1" dirty="0">
                <a:solidFill>
                  <a:srgbClr val="1A7A45"/>
                </a:solidFill>
              </a:rPr>
              <a:t>Mobile App (PWA + React Native)</a:t>
            </a:r>
            <a:endParaRPr lang="en-US" sz="1000" dirty="0"/>
          </a:p>
        </p:txBody>
      </p:sp>
      <p:sp>
        <p:nvSpPr>
          <p:cNvPr id="9" name="Text 7"/>
          <p:cNvSpPr/>
          <p:nvPr/>
        </p:nvSpPr>
        <p:spPr>
          <a:xfrm>
            <a:off x="1024128" y="1947672"/>
            <a:ext cx="3401568" cy="201168"/>
          </a:xfrm>
          <a:prstGeom prst="rect">
            <a:avLst/>
          </a:prstGeom>
          <a:noFill/>
        </p:spPr>
        <p:txBody>
          <a:bodyPr wrap="square" rtlCol="0" anchor="ctr"/>
          <a:lstStyle/>
          <a:p>
            <a:pPr marL="0" indent="0">
              <a:buNone/>
            </a:pPr>
            <a:r>
              <a:rPr lang="en-US" sz="850" dirty="0">
                <a:solidFill>
                  <a:srgbClr val="5A7A68"/>
                </a:solidFill>
              </a:rPr>
              <a:t>Optimised for Uganda's Android-dominant, low-bandwidth environment. Play Store distribution.</a:t>
            </a:r>
            <a:endParaRPr lang="en-US" sz="850" dirty="0"/>
          </a:p>
        </p:txBody>
      </p:sp>
      <p:sp>
        <p:nvSpPr>
          <p:cNvPr id="10" name="Shape 8"/>
          <p:cNvSpPr/>
          <p:nvPr/>
        </p:nvSpPr>
        <p:spPr>
          <a:xfrm>
            <a:off x="457200" y="2221992"/>
            <a:ext cx="4069080" cy="475488"/>
          </a:xfrm>
          <a:prstGeom prst="rect">
            <a:avLst/>
          </a:prstGeom>
          <a:solidFill>
            <a:srgbClr val="FFFFFF"/>
          </a:solidFill>
          <a:effectLst>
            <a:outerShdw blurRad="101600" dist="38100" dir="8100000" algn="bl" rotWithShape="0">
              <a:srgbClr val="000000">
                <a:alpha val="12000"/>
              </a:srgbClr>
            </a:outerShdw>
          </a:effectLst>
        </p:spPr>
      </p:sp>
      <p:sp>
        <p:nvSpPr>
          <p:cNvPr id="11" name="Text 9"/>
          <p:cNvSpPr/>
          <p:nvPr/>
        </p:nvSpPr>
        <p:spPr>
          <a:xfrm>
            <a:off x="548640" y="2295144"/>
            <a:ext cx="411480"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12" name="Text 10"/>
          <p:cNvSpPr/>
          <p:nvPr/>
        </p:nvSpPr>
        <p:spPr>
          <a:xfrm>
            <a:off x="1024128" y="2267712"/>
            <a:ext cx="3401568" cy="228600"/>
          </a:xfrm>
          <a:prstGeom prst="rect">
            <a:avLst/>
          </a:prstGeom>
          <a:noFill/>
        </p:spPr>
        <p:txBody>
          <a:bodyPr wrap="square" rtlCol="0" anchor="ctr"/>
          <a:lstStyle/>
          <a:p>
            <a:pPr marL="0" indent="0">
              <a:buNone/>
            </a:pPr>
            <a:r>
              <a:rPr lang="en-US" sz="1000" b="1" dirty="0">
                <a:solidFill>
                  <a:srgbClr val="1A7A45"/>
                </a:solidFill>
              </a:rPr>
              <a:t>USSD Interface (*OwnIt#)</a:t>
            </a:r>
            <a:endParaRPr lang="en-US" sz="1000" dirty="0"/>
          </a:p>
        </p:txBody>
      </p:sp>
      <p:sp>
        <p:nvSpPr>
          <p:cNvPr id="13" name="Text 11"/>
          <p:cNvSpPr/>
          <p:nvPr/>
        </p:nvSpPr>
        <p:spPr>
          <a:xfrm>
            <a:off x="1024128" y="2478024"/>
            <a:ext cx="3401568" cy="201168"/>
          </a:xfrm>
          <a:prstGeom prst="rect">
            <a:avLst/>
          </a:prstGeom>
          <a:noFill/>
        </p:spPr>
        <p:txBody>
          <a:bodyPr wrap="square" rtlCol="0" anchor="ctr"/>
          <a:lstStyle/>
          <a:p>
            <a:pPr marL="0" indent="0">
              <a:buNone/>
            </a:pPr>
            <a:r>
              <a:rPr lang="en-US" sz="850" dirty="0">
                <a:solidFill>
                  <a:srgbClr val="5A7A68"/>
                </a:solidFill>
              </a:rPr>
              <a:t>Full investment functionality via USSD for feature phone users — critical for rural market penetration.</a:t>
            </a:r>
            <a:endParaRPr lang="en-US" sz="850" dirty="0"/>
          </a:p>
        </p:txBody>
      </p:sp>
      <p:sp>
        <p:nvSpPr>
          <p:cNvPr id="14" name="Shape 12"/>
          <p:cNvSpPr/>
          <p:nvPr/>
        </p:nvSpPr>
        <p:spPr>
          <a:xfrm>
            <a:off x="457200" y="2752344"/>
            <a:ext cx="4069080" cy="475488"/>
          </a:xfrm>
          <a:prstGeom prst="rect">
            <a:avLst/>
          </a:prstGeom>
          <a:solidFill>
            <a:srgbClr val="FFFFFF"/>
          </a:solidFill>
          <a:effectLst>
            <a:outerShdw blurRad="101600" dist="38100" dir="8100000" algn="bl" rotWithShape="0">
              <a:srgbClr val="000000">
                <a:alpha val="12000"/>
              </a:srgbClr>
            </a:outerShdw>
          </a:effectLst>
        </p:spPr>
      </p:sp>
      <p:sp>
        <p:nvSpPr>
          <p:cNvPr id="15" name="Text 13"/>
          <p:cNvSpPr/>
          <p:nvPr/>
        </p:nvSpPr>
        <p:spPr>
          <a:xfrm>
            <a:off x="548640" y="2825496"/>
            <a:ext cx="411480"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16" name="Text 14"/>
          <p:cNvSpPr/>
          <p:nvPr/>
        </p:nvSpPr>
        <p:spPr>
          <a:xfrm>
            <a:off x="1024128" y="2798064"/>
            <a:ext cx="3401568" cy="228600"/>
          </a:xfrm>
          <a:prstGeom prst="rect">
            <a:avLst/>
          </a:prstGeom>
          <a:noFill/>
        </p:spPr>
        <p:txBody>
          <a:bodyPr wrap="square" rtlCol="0" anchor="ctr"/>
          <a:lstStyle/>
          <a:p>
            <a:pPr marL="0" indent="0">
              <a:buNone/>
            </a:pPr>
            <a:r>
              <a:rPr lang="en-US" sz="1000" b="1" dirty="0">
                <a:solidFill>
                  <a:srgbClr val="1A7A45"/>
                </a:solidFill>
              </a:rPr>
              <a:t>Multi-PSP Payments</a:t>
            </a:r>
            <a:endParaRPr lang="en-US" sz="1000" dirty="0"/>
          </a:p>
        </p:txBody>
      </p:sp>
      <p:sp>
        <p:nvSpPr>
          <p:cNvPr id="17" name="Text 15"/>
          <p:cNvSpPr/>
          <p:nvPr/>
        </p:nvSpPr>
        <p:spPr>
          <a:xfrm>
            <a:off x="1024128" y="3008376"/>
            <a:ext cx="3401568" cy="201168"/>
          </a:xfrm>
          <a:prstGeom prst="rect">
            <a:avLst/>
          </a:prstGeom>
          <a:noFill/>
        </p:spPr>
        <p:txBody>
          <a:bodyPr wrap="square" rtlCol="0" anchor="ctr"/>
          <a:lstStyle/>
          <a:p>
            <a:pPr marL="0" indent="0">
              <a:buNone/>
            </a:pPr>
            <a:r>
              <a:rPr lang="en-US" sz="850" dirty="0">
                <a:solidFill>
                  <a:srgbClr val="5A7A68"/>
                </a:solidFill>
              </a:rPr>
              <a:t>MTN MoMo API + Airtel Money API + bank RTGS + card. &lt;30-second MoMo payout processing.</a:t>
            </a:r>
            <a:endParaRPr lang="en-US" sz="850" dirty="0"/>
          </a:p>
        </p:txBody>
      </p:sp>
      <p:sp>
        <p:nvSpPr>
          <p:cNvPr id="18" name="Shape 16"/>
          <p:cNvSpPr/>
          <p:nvPr/>
        </p:nvSpPr>
        <p:spPr>
          <a:xfrm>
            <a:off x="457200" y="3282696"/>
            <a:ext cx="4069080" cy="475488"/>
          </a:xfrm>
          <a:prstGeom prst="rect">
            <a:avLst/>
          </a:prstGeom>
          <a:solidFill>
            <a:srgbClr val="FFFFFF"/>
          </a:solidFill>
          <a:effectLst>
            <a:outerShdw blurRad="101600" dist="38100" dir="8100000" algn="bl" rotWithShape="0">
              <a:srgbClr val="000000">
                <a:alpha val="12000"/>
              </a:srgbClr>
            </a:outerShdw>
          </a:effectLst>
        </p:spPr>
      </p:sp>
      <p:sp>
        <p:nvSpPr>
          <p:cNvPr id="19" name="Text 17"/>
          <p:cNvSpPr/>
          <p:nvPr/>
        </p:nvSpPr>
        <p:spPr>
          <a:xfrm>
            <a:off x="548640" y="3355848"/>
            <a:ext cx="411480"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20" name="Text 18"/>
          <p:cNvSpPr/>
          <p:nvPr/>
        </p:nvSpPr>
        <p:spPr>
          <a:xfrm>
            <a:off x="1024128" y="3328416"/>
            <a:ext cx="3401568" cy="228600"/>
          </a:xfrm>
          <a:prstGeom prst="rect">
            <a:avLst/>
          </a:prstGeom>
          <a:noFill/>
        </p:spPr>
        <p:txBody>
          <a:bodyPr wrap="square" rtlCol="0" anchor="ctr"/>
          <a:lstStyle/>
          <a:p>
            <a:pPr marL="0" indent="0">
              <a:buNone/>
            </a:pPr>
            <a:r>
              <a:rPr lang="en-US" sz="1000" b="1" dirty="0">
                <a:solidFill>
                  <a:srgbClr val="1A7A45"/>
                </a:solidFill>
              </a:rPr>
              <a:t>NSSF Auto-Enrollment API</a:t>
            </a:r>
            <a:endParaRPr lang="en-US" sz="1000" dirty="0"/>
          </a:p>
        </p:txBody>
      </p:sp>
      <p:sp>
        <p:nvSpPr>
          <p:cNvPr id="21" name="Text 19"/>
          <p:cNvSpPr/>
          <p:nvPr/>
        </p:nvSpPr>
        <p:spPr>
          <a:xfrm>
            <a:off x="1024128" y="3538728"/>
            <a:ext cx="3401568" cy="201168"/>
          </a:xfrm>
          <a:prstGeom prst="rect">
            <a:avLst/>
          </a:prstGeom>
          <a:noFill/>
        </p:spPr>
        <p:txBody>
          <a:bodyPr wrap="square" rtlCol="0" anchor="ctr"/>
          <a:lstStyle/>
          <a:p>
            <a:pPr marL="0" indent="0">
              <a:buNone/>
            </a:pPr>
            <a:r>
              <a:rPr lang="en-US" sz="850" dirty="0">
                <a:solidFill>
                  <a:srgbClr val="5A7A68"/>
                </a:solidFill>
              </a:rPr>
              <a:t>Real-time NSSF member creation via NIRA NIN + NSSF registry API. Member number in-app within 60 seconds.</a:t>
            </a:r>
            <a:endParaRPr lang="en-US" sz="850" dirty="0"/>
          </a:p>
        </p:txBody>
      </p:sp>
      <p:sp>
        <p:nvSpPr>
          <p:cNvPr id="22" name="Shape 20"/>
          <p:cNvSpPr/>
          <p:nvPr/>
        </p:nvSpPr>
        <p:spPr>
          <a:xfrm>
            <a:off x="457200" y="3813048"/>
            <a:ext cx="4069080" cy="475488"/>
          </a:xfrm>
          <a:prstGeom prst="rect">
            <a:avLst/>
          </a:prstGeom>
          <a:solidFill>
            <a:srgbClr val="FFFFFF"/>
          </a:solidFill>
          <a:effectLst>
            <a:outerShdw blurRad="101600" dist="38100" dir="8100000" algn="bl" rotWithShape="0">
              <a:srgbClr val="000000">
                <a:alpha val="12000"/>
              </a:srgbClr>
            </a:outerShdw>
          </a:effectLst>
        </p:spPr>
      </p:sp>
      <p:sp>
        <p:nvSpPr>
          <p:cNvPr id="23" name="Text 21"/>
          <p:cNvSpPr/>
          <p:nvPr/>
        </p:nvSpPr>
        <p:spPr>
          <a:xfrm>
            <a:off x="548640" y="3886200"/>
            <a:ext cx="411480"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24" name="Text 22"/>
          <p:cNvSpPr/>
          <p:nvPr/>
        </p:nvSpPr>
        <p:spPr>
          <a:xfrm>
            <a:off x="1024128" y="3858768"/>
            <a:ext cx="3401568" cy="228600"/>
          </a:xfrm>
          <a:prstGeom prst="rect">
            <a:avLst/>
          </a:prstGeom>
          <a:noFill/>
        </p:spPr>
        <p:txBody>
          <a:bodyPr wrap="square" rtlCol="0" anchor="ctr"/>
          <a:lstStyle/>
          <a:p>
            <a:pPr marL="0" indent="0">
              <a:buNone/>
            </a:pPr>
            <a:r>
              <a:rPr lang="en-US" sz="1000" b="1" dirty="0">
                <a:solidFill>
                  <a:srgbClr val="1A7A45"/>
                </a:solidFill>
              </a:rPr>
              <a:t>Multi-Asset Ledger Engine</a:t>
            </a:r>
            <a:endParaRPr lang="en-US" sz="1000" dirty="0"/>
          </a:p>
        </p:txBody>
      </p:sp>
      <p:sp>
        <p:nvSpPr>
          <p:cNvPr id="25" name="Text 23"/>
          <p:cNvSpPr/>
          <p:nvPr/>
        </p:nvSpPr>
        <p:spPr>
          <a:xfrm>
            <a:off x="1024128" y="4069080"/>
            <a:ext cx="3401568" cy="201168"/>
          </a:xfrm>
          <a:prstGeom prst="rect">
            <a:avLst/>
          </a:prstGeom>
          <a:noFill/>
        </p:spPr>
        <p:txBody>
          <a:bodyPr wrap="square" rtlCol="0" anchor="ctr"/>
          <a:lstStyle/>
          <a:p>
            <a:pPr marL="0" indent="0">
              <a:buNone/>
            </a:pPr>
            <a:r>
              <a:rPr lang="en-US" sz="850" dirty="0">
                <a:solidFill>
                  <a:srgbClr val="5A7A68"/>
                </a:solidFill>
              </a:rPr>
              <a:t>Fractional ownership, payout distribution, NSSF deduction, and dashboards across all 9 asset classes on one unified ledger.</a:t>
            </a:r>
            <a:endParaRPr lang="en-US" sz="850" dirty="0"/>
          </a:p>
        </p:txBody>
      </p:sp>
      <p:sp>
        <p:nvSpPr>
          <p:cNvPr id="26" name="Shape 24"/>
          <p:cNvSpPr/>
          <p:nvPr/>
        </p:nvSpPr>
        <p:spPr>
          <a:xfrm>
            <a:off x="457200" y="4343400"/>
            <a:ext cx="4069080" cy="475488"/>
          </a:xfrm>
          <a:prstGeom prst="rect">
            <a:avLst/>
          </a:prstGeom>
          <a:solidFill>
            <a:srgbClr val="FFFFFF"/>
          </a:solidFill>
          <a:effectLst>
            <a:outerShdw blurRad="101600" dist="38100" dir="8100000" algn="bl" rotWithShape="0">
              <a:srgbClr val="000000">
                <a:alpha val="12000"/>
              </a:srgbClr>
            </a:outerShdw>
          </a:effectLst>
        </p:spPr>
      </p:sp>
      <p:sp>
        <p:nvSpPr>
          <p:cNvPr id="27" name="Text 25"/>
          <p:cNvSpPr/>
          <p:nvPr/>
        </p:nvSpPr>
        <p:spPr>
          <a:xfrm>
            <a:off x="548640" y="4416552"/>
            <a:ext cx="411480" cy="347472"/>
          </a:xfrm>
          <a:prstGeom prst="rect">
            <a:avLst/>
          </a:prstGeom>
          <a:noFill/>
        </p:spPr>
        <p:txBody>
          <a:bodyPr wrap="square" rtlCol="0" anchor="ctr"/>
          <a:lstStyle/>
          <a:p>
            <a:pPr marL="0" indent="0">
              <a:buNone/>
            </a:pPr>
            <a:r>
              <a:rPr lang="en-US" sz="1600" dirty="0">
                <a:solidFill>
                  <a:srgbClr val="000000"/>
                </a:solidFill>
              </a:rPr>
              <a:t>🔒</a:t>
            </a:r>
            <a:endParaRPr lang="en-US" sz="1600" dirty="0"/>
          </a:p>
        </p:txBody>
      </p:sp>
      <p:sp>
        <p:nvSpPr>
          <p:cNvPr id="28" name="Text 26"/>
          <p:cNvSpPr/>
          <p:nvPr/>
        </p:nvSpPr>
        <p:spPr>
          <a:xfrm>
            <a:off x="1024128" y="4389120"/>
            <a:ext cx="3401568" cy="228600"/>
          </a:xfrm>
          <a:prstGeom prst="rect">
            <a:avLst/>
          </a:prstGeom>
          <a:noFill/>
        </p:spPr>
        <p:txBody>
          <a:bodyPr wrap="square" rtlCol="0" anchor="ctr"/>
          <a:lstStyle/>
          <a:p>
            <a:pPr marL="0" indent="0">
              <a:buNone/>
            </a:pPr>
            <a:r>
              <a:rPr lang="en-US" sz="1000" b="1" dirty="0">
                <a:solidFill>
                  <a:srgbClr val="1A7A45"/>
                </a:solidFill>
              </a:rPr>
              <a:t>Escrow Management</a:t>
            </a:r>
            <a:endParaRPr lang="en-US" sz="1000" dirty="0"/>
          </a:p>
        </p:txBody>
      </p:sp>
      <p:sp>
        <p:nvSpPr>
          <p:cNvPr id="29" name="Text 27"/>
          <p:cNvSpPr/>
          <p:nvPr/>
        </p:nvSpPr>
        <p:spPr>
          <a:xfrm>
            <a:off x="1024128" y="4599432"/>
            <a:ext cx="3401568" cy="201168"/>
          </a:xfrm>
          <a:prstGeom prst="rect">
            <a:avLst/>
          </a:prstGeom>
          <a:noFill/>
        </p:spPr>
        <p:txBody>
          <a:bodyPr wrap="square" rtlCol="0" anchor="ctr"/>
          <a:lstStyle/>
          <a:p>
            <a:pPr marL="0" indent="0">
              <a:buNone/>
            </a:pPr>
            <a:r>
              <a:rPr lang="en-US" sz="850" dirty="0">
                <a:solidFill>
                  <a:srgbClr val="5A7A68"/>
                </a:solidFill>
              </a:rPr>
              <a:t>Milestone-based fund release. Investor capital held in segregated escrow until asset delivery triggers.</a:t>
            </a:r>
            <a:endParaRPr lang="en-US" sz="850" dirty="0"/>
          </a:p>
        </p:txBody>
      </p:sp>
      <p:sp>
        <p:nvSpPr>
          <p:cNvPr id="30" name="Text 28"/>
          <p:cNvSpPr/>
          <p:nvPr/>
        </p:nvSpPr>
        <p:spPr>
          <a:xfrm>
            <a:off x="4754880" y="1353312"/>
            <a:ext cx="4069080" cy="292608"/>
          </a:xfrm>
          <a:prstGeom prst="rect">
            <a:avLst/>
          </a:prstGeom>
          <a:noFill/>
        </p:spPr>
        <p:txBody>
          <a:bodyPr wrap="square" rtlCol="0" anchor="ctr"/>
          <a:lstStyle/>
          <a:p>
            <a:pPr marL="0" indent="0">
              <a:buNone/>
            </a:pPr>
            <a:r>
              <a:rPr lang="en-US" sz="1200" b="1" dirty="0">
                <a:solidFill>
                  <a:srgbClr val="0F4D2B"/>
                </a:solidFill>
              </a:rPr>
              <a:t>Regulatory Framework (6 Jurisdictions)</a:t>
            </a:r>
            <a:endParaRPr lang="en-US" sz="1200" dirty="0"/>
          </a:p>
        </p:txBody>
      </p:sp>
      <p:sp>
        <p:nvSpPr>
          <p:cNvPr id="31" name="Shape 29"/>
          <p:cNvSpPr/>
          <p:nvPr/>
        </p:nvSpPr>
        <p:spPr>
          <a:xfrm>
            <a:off x="4754880" y="1691640"/>
            <a:ext cx="4069080" cy="512064"/>
          </a:xfrm>
          <a:prstGeom prst="rect">
            <a:avLst/>
          </a:prstGeom>
          <a:solidFill>
            <a:srgbClr val="FFFFFF"/>
          </a:solidFill>
          <a:effectLst>
            <a:outerShdw blurRad="101600" dist="38100" dir="8100000" algn="bl" rotWithShape="0">
              <a:srgbClr val="000000">
                <a:alpha val="12000"/>
              </a:srgbClr>
            </a:outerShdw>
          </a:effectLst>
        </p:spPr>
      </p:sp>
      <p:sp>
        <p:nvSpPr>
          <p:cNvPr id="32" name="Shape 30"/>
          <p:cNvSpPr/>
          <p:nvPr/>
        </p:nvSpPr>
        <p:spPr>
          <a:xfrm>
            <a:off x="4754880" y="1691640"/>
            <a:ext cx="64008" cy="512064"/>
          </a:xfrm>
          <a:prstGeom prst="rect">
            <a:avLst/>
          </a:prstGeom>
          <a:solidFill>
            <a:srgbClr val="1A7A45"/>
          </a:solidFill>
        </p:spPr>
      </p:sp>
      <p:sp>
        <p:nvSpPr>
          <p:cNvPr id="33" name="Text 31"/>
          <p:cNvSpPr/>
          <p:nvPr/>
        </p:nvSpPr>
        <p:spPr>
          <a:xfrm>
            <a:off x="4919472" y="1728216"/>
            <a:ext cx="1371600" cy="201168"/>
          </a:xfrm>
          <a:prstGeom prst="rect">
            <a:avLst/>
          </a:prstGeom>
          <a:noFill/>
        </p:spPr>
        <p:txBody>
          <a:bodyPr wrap="square" rtlCol="0" anchor="ctr"/>
          <a:lstStyle/>
          <a:p>
            <a:pPr marL="0" indent="0">
              <a:buNone/>
            </a:pPr>
            <a:r>
              <a:rPr lang="en-US" sz="1000" b="1" dirty="0">
                <a:solidFill>
                  <a:srgbClr val="1A7A45"/>
                </a:solidFill>
              </a:rPr>
              <a:t>CMA Uganda</a:t>
            </a:r>
            <a:endParaRPr lang="en-US" sz="1000" dirty="0"/>
          </a:p>
        </p:txBody>
      </p:sp>
      <p:sp>
        <p:nvSpPr>
          <p:cNvPr id="34" name="Text 32"/>
          <p:cNvSpPr/>
          <p:nvPr/>
        </p:nvSpPr>
        <p:spPr>
          <a:xfrm>
            <a:off x="4919472" y="1929384"/>
            <a:ext cx="3794760" cy="164592"/>
          </a:xfrm>
          <a:prstGeom prst="rect">
            <a:avLst/>
          </a:prstGeom>
          <a:noFill/>
        </p:spPr>
        <p:txBody>
          <a:bodyPr wrap="square" rtlCol="0" anchor="ctr"/>
          <a:lstStyle/>
          <a:p>
            <a:pPr marL="0" indent="0">
              <a:buNone/>
            </a:pPr>
            <a:r>
              <a:rPr lang="en-US" sz="850" i="1" dirty="0">
                <a:solidFill>
                  <a:srgbClr val="5A7A68"/>
                </a:solidFill>
              </a:rPr>
              <a:t>Bonds, T-Bills, Stocks, SME, FX</a:t>
            </a:r>
            <a:endParaRPr lang="en-US" sz="850" dirty="0"/>
          </a:p>
        </p:txBody>
      </p:sp>
      <p:sp>
        <p:nvSpPr>
          <p:cNvPr id="35" name="Text 33"/>
          <p:cNvSpPr/>
          <p:nvPr/>
        </p:nvSpPr>
        <p:spPr>
          <a:xfrm>
            <a:off x="6382512" y="1728216"/>
            <a:ext cx="2331720" cy="438912"/>
          </a:xfrm>
          <a:prstGeom prst="rect">
            <a:avLst/>
          </a:prstGeom>
          <a:noFill/>
        </p:spPr>
        <p:txBody>
          <a:bodyPr wrap="square" rtlCol="0" anchor="ctr"/>
          <a:lstStyle/>
          <a:p>
            <a:pPr marL="0" indent="0">
              <a:buNone/>
            </a:pPr>
            <a:r>
              <a:rPr lang="en-US" sz="850" dirty="0">
                <a:solidFill>
                  <a:srgbClr val="0D1F15"/>
                </a:solidFill>
              </a:rPr>
              <a:t>Licensed as CIS operator; dealer partnerships with CMA members</a:t>
            </a:r>
            <a:endParaRPr lang="en-US" sz="850" dirty="0"/>
          </a:p>
        </p:txBody>
      </p:sp>
      <p:sp>
        <p:nvSpPr>
          <p:cNvPr id="36" name="Shape 34"/>
          <p:cNvSpPr/>
          <p:nvPr/>
        </p:nvSpPr>
        <p:spPr>
          <a:xfrm>
            <a:off x="4754880" y="2258568"/>
            <a:ext cx="4069080" cy="512064"/>
          </a:xfrm>
          <a:prstGeom prst="rect">
            <a:avLst/>
          </a:prstGeom>
          <a:solidFill>
            <a:srgbClr val="FFFFFF"/>
          </a:solidFill>
          <a:effectLst>
            <a:outerShdw blurRad="101600" dist="38100" dir="8100000" algn="bl" rotWithShape="0">
              <a:srgbClr val="000000">
                <a:alpha val="12000"/>
              </a:srgbClr>
            </a:outerShdw>
          </a:effectLst>
        </p:spPr>
      </p:sp>
      <p:sp>
        <p:nvSpPr>
          <p:cNvPr id="37" name="Shape 35"/>
          <p:cNvSpPr/>
          <p:nvPr/>
        </p:nvSpPr>
        <p:spPr>
          <a:xfrm>
            <a:off x="4754880" y="2258568"/>
            <a:ext cx="64008" cy="512064"/>
          </a:xfrm>
          <a:prstGeom prst="rect">
            <a:avLst/>
          </a:prstGeom>
          <a:solidFill>
            <a:srgbClr val="1A7A45"/>
          </a:solidFill>
        </p:spPr>
      </p:sp>
      <p:sp>
        <p:nvSpPr>
          <p:cNvPr id="38" name="Text 36"/>
          <p:cNvSpPr/>
          <p:nvPr/>
        </p:nvSpPr>
        <p:spPr>
          <a:xfrm>
            <a:off x="4919472" y="2295144"/>
            <a:ext cx="1371600" cy="201168"/>
          </a:xfrm>
          <a:prstGeom prst="rect">
            <a:avLst/>
          </a:prstGeom>
          <a:noFill/>
        </p:spPr>
        <p:txBody>
          <a:bodyPr wrap="square" rtlCol="0" anchor="ctr"/>
          <a:lstStyle/>
          <a:p>
            <a:pPr marL="0" indent="0">
              <a:buNone/>
            </a:pPr>
            <a:r>
              <a:rPr lang="en-US" sz="1000" b="1" dirty="0">
                <a:solidFill>
                  <a:srgbClr val="1A7A45"/>
                </a:solidFill>
              </a:rPr>
              <a:t>NSSF / URBRA</a:t>
            </a:r>
            <a:endParaRPr lang="en-US" sz="1000" dirty="0"/>
          </a:p>
        </p:txBody>
      </p:sp>
      <p:sp>
        <p:nvSpPr>
          <p:cNvPr id="39" name="Text 37"/>
          <p:cNvSpPr/>
          <p:nvPr/>
        </p:nvSpPr>
        <p:spPr>
          <a:xfrm>
            <a:off x="4919472" y="2496312"/>
            <a:ext cx="3794760" cy="164592"/>
          </a:xfrm>
          <a:prstGeom prst="rect">
            <a:avLst/>
          </a:prstGeom>
          <a:noFill/>
        </p:spPr>
        <p:txBody>
          <a:bodyPr wrap="square" rtlCol="0" anchor="ctr"/>
          <a:lstStyle/>
          <a:p>
            <a:pPr marL="0" indent="0">
              <a:buNone/>
            </a:pPr>
            <a:r>
              <a:rPr lang="en-US" sz="850" i="1" dirty="0">
                <a:solidFill>
                  <a:srgbClr val="5A7A68"/>
                </a:solidFill>
              </a:rPr>
              <a:t>Pension levy, auto-enrollment</a:t>
            </a:r>
            <a:endParaRPr lang="en-US" sz="850" dirty="0"/>
          </a:p>
        </p:txBody>
      </p:sp>
      <p:sp>
        <p:nvSpPr>
          <p:cNvPr id="40" name="Text 38"/>
          <p:cNvSpPr/>
          <p:nvPr/>
        </p:nvSpPr>
        <p:spPr>
          <a:xfrm>
            <a:off x="6382512" y="2295144"/>
            <a:ext cx="2331720" cy="438912"/>
          </a:xfrm>
          <a:prstGeom prst="rect">
            <a:avLst/>
          </a:prstGeom>
          <a:noFill/>
        </p:spPr>
        <p:txBody>
          <a:bodyPr wrap="square" rtlCol="0" anchor="ctr"/>
          <a:lstStyle/>
          <a:p>
            <a:pPr marL="0" indent="0">
              <a:buNone/>
            </a:pPr>
            <a:r>
              <a:rPr lang="en-US" sz="850" dirty="0">
                <a:solidFill>
                  <a:srgbClr val="0D1F15"/>
                </a:solidFill>
              </a:rPr>
              <a:t>Joint NSSF–OwnIt submission; voluntary savings complement to pension</a:t>
            </a:r>
            <a:endParaRPr lang="en-US" sz="850" dirty="0"/>
          </a:p>
        </p:txBody>
      </p:sp>
      <p:sp>
        <p:nvSpPr>
          <p:cNvPr id="41" name="Shape 39"/>
          <p:cNvSpPr/>
          <p:nvPr/>
        </p:nvSpPr>
        <p:spPr>
          <a:xfrm>
            <a:off x="4754880" y="2825496"/>
            <a:ext cx="4069080" cy="512064"/>
          </a:xfrm>
          <a:prstGeom prst="rect">
            <a:avLst/>
          </a:prstGeom>
          <a:solidFill>
            <a:srgbClr val="FFFFFF"/>
          </a:solidFill>
          <a:effectLst>
            <a:outerShdw blurRad="101600" dist="38100" dir="8100000" algn="bl" rotWithShape="0">
              <a:srgbClr val="000000">
                <a:alpha val="12000"/>
              </a:srgbClr>
            </a:outerShdw>
          </a:effectLst>
        </p:spPr>
      </p:sp>
      <p:sp>
        <p:nvSpPr>
          <p:cNvPr id="42" name="Shape 40"/>
          <p:cNvSpPr/>
          <p:nvPr/>
        </p:nvSpPr>
        <p:spPr>
          <a:xfrm>
            <a:off x="4754880" y="2825496"/>
            <a:ext cx="64008" cy="512064"/>
          </a:xfrm>
          <a:prstGeom prst="rect">
            <a:avLst/>
          </a:prstGeom>
          <a:solidFill>
            <a:srgbClr val="1A7A45"/>
          </a:solidFill>
        </p:spPr>
      </p:sp>
      <p:sp>
        <p:nvSpPr>
          <p:cNvPr id="43" name="Text 41"/>
          <p:cNvSpPr/>
          <p:nvPr/>
        </p:nvSpPr>
        <p:spPr>
          <a:xfrm>
            <a:off x="4919472" y="2862072"/>
            <a:ext cx="1371600" cy="201168"/>
          </a:xfrm>
          <a:prstGeom prst="rect">
            <a:avLst/>
          </a:prstGeom>
          <a:noFill/>
        </p:spPr>
        <p:txBody>
          <a:bodyPr wrap="square" rtlCol="0" anchor="ctr"/>
          <a:lstStyle/>
          <a:p>
            <a:pPr marL="0" indent="0">
              <a:buNone/>
            </a:pPr>
            <a:r>
              <a:rPr lang="en-US" sz="1000" b="1" dirty="0">
                <a:solidFill>
                  <a:srgbClr val="1A7A45"/>
                </a:solidFill>
              </a:rPr>
              <a:t>Bank of Uganda</a:t>
            </a:r>
            <a:endParaRPr lang="en-US" sz="1000" dirty="0"/>
          </a:p>
        </p:txBody>
      </p:sp>
      <p:sp>
        <p:nvSpPr>
          <p:cNvPr id="44" name="Text 42"/>
          <p:cNvSpPr/>
          <p:nvPr/>
        </p:nvSpPr>
        <p:spPr>
          <a:xfrm>
            <a:off x="4919472" y="3063240"/>
            <a:ext cx="3794760" cy="164592"/>
          </a:xfrm>
          <a:prstGeom prst="rect">
            <a:avLst/>
          </a:prstGeom>
          <a:noFill/>
        </p:spPr>
        <p:txBody>
          <a:bodyPr wrap="square" rtlCol="0" anchor="ctr"/>
          <a:lstStyle/>
          <a:p>
            <a:pPr marL="0" indent="0">
              <a:buNone/>
            </a:pPr>
            <a:r>
              <a:rPr lang="en-US" sz="850" i="1" dirty="0">
                <a:solidFill>
                  <a:srgbClr val="5A7A68"/>
                </a:solidFill>
              </a:rPr>
              <a:t>FX instruments, MoMo payments</a:t>
            </a:r>
            <a:endParaRPr lang="en-US" sz="850" dirty="0"/>
          </a:p>
        </p:txBody>
      </p:sp>
      <p:sp>
        <p:nvSpPr>
          <p:cNvPr id="45" name="Text 43"/>
          <p:cNvSpPr/>
          <p:nvPr/>
        </p:nvSpPr>
        <p:spPr>
          <a:xfrm>
            <a:off x="6382512" y="2862072"/>
            <a:ext cx="2331720" cy="438912"/>
          </a:xfrm>
          <a:prstGeom prst="rect">
            <a:avLst/>
          </a:prstGeom>
          <a:noFill/>
        </p:spPr>
        <p:txBody>
          <a:bodyPr wrap="square" rtlCol="0" anchor="ctr"/>
          <a:lstStyle/>
          <a:p>
            <a:pPr marL="0" indent="0">
              <a:buNone/>
            </a:pPr>
            <a:r>
              <a:rPr lang="en-US" sz="850" dirty="0">
                <a:solidFill>
                  <a:srgbClr val="0D1F15"/>
                </a:solidFill>
              </a:rPr>
              <a:t>FX listers must hold BoU forex licences; OwnIt as platform, not dealer</a:t>
            </a:r>
            <a:endParaRPr lang="en-US" sz="850" dirty="0"/>
          </a:p>
        </p:txBody>
      </p:sp>
      <p:sp>
        <p:nvSpPr>
          <p:cNvPr id="46" name="Shape 44"/>
          <p:cNvSpPr/>
          <p:nvPr/>
        </p:nvSpPr>
        <p:spPr>
          <a:xfrm>
            <a:off x="4754880" y="3392424"/>
            <a:ext cx="4069080" cy="512064"/>
          </a:xfrm>
          <a:prstGeom prst="rect">
            <a:avLst/>
          </a:prstGeom>
          <a:solidFill>
            <a:srgbClr val="FFFFFF"/>
          </a:solidFill>
          <a:effectLst>
            <a:outerShdw blurRad="101600" dist="38100" dir="8100000" algn="bl" rotWithShape="0">
              <a:srgbClr val="000000">
                <a:alpha val="12000"/>
              </a:srgbClr>
            </a:outerShdw>
          </a:effectLst>
        </p:spPr>
      </p:sp>
      <p:sp>
        <p:nvSpPr>
          <p:cNvPr id="47" name="Shape 45"/>
          <p:cNvSpPr/>
          <p:nvPr/>
        </p:nvSpPr>
        <p:spPr>
          <a:xfrm>
            <a:off x="4754880" y="3392424"/>
            <a:ext cx="64008" cy="512064"/>
          </a:xfrm>
          <a:prstGeom prst="rect">
            <a:avLst/>
          </a:prstGeom>
          <a:solidFill>
            <a:srgbClr val="1A7A45"/>
          </a:solidFill>
        </p:spPr>
      </p:sp>
      <p:sp>
        <p:nvSpPr>
          <p:cNvPr id="48" name="Text 46"/>
          <p:cNvSpPr/>
          <p:nvPr/>
        </p:nvSpPr>
        <p:spPr>
          <a:xfrm>
            <a:off x="4919472" y="3429000"/>
            <a:ext cx="1371600" cy="201168"/>
          </a:xfrm>
          <a:prstGeom prst="rect">
            <a:avLst/>
          </a:prstGeom>
          <a:noFill/>
        </p:spPr>
        <p:txBody>
          <a:bodyPr wrap="square" rtlCol="0" anchor="ctr"/>
          <a:lstStyle/>
          <a:p>
            <a:pPr marL="0" indent="0">
              <a:buNone/>
            </a:pPr>
            <a:r>
              <a:rPr lang="en-US" sz="1000" b="1" dirty="0">
                <a:solidFill>
                  <a:srgbClr val="1A7A45"/>
                </a:solidFill>
              </a:rPr>
              <a:t>PAU Uganda</a:t>
            </a:r>
            <a:endParaRPr lang="en-US" sz="1000" dirty="0"/>
          </a:p>
        </p:txBody>
      </p:sp>
      <p:sp>
        <p:nvSpPr>
          <p:cNvPr id="49" name="Text 47"/>
          <p:cNvSpPr/>
          <p:nvPr/>
        </p:nvSpPr>
        <p:spPr>
          <a:xfrm>
            <a:off x="4919472" y="3630168"/>
            <a:ext cx="3794760" cy="164592"/>
          </a:xfrm>
          <a:prstGeom prst="rect">
            <a:avLst/>
          </a:prstGeom>
          <a:noFill/>
        </p:spPr>
        <p:txBody>
          <a:bodyPr wrap="square" rtlCol="0" anchor="ctr"/>
          <a:lstStyle/>
          <a:p>
            <a:pPr marL="0" indent="0">
              <a:buNone/>
            </a:pPr>
            <a:r>
              <a:rPr lang="en-US" sz="850" i="1" dirty="0">
                <a:solidFill>
                  <a:srgbClr val="5A7A68"/>
                </a:solidFill>
              </a:rPr>
              <a:t>Petroleum &amp; energy products</a:t>
            </a:r>
            <a:endParaRPr lang="en-US" sz="850" dirty="0"/>
          </a:p>
        </p:txBody>
      </p:sp>
      <p:sp>
        <p:nvSpPr>
          <p:cNvPr id="50" name="Text 48"/>
          <p:cNvSpPr/>
          <p:nvPr/>
        </p:nvSpPr>
        <p:spPr>
          <a:xfrm>
            <a:off x="6382512" y="3429000"/>
            <a:ext cx="2331720" cy="438912"/>
          </a:xfrm>
          <a:prstGeom prst="rect">
            <a:avLst/>
          </a:prstGeom>
          <a:noFill/>
        </p:spPr>
        <p:txBody>
          <a:bodyPr wrap="square" rtlCol="0" anchor="ctr"/>
          <a:lstStyle/>
          <a:p>
            <a:pPr marL="0" indent="0">
              <a:buNone/>
            </a:pPr>
            <a:r>
              <a:rPr lang="en-US" sz="850" dirty="0">
                <a:solidFill>
                  <a:srgbClr val="0D1F15"/>
                </a:solidFill>
              </a:rPr>
              <a:t>All petroleum listers must hold valid PAU licences; consignment docs verified</a:t>
            </a:r>
            <a:endParaRPr lang="en-US" sz="850" dirty="0"/>
          </a:p>
        </p:txBody>
      </p:sp>
      <p:sp>
        <p:nvSpPr>
          <p:cNvPr id="51" name="Shape 49"/>
          <p:cNvSpPr/>
          <p:nvPr/>
        </p:nvSpPr>
        <p:spPr>
          <a:xfrm>
            <a:off x="4754880" y="3959352"/>
            <a:ext cx="4069080" cy="512064"/>
          </a:xfrm>
          <a:prstGeom prst="rect">
            <a:avLst/>
          </a:prstGeom>
          <a:solidFill>
            <a:srgbClr val="FFFFFF"/>
          </a:solidFill>
          <a:effectLst>
            <a:outerShdw blurRad="101600" dist="38100" dir="8100000" algn="bl" rotWithShape="0">
              <a:srgbClr val="000000">
                <a:alpha val="12000"/>
              </a:srgbClr>
            </a:outerShdw>
          </a:effectLst>
        </p:spPr>
      </p:sp>
      <p:sp>
        <p:nvSpPr>
          <p:cNvPr id="52" name="Shape 50"/>
          <p:cNvSpPr/>
          <p:nvPr/>
        </p:nvSpPr>
        <p:spPr>
          <a:xfrm>
            <a:off x="4754880" y="3959352"/>
            <a:ext cx="64008" cy="512064"/>
          </a:xfrm>
          <a:prstGeom prst="rect">
            <a:avLst/>
          </a:prstGeom>
          <a:solidFill>
            <a:srgbClr val="1A7A45"/>
          </a:solidFill>
        </p:spPr>
      </p:sp>
      <p:sp>
        <p:nvSpPr>
          <p:cNvPr id="53" name="Text 51"/>
          <p:cNvSpPr/>
          <p:nvPr/>
        </p:nvSpPr>
        <p:spPr>
          <a:xfrm>
            <a:off x="4919472" y="3995928"/>
            <a:ext cx="1371600" cy="201168"/>
          </a:xfrm>
          <a:prstGeom prst="rect">
            <a:avLst/>
          </a:prstGeom>
          <a:noFill/>
        </p:spPr>
        <p:txBody>
          <a:bodyPr wrap="square" rtlCol="0" anchor="ctr"/>
          <a:lstStyle/>
          <a:p>
            <a:pPr marL="0" indent="0">
              <a:buNone/>
            </a:pPr>
            <a:r>
              <a:rPr lang="en-US" sz="1000" b="1" dirty="0">
                <a:solidFill>
                  <a:srgbClr val="1A7A45"/>
                </a:solidFill>
              </a:rPr>
              <a:t>DGSM Uganda</a:t>
            </a:r>
            <a:endParaRPr lang="en-US" sz="1000" dirty="0"/>
          </a:p>
        </p:txBody>
      </p:sp>
      <p:sp>
        <p:nvSpPr>
          <p:cNvPr id="54" name="Text 52"/>
          <p:cNvSpPr/>
          <p:nvPr/>
        </p:nvSpPr>
        <p:spPr>
          <a:xfrm>
            <a:off x="4919472" y="4197096"/>
            <a:ext cx="3794760" cy="164592"/>
          </a:xfrm>
          <a:prstGeom prst="rect">
            <a:avLst/>
          </a:prstGeom>
          <a:noFill/>
        </p:spPr>
        <p:txBody>
          <a:bodyPr wrap="square" rtlCol="0" anchor="ctr"/>
          <a:lstStyle/>
          <a:p>
            <a:pPr marL="0" indent="0">
              <a:buNone/>
            </a:pPr>
            <a:r>
              <a:rPr lang="en-US" sz="850" i="1" dirty="0">
                <a:solidFill>
                  <a:srgbClr val="5A7A68"/>
                </a:solidFill>
              </a:rPr>
              <a:t>Rare earth minerals</a:t>
            </a:r>
            <a:endParaRPr lang="en-US" sz="850" dirty="0"/>
          </a:p>
        </p:txBody>
      </p:sp>
      <p:sp>
        <p:nvSpPr>
          <p:cNvPr id="55" name="Text 53"/>
          <p:cNvSpPr/>
          <p:nvPr/>
        </p:nvSpPr>
        <p:spPr>
          <a:xfrm>
            <a:off x="6382512" y="3995928"/>
            <a:ext cx="2331720" cy="438912"/>
          </a:xfrm>
          <a:prstGeom prst="rect">
            <a:avLst/>
          </a:prstGeom>
          <a:noFill/>
        </p:spPr>
        <p:txBody>
          <a:bodyPr wrap="square" rtlCol="0" anchor="ctr"/>
          <a:lstStyle/>
          <a:p>
            <a:pPr marL="0" indent="0">
              <a:buNone/>
            </a:pPr>
            <a:r>
              <a:rPr lang="en-US" sz="850" dirty="0">
                <a:solidFill>
                  <a:srgbClr val="0D1F15"/>
                </a:solidFill>
              </a:rPr>
              <a:t>ICGLR conflict-free cert required; DGSM export licence; assay certs mandatory</a:t>
            </a:r>
            <a:endParaRPr lang="en-US" sz="850" dirty="0"/>
          </a:p>
        </p:txBody>
      </p:sp>
      <p:sp>
        <p:nvSpPr>
          <p:cNvPr id="56" name="Shape 54"/>
          <p:cNvSpPr/>
          <p:nvPr/>
        </p:nvSpPr>
        <p:spPr>
          <a:xfrm>
            <a:off x="4754880" y="4526280"/>
            <a:ext cx="4069080" cy="512064"/>
          </a:xfrm>
          <a:prstGeom prst="rect">
            <a:avLst/>
          </a:prstGeom>
          <a:solidFill>
            <a:srgbClr val="FFFFFF"/>
          </a:solidFill>
          <a:effectLst>
            <a:outerShdw blurRad="101600" dist="38100" dir="8100000" algn="bl" rotWithShape="0">
              <a:srgbClr val="000000">
                <a:alpha val="12000"/>
              </a:srgbClr>
            </a:outerShdw>
          </a:effectLst>
        </p:spPr>
      </p:sp>
      <p:sp>
        <p:nvSpPr>
          <p:cNvPr id="57" name="Shape 55"/>
          <p:cNvSpPr/>
          <p:nvPr/>
        </p:nvSpPr>
        <p:spPr>
          <a:xfrm>
            <a:off x="4754880" y="4526280"/>
            <a:ext cx="64008" cy="512064"/>
          </a:xfrm>
          <a:prstGeom prst="rect">
            <a:avLst/>
          </a:prstGeom>
          <a:solidFill>
            <a:srgbClr val="1A7A45"/>
          </a:solidFill>
        </p:spPr>
      </p:sp>
      <p:sp>
        <p:nvSpPr>
          <p:cNvPr id="58" name="Text 56"/>
          <p:cNvSpPr/>
          <p:nvPr/>
        </p:nvSpPr>
        <p:spPr>
          <a:xfrm>
            <a:off x="4919472" y="4562856"/>
            <a:ext cx="1371600" cy="201168"/>
          </a:xfrm>
          <a:prstGeom prst="rect">
            <a:avLst/>
          </a:prstGeom>
          <a:noFill/>
        </p:spPr>
        <p:txBody>
          <a:bodyPr wrap="square" rtlCol="0" anchor="ctr"/>
          <a:lstStyle/>
          <a:p>
            <a:pPr marL="0" indent="0">
              <a:buNone/>
            </a:pPr>
            <a:r>
              <a:rPr lang="en-US" sz="1000" b="1" dirty="0">
                <a:solidFill>
                  <a:srgbClr val="1A7A45"/>
                </a:solidFill>
              </a:rPr>
              <a:t>FIA Uganda</a:t>
            </a:r>
            <a:endParaRPr lang="en-US" sz="1000" dirty="0"/>
          </a:p>
        </p:txBody>
      </p:sp>
      <p:sp>
        <p:nvSpPr>
          <p:cNvPr id="59" name="Text 57"/>
          <p:cNvSpPr/>
          <p:nvPr/>
        </p:nvSpPr>
        <p:spPr>
          <a:xfrm>
            <a:off x="4919472" y="4764024"/>
            <a:ext cx="3794760" cy="164592"/>
          </a:xfrm>
          <a:prstGeom prst="rect">
            <a:avLst/>
          </a:prstGeom>
          <a:noFill/>
        </p:spPr>
        <p:txBody>
          <a:bodyPr wrap="square" rtlCol="0" anchor="ctr"/>
          <a:lstStyle/>
          <a:p>
            <a:pPr marL="0" indent="0">
              <a:buNone/>
            </a:pPr>
            <a:r>
              <a:rPr lang="en-US" sz="850" i="1" dirty="0">
                <a:solidFill>
                  <a:srgbClr val="5A7A68"/>
                </a:solidFill>
              </a:rPr>
              <a:t>AML/CFT — all classes</a:t>
            </a:r>
            <a:endParaRPr lang="en-US" sz="850" dirty="0"/>
          </a:p>
        </p:txBody>
      </p:sp>
      <p:sp>
        <p:nvSpPr>
          <p:cNvPr id="60" name="Text 58"/>
          <p:cNvSpPr/>
          <p:nvPr/>
        </p:nvSpPr>
        <p:spPr>
          <a:xfrm>
            <a:off x="6382512" y="4562856"/>
            <a:ext cx="2331720" cy="438912"/>
          </a:xfrm>
          <a:prstGeom prst="rect">
            <a:avLst/>
          </a:prstGeom>
          <a:noFill/>
        </p:spPr>
        <p:txBody>
          <a:bodyPr wrap="square" rtlCol="0" anchor="ctr"/>
          <a:lstStyle/>
          <a:p>
            <a:pPr marL="0" indent="0">
              <a:buNone/>
            </a:pPr>
            <a:r>
              <a:rPr lang="en-US" sz="850" dirty="0">
                <a:solidFill>
                  <a:srgbClr val="0D1F15"/>
                </a:solidFill>
              </a:rPr>
              <a:t>Risk-based AML policy; STR filing; transaction monitoring integrated with FIA</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FINANCIAL PROJECTIONS</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400" b="1" dirty="0">
                <a:solidFill>
                  <a:srgbClr val="0D1F15"/>
                </a:solidFill>
                <a:latin typeface="Georgia" panose="02040502050405020303" pitchFamily="34" charset="0"/>
                <a:ea typeface="Georgia" panose="02040502050405020303" pitchFamily="34" charset="-122"/>
                <a:cs typeface="Georgia" panose="02040502050405020303" pitchFamily="34" charset="-120"/>
              </a:rPr>
              <a:t>5-year model with NSSF revenue share. Profitable by Year 2.</a:t>
            </a:r>
            <a:endParaRPr lang="en-US" sz="2400" dirty="0"/>
          </a:p>
        </p:txBody>
      </p:sp>
      <p:graphicFrame>
        <p:nvGraphicFramePr>
          <p:cNvPr id="5" name="Chart 0"/>
          <p:cNvGraphicFramePr/>
          <p:nvPr/>
        </p:nvGraphicFramePr>
        <p:xfrm>
          <a:off x="365760" y="1325880"/>
          <a:ext cx="5029200" cy="2743200"/>
        </p:xfrm>
        <a:graphic>
          <a:graphicData uri="http://schemas.openxmlformats.org/drawingml/2006/chart">
            <c:chart xmlns:c="http://schemas.openxmlformats.org/drawingml/2006/chart" xmlns:r="http://schemas.openxmlformats.org/officeDocument/2006/relationships" r:id="rId1"/>
          </a:graphicData>
        </a:graphic>
      </p:graphicFrame>
      <p:sp>
        <p:nvSpPr>
          <p:cNvPr id="6" name="Shape 3"/>
          <p:cNvSpPr/>
          <p:nvPr/>
        </p:nvSpPr>
        <p:spPr>
          <a:xfrm>
            <a:off x="5559552" y="1325880"/>
            <a:ext cx="3246120" cy="256032"/>
          </a:xfrm>
          <a:prstGeom prst="rect">
            <a:avLst/>
          </a:prstGeom>
          <a:solidFill>
            <a:srgbClr val="0F4D2B"/>
          </a:solidFill>
        </p:spPr>
      </p:sp>
      <p:sp>
        <p:nvSpPr>
          <p:cNvPr id="7" name="Text 4"/>
          <p:cNvSpPr/>
          <p:nvPr/>
        </p:nvSpPr>
        <p:spPr>
          <a:xfrm>
            <a:off x="5577840" y="1362456"/>
            <a:ext cx="1042416" cy="182880"/>
          </a:xfrm>
          <a:prstGeom prst="rect">
            <a:avLst/>
          </a:prstGeom>
          <a:noFill/>
        </p:spPr>
        <p:txBody>
          <a:bodyPr wrap="square" rtlCol="0" anchor="ctr"/>
          <a:lstStyle/>
          <a:p>
            <a:pPr marL="0" indent="0" algn="l">
              <a:buNone/>
            </a:pPr>
            <a:r>
              <a:rPr lang="en-US" sz="800" b="1" dirty="0">
                <a:solidFill>
                  <a:srgbClr val="FFFFFF"/>
                </a:solidFill>
              </a:rPr>
              <a:t>Metric</a:t>
            </a:r>
            <a:endParaRPr lang="en-US" sz="800" dirty="0"/>
          </a:p>
        </p:txBody>
      </p:sp>
      <p:sp>
        <p:nvSpPr>
          <p:cNvPr id="8" name="Text 5"/>
          <p:cNvSpPr/>
          <p:nvPr/>
        </p:nvSpPr>
        <p:spPr>
          <a:xfrm>
            <a:off x="6656832" y="1362456"/>
            <a:ext cx="694944" cy="182880"/>
          </a:xfrm>
          <a:prstGeom prst="rect">
            <a:avLst/>
          </a:prstGeom>
          <a:noFill/>
        </p:spPr>
        <p:txBody>
          <a:bodyPr wrap="square" rtlCol="0" anchor="ctr"/>
          <a:lstStyle/>
          <a:p>
            <a:pPr marL="0" indent="0" algn="r">
              <a:buNone/>
            </a:pPr>
            <a:r>
              <a:rPr lang="en-US" sz="800" b="1" dirty="0">
                <a:solidFill>
                  <a:srgbClr val="FFFFFF"/>
                </a:solidFill>
              </a:rPr>
              <a:t>Yr 1</a:t>
            </a:r>
            <a:endParaRPr lang="en-US" sz="800" dirty="0"/>
          </a:p>
        </p:txBody>
      </p:sp>
      <p:sp>
        <p:nvSpPr>
          <p:cNvPr id="9" name="Text 6"/>
          <p:cNvSpPr/>
          <p:nvPr/>
        </p:nvSpPr>
        <p:spPr>
          <a:xfrm>
            <a:off x="7388352" y="1362456"/>
            <a:ext cx="694944" cy="182880"/>
          </a:xfrm>
          <a:prstGeom prst="rect">
            <a:avLst/>
          </a:prstGeom>
          <a:noFill/>
        </p:spPr>
        <p:txBody>
          <a:bodyPr wrap="square" rtlCol="0" anchor="ctr"/>
          <a:lstStyle/>
          <a:p>
            <a:pPr marL="0" indent="0" algn="r">
              <a:buNone/>
            </a:pPr>
            <a:r>
              <a:rPr lang="en-US" sz="800" b="1" dirty="0">
                <a:solidFill>
                  <a:srgbClr val="FFFFFF"/>
                </a:solidFill>
              </a:rPr>
              <a:t>Yr 2</a:t>
            </a:r>
            <a:endParaRPr lang="en-US" sz="800" dirty="0"/>
          </a:p>
        </p:txBody>
      </p:sp>
      <p:sp>
        <p:nvSpPr>
          <p:cNvPr id="10" name="Text 7"/>
          <p:cNvSpPr/>
          <p:nvPr/>
        </p:nvSpPr>
        <p:spPr>
          <a:xfrm>
            <a:off x="8119872" y="1362456"/>
            <a:ext cx="685800" cy="182880"/>
          </a:xfrm>
          <a:prstGeom prst="rect">
            <a:avLst/>
          </a:prstGeom>
          <a:noFill/>
        </p:spPr>
        <p:txBody>
          <a:bodyPr wrap="square" rtlCol="0" anchor="ctr"/>
          <a:lstStyle/>
          <a:p>
            <a:pPr marL="0" indent="0" algn="r">
              <a:buNone/>
            </a:pPr>
            <a:r>
              <a:rPr lang="en-US" sz="800" b="1" dirty="0">
                <a:solidFill>
                  <a:srgbClr val="FFFFFF"/>
                </a:solidFill>
              </a:rPr>
              <a:t>Yr 3</a:t>
            </a:r>
            <a:endParaRPr lang="en-US" sz="800" dirty="0"/>
          </a:p>
        </p:txBody>
      </p:sp>
      <p:sp>
        <p:nvSpPr>
          <p:cNvPr id="11" name="Shape 8"/>
          <p:cNvSpPr/>
          <p:nvPr/>
        </p:nvSpPr>
        <p:spPr>
          <a:xfrm>
            <a:off x="5559552" y="1609344"/>
            <a:ext cx="3246120" cy="256032"/>
          </a:xfrm>
          <a:prstGeom prst="rect">
            <a:avLst/>
          </a:prstGeom>
          <a:solidFill>
            <a:srgbClr val="F4F9F5"/>
          </a:solidFill>
        </p:spPr>
      </p:sp>
      <p:sp>
        <p:nvSpPr>
          <p:cNvPr id="12" name="Text 9"/>
          <p:cNvSpPr/>
          <p:nvPr/>
        </p:nvSpPr>
        <p:spPr>
          <a:xfrm>
            <a:off x="5577840" y="1645920"/>
            <a:ext cx="1042416" cy="182880"/>
          </a:xfrm>
          <a:prstGeom prst="rect">
            <a:avLst/>
          </a:prstGeom>
          <a:noFill/>
        </p:spPr>
        <p:txBody>
          <a:bodyPr wrap="square" rtlCol="0" anchor="ctr"/>
          <a:lstStyle/>
          <a:p>
            <a:pPr marL="0" indent="0" algn="l">
              <a:buNone/>
            </a:pPr>
            <a:r>
              <a:rPr lang="en-US" sz="800" b="1" dirty="0">
                <a:solidFill>
                  <a:srgbClr val="0D1F15"/>
                </a:solidFill>
              </a:rPr>
              <a:t>Active Investors</a:t>
            </a:r>
            <a:endParaRPr lang="en-US" sz="800" dirty="0"/>
          </a:p>
        </p:txBody>
      </p:sp>
      <p:sp>
        <p:nvSpPr>
          <p:cNvPr id="13" name="Text 10"/>
          <p:cNvSpPr/>
          <p:nvPr/>
        </p:nvSpPr>
        <p:spPr>
          <a:xfrm>
            <a:off x="6656832" y="1645920"/>
            <a:ext cx="694944" cy="182880"/>
          </a:xfrm>
          <a:prstGeom prst="rect">
            <a:avLst/>
          </a:prstGeom>
          <a:noFill/>
        </p:spPr>
        <p:txBody>
          <a:bodyPr wrap="square" rtlCol="0" anchor="ctr"/>
          <a:lstStyle/>
          <a:p>
            <a:pPr marL="0" indent="0" algn="r">
              <a:buNone/>
            </a:pPr>
            <a:r>
              <a:rPr lang="en-US" sz="800" dirty="0">
                <a:solidFill>
                  <a:srgbClr val="1A7A45"/>
                </a:solidFill>
              </a:rPr>
              <a:t>5,000</a:t>
            </a:r>
            <a:endParaRPr lang="en-US" sz="800" dirty="0"/>
          </a:p>
        </p:txBody>
      </p:sp>
      <p:sp>
        <p:nvSpPr>
          <p:cNvPr id="14" name="Text 11"/>
          <p:cNvSpPr/>
          <p:nvPr/>
        </p:nvSpPr>
        <p:spPr>
          <a:xfrm>
            <a:off x="7388352" y="1645920"/>
            <a:ext cx="694944" cy="182880"/>
          </a:xfrm>
          <a:prstGeom prst="rect">
            <a:avLst/>
          </a:prstGeom>
          <a:noFill/>
        </p:spPr>
        <p:txBody>
          <a:bodyPr wrap="square" rtlCol="0" anchor="ctr"/>
          <a:lstStyle/>
          <a:p>
            <a:pPr marL="0" indent="0" algn="r">
              <a:buNone/>
            </a:pPr>
            <a:r>
              <a:rPr lang="en-US" sz="800" dirty="0">
                <a:solidFill>
                  <a:srgbClr val="1A7A45"/>
                </a:solidFill>
              </a:rPr>
              <a:t>30,000</a:t>
            </a:r>
            <a:endParaRPr lang="en-US" sz="800" dirty="0"/>
          </a:p>
        </p:txBody>
      </p:sp>
      <p:sp>
        <p:nvSpPr>
          <p:cNvPr id="15" name="Text 12"/>
          <p:cNvSpPr/>
          <p:nvPr/>
        </p:nvSpPr>
        <p:spPr>
          <a:xfrm>
            <a:off x="8119872" y="1645920"/>
            <a:ext cx="685800" cy="182880"/>
          </a:xfrm>
          <a:prstGeom prst="rect">
            <a:avLst/>
          </a:prstGeom>
          <a:noFill/>
        </p:spPr>
        <p:txBody>
          <a:bodyPr wrap="square" rtlCol="0" anchor="ctr"/>
          <a:lstStyle/>
          <a:p>
            <a:pPr marL="0" indent="0" algn="r">
              <a:buNone/>
            </a:pPr>
            <a:r>
              <a:rPr lang="en-US" sz="800" dirty="0">
                <a:solidFill>
                  <a:srgbClr val="1A7A45"/>
                </a:solidFill>
              </a:rPr>
              <a:t>100,000</a:t>
            </a:r>
            <a:endParaRPr lang="en-US" sz="800" dirty="0"/>
          </a:p>
        </p:txBody>
      </p:sp>
      <p:sp>
        <p:nvSpPr>
          <p:cNvPr id="16" name="Shape 13"/>
          <p:cNvSpPr/>
          <p:nvPr/>
        </p:nvSpPr>
        <p:spPr>
          <a:xfrm>
            <a:off x="5559552" y="1892808"/>
            <a:ext cx="3246120" cy="256032"/>
          </a:xfrm>
          <a:prstGeom prst="rect">
            <a:avLst/>
          </a:prstGeom>
          <a:solidFill>
            <a:srgbClr val="FFFFFF"/>
          </a:solidFill>
        </p:spPr>
      </p:sp>
      <p:sp>
        <p:nvSpPr>
          <p:cNvPr id="17" name="Text 14"/>
          <p:cNvSpPr/>
          <p:nvPr/>
        </p:nvSpPr>
        <p:spPr>
          <a:xfrm>
            <a:off x="5577840" y="1929384"/>
            <a:ext cx="1042416" cy="182880"/>
          </a:xfrm>
          <a:prstGeom prst="rect">
            <a:avLst/>
          </a:prstGeom>
          <a:noFill/>
        </p:spPr>
        <p:txBody>
          <a:bodyPr wrap="square" rtlCol="0" anchor="ctr"/>
          <a:lstStyle/>
          <a:p>
            <a:pPr marL="0" indent="0" algn="l">
              <a:buNone/>
            </a:pPr>
            <a:r>
              <a:rPr lang="en-US" sz="800" b="1" dirty="0">
                <a:solidFill>
                  <a:srgbClr val="0D1F15"/>
                </a:solidFill>
              </a:rPr>
              <a:t>Asset Classes Live</a:t>
            </a:r>
            <a:endParaRPr lang="en-US" sz="800" dirty="0"/>
          </a:p>
        </p:txBody>
      </p:sp>
      <p:sp>
        <p:nvSpPr>
          <p:cNvPr id="18" name="Text 15"/>
          <p:cNvSpPr/>
          <p:nvPr/>
        </p:nvSpPr>
        <p:spPr>
          <a:xfrm>
            <a:off x="6656832" y="1929384"/>
            <a:ext cx="694944" cy="182880"/>
          </a:xfrm>
          <a:prstGeom prst="rect">
            <a:avLst/>
          </a:prstGeom>
          <a:noFill/>
        </p:spPr>
        <p:txBody>
          <a:bodyPr wrap="square" rtlCol="0" anchor="ctr"/>
          <a:lstStyle/>
          <a:p>
            <a:pPr marL="0" indent="0" algn="r">
              <a:buNone/>
            </a:pPr>
            <a:r>
              <a:rPr lang="en-US" sz="800" dirty="0">
                <a:solidFill>
                  <a:srgbClr val="1A7A45"/>
                </a:solidFill>
              </a:rPr>
              <a:t>3</a:t>
            </a:r>
            <a:endParaRPr lang="en-US" sz="800" dirty="0"/>
          </a:p>
        </p:txBody>
      </p:sp>
      <p:sp>
        <p:nvSpPr>
          <p:cNvPr id="19" name="Text 16"/>
          <p:cNvSpPr/>
          <p:nvPr/>
        </p:nvSpPr>
        <p:spPr>
          <a:xfrm>
            <a:off x="7388352" y="1929384"/>
            <a:ext cx="694944" cy="182880"/>
          </a:xfrm>
          <a:prstGeom prst="rect">
            <a:avLst/>
          </a:prstGeom>
          <a:noFill/>
        </p:spPr>
        <p:txBody>
          <a:bodyPr wrap="square" rtlCol="0" anchor="ctr"/>
          <a:lstStyle/>
          <a:p>
            <a:pPr marL="0" indent="0" algn="r">
              <a:buNone/>
            </a:pPr>
            <a:r>
              <a:rPr lang="en-US" sz="800" dirty="0">
                <a:solidFill>
                  <a:srgbClr val="1A7A45"/>
                </a:solidFill>
              </a:rPr>
              <a:t>6</a:t>
            </a:r>
            <a:endParaRPr lang="en-US" sz="800" dirty="0"/>
          </a:p>
        </p:txBody>
      </p:sp>
      <p:sp>
        <p:nvSpPr>
          <p:cNvPr id="20" name="Text 17"/>
          <p:cNvSpPr/>
          <p:nvPr/>
        </p:nvSpPr>
        <p:spPr>
          <a:xfrm>
            <a:off x="8119872" y="1929384"/>
            <a:ext cx="685800" cy="182880"/>
          </a:xfrm>
          <a:prstGeom prst="rect">
            <a:avLst/>
          </a:prstGeom>
          <a:noFill/>
        </p:spPr>
        <p:txBody>
          <a:bodyPr wrap="square" rtlCol="0" anchor="ctr"/>
          <a:lstStyle/>
          <a:p>
            <a:pPr marL="0" indent="0" algn="r">
              <a:buNone/>
            </a:pPr>
            <a:r>
              <a:rPr lang="en-US" sz="800" dirty="0">
                <a:solidFill>
                  <a:srgbClr val="1A7A45"/>
                </a:solidFill>
              </a:rPr>
              <a:t>8</a:t>
            </a:r>
            <a:endParaRPr lang="en-US" sz="800" dirty="0"/>
          </a:p>
        </p:txBody>
      </p:sp>
      <p:sp>
        <p:nvSpPr>
          <p:cNvPr id="21" name="Shape 18"/>
          <p:cNvSpPr/>
          <p:nvPr/>
        </p:nvSpPr>
        <p:spPr>
          <a:xfrm>
            <a:off x="5559552" y="2176272"/>
            <a:ext cx="3246120" cy="256032"/>
          </a:xfrm>
          <a:prstGeom prst="rect">
            <a:avLst/>
          </a:prstGeom>
          <a:solidFill>
            <a:srgbClr val="F4F9F5"/>
          </a:solidFill>
        </p:spPr>
      </p:sp>
      <p:sp>
        <p:nvSpPr>
          <p:cNvPr id="22" name="Text 19"/>
          <p:cNvSpPr/>
          <p:nvPr/>
        </p:nvSpPr>
        <p:spPr>
          <a:xfrm>
            <a:off x="5577840" y="2212848"/>
            <a:ext cx="1042416" cy="182880"/>
          </a:xfrm>
          <a:prstGeom prst="rect">
            <a:avLst/>
          </a:prstGeom>
          <a:noFill/>
        </p:spPr>
        <p:txBody>
          <a:bodyPr wrap="square" rtlCol="0" anchor="ctr"/>
          <a:lstStyle/>
          <a:p>
            <a:pPr marL="0" indent="0" algn="l">
              <a:buNone/>
            </a:pPr>
            <a:r>
              <a:rPr lang="en-US" sz="800" b="1" dirty="0">
                <a:solidFill>
                  <a:srgbClr val="0D1F15"/>
                </a:solidFill>
              </a:rPr>
              <a:t>Total AUM</a:t>
            </a:r>
            <a:endParaRPr lang="en-US" sz="800" dirty="0"/>
          </a:p>
        </p:txBody>
      </p:sp>
      <p:sp>
        <p:nvSpPr>
          <p:cNvPr id="23" name="Text 20"/>
          <p:cNvSpPr/>
          <p:nvPr/>
        </p:nvSpPr>
        <p:spPr>
          <a:xfrm>
            <a:off x="6656832" y="2212848"/>
            <a:ext cx="694944" cy="182880"/>
          </a:xfrm>
          <a:prstGeom prst="rect">
            <a:avLst/>
          </a:prstGeom>
          <a:noFill/>
        </p:spPr>
        <p:txBody>
          <a:bodyPr wrap="square" rtlCol="0" anchor="ctr"/>
          <a:lstStyle/>
          <a:p>
            <a:pPr marL="0" indent="0" algn="r">
              <a:buNone/>
            </a:pPr>
            <a:r>
              <a:rPr lang="en-US" sz="800" dirty="0">
                <a:solidFill>
                  <a:srgbClr val="1A7A45"/>
                </a:solidFill>
              </a:rPr>
              <a:t>UGX 4.5B</a:t>
            </a:r>
            <a:endParaRPr lang="en-US" sz="800" dirty="0"/>
          </a:p>
        </p:txBody>
      </p:sp>
      <p:sp>
        <p:nvSpPr>
          <p:cNvPr id="24" name="Text 21"/>
          <p:cNvSpPr/>
          <p:nvPr/>
        </p:nvSpPr>
        <p:spPr>
          <a:xfrm>
            <a:off x="7388352" y="2212848"/>
            <a:ext cx="694944" cy="182880"/>
          </a:xfrm>
          <a:prstGeom prst="rect">
            <a:avLst/>
          </a:prstGeom>
          <a:noFill/>
        </p:spPr>
        <p:txBody>
          <a:bodyPr wrap="square" rtlCol="0" anchor="ctr"/>
          <a:lstStyle/>
          <a:p>
            <a:pPr marL="0" indent="0" algn="r">
              <a:buNone/>
            </a:pPr>
            <a:r>
              <a:rPr lang="en-US" sz="800" dirty="0">
                <a:solidFill>
                  <a:srgbClr val="1A7A45"/>
                </a:solidFill>
              </a:rPr>
              <a:t>UGX 27B</a:t>
            </a:r>
            <a:endParaRPr lang="en-US" sz="800" dirty="0"/>
          </a:p>
        </p:txBody>
      </p:sp>
      <p:sp>
        <p:nvSpPr>
          <p:cNvPr id="25" name="Text 22"/>
          <p:cNvSpPr/>
          <p:nvPr/>
        </p:nvSpPr>
        <p:spPr>
          <a:xfrm>
            <a:off x="8119872" y="2212848"/>
            <a:ext cx="685800" cy="182880"/>
          </a:xfrm>
          <a:prstGeom prst="rect">
            <a:avLst/>
          </a:prstGeom>
          <a:noFill/>
        </p:spPr>
        <p:txBody>
          <a:bodyPr wrap="square" rtlCol="0" anchor="ctr"/>
          <a:lstStyle/>
          <a:p>
            <a:pPr marL="0" indent="0" algn="r">
              <a:buNone/>
            </a:pPr>
            <a:r>
              <a:rPr lang="en-US" sz="800" dirty="0">
                <a:solidFill>
                  <a:srgbClr val="1A7A45"/>
                </a:solidFill>
              </a:rPr>
              <a:t>UGX 90B</a:t>
            </a:r>
            <a:endParaRPr lang="en-US" sz="800" dirty="0"/>
          </a:p>
        </p:txBody>
      </p:sp>
      <p:sp>
        <p:nvSpPr>
          <p:cNvPr id="26" name="Shape 23"/>
          <p:cNvSpPr/>
          <p:nvPr/>
        </p:nvSpPr>
        <p:spPr>
          <a:xfrm>
            <a:off x="5559552" y="2459736"/>
            <a:ext cx="3246120" cy="256032"/>
          </a:xfrm>
          <a:prstGeom prst="rect">
            <a:avLst/>
          </a:prstGeom>
          <a:solidFill>
            <a:srgbClr val="FFFFFF"/>
          </a:solidFill>
        </p:spPr>
      </p:sp>
      <p:sp>
        <p:nvSpPr>
          <p:cNvPr id="27" name="Text 24"/>
          <p:cNvSpPr/>
          <p:nvPr/>
        </p:nvSpPr>
        <p:spPr>
          <a:xfrm>
            <a:off x="5577840" y="2496312"/>
            <a:ext cx="1042416" cy="182880"/>
          </a:xfrm>
          <a:prstGeom prst="rect">
            <a:avLst/>
          </a:prstGeom>
          <a:noFill/>
        </p:spPr>
        <p:txBody>
          <a:bodyPr wrap="square" rtlCol="0" anchor="ctr"/>
          <a:lstStyle/>
          <a:p>
            <a:pPr marL="0" indent="0" algn="l">
              <a:buNone/>
            </a:pPr>
            <a:r>
              <a:rPr lang="en-US" sz="800" b="1" dirty="0">
                <a:solidFill>
                  <a:srgbClr val="0D1F15"/>
                </a:solidFill>
              </a:rPr>
              <a:t>Gross Revenue (OwnIt+NSSF)</a:t>
            </a:r>
            <a:endParaRPr lang="en-US" sz="800" dirty="0"/>
          </a:p>
        </p:txBody>
      </p:sp>
      <p:sp>
        <p:nvSpPr>
          <p:cNvPr id="28" name="Text 25"/>
          <p:cNvSpPr/>
          <p:nvPr/>
        </p:nvSpPr>
        <p:spPr>
          <a:xfrm>
            <a:off x="6656832" y="2496312"/>
            <a:ext cx="694944" cy="182880"/>
          </a:xfrm>
          <a:prstGeom prst="rect">
            <a:avLst/>
          </a:prstGeom>
          <a:noFill/>
        </p:spPr>
        <p:txBody>
          <a:bodyPr wrap="square" rtlCol="0" anchor="ctr"/>
          <a:lstStyle/>
          <a:p>
            <a:pPr marL="0" indent="0" algn="r">
              <a:buNone/>
            </a:pPr>
            <a:r>
              <a:rPr lang="en-US" sz="800" dirty="0">
                <a:solidFill>
                  <a:srgbClr val="1A7A45"/>
                </a:solidFill>
              </a:rPr>
              <a:t>UGX 130M</a:t>
            </a:r>
            <a:endParaRPr lang="en-US" sz="800" dirty="0"/>
          </a:p>
        </p:txBody>
      </p:sp>
      <p:sp>
        <p:nvSpPr>
          <p:cNvPr id="29" name="Text 26"/>
          <p:cNvSpPr/>
          <p:nvPr/>
        </p:nvSpPr>
        <p:spPr>
          <a:xfrm>
            <a:off x="7388352" y="2496312"/>
            <a:ext cx="694944" cy="182880"/>
          </a:xfrm>
          <a:prstGeom prst="rect">
            <a:avLst/>
          </a:prstGeom>
          <a:noFill/>
        </p:spPr>
        <p:txBody>
          <a:bodyPr wrap="square" rtlCol="0" anchor="ctr"/>
          <a:lstStyle/>
          <a:p>
            <a:pPr marL="0" indent="0" algn="r">
              <a:buNone/>
            </a:pPr>
            <a:r>
              <a:rPr lang="en-US" sz="800" dirty="0">
                <a:solidFill>
                  <a:srgbClr val="1A7A45"/>
                </a:solidFill>
              </a:rPr>
              <a:t>UGX 780M</a:t>
            </a:r>
            <a:endParaRPr lang="en-US" sz="800" dirty="0"/>
          </a:p>
        </p:txBody>
      </p:sp>
      <p:sp>
        <p:nvSpPr>
          <p:cNvPr id="30" name="Text 27"/>
          <p:cNvSpPr/>
          <p:nvPr/>
        </p:nvSpPr>
        <p:spPr>
          <a:xfrm>
            <a:off x="8119872" y="2496312"/>
            <a:ext cx="685800" cy="182880"/>
          </a:xfrm>
          <a:prstGeom prst="rect">
            <a:avLst/>
          </a:prstGeom>
          <a:noFill/>
        </p:spPr>
        <p:txBody>
          <a:bodyPr wrap="square" rtlCol="0" anchor="ctr"/>
          <a:lstStyle/>
          <a:p>
            <a:pPr marL="0" indent="0" algn="r">
              <a:buNone/>
            </a:pPr>
            <a:r>
              <a:rPr lang="en-US" sz="800" dirty="0">
                <a:solidFill>
                  <a:srgbClr val="1A7A45"/>
                </a:solidFill>
              </a:rPr>
              <a:t>UGX 2.6B</a:t>
            </a:r>
            <a:endParaRPr lang="en-US" sz="800" dirty="0"/>
          </a:p>
        </p:txBody>
      </p:sp>
      <p:sp>
        <p:nvSpPr>
          <p:cNvPr id="31" name="Shape 28"/>
          <p:cNvSpPr/>
          <p:nvPr/>
        </p:nvSpPr>
        <p:spPr>
          <a:xfrm>
            <a:off x="5559552" y="2743200"/>
            <a:ext cx="3246120" cy="256032"/>
          </a:xfrm>
          <a:prstGeom prst="rect">
            <a:avLst/>
          </a:prstGeom>
          <a:solidFill>
            <a:srgbClr val="028090"/>
          </a:solidFill>
        </p:spPr>
      </p:sp>
      <p:sp>
        <p:nvSpPr>
          <p:cNvPr id="32" name="Text 29"/>
          <p:cNvSpPr/>
          <p:nvPr/>
        </p:nvSpPr>
        <p:spPr>
          <a:xfrm>
            <a:off x="5650992" y="2779776"/>
            <a:ext cx="3063240" cy="182880"/>
          </a:xfrm>
          <a:prstGeom prst="rect">
            <a:avLst/>
          </a:prstGeom>
          <a:noFill/>
        </p:spPr>
        <p:txBody>
          <a:bodyPr wrap="square" rtlCol="0" anchor="ctr"/>
          <a:lstStyle/>
          <a:p>
            <a:pPr marL="0" indent="0">
              <a:buNone/>
            </a:pPr>
            <a:r>
              <a:rPr lang="en-US" sz="850" b="1" dirty="0">
                <a:solidFill>
                  <a:srgbClr val="FFFFFF"/>
                </a:solidFill>
              </a:rPr>
              <a:t>NSSF REVENUE LINES</a:t>
            </a:r>
            <a:endParaRPr lang="en-US" sz="850" dirty="0"/>
          </a:p>
        </p:txBody>
      </p:sp>
      <p:sp>
        <p:nvSpPr>
          <p:cNvPr id="33" name="Shape 30"/>
          <p:cNvSpPr/>
          <p:nvPr/>
        </p:nvSpPr>
        <p:spPr>
          <a:xfrm>
            <a:off x="5559552" y="3026664"/>
            <a:ext cx="3246120" cy="256032"/>
          </a:xfrm>
          <a:prstGeom prst="rect">
            <a:avLst/>
          </a:prstGeom>
          <a:solidFill>
            <a:srgbClr val="FFFFFF"/>
          </a:solidFill>
        </p:spPr>
      </p:sp>
      <p:sp>
        <p:nvSpPr>
          <p:cNvPr id="34" name="Text 31"/>
          <p:cNvSpPr/>
          <p:nvPr/>
        </p:nvSpPr>
        <p:spPr>
          <a:xfrm>
            <a:off x="5577840" y="3063240"/>
            <a:ext cx="1042416" cy="182880"/>
          </a:xfrm>
          <a:prstGeom prst="rect">
            <a:avLst/>
          </a:prstGeom>
          <a:noFill/>
        </p:spPr>
        <p:txBody>
          <a:bodyPr wrap="square" rtlCol="0" anchor="ctr"/>
          <a:lstStyle/>
          <a:p>
            <a:pPr marL="0" indent="0" algn="l">
              <a:buNone/>
            </a:pPr>
            <a:r>
              <a:rPr lang="en-US" sz="800" b="1" dirty="0">
                <a:solidFill>
                  <a:srgbClr val="0D1F15"/>
                </a:solidFill>
              </a:rPr>
              <a:t>NSSF 3% (Investor side)</a:t>
            </a:r>
            <a:endParaRPr lang="en-US" sz="800" dirty="0"/>
          </a:p>
        </p:txBody>
      </p:sp>
      <p:sp>
        <p:nvSpPr>
          <p:cNvPr id="35" name="Text 32"/>
          <p:cNvSpPr/>
          <p:nvPr/>
        </p:nvSpPr>
        <p:spPr>
          <a:xfrm>
            <a:off x="6656832" y="3063240"/>
            <a:ext cx="694944" cy="182880"/>
          </a:xfrm>
          <a:prstGeom prst="rect">
            <a:avLst/>
          </a:prstGeom>
          <a:noFill/>
        </p:spPr>
        <p:txBody>
          <a:bodyPr wrap="square" rtlCol="0" anchor="ctr"/>
          <a:lstStyle/>
          <a:p>
            <a:pPr marL="0" indent="0" algn="r">
              <a:buNone/>
            </a:pPr>
            <a:r>
              <a:rPr lang="en-US" sz="800" dirty="0">
                <a:solidFill>
                  <a:srgbClr val="1A7A45"/>
                </a:solidFill>
              </a:rPr>
              <a:t>UGX 32M</a:t>
            </a:r>
            <a:endParaRPr lang="en-US" sz="800" dirty="0"/>
          </a:p>
        </p:txBody>
      </p:sp>
      <p:sp>
        <p:nvSpPr>
          <p:cNvPr id="36" name="Text 33"/>
          <p:cNvSpPr/>
          <p:nvPr/>
        </p:nvSpPr>
        <p:spPr>
          <a:xfrm>
            <a:off x="7388352" y="3063240"/>
            <a:ext cx="694944" cy="182880"/>
          </a:xfrm>
          <a:prstGeom prst="rect">
            <a:avLst/>
          </a:prstGeom>
          <a:noFill/>
        </p:spPr>
        <p:txBody>
          <a:bodyPr wrap="square" rtlCol="0" anchor="ctr"/>
          <a:lstStyle/>
          <a:p>
            <a:pPr marL="0" indent="0" algn="r">
              <a:buNone/>
            </a:pPr>
            <a:r>
              <a:rPr lang="en-US" sz="800" dirty="0">
                <a:solidFill>
                  <a:srgbClr val="1A7A45"/>
                </a:solidFill>
              </a:rPr>
              <a:t>UGX 194M</a:t>
            </a:r>
            <a:endParaRPr lang="en-US" sz="800" dirty="0"/>
          </a:p>
        </p:txBody>
      </p:sp>
      <p:sp>
        <p:nvSpPr>
          <p:cNvPr id="37" name="Text 34"/>
          <p:cNvSpPr/>
          <p:nvPr/>
        </p:nvSpPr>
        <p:spPr>
          <a:xfrm>
            <a:off x="8119872" y="3063240"/>
            <a:ext cx="685800" cy="182880"/>
          </a:xfrm>
          <a:prstGeom prst="rect">
            <a:avLst/>
          </a:prstGeom>
          <a:noFill/>
        </p:spPr>
        <p:txBody>
          <a:bodyPr wrap="square" rtlCol="0" anchor="ctr"/>
          <a:lstStyle/>
          <a:p>
            <a:pPr marL="0" indent="0" algn="r">
              <a:buNone/>
            </a:pPr>
            <a:r>
              <a:rPr lang="en-US" sz="800" dirty="0">
                <a:solidFill>
                  <a:srgbClr val="1A7A45"/>
                </a:solidFill>
              </a:rPr>
              <a:t>UGX 648M</a:t>
            </a:r>
            <a:endParaRPr lang="en-US" sz="800" dirty="0"/>
          </a:p>
        </p:txBody>
      </p:sp>
      <p:sp>
        <p:nvSpPr>
          <p:cNvPr id="38" name="Shape 35"/>
          <p:cNvSpPr/>
          <p:nvPr/>
        </p:nvSpPr>
        <p:spPr>
          <a:xfrm>
            <a:off x="5559552" y="3310128"/>
            <a:ext cx="3246120" cy="256032"/>
          </a:xfrm>
          <a:prstGeom prst="rect">
            <a:avLst/>
          </a:prstGeom>
          <a:solidFill>
            <a:srgbClr val="F4F9F5"/>
          </a:solidFill>
        </p:spPr>
      </p:sp>
      <p:sp>
        <p:nvSpPr>
          <p:cNvPr id="39" name="Text 36"/>
          <p:cNvSpPr/>
          <p:nvPr/>
        </p:nvSpPr>
        <p:spPr>
          <a:xfrm>
            <a:off x="5577840" y="3346704"/>
            <a:ext cx="1042416" cy="182880"/>
          </a:xfrm>
          <a:prstGeom prst="rect">
            <a:avLst/>
          </a:prstGeom>
          <a:noFill/>
        </p:spPr>
        <p:txBody>
          <a:bodyPr wrap="square" rtlCol="0" anchor="ctr"/>
          <a:lstStyle/>
          <a:p>
            <a:pPr marL="0" indent="0" algn="l">
              <a:buNone/>
            </a:pPr>
            <a:r>
              <a:rPr lang="en-US" sz="800" b="1" dirty="0">
                <a:solidFill>
                  <a:srgbClr val="0D1F15"/>
                </a:solidFill>
              </a:rPr>
              <a:t>NSSF 3% (Lister side)</a:t>
            </a:r>
            <a:endParaRPr lang="en-US" sz="800" dirty="0"/>
          </a:p>
        </p:txBody>
      </p:sp>
      <p:sp>
        <p:nvSpPr>
          <p:cNvPr id="40" name="Text 37"/>
          <p:cNvSpPr/>
          <p:nvPr/>
        </p:nvSpPr>
        <p:spPr>
          <a:xfrm>
            <a:off x="6656832" y="3346704"/>
            <a:ext cx="694944" cy="182880"/>
          </a:xfrm>
          <a:prstGeom prst="rect">
            <a:avLst/>
          </a:prstGeom>
          <a:noFill/>
        </p:spPr>
        <p:txBody>
          <a:bodyPr wrap="square" rtlCol="0" anchor="ctr"/>
          <a:lstStyle/>
          <a:p>
            <a:pPr marL="0" indent="0" algn="r">
              <a:buNone/>
            </a:pPr>
            <a:r>
              <a:rPr lang="en-US" sz="800" dirty="0">
                <a:solidFill>
                  <a:srgbClr val="1A7A45"/>
                </a:solidFill>
              </a:rPr>
              <a:t>UGX 15M</a:t>
            </a:r>
            <a:endParaRPr lang="en-US" sz="800" dirty="0"/>
          </a:p>
        </p:txBody>
      </p:sp>
      <p:sp>
        <p:nvSpPr>
          <p:cNvPr id="41" name="Text 38"/>
          <p:cNvSpPr/>
          <p:nvPr/>
        </p:nvSpPr>
        <p:spPr>
          <a:xfrm>
            <a:off x="7388352" y="3346704"/>
            <a:ext cx="694944" cy="182880"/>
          </a:xfrm>
          <a:prstGeom prst="rect">
            <a:avLst/>
          </a:prstGeom>
          <a:noFill/>
        </p:spPr>
        <p:txBody>
          <a:bodyPr wrap="square" rtlCol="0" anchor="ctr"/>
          <a:lstStyle/>
          <a:p>
            <a:pPr marL="0" indent="0" algn="r">
              <a:buNone/>
            </a:pPr>
            <a:r>
              <a:rPr lang="en-US" sz="800" dirty="0">
                <a:solidFill>
                  <a:srgbClr val="1A7A45"/>
                </a:solidFill>
              </a:rPr>
              <a:t>UGX 90M</a:t>
            </a:r>
            <a:endParaRPr lang="en-US" sz="800" dirty="0"/>
          </a:p>
        </p:txBody>
      </p:sp>
      <p:sp>
        <p:nvSpPr>
          <p:cNvPr id="42" name="Text 39"/>
          <p:cNvSpPr/>
          <p:nvPr/>
        </p:nvSpPr>
        <p:spPr>
          <a:xfrm>
            <a:off x="8119872" y="3346704"/>
            <a:ext cx="685800" cy="182880"/>
          </a:xfrm>
          <a:prstGeom prst="rect">
            <a:avLst/>
          </a:prstGeom>
          <a:noFill/>
        </p:spPr>
        <p:txBody>
          <a:bodyPr wrap="square" rtlCol="0" anchor="ctr"/>
          <a:lstStyle/>
          <a:p>
            <a:pPr marL="0" indent="0" algn="r">
              <a:buNone/>
            </a:pPr>
            <a:r>
              <a:rPr lang="en-US" sz="800" dirty="0">
                <a:solidFill>
                  <a:srgbClr val="1A7A45"/>
                </a:solidFill>
              </a:rPr>
              <a:t>UGX 300M</a:t>
            </a:r>
            <a:endParaRPr lang="en-US" sz="800" dirty="0"/>
          </a:p>
        </p:txBody>
      </p:sp>
      <p:sp>
        <p:nvSpPr>
          <p:cNvPr id="43" name="Shape 40"/>
          <p:cNvSpPr/>
          <p:nvPr/>
        </p:nvSpPr>
        <p:spPr>
          <a:xfrm>
            <a:off x="5559552" y="3593592"/>
            <a:ext cx="3246120" cy="256032"/>
          </a:xfrm>
          <a:prstGeom prst="rect">
            <a:avLst/>
          </a:prstGeom>
          <a:solidFill>
            <a:srgbClr val="FFFFFF"/>
          </a:solidFill>
        </p:spPr>
      </p:sp>
      <p:sp>
        <p:nvSpPr>
          <p:cNvPr id="44" name="Text 41"/>
          <p:cNvSpPr/>
          <p:nvPr/>
        </p:nvSpPr>
        <p:spPr>
          <a:xfrm>
            <a:off x="5577840" y="3630168"/>
            <a:ext cx="1042416" cy="182880"/>
          </a:xfrm>
          <a:prstGeom prst="rect">
            <a:avLst/>
          </a:prstGeom>
          <a:noFill/>
        </p:spPr>
        <p:txBody>
          <a:bodyPr wrap="square" rtlCol="0" anchor="ctr"/>
          <a:lstStyle/>
          <a:p>
            <a:pPr marL="0" indent="0" algn="l">
              <a:buNone/>
            </a:pPr>
            <a:r>
              <a:rPr lang="en-US" sz="800" b="1" dirty="0">
                <a:solidFill>
                  <a:srgbClr val="0D1F15"/>
                </a:solidFill>
              </a:rPr>
              <a:t>NSSF 30% Listing Fees</a:t>
            </a:r>
            <a:endParaRPr lang="en-US" sz="800" dirty="0"/>
          </a:p>
        </p:txBody>
      </p:sp>
      <p:sp>
        <p:nvSpPr>
          <p:cNvPr id="45" name="Text 42"/>
          <p:cNvSpPr/>
          <p:nvPr/>
        </p:nvSpPr>
        <p:spPr>
          <a:xfrm>
            <a:off x="6656832" y="3630168"/>
            <a:ext cx="694944" cy="182880"/>
          </a:xfrm>
          <a:prstGeom prst="rect">
            <a:avLst/>
          </a:prstGeom>
          <a:noFill/>
        </p:spPr>
        <p:txBody>
          <a:bodyPr wrap="square" rtlCol="0" anchor="ctr"/>
          <a:lstStyle/>
          <a:p>
            <a:pPr marL="0" indent="0" algn="r">
              <a:buNone/>
            </a:pPr>
            <a:r>
              <a:rPr lang="en-US" sz="800" dirty="0">
                <a:solidFill>
                  <a:srgbClr val="1A7A45"/>
                </a:solidFill>
              </a:rPr>
              <a:t>UGX 22M</a:t>
            </a:r>
            <a:endParaRPr lang="en-US" sz="800" dirty="0"/>
          </a:p>
        </p:txBody>
      </p:sp>
      <p:sp>
        <p:nvSpPr>
          <p:cNvPr id="46" name="Text 43"/>
          <p:cNvSpPr/>
          <p:nvPr/>
        </p:nvSpPr>
        <p:spPr>
          <a:xfrm>
            <a:off x="7388352" y="3630168"/>
            <a:ext cx="694944" cy="182880"/>
          </a:xfrm>
          <a:prstGeom prst="rect">
            <a:avLst/>
          </a:prstGeom>
          <a:noFill/>
        </p:spPr>
        <p:txBody>
          <a:bodyPr wrap="square" rtlCol="0" anchor="ctr"/>
          <a:lstStyle/>
          <a:p>
            <a:pPr marL="0" indent="0" algn="r">
              <a:buNone/>
            </a:pPr>
            <a:r>
              <a:rPr lang="en-US" sz="800" dirty="0">
                <a:solidFill>
                  <a:srgbClr val="1A7A45"/>
                </a:solidFill>
              </a:rPr>
              <a:t>UGX 82M</a:t>
            </a:r>
            <a:endParaRPr lang="en-US" sz="800" dirty="0"/>
          </a:p>
        </p:txBody>
      </p:sp>
      <p:sp>
        <p:nvSpPr>
          <p:cNvPr id="47" name="Text 44"/>
          <p:cNvSpPr/>
          <p:nvPr/>
        </p:nvSpPr>
        <p:spPr>
          <a:xfrm>
            <a:off x="8119872" y="3630168"/>
            <a:ext cx="685800" cy="182880"/>
          </a:xfrm>
          <a:prstGeom prst="rect">
            <a:avLst/>
          </a:prstGeom>
          <a:noFill/>
        </p:spPr>
        <p:txBody>
          <a:bodyPr wrap="square" rtlCol="0" anchor="ctr"/>
          <a:lstStyle/>
          <a:p>
            <a:pPr marL="0" indent="0" algn="r">
              <a:buNone/>
            </a:pPr>
            <a:r>
              <a:rPr lang="en-US" sz="800" dirty="0">
                <a:solidFill>
                  <a:srgbClr val="1A7A45"/>
                </a:solidFill>
              </a:rPr>
              <a:t>UGX 216M</a:t>
            </a:r>
            <a:endParaRPr lang="en-US" sz="800" dirty="0"/>
          </a:p>
        </p:txBody>
      </p:sp>
      <p:sp>
        <p:nvSpPr>
          <p:cNvPr id="48" name="Shape 45"/>
          <p:cNvSpPr/>
          <p:nvPr/>
        </p:nvSpPr>
        <p:spPr>
          <a:xfrm>
            <a:off x="5559552" y="3877056"/>
            <a:ext cx="3246120" cy="256032"/>
          </a:xfrm>
          <a:prstGeom prst="rect">
            <a:avLst/>
          </a:prstGeom>
          <a:solidFill>
            <a:srgbClr val="028090"/>
          </a:solidFill>
        </p:spPr>
      </p:sp>
      <p:sp>
        <p:nvSpPr>
          <p:cNvPr id="49" name="Text 46"/>
          <p:cNvSpPr/>
          <p:nvPr/>
        </p:nvSpPr>
        <p:spPr>
          <a:xfrm>
            <a:off x="5577840" y="3913632"/>
            <a:ext cx="1042416" cy="182880"/>
          </a:xfrm>
          <a:prstGeom prst="rect">
            <a:avLst/>
          </a:prstGeom>
          <a:noFill/>
        </p:spPr>
        <p:txBody>
          <a:bodyPr wrap="square" rtlCol="0" anchor="ctr"/>
          <a:lstStyle/>
          <a:p>
            <a:pPr marL="0" indent="0" algn="l">
              <a:buNone/>
            </a:pPr>
            <a:r>
              <a:rPr lang="en-US" sz="800" b="1" dirty="0">
                <a:solidFill>
                  <a:srgbClr val="FFFFFF"/>
                </a:solidFill>
              </a:rPr>
              <a:t>NSSF Operating Total</a:t>
            </a:r>
            <a:endParaRPr lang="en-US" sz="800" dirty="0"/>
          </a:p>
        </p:txBody>
      </p:sp>
      <p:sp>
        <p:nvSpPr>
          <p:cNvPr id="50" name="Text 47"/>
          <p:cNvSpPr/>
          <p:nvPr/>
        </p:nvSpPr>
        <p:spPr>
          <a:xfrm>
            <a:off x="6656832" y="3913632"/>
            <a:ext cx="694944" cy="182880"/>
          </a:xfrm>
          <a:prstGeom prst="rect">
            <a:avLst/>
          </a:prstGeom>
          <a:noFill/>
        </p:spPr>
        <p:txBody>
          <a:bodyPr wrap="square" rtlCol="0" anchor="ctr"/>
          <a:lstStyle/>
          <a:p>
            <a:pPr marL="0" indent="0" algn="r">
              <a:buNone/>
            </a:pPr>
            <a:r>
              <a:rPr lang="en-US" sz="800" b="1" dirty="0">
                <a:solidFill>
                  <a:srgbClr val="FFFFFF"/>
                </a:solidFill>
              </a:rPr>
              <a:t>UGX 69M</a:t>
            </a:r>
            <a:endParaRPr lang="en-US" sz="800" dirty="0"/>
          </a:p>
        </p:txBody>
      </p:sp>
      <p:sp>
        <p:nvSpPr>
          <p:cNvPr id="51" name="Text 48"/>
          <p:cNvSpPr/>
          <p:nvPr/>
        </p:nvSpPr>
        <p:spPr>
          <a:xfrm>
            <a:off x="7388352" y="3913632"/>
            <a:ext cx="694944" cy="182880"/>
          </a:xfrm>
          <a:prstGeom prst="rect">
            <a:avLst/>
          </a:prstGeom>
          <a:noFill/>
        </p:spPr>
        <p:txBody>
          <a:bodyPr wrap="square" rtlCol="0" anchor="ctr"/>
          <a:lstStyle/>
          <a:p>
            <a:pPr marL="0" indent="0" algn="r">
              <a:buNone/>
            </a:pPr>
            <a:r>
              <a:rPr lang="en-US" sz="800" b="1" dirty="0">
                <a:solidFill>
                  <a:srgbClr val="FFFFFF"/>
                </a:solidFill>
              </a:rPr>
              <a:t>UGX 366M</a:t>
            </a:r>
            <a:endParaRPr lang="en-US" sz="800" dirty="0"/>
          </a:p>
        </p:txBody>
      </p:sp>
      <p:sp>
        <p:nvSpPr>
          <p:cNvPr id="52" name="Text 49"/>
          <p:cNvSpPr/>
          <p:nvPr/>
        </p:nvSpPr>
        <p:spPr>
          <a:xfrm>
            <a:off x="8119872" y="3913632"/>
            <a:ext cx="685800" cy="182880"/>
          </a:xfrm>
          <a:prstGeom prst="rect">
            <a:avLst/>
          </a:prstGeom>
          <a:noFill/>
        </p:spPr>
        <p:txBody>
          <a:bodyPr wrap="square" rtlCol="0" anchor="ctr"/>
          <a:lstStyle/>
          <a:p>
            <a:pPr marL="0" indent="0" algn="r">
              <a:buNone/>
            </a:pPr>
            <a:r>
              <a:rPr lang="en-US" sz="800" b="1" dirty="0">
                <a:solidFill>
                  <a:srgbClr val="FFFFFF"/>
                </a:solidFill>
              </a:rPr>
              <a:t>UGX 1.16B</a:t>
            </a:r>
            <a:endParaRPr lang="en-US" sz="800" dirty="0"/>
          </a:p>
        </p:txBody>
      </p:sp>
      <p:sp>
        <p:nvSpPr>
          <p:cNvPr id="53" name="Shape 50"/>
          <p:cNvSpPr/>
          <p:nvPr/>
        </p:nvSpPr>
        <p:spPr>
          <a:xfrm>
            <a:off x="5559552" y="4160520"/>
            <a:ext cx="3246120" cy="256032"/>
          </a:xfrm>
          <a:prstGeom prst="rect">
            <a:avLst/>
          </a:prstGeom>
          <a:solidFill>
            <a:srgbClr val="FFFFFF"/>
          </a:solidFill>
        </p:spPr>
      </p:sp>
      <p:sp>
        <p:nvSpPr>
          <p:cNvPr id="54" name="Text 51"/>
          <p:cNvSpPr/>
          <p:nvPr/>
        </p:nvSpPr>
        <p:spPr>
          <a:xfrm>
            <a:off x="5577840" y="4197096"/>
            <a:ext cx="1042416" cy="182880"/>
          </a:xfrm>
          <a:prstGeom prst="rect">
            <a:avLst/>
          </a:prstGeom>
          <a:noFill/>
        </p:spPr>
        <p:txBody>
          <a:bodyPr wrap="square" rtlCol="0" anchor="ctr"/>
          <a:lstStyle/>
          <a:p>
            <a:pPr marL="0" indent="0" algn="l">
              <a:buNone/>
            </a:pPr>
            <a:r>
              <a:rPr lang="en-US" sz="800" b="1" dirty="0">
                <a:solidFill>
                  <a:srgbClr val="0D1F15"/>
                </a:solidFill>
              </a:rPr>
              <a:t>2% Pension Levy (AUM add)</a:t>
            </a:r>
            <a:endParaRPr lang="en-US" sz="800" dirty="0"/>
          </a:p>
        </p:txBody>
      </p:sp>
      <p:sp>
        <p:nvSpPr>
          <p:cNvPr id="55" name="Text 52"/>
          <p:cNvSpPr/>
          <p:nvPr/>
        </p:nvSpPr>
        <p:spPr>
          <a:xfrm>
            <a:off x="6656832" y="4197096"/>
            <a:ext cx="694944" cy="182880"/>
          </a:xfrm>
          <a:prstGeom prst="rect">
            <a:avLst/>
          </a:prstGeom>
          <a:noFill/>
        </p:spPr>
        <p:txBody>
          <a:bodyPr wrap="square" rtlCol="0" anchor="ctr"/>
          <a:lstStyle/>
          <a:p>
            <a:pPr marL="0" indent="0" algn="r">
              <a:buNone/>
            </a:pPr>
            <a:r>
              <a:rPr lang="en-US" sz="800" dirty="0">
                <a:solidFill>
                  <a:srgbClr val="1A7A45"/>
                </a:solidFill>
              </a:rPr>
              <a:t>UGX 18M</a:t>
            </a:r>
            <a:endParaRPr lang="en-US" sz="800" dirty="0"/>
          </a:p>
        </p:txBody>
      </p:sp>
      <p:sp>
        <p:nvSpPr>
          <p:cNvPr id="56" name="Text 53"/>
          <p:cNvSpPr/>
          <p:nvPr/>
        </p:nvSpPr>
        <p:spPr>
          <a:xfrm>
            <a:off x="7388352" y="4197096"/>
            <a:ext cx="694944" cy="182880"/>
          </a:xfrm>
          <a:prstGeom prst="rect">
            <a:avLst/>
          </a:prstGeom>
          <a:noFill/>
        </p:spPr>
        <p:txBody>
          <a:bodyPr wrap="square" rtlCol="0" anchor="ctr"/>
          <a:lstStyle/>
          <a:p>
            <a:pPr marL="0" indent="0" algn="r">
              <a:buNone/>
            </a:pPr>
            <a:r>
              <a:rPr lang="en-US" sz="800" dirty="0">
                <a:solidFill>
                  <a:srgbClr val="1A7A45"/>
                </a:solidFill>
              </a:rPr>
              <a:t>UGX 108M</a:t>
            </a:r>
            <a:endParaRPr lang="en-US" sz="800" dirty="0"/>
          </a:p>
        </p:txBody>
      </p:sp>
      <p:sp>
        <p:nvSpPr>
          <p:cNvPr id="57" name="Text 54"/>
          <p:cNvSpPr/>
          <p:nvPr/>
        </p:nvSpPr>
        <p:spPr>
          <a:xfrm>
            <a:off x="8119872" y="4197096"/>
            <a:ext cx="685800" cy="182880"/>
          </a:xfrm>
          <a:prstGeom prst="rect">
            <a:avLst/>
          </a:prstGeom>
          <a:noFill/>
        </p:spPr>
        <p:txBody>
          <a:bodyPr wrap="square" rtlCol="0" anchor="ctr"/>
          <a:lstStyle/>
          <a:p>
            <a:pPr marL="0" indent="0" algn="r">
              <a:buNone/>
            </a:pPr>
            <a:r>
              <a:rPr lang="en-US" sz="800" dirty="0">
                <a:solidFill>
                  <a:srgbClr val="1A7A45"/>
                </a:solidFill>
              </a:rPr>
              <a:t>UGX 360M</a:t>
            </a:r>
            <a:endParaRPr lang="en-US" sz="800" dirty="0"/>
          </a:p>
        </p:txBody>
      </p:sp>
      <p:sp>
        <p:nvSpPr>
          <p:cNvPr id="58" name="Shape 55"/>
          <p:cNvSpPr/>
          <p:nvPr/>
        </p:nvSpPr>
        <p:spPr>
          <a:xfrm>
            <a:off x="5559552" y="4443984"/>
            <a:ext cx="3246120" cy="256032"/>
          </a:xfrm>
          <a:prstGeom prst="rect">
            <a:avLst/>
          </a:prstGeom>
          <a:solidFill>
            <a:srgbClr val="1A7A45"/>
          </a:solidFill>
        </p:spPr>
      </p:sp>
      <p:sp>
        <p:nvSpPr>
          <p:cNvPr id="59" name="Text 56"/>
          <p:cNvSpPr/>
          <p:nvPr/>
        </p:nvSpPr>
        <p:spPr>
          <a:xfrm>
            <a:off x="5577840" y="4480560"/>
            <a:ext cx="1042416" cy="182880"/>
          </a:xfrm>
          <a:prstGeom prst="rect">
            <a:avLst/>
          </a:prstGeom>
          <a:noFill/>
        </p:spPr>
        <p:txBody>
          <a:bodyPr wrap="square" rtlCol="0" anchor="ctr"/>
          <a:lstStyle/>
          <a:p>
            <a:pPr marL="0" indent="0" algn="l">
              <a:buNone/>
            </a:pPr>
            <a:r>
              <a:rPr lang="en-US" sz="800" b="1" dirty="0">
                <a:solidFill>
                  <a:srgbClr val="FFFFFF"/>
                </a:solidFill>
              </a:rPr>
              <a:t>TOTAL NSSF-MANAGED FUNDS</a:t>
            </a:r>
            <a:endParaRPr lang="en-US" sz="800" dirty="0"/>
          </a:p>
        </p:txBody>
      </p:sp>
      <p:sp>
        <p:nvSpPr>
          <p:cNvPr id="60" name="Text 57"/>
          <p:cNvSpPr/>
          <p:nvPr/>
        </p:nvSpPr>
        <p:spPr>
          <a:xfrm>
            <a:off x="6656832" y="4480560"/>
            <a:ext cx="694944" cy="182880"/>
          </a:xfrm>
          <a:prstGeom prst="rect">
            <a:avLst/>
          </a:prstGeom>
          <a:noFill/>
        </p:spPr>
        <p:txBody>
          <a:bodyPr wrap="square" rtlCol="0" anchor="ctr"/>
          <a:lstStyle/>
          <a:p>
            <a:pPr marL="0" indent="0" algn="r">
              <a:buNone/>
            </a:pPr>
            <a:r>
              <a:rPr lang="en-US" sz="800" b="1" dirty="0">
                <a:solidFill>
                  <a:srgbClr val="FFFFFF"/>
                </a:solidFill>
              </a:rPr>
              <a:t>UGX 87M</a:t>
            </a:r>
            <a:endParaRPr lang="en-US" sz="800" dirty="0"/>
          </a:p>
        </p:txBody>
      </p:sp>
      <p:sp>
        <p:nvSpPr>
          <p:cNvPr id="61" name="Text 58"/>
          <p:cNvSpPr/>
          <p:nvPr/>
        </p:nvSpPr>
        <p:spPr>
          <a:xfrm>
            <a:off x="7388352" y="4480560"/>
            <a:ext cx="694944" cy="182880"/>
          </a:xfrm>
          <a:prstGeom prst="rect">
            <a:avLst/>
          </a:prstGeom>
          <a:noFill/>
        </p:spPr>
        <p:txBody>
          <a:bodyPr wrap="square" rtlCol="0" anchor="ctr"/>
          <a:lstStyle/>
          <a:p>
            <a:pPr marL="0" indent="0" algn="r">
              <a:buNone/>
            </a:pPr>
            <a:r>
              <a:rPr lang="en-US" sz="800" b="1" dirty="0">
                <a:solidFill>
                  <a:srgbClr val="FFFFFF"/>
                </a:solidFill>
              </a:rPr>
              <a:t>UGX 474M</a:t>
            </a:r>
            <a:endParaRPr lang="en-US" sz="800" dirty="0"/>
          </a:p>
        </p:txBody>
      </p:sp>
      <p:sp>
        <p:nvSpPr>
          <p:cNvPr id="62" name="Text 59"/>
          <p:cNvSpPr/>
          <p:nvPr/>
        </p:nvSpPr>
        <p:spPr>
          <a:xfrm>
            <a:off x="8119872" y="4480560"/>
            <a:ext cx="685800" cy="182880"/>
          </a:xfrm>
          <a:prstGeom prst="rect">
            <a:avLst/>
          </a:prstGeom>
          <a:noFill/>
        </p:spPr>
        <p:txBody>
          <a:bodyPr wrap="square" rtlCol="0" anchor="ctr"/>
          <a:lstStyle/>
          <a:p>
            <a:pPr marL="0" indent="0" algn="r">
              <a:buNone/>
            </a:pPr>
            <a:r>
              <a:rPr lang="en-US" sz="800" b="1" dirty="0">
                <a:solidFill>
                  <a:srgbClr val="FFFFFF"/>
                </a:solidFill>
              </a:rPr>
              <a:t>UGX 1.52B</a:t>
            </a:r>
            <a:endParaRPr lang="en-US" sz="800" dirty="0"/>
          </a:p>
        </p:txBody>
      </p:sp>
      <p:sp>
        <p:nvSpPr>
          <p:cNvPr id="63" name="Shape 60"/>
          <p:cNvSpPr/>
          <p:nvPr/>
        </p:nvSpPr>
        <p:spPr>
          <a:xfrm>
            <a:off x="5559552" y="4727448"/>
            <a:ext cx="3246120" cy="256032"/>
          </a:xfrm>
          <a:prstGeom prst="rect">
            <a:avLst/>
          </a:prstGeom>
          <a:solidFill>
            <a:srgbClr val="FFFFFF"/>
          </a:solidFill>
        </p:spPr>
      </p:sp>
      <p:sp>
        <p:nvSpPr>
          <p:cNvPr id="64" name="Text 61"/>
          <p:cNvSpPr/>
          <p:nvPr/>
        </p:nvSpPr>
        <p:spPr>
          <a:xfrm>
            <a:off x="5577840" y="4764024"/>
            <a:ext cx="1042416" cy="182880"/>
          </a:xfrm>
          <a:prstGeom prst="rect">
            <a:avLst/>
          </a:prstGeom>
          <a:noFill/>
        </p:spPr>
        <p:txBody>
          <a:bodyPr wrap="square" rtlCol="0" anchor="ctr"/>
          <a:lstStyle/>
          <a:p>
            <a:pPr marL="0" indent="0" algn="l">
              <a:buNone/>
            </a:pPr>
            <a:r>
              <a:rPr lang="en-US" sz="800" b="1" dirty="0">
                <a:solidFill>
                  <a:srgbClr val="0D1F15"/>
                </a:solidFill>
              </a:rPr>
              <a:t>New NSSF Members</a:t>
            </a:r>
            <a:endParaRPr lang="en-US" sz="800" dirty="0"/>
          </a:p>
        </p:txBody>
      </p:sp>
      <p:sp>
        <p:nvSpPr>
          <p:cNvPr id="65" name="Text 62"/>
          <p:cNvSpPr/>
          <p:nvPr/>
        </p:nvSpPr>
        <p:spPr>
          <a:xfrm>
            <a:off x="6656832" y="4764024"/>
            <a:ext cx="694944" cy="182880"/>
          </a:xfrm>
          <a:prstGeom prst="rect">
            <a:avLst/>
          </a:prstGeom>
          <a:noFill/>
        </p:spPr>
        <p:txBody>
          <a:bodyPr wrap="square" rtlCol="0" anchor="ctr"/>
          <a:lstStyle/>
          <a:p>
            <a:pPr marL="0" indent="0" algn="r">
              <a:buNone/>
            </a:pPr>
            <a:r>
              <a:rPr lang="en-US" sz="800" dirty="0">
                <a:solidFill>
                  <a:srgbClr val="1A7A45"/>
                </a:solidFill>
              </a:rPr>
              <a:t>5,000</a:t>
            </a:r>
            <a:endParaRPr lang="en-US" sz="800" dirty="0"/>
          </a:p>
        </p:txBody>
      </p:sp>
      <p:sp>
        <p:nvSpPr>
          <p:cNvPr id="66" name="Text 63"/>
          <p:cNvSpPr/>
          <p:nvPr/>
        </p:nvSpPr>
        <p:spPr>
          <a:xfrm>
            <a:off x="7388352" y="4764024"/>
            <a:ext cx="694944" cy="182880"/>
          </a:xfrm>
          <a:prstGeom prst="rect">
            <a:avLst/>
          </a:prstGeom>
          <a:noFill/>
        </p:spPr>
        <p:txBody>
          <a:bodyPr wrap="square" rtlCol="0" anchor="ctr"/>
          <a:lstStyle/>
          <a:p>
            <a:pPr marL="0" indent="0" algn="r">
              <a:buNone/>
            </a:pPr>
            <a:r>
              <a:rPr lang="en-US" sz="800" dirty="0">
                <a:solidFill>
                  <a:srgbClr val="1A7A45"/>
                </a:solidFill>
              </a:rPr>
              <a:t>30,000</a:t>
            </a:r>
            <a:endParaRPr lang="en-US" sz="800" dirty="0"/>
          </a:p>
        </p:txBody>
      </p:sp>
      <p:sp>
        <p:nvSpPr>
          <p:cNvPr id="67" name="Text 64"/>
          <p:cNvSpPr/>
          <p:nvPr/>
        </p:nvSpPr>
        <p:spPr>
          <a:xfrm>
            <a:off x="8119872" y="4764024"/>
            <a:ext cx="685800" cy="182880"/>
          </a:xfrm>
          <a:prstGeom prst="rect">
            <a:avLst/>
          </a:prstGeom>
          <a:noFill/>
        </p:spPr>
        <p:txBody>
          <a:bodyPr wrap="square" rtlCol="0" anchor="ctr"/>
          <a:lstStyle/>
          <a:p>
            <a:pPr marL="0" indent="0" algn="r">
              <a:buNone/>
            </a:pPr>
            <a:r>
              <a:rPr lang="en-US" sz="800" dirty="0">
                <a:solidFill>
                  <a:srgbClr val="1A7A45"/>
                </a:solidFill>
              </a:rPr>
              <a:t>100,000</a:t>
            </a:r>
            <a:endParaRPr lang="en-US" sz="800" dirty="0"/>
          </a:p>
        </p:txBody>
      </p:sp>
      <p:sp>
        <p:nvSpPr>
          <p:cNvPr id="68" name="Shape 65"/>
          <p:cNvSpPr/>
          <p:nvPr/>
        </p:nvSpPr>
        <p:spPr>
          <a:xfrm>
            <a:off x="5559552" y="5010912"/>
            <a:ext cx="3246120" cy="256032"/>
          </a:xfrm>
          <a:prstGeom prst="rect">
            <a:avLst/>
          </a:prstGeom>
          <a:solidFill>
            <a:srgbClr val="F4F9F5"/>
          </a:solidFill>
        </p:spPr>
      </p:sp>
      <p:sp>
        <p:nvSpPr>
          <p:cNvPr id="69" name="Text 66"/>
          <p:cNvSpPr/>
          <p:nvPr/>
        </p:nvSpPr>
        <p:spPr>
          <a:xfrm>
            <a:off x="5577840" y="5047488"/>
            <a:ext cx="1042416" cy="182880"/>
          </a:xfrm>
          <a:prstGeom prst="rect">
            <a:avLst/>
          </a:prstGeom>
          <a:noFill/>
        </p:spPr>
        <p:txBody>
          <a:bodyPr wrap="square" rtlCol="0" anchor="ctr"/>
          <a:lstStyle/>
          <a:p>
            <a:pPr marL="0" indent="0" algn="l">
              <a:buNone/>
            </a:pPr>
            <a:r>
              <a:rPr lang="en-US" sz="800" b="1" dirty="0">
                <a:solidFill>
                  <a:srgbClr val="0D1F15"/>
                </a:solidFill>
              </a:rPr>
              <a:t>Lifetime Member Value*</a:t>
            </a:r>
            <a:endParaRPr lang="en-US" sz="800" dirty="0"/>
          </a:p>
        </p:txBody>
      </p:sp>
      <p:sp>
        <p:nvSpPr>
          <p:cNvPr id="70" name="Text 67"/>
          <p:cNvSpPr/>
          <p:nvPr/>
        </p:nvSpPr>
        <p:spPr>
          <a:xfrm>
            <a:off x="6656832" y="5047488"/>
            <a:ext cx="694944" cy="182880"/>
          </a:xfrm>
          <a:prstGeom prst="rect">
            <a:avLst/>
          </a:prstGeom>
          <a:noFill/>
        </p:spPr>
        <p:txBody>
          <a:bodyPr wrap="square" rtlCol="0" anchor="ctr"/>
          <a:lstStyle/>
          <a:p>
            <a:pPr marL="0" indent="0" algn="r">
              <a:buNone/>
            </a:pPr>
            <a:r>
              <a:rPr lang="en-US" sz="800" dirty="0">
                <a:solidFill>
                  <a:srgbClr val="1A7A45"/>
                </a:solidFill>
              </a:rPr>
              <a:t>UGX 2.5B</a:t>
            </a:r>
            <a:endParaRPr lang="en-US" sz="800" dirty="0"/>
          </a:p>
        </p:txBody>
      </p:sp>
      <p:sp>
        <p:nvSpPr>
          <p:cNvPr id="71" name="Text 68"/>
          <p:cNvSpPr/>
          <p:nvPr/>
        </p:nvSpPr>
        <p:spPr>
          <a:xfrm>
            <a:off x="7388352" y="5047488"/>
            <a:ext cx="694944" cy="182880"/>
          </a:xfrm>
          <a:prstGeom prst="rect">
            <a:avLst/>
          </a:prstGeom>
          <a:noFill/>
        </p:spPr>
        <p:txBody>
          <a:bodyPr wrap="square" rtlCol="0" anchor="ctr"/>
          <a:lstStyle/>
          <a:p>
            <a:pPr marL="0" indent="0" algn="r">
              <a:buNone/>
            </a:pPr>
            <a:r>
              <a:rPr lang="en-US" sz="800" dirty="0">
                <a:solidFill>
                  <a:srgbClr val="1A7A45"/>
                </a:solidFill>
              </a:rPr>
              <a:t>UGX 15B</a:t>
            </a:r>
            <a:endParaRPr lang="en-US" sz="800" dirty="0"/>
          </a:p>
        </p:txBody>
      </p:sp>
      <p:sp>
        <p:nvSpPr>
          <p:cNvPr id="72" name="Text 69"/>
          <p:cNvSpPr/>
          <p:nvPr/>
        </p:nvSpPr>
        <p:spPr>
          <a:xfrm>
            <a:off x="8119872" y="5047488"/>
            <a:ext cx="685800" cy="182880"/>
          </a:xfrm>
          <a:prstGeom prst="rect">
            <a:avLst/>
          </a:prstGeom>
          <a:noFill/>
        </p:spPr>
        <p:txBody>
          <a:bodyPr wrap="square" rtlCol="0" anchor="ctr"/>
          <a:lstStyle/>
          <a:p>
            <a:pPr marL="0" indent="0" algn="r">
              <a:buNone/>
            </a:pPr>
            <a:r>
              <a:rPr lang="en-US" sz="800" dirty="0">
                <a:solidFill>
                  <a:srgbClr val="1A7A45"/>
                </a:solidFill>
              </a:rPr>
              <a:t>UGX 50B</a:t>
            </a:r>
            <a:endParaRPr lang="en-US" sz="800" dirty="0"/>
          </a:p>
        </p:txBody>
      </p:sp>
      <p:sp>
        <p:nvSpPr>
          <p:cNvPr id="73" name="Text 70"/>
          <p:cNvSpPr/>
          <p:nvPr/>
        </p:nvSpPr>
        <p:spPr>
          <a:xfrm>
            <a:off x="365760" y="4160520"/>
            <a:ext cx="8412480" cy="228600"/>
          </a:xfrm>
          <a:prstGeom prst="rect">
            <a:avLst/>
          </a:prstGeom>
          <a:noFill/>
        </p:spPr>
        <p:txBody>
          <a:bodyPr wrap="square" rtlCol="0" anchor="ctr"/>
          <a:lstStyle/>
          <a:p>
            <a:pPr marL="0" indent="0">
              <a:buNone/>
            </a:pPr>
            <a:r>
              <a:rPr lang="en-US" sz="850" i="1" dirty="0">
                <a:solidFill>
                  <a:srgbClr val="5A7A68"/>
                </a:solidFill>
              </a:rPr>
              <a:t>Assumptions: Avg portfolio UGX 900K · 3 payout cycles/yr · 20% blended gross return · 15 new listings/mo Yr1 → 120/mo Yr5  |  * Lifetime Member Value = estimated total voluntary and eventual mandatory contributions over 30-year membership horizon (NSSF actuarial assumptions, indicative only).</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IMPLEMENTATION ROADMAP</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200" b="1" dirty="0">
                <a:solidFill>
                  <a:srgbClr val="0D1F15"/>
                </a:solidFill>
                <a:latin typeface="Georgia" panose="02040502050405020303" pitchFamily="34" charset="0"/>
                <a:ea typeface="Georgia" panose="02040502050405020303" pitchFamily="34" charset="-122"/>
                <a:cs typeface="Georgia" panose="02040502050405020303" pitchFamily="34" charset="-120"/>
              </a:rPr>
              <a:t>Phase-gated delivery. Operational within 6 months of MOU signing.</a:t>
            </a:r>
            <a:endParaRPr lang="en-US" sz="2200" dirty="0"/>
          </a:p>
        </p:txBody>
      </p:sp>
      <p:sp>
        <p:nvSpPr>
          <p:cNvPr id="5" name="Shape 3"/>
          <p:cNvSpPr/>
          <p:nvPr/>
        </p:nvSpPr>
        <p:spPr>
          <a:xfrm>
            <a:off x="274320" y="1371600"/>
            <a:ext cx="1609344" cy="548640"/>
          </a:xfrm>
          <a:prstGeom prst="rect">
            <a:avLst/>
          </a:prstGeom>
          <a:solidFill>
            <a:srgbClr val="1E2761"/>
          </a:solidFill>
        </p:spPr>
      </p:sp>
      <p:sp>
        <p:nvSpPr>
          <p:cNvPr id="6" name="Text 4"/>
          <p:cNvSpPr/>
          <p:nvPr/>
        </p:nvSpPr>
        <p:spPr>
          <a:xfrm>
            <a:off x="365760" y="1389888"/>
            <a:ext cx="1417320" cy="256032"/>
          </a:xfrm>
          <a:prstGeom prst="rect">
            <a:avLst/>
          </a:prstGeom>
          <a:noFill/>
        </p:spPr>
        <p:txBody>
          <a:bodyPr wrap="square" rtlCol="0" anchor="ctr"/>
          <a:lstStyle/>
          <a:p>
            <a:pPr marL="0" indent="0">
              <a:buNone/>
            </a:pPr>
            <a:r>
              <a:rPr lang="en-US" sz="1100" b="1" dirty="0">
                <a:solidFill>
                  <a:srgbClr val="FFFFFF"/>
                </a:solidFill>
              </a:rPr>
              <a:t>Phase 0</a:t>
            </a:r>
            <a:endParaRPr lang="en-US" sz="1100" dirty="0"/>
          </a:p>
        </p:txBody>
      </p:sp>
      <p:sp>
        <p:nvSpPr>
          <p:cNvPr id="7" name="Text 5"/>
          <p:cNvSpPr/>
          <p:nvPr/>
        </p:nvSpPr>
        <p:spPr>
          <a:xfrm>
            <a:off x="365760" y="1645920"/>
            <a:ext cx="1417320" cy="201168"/>
          </a:xfrm>
          <a:prstGeom prst="rect">
            <a:avLst/>
          </a:prstGeom>
          <a:noFill/>
        </p:spPr>
        <p:txBody>
          <a:bodyPr wrap="square" rtlCol="0" anchor="ctr"/>
          <a:lstStyle/>
          <a:p>
            <a:pPr marL="0" indent="0">
              <a:buNone/>
            </a:pPr>
            <a:r>
              <a:rPr lang="en-US" sz="850" dirty="0">
                <a:solidFill>
                  <a:srgbClr val="FFFFFF"/>
                </a:solidFill>
              </a:rPr>
              <a:t>Months 1–3</a:t>
            </a:r>
            <a:endParaRPr lang="en-US" sz="850" dirty="0"/>
          </a:p>
        </p:txBody>
      </p:sp>
      <p:sp>
        <p:nvSpPr>
          <p:cNvPr id="8" name="Shape 6"/>
          <p:cNvSpPr/>
          <p:nvPr/>
        </p:nvSpPr>
        <p:spPr>
          <a:xfrm>
            <a:off x="274320" y="1920240"/>
            <a:ext cx="1609344" cy="2514600"/>
          </a:xfrm>
          <a:prstGeom prst="rect">
            <a:avLst/>
          </a:prstGeom>
          <a:solidFill>
            <a:srgbClr val="FFFFFF"/>
          </a:solidFill>
          <a:effectLst>
            <a:outerShdw blurRad="101600" dist="38100" dir="8100000" algn="bl" rotWithShape="0">
              <a:srgbClr val="000000">
                <a:alpha val="12000"/>
              </a:srgbClr>
            </a:outerShdw>
          </a:effectLst>
        </p:spPr>
      </p:sp>
      <p:sp>
        <p:nvSpPr>
          <p:cNvPr id="9" name="Text 7"/>
          <p:cNvSpPr/>
          <p:nvPr/>
        </p:nvSpPr>
        <p:spPr>
          <a:xfrm>
            <a:off x="365760" y="1965960"/>
            <a:ext cx="1417320" cy="292608"/>
          </a:xfrm>
          <a:prstGeom prst="rect">
            <a:avLst/>
          </a:prstGeom>
          <a:noFill/>
        </p:spPr>
        <p:txBody>
          <a:bodyPr wrap="square" rtlCol="0" anchor="ctr"/>
          <a:lstStyle/>
          <a:p>
            <a:pPr marL="0" indent="0">
              <a:buNone/>
            </a:pPr>
            <a:r>
              <a:rPr lang="en-US" sz="1000" b="1" dirty="0">
                <a:solidFill>
                  <a:srgbClr val="1E2761"/>
                </a:solidFill>
              </a:rPr>
              <a:t>Due Diligence</a:t>
            </a:r>
            <a:endParaRPr lang="en-US" sz="1000" dirty="0"/>
          </a:p>
        </p:txBody>
      </p:sp>
      <p:sp>
        <p:nvSpPr>
          <p:cNvPr id="10" name="Text 8"/>
          <p:cNvSpPr/>
          <p:nvPr/>
        </p:nvSpPr>
        <p:spPr>
          <a:xfrm>
            <a:off x="365760" y="2304288"/>
            <a:ext cx="1417320" cy="365760"/>
          </a:xfrm>
          <a:prstGeom prst="rect">
            <a:avLst/>
          </a:prstGeom>
          <a:noFill/>
        </p:spPr>
        <p:txBody>
          <a:bodyPr wrap="square" rtlCol="0" anchor="ctr"/>
          <a:lstStyle/>
          <a:p>
            <a:pPr marL="0" indent="0">
              <a:buNone/>
            </a:pPr>
            <a:r>
              <a:rPr lang="en-US" sz="850" dirty="0">
                <a:solidFill>
                  <a:srgbClr val="0D1F15"/>
                </a:solidFill>
              </a:rPr>
              <a:t>• MOU signing; legal review</a:t>
            </a:r>
            <a:endParaRPr lang="en-US" sz="850" dirty="0"/>
          </a:p>
        </p:txBody>
      </p:sp>
      <p:sp>
        <p:nvSpPr>
          <p:cNvPr id="11" name="Text 9"/>
          <p:cNvSpPr/>
          <p:nvPr/>
        </p:nvSpPr>
        <p:spPr>
          <a:xfrm>
            <a:off x="365760" y="2706624"/>
            <a:ext cx="1417320" cy="365760"/>
          </a:xfrm>
          <a:prstGeom prst="rect">
            <a:avLst/>
          </a:prstGeom>
          <a:noFill/>
        </p:spPr>
        <p:txBody>
          <a:bodyPr wrap="square" rtlCol="0" anchor="ctr"/>
          <a:lstStyle/>
          <a:p>
            <a:pPr marL="0" indent="0">
              <a:buNone/>
            </a:pPr>
            <a:r>
              <a:rPr lang="en-US" sz="850" dirty="0">
                <a:solidFill>
                  <a:srgbClr val="0D1F15"/>
                </a:solidFill>
              </a:rPr>
              <a:t>• NSSF registry API scoping</a:t>
            </a:r>
            <a:endParaRPr lang="en-US" sz="850" dirty="0"/>
          </a:p>
        </p:txBody>
      </p:sp>
      <p:sp>
        <p:nvSpPr>
          <p:cNvPr id="12" name="Text 10"/>
          <p:cNvSpPr/>
          <p:nvPr/>
        </p:nvSpPr>
        <p:spPr>
          <a:xfrm>
            <a:off x="365760" y="3108960"/>
            <a:ext cx="1417320" cy="365760"/>
          </a:xfrm>
          <a:prstGeom prst="rect">
            <a:avLst/>
          </a:prstGeom>
          <a:noFill/>
        </p:spPr>
        <p:txBody>
          <a:bodyPr wrap="square" rtlCol="0" anchor="ctr"/>
          <a:lstStyle/>
          <a:p>
            <a:pPr marL="0" indent="0">
              <a:buNone/>
            </a:pPr>
            <a:r>
              <a:rPr lang="en-US" sz="850" dirty="0">
                <a:solidFill>
                  <a:srgbClr val="0D1F15"/>
                </a:solidFill>
              </a:rPr>
              <a:t>• CMA/URBRA pre-engagement</a:t>
            </a:r>
            <a:endParaRPr lang="en-US" sz="850" dirty="0"/>
          </a:p>
        </p:txBody>
      </p:sp>
      <p:sp>
        <p:nvSpPr>
          <p:cNvPr id="13" name="Text 11"/>
          <p:cNvSpPr/>
          <p:nvPr/>
        </p:nvSpPr>
        <p:spPr>
          <a:xfrm>
            <a:off x="365760" y="3511296"/>
            <a:ext cx="1417320" cy="365760"/>
          </a:xfrm>
          <a:prstGeom prst="rect">
            <a:avLst/>
          </a:prstGeom>
          <a:noFill/>
        </p:spPr>
        <p:txBody>
          <a:bodyPr wrap="square" rtlCol="0" anchor="ctr"/>
          <a:lstStyle/>
          <a:p>
            <a:pPr marL="0" indent="0">
              <a:buNone/>
            </a:pPr>
            <a:r>
              <a:rPr lang="en-US" sz="850" dirty="0">
                <a:solidFill>
                  <a:srgbClr val="0D1F15"/>
                </a:solidFill>
              </a:rPr>
              <a:t>• First 3 lister agreements (petrol, agri, real estate)</a:t>
            </a:r>
            <a:endParaRPr lang="en-US" sz="850" dirty="0"/>
          </a:p>
        </p:txBody>
      </p:sp>
      <p:sp>
        <p:nvSpPr>
          <p:cNvPr id="14" name="Text 12"/>
          <p:cNvSpPr/>
          <p:nvPr/>
        </p:nvSpPr>
        <p:spPr>
          <a:xfrm>
            <a:off x="365760" y="3913632"/>
            <a:ext cx="1417320" cy="365760"/>
          </a:xfrm>
          <a:prstGeom prst="rect">
            <a:avLst/>
          </a:prstGeom>
          <a:noFill/>
        </p:spPr>
        <p:txBody>
          <a:bodyPr wrap="square" rtlCol="0" anchor="ctr"/>
          <a:lstStyle/>
          <a:p>
            <a:pPr marL="0" indent="0">
              <a:buNone/>
            </a:pPr>
            <a:r>
              <a:rPr lang="en-US" sz="850" dirty="0">
                <a:solidFill>
                  <a:srgbClr val="0D1F15"/>
                </a:solidFill>
              </a:rPr>
              <a:t>• NIRA NIN integration testing</a:t>
            </a:r>
            <a:endParaRPr lang="en-US" sz="850" dirty="0"/>
          </a:p>
        </p:txBody>
      </p:sp>
      <p:sp>
        <p:nvSpPr>
          <p:cNvPr id="15" name="Shape 13"/>
          <p:cNvSpPr/>
          <p:nvPr/>
        </p:nvSpPr>
        <p:spPr>
          <a:xfrm>
            <a:off x="274320" y="4462272"/>
            <a:ext cx="1609344" cy="713232"/>
          </a:xfrm>
          <a:prstGeom prst="rect">
            <a:avLst/>
          </a:prstGeom>
          <a:solidFill>
            <a:srgbClr val="0F4D2B"/>
          </a:solidFill>
        </p:spPr>
      </p:sp>
      <p:sp>
        <p:nvSpPr>
          <p:cNvPr id="16" name="Text 14"/>
          <p:cNvSpPr/>
          <p:nvPr/>
        </p:nvSpPr>
        <p:spPr>
          <a:xfrm>
            <a:off x="347472" y="4480560"/>
            <a:ext cx="1463040" cy="676656"/>
          </a:xfrm>
          <a:prstGeom prst="rect">
            <a:avLst/>
          </a:prstGeom>
          <a:noFill/>
        </p:spPr>
        <p:txBody>
          <a:bodyPr wrap="square" rtlCol="0" anchor="t"/>
          <a:lstStyle/>
          <a:p>
            <a:pPr marL="0" indent="0">
              <a:buNone/>
            </a:pPr>
            <a:r>
              <a:rPr lang="en-US" sz="750" dirty="0">
                <a:solidFill>
                  <a:srgbClr val="C17F00"/>
                </a:solidFill>
              </a:rPr>
              <a:t>🎯  MOU signed · 3 listers contracted · Regulatory pathway confirmed · NIN API live</a:t>
            </a:r>
            <a:endParaRPr lang="en-US" sz="750" dirty="0"/>
          </a:p>
        </p:txBody>
      </p:sp>
      <p:sp>
        <p:nvSpPr>
          <p:cNvPr id="17" name="Shape 15"/>
          <p:cNvSpPr/>
          <p:nvPr/>
        </p:nvSpPr>
        <p:spPr>
          <a:xfrm>
            <a:off x="2011680" y="1371600"/>
            <a:ext cx="1609344" cy="548640"/>
          </a:xfrm>
          <a:prstGeom prst="rect">
            <a:avLst/>
          </a:prstGeom>
          <a:solidFill>
            <a:srgbClr val="028090"/>
          </a:solidFill>
        </p:spPr>
      </p:sp>
      <p:sp>
        <p:nvSpPr>
          <p:cNvPr id="18" name="Text 16"/>
          <p:cNvSpPr/>
          <p:nvPr/>
        </p:nvSpPr>
        <p:spPr>
          <a:xfrm>
            <a:off x="2103120" y="1389888"/>
            <a:ext cx="1417320" cy="256032"/>
          </a:xfrm>
          <a:prstGeom prst="rect">
            <a:avLst/>
          </a:prstGeom>
          <a:noFill/>
        </p:spPr>
        <p:txBody>
          <a:bodyPr wrap="square" rtlCol="0" anchor="ctr"/>
          <a:lstStyle/>
          <a:p>
            <a:pPr marL="0" indent="0">
              <a:buNone/>
            </a:pPr>
            <a:r>
              <a:rPr lang="en-US" sz="1100" b="1" dirty="0">
                <a:solidFill>
                  <a:srgbClr val="FFFFFF"/>
                </a:solidFill>
              </a:rPr>
              <a:t>Phase 1</a:t>
            </a:r>
            <a:endParaRPr lang="en-US" sz="1100" dirty="0"/>
          </a:p>
        </p:txBody>
      </p:sp>
      <p:sp>
        <p:nvSpPr>
          <p:cNvPr id="19" name="Text 17"/>
          <p:cNvSpPr/>
          <p:nvPr/>
        </p:nvSpPr>
        <p:spPr>
          <a:xfrm>
            <a:off x="2103120" y="1645920"/>
            <a:ext cx="1417320" cy="201168"/>
          </a:xfrm>
          <a:prstGeom prst="rect">
            <a:avLst/>
          </a:prstGeom>
          <a:noFill/>
        </p:spPr>
        <p:txBody>
          <a:bodyPr wrap="square" rtlCol="0" anchor="ctr"/>
          <a:lstStyle/>
          <a:p>
            <a:pPr marL="0" indent="0">
              <a:buNone/>
            </a:pPr>
            <a:r>
              <a:rPr lang="en-US" sz="850" dirty="0">
                <a:solidFill>
                  <a:srgbClr val="FFFFFF"/>
                </a:solidFill>
              </a:rPr>
              <a:t>Months 3–6</a:t>
            </a:r>
            <a:endParaRPr lang="en-US" sz="850" dirty="0"/>
          </a:p>
        </p:txBody>
      </p:sp>
      <p:sp>
        <p:nvSpPr>
          <p:cNvPr id="20" name="Shape 18"/>
          <p:cNvSpPr/>
          <p:nvPr/>
        </p:nvSpPr>
        <p:spPr>
          <a:xfrm>
            <a:off x="2011680" y="1920240"/>
            <a:ext cx="1609344" cy="2514600"/>
          </a:xfrm>
          <a:prstGeom prst="rect">
            <a:avLst/>
          </a:prstGeom>
          <a:solidFill>
            <a:srgbClr val="FFFFFF"/>
          </a:solidFill>
          <a:effectLst>
            <a:outerShdw blurRad="101600" dist="38100" dir="8100000" algn="bl" rotWithShape="0">
              <a:srgbClr val="000000">
                <a:alpha val="12000"/>
              </a:srgbClr>
            </a:outerShdw>
          </a:effectLst>
        </p:spPr>
      </p:sp>
      <p:sp>
        <p:nvSpPr>
          <p:cNvPr id="21" name="Text 19"/>
          <p:cNvSpPr/>
          <p:nvPr/>
        </p:nvSpPr>
        <p:spPr>
          <a:xfrm>
            <a:off x="2103120" y="1965960"/>
            <a:ext cx="1417320" cy="292608"/>
          </a:xfrm>
          <a:prstGeom prst="rect">
            <a:avLst/>
          </a:prstGeom>
          <a:noFill/>
        </p:spPr>
        <p:txBody>
          <a:bodyPr wrap="square" rtlCol="0" anchor="ctr"/>
          <a:lstStyle/>
          <a:p>
            <a:pPr marL="0" indent="0">
              <a:buNone/>
            </a:pPr>
            <a:r>
              <a:rPr lang="en-US" sz="1000" b="1" dirty="0">
                <a:solidFill>
                  <a:srgbClr val="028090"/>
                </a:solidFill>
              </a:rPr>
              <a:t>Beta Launch</a:t>
            </a:r>
            <a:endParaRPr lang="en-US" sz="1000" dirty="0"/>
          </a:p>
        </p:txBody>
      </p:sp>
      <p:sp>
        <p:nvSpPr>
          <p:cNvPr id="22" name="Text 20"/>
          <p:cNvSpPr/>
          <p:nvPr/>
        </p:nvSpPr>
        <p:spPr>
          <a:xfrm>
            <a:off x="2103120" y="2304288"/>
            <a:ext cx="1417320" cy="365760"/>
          </a:xfrm>
          <a:prstGeom prst="rect">
            <a:avLst/>
          </a:prstGeom>
          <a:noFill/>
        </p:spPr>
        <p:txBody>
          <a:bodyPr wrap="square" rtlCol="0" anchor="ctr"/>
          <a:lstStyle/>
          <a:p>
            <a:pPr marL="0" indent="0">
              <a:buNone/>
            </a:pPr>
            <a:r>
              <a:rPr lang="en-US" sz="850" dirty="0">
                <a:solidFill>
                  <a:srgbClr val="0D1F15"/>
                </a:solidFill>
              </a:rPr>
              <a:t>• Beta: real estate + agri + T-bills</a:t>
            </a:r>
            <a:endParaRPr lang="en-US" sz="850" dirty="0"/>
          </a:p>
        </p:txBody>
      </p:sp>
      <p:sp>
        <p:nvSpPr>
          <p:cNvPr id="23" name="Text 21"/>
          <p:cNvSpPr/>
          <p:nvPr/>
        </p:nvSpPr>
        <p:spPr>
          <a:xfrm>
            <a:off x="2103120" y="2706624"/>
            <a:ext cx="1417320" cy="365760"/>
          </a:xfrm>
          <a:prstGeom prst="rect">
            <a:avLst/>
          </a:prstGeom>
          <a:noFill/>
        </p:spPr>
        <p:txBody>
          <a:bodyPr wrap="square" rtlCol="0" anchor="ctr"/>
          <a:lstStyle/>
          <a:p>
            <a:pPr marL="0" indent="0">
              <a:buNone/>
            </a:pPr>
            <a:r>
              <a:rPr lang="en-US" sz="850" dirty="0">
                <a:solidFill>
                  <a:srgbClr val="0D1F15"/>
                </a:solidFill>
              </a:rPr>
              <a:t>• NSSF auto-enrollment live</a:t>
            </a:r>
            <a:endParaRPr lang="en-US" sz="850" dirty="0"/>
          </a:p>
        </p:txBody>
      </p:sp>
      <p:sp>
        <p:nvSpPr>
          <p:cNvPr id="24" name="Text 22"/>
          <p:cNvSpPr/>
          <p:nvPr/>
        </p:nvSpPr>
        <p:spPr>
          <a:xfrm>
            <a:off x="2103120" y="3108960"/>
            <a:ext cx="1417320" cy="365760"/>
          </a:xfrm>
          <a:prstGeom prst="rect">
            <a:avLst/>
          </a:prstGeom>
          <a:noFill/>
        </p:spPr>
        <p:txBody>
          <a:bodyPr wrap="square" rtlCol="0" anchor="ctr"/>
          <a:lstStyle/>
          <a:p>
            <a:pPr marL="0" indent="0">
              <a:buNone/>
            </a:pPr>
            <a:r>
              <a:rPr lang="en-US" sz="850" dirty="0">
                <a:solidFill>
                  <a:srgbClr val="0D1F15"/>
                </a:solidFill>
              </a:rPr>
              <a:t>• MTN &amp; Airtel MoMo integration</a:t>
            </a:r>
            <a:endParaRPr lang="en-US" sz="850" dirty="0"/>
          </a:p>
        </p:txBody>
      </p:sp>
      <p:sp>
        <p:nvSpPr>
          <p:cNvPr id="25" name="Text 23"/>
          <p:cNvSpPr/>
          <p:nvPr/>
        </p:nvSpPr>
        <p:spPr>
          <a:xfrm>
            <a:off x="2103120" y="3511296"/>
            <a:ext cx="1417320" cy="365760"/>
          </a:xfrm>
          <a:prstGeom prst="rect">
            <a:avLst/>
          </a:prstGeom>
          <a:noFill/>
        </p:spPr>
        <p:txBody>
          <a:bodyPr wrap="square" rtlCol="0" anchor="ctr"/>
          <a:lstStyle/>
          <a:p>
            <a:pPr marL="0" indent="0">
              <a:buNone/>
            </a:pPr>
            <a:r>
              <a:rPr lang="en-US" sz="850" dirty="0">
                <a:solidFill>
                  <a:srgbClr val="0D1F15"/>
                </a:solidFill>
              </a:rPr>
              <a:t>• First payouts processed</a:t>
            </a:r>
            <a:endParaRPr lang="en-US" sz="850" dirty="0"/>
          </a:p>
        </p:txBody>
      </p:sp>
      <p:sp>
        <p:nvSpPr>
          <p:cNvPr id="26" name="Text 24"/>
          <p:cNvSpPr/>
          <p:nvPr/>
        </p:nvSpPr>
        <p:spPr>
          <a:xfrm>
            <a:off x="2103120" y="3913632"/>
            <a:ext cx="1417320" cy="365760"/>
          </a:xfrm>
          <a:prstGeom prst="rect">
            <a:avLst/>
          </a:prstGeom>
          <a:noFill/>
        </p:spPr>
        <p:txBody>
          <a:bodyPr wrap="square" rtlCol="0" anchor="ctr"/>
          <a:lstStyle/>
          <a:p>
            <a:pPr marL="0" indent="0">
              <a:buNone/>
            </a:pPr>
            <a:r>
              <a:rPr lang="en-US" sz="850" dirty="0">
                <a:solidFill>
                  <a:srgbClr val="0D1F15"/>
                </a:solidFill>
              </a:rPr>
              <a:t>• NSSF co-branded marketing</a:t>
            </a:r>
            <a:endParaRPr lang="en-US" sz="850" dirty="0"/>
          </a:p>
        </p:txBody>
      </p:sp>
      <p:sp>
        <p:nvSpPr>
          <p:cNvPr id="27" name="Shape 25"/>
          <p:cNvSpPr/>
          <p:nvPr/>
        </p:nvSpPr>
        <p:spPr>
          <a:xfrm>
            <a:off x="2011680" y="4462272"/>
            <a:ext cx="1609344" cy="713232"/>
          </a:xfrm>
          <a:prstGeom prst="rect">
            <a:avLst/>
          </a:prstGeom>
          <a:solidFill>
            <a:srgbClr val="0F4D2B"/>
          </a:solidFill>
        </p:spPr>
      </p:sp>
      <p:sp>
        <p:nvSpPr>
          <p:cNvPr id="28" name="Text 26"/>
          <p:cNvSpPr/>
          <p:nvPr/>
        </p:nvSpPr>
        <p:spPr>
          <a:xfrm>
            <a:off x="2084832" y="4480560"/>
            <a:ext cx="1463040" cy="676656"/>
          </a:xfrm>
          <a:prstGeom prst="rect">
            <a:avLst/>
          </a:prstGeom>
          <a:noFill/>
        </p:spPr>
        <p:txBody>
          <a:bodyPr wrap="square" rtlCol="0" anchor="t"/>
          <a:lstStyle/>
          <a:p>
            <a:pPr marL="0" indent="0">
              <a:buNone/>
            </a:pPr>
            <a:r>
              <a:rPr lang="en-US" sz="750" dirty="0">
                <a:solidFill>
                  <a:srgbClr val="C17F00"/>
                </a:solidFill>
              </a:rPr>
              <a:t>🎯  5,000 users · First payouts distributed · NSSF members enrolled · UGX 50M+ processed</a:t>
            </a:r>
            <a:endParaRPr lang="en-US" sz="750" dirty="0"/>
          </a:p>
        </p:txBody>
      </p:sp>
      <p:sp>
        <p:nvSpPr>
          <p:cNvPr id="29" name="Shape 27"/>
          <p:cNvSpPr/>
          <p:nvPr/>
        </p:nvSpPr>
        <p:spPr>
          <a:xfrm>
            <a:off x="3749040" y="1371600"/>
            <a:ext cx="1609344" cy="548640"/>
          </a:xfrm>
          <a:prstGeom prst="rect">
            <a:avLst/>
          </a:prstGeom>
          <a:solidFill>
            <a:srgbClr val="1A7A45"/>
          </a:solidFill>
        </p:spPr>
      </p:sp>
      <p:sp>
        <p:nvSpPr>
          <p:cNvPr id="30" name="Text 28"/>
          <p:cNvSpPr/>
          <p:nvPr/>
        </p:nvSpPr>
        <p:spPr>
          <a:xfrm>
            <a:off x="3840480" y="1389888"/>
            <a:ext cx="1417320" cy="256032"/>
          </a:xfrm>
          <a:prstGeom prst="rect">
            <a:avLst/>
          </a:prstGeom>
          <a:noFill/>
        </p:spPr>
        <p:txBody>
          <a:bodyPr wrap="square" rtlCol="0" anchor="ctr"/>
          <a:lstStyle/>
          <a:p>
            <a:pPr marL="0" indent="0">
              <a:buNone/>
            </a:pPr>
            <a:r>
              <a:rPr lang="en-US" sz="1100" b="1" dirty="0">
                <a:solidFill>
                  <a:srgbClr val="FFFFFF"/>
                </a:solidFill>
              </a:rPr>
              <a:t>Phase 2</a:t>
            </a:r>
            <a:endParaRPr lang="en-US" sz="1100" dirty="0"/>
          </a:p>
        </p:txBody>
      </p:sp>
      <p:sp>
        <p:nvSpPr>
          <p:cNvPr id="31" name="Text 29"/>
          <p:cNvSpPr/>
          <p:nvPr/>
        </p:nvSpPr>
        <p:spPr>
          <a:xfrm>
            <a:off x="3840480" y="1645920"/>
            <a:ext cx="1417320" cy="201168"/>
          </a:xfrm>
          <a:prstGeom prst="rect">
            <a:avLst/>
          </a:prstGeom>
          <a:noFill/>
        </p:spPr>
        <p:txBody>
          <a:bodyPr wrap="square" rtlCol="0" anchor="ctr"/>
          <a:lstStyle/>
          <a:p>
            <a:pPr marL="0" indent="0">
              <a:buNone/>
            </a:pPr>
            <a:r>
              <a:rPr lang="en-US" sz="850" dirty="0">
                <a:solidFill>
                  <a:srgbClr val="FFFFFF"/>
                </a:solidFill>
              </a:rPr>
              <a:t>Months 6–12</a:t>
            </a:r>
            <a:endParaRPr lang="en-US" sz="850" dirty="0"/>
          </a:p>
        </p:txBody>
      </p:sp>
      <p:sp>
        <p:nvSpPr>
          <p:cNvPr id="32" name="Shape 30"/>
          <p:cNvSpPr/>
          <p:nvPr/>
        </p:nvSpPr>
        <p:spPr>
          <a:xfrm>
            <a:off x="3749040" y="1920240"/>
            <a:ext cx="1609344" cy="2514600"/>
          </a:xfrm>
          <a:prstGeom prst="rect">
            <a:avLst/>
          </a:prstGeom>
          <a:solidFill>
            <a:srgbClr val="FFFFFF"/>
          </a:solidFill>
          <a:effectLst>
            <a:outerShdw blurRad="101600" dist="38100" dir="8100000" algn="bl" rotWithShape="0">
              <a:srgbClr val="000000">
                <a:alpha val="12000"/>
              </a:srgbClr>
            </a:outerShdw>
          </a:effectLst>
        </p:spPr>
      </p:sp>
      <p:sp>
        <p:nvSpPr>
          <p:cNvPr id="33" name="Text 31"/>
          <p:cNvSpPr/>
          <p:nvPr/>
        </p:nvSpPr>
        <p:spPr>
          <a:xfrm>
            <a:off x="3840480" y="1965960"/>
            <a:ext cx="1417320" cy="292608"/>
          </a:xfrm>
          <a:prstGeom prst="rect">
            <a:avLst/>
          </a:prstGeom>
          <a:noFill/>
        </p:spPr>
        <p:txBody>
          <a:bodyPr wrap="square" rtlCol="0" anchor="ctr"/>
          <a:lstStyle/>
          <a:p>
            <a:pPr marL="0" indent="0">
              <a:buNone/>
            </a:pPr>
            <a:r>
              <a:rPr lang="en-US" sz="1000" b="1" dirty="0">
                <a:solidFill>
                  <a:srgbClr val="1A7A45"/>
                </a:solidFill>
              </a:rPr>
              <a:t>Core Expansion</a:t>
            </a:r>
            <a:endParaRPr lang="en-US" sz="1000" dirty="0"/>
          </a:p>
        </p:txBody>
      </p:sp>
      <p:sp>
        <p:nvSpPr>
          <p:cNvPr id="34" name="Text 32"/>
          <p:cNvSpPr/>
          <p:nvPr/>
        </p:nvSpPr>
        <p:spPr>
          <a:xfrm>
            <a:off x="3840480" y="2304288"/>
            <a:ext cx="1417320" cy="365760"/>
          </a:xfrm>
          <a:prstGeom prst="rect">
            <a:avLst/>
          </a:prstGeom>
          <a:noFill/>
        </p:spPr>
        <p:txBody>
          <a:bodyPr wrap="square" rtlCol="0" anchor="ctr"/>
          <a:lstStyle/>
          <a:p>
            <a:pPr marL="0" indent="0">
              <a:buNone/>
            </a:pPr>
            <a:r>
              <a:rPr lang="en-US" sz="850" dirty="0">
                <a:solidFill>
                  <a:srgbClr val="0D1F15"/>
                </a:solidFill>
              </a:rPr>
              <a:t>• Add petroleum + FX + domestic stocks + minerals</a:t>
            </a:r>
            <a:endParaRPr lang="en-US" sz="850" dirty="0"/>
          </a:p>
        </p:txBody>
      </p:sp>
      <p:sp>
        <p:nvSpPr>
          <p:cNvPr id="35" name="Text 33"/>
          <p:cNvSpPr/>
          <p:nvPr/>
        </p:nvSpPr>
        <p:spPr>
          <a:xfrm>
            <a:off x="3840480" y="2706624"/>
            <a:ext cx="1417320" cy="365760"/>
          </a:xfrm>
          <a:prstGeom prst="rect">
            <a:avLst/>
          </a:prstGeom>
          <a:noFill/>
        </p:spPr>
        <p:txBody>
          <a:bodyPr wrap="square" rtlCol="0" anchor="ctr"/>
          <a:lstStyle/>
          <a:p>
            <a:pPr marL="0" indent="0">
              <a:buNone/>
            </a:pPr>
            <a:r>
              <a:rPr lang="en-US" sz="850" dirty="0">
                <a:solidFill>
                  <a:srgbClr val="0D1F15"/>
                </a:solidFill>
              </a:rPr>
              <a:t>• USSD channel launch</a:t>
            </a:r>
            <a:endParaRPr lang="en-US" sz="850" dirty="0"/>
          </a:p>
        </p:txBody>
      </p:sp>
      <p:sp>
        <p:nvSpPr>
          <p:cNvPr id="36" name="Text 34"/>
          <p:cNvSpPr/>
          <p:nvPr/>
        </p:nvSpPr>
        <p:spPr>
          <a:xfrm>
            <a:off x="3840480" y="3108960"/>
            <a:ext cx="1417320" cy="365760"/>
          </a:xfrm>
          <a:prstGeom prst="rect">
            <a:avLst/>
          </a:prstGeom>
          <a:noFill/>
        </p:spPr>
        <p:txBody>
          <a:bodyPr wrap="square" rtlCol="0" anchor="ctr"/>
          <a:lstStyle/>
          <a:p>
            <a:pPr marL="0" indent="0">
              <a:buNone/>
            </a:pPr>
            <a:r>
              <a:rPr lang="en-US" sz="850" dirty="0">
                <a:solidFill>
                  <a:srgbClr val="0D1F15"/>
                </a:solidFill>
              </a:rPr>
              <a:t>• NSSF Hisa brand rollout</a:t>
            </a:r>
            <a:endParaRPr lang="en-US" sz="850" dirty="0"/>
          </a:p>
        </p:txBody>
      </p:sp>
      <p:sp>
        <p:nvSpPr>
          <p:cNvPr id="37" name="Text 35"/>
          <p:cNvSpPr/>
          <p:nvPr/>
        </p:nvSpPr>
        <p:spPr>
          <a:xfrm>
            <a:off x="3840480" y="3511296"/>
            <a:ext cx="1417320" cy="365760"/>
          </a:xfrm>
          <a:prstGeom prst="rect">
            <a:avLst/>
          </a:prstGeom>
          <a:noFill/>
        </p:spPr>
        <p:txBody>
          <a:bodyPr wrap="square" rtlCol="0" anchor="ctr"/>
          <a:lstStyle/>
          <a:p>
            <a:pPr marL="0" indent="0">
              <a:buNone/>
            </a:pPr>
            <a:r>
              <a:rPr lang="en-US" sz="850" dirty="0">
                <a:solidFill>
                  <a:srgbClr val="0D1F15"/>
                </a:solidFill>
              </a:rPr>
              <a:t>• 75 active listings</a:t>
            </a:r>
            <a:endParaRPr lang="en-US" sz="850" dirty="0"/>
          </a:p>
        </p:txBody>
      </p:sp>
      <p:sp>
        <p:nvSpPr>
          <p:cNvPr id="38" name="Text 36"/>
          <p:cNvSpPr/>
          <p:nvPr/>
        </p:nvSpPr>
        <p:spPr>
          <a:xfrm>
            <a:off x="3840480" y="3913632"/>
            <a:ext cx="1417320" cy="365760"/>
          </a:xfrm>
          <a:prstGeom prst="rect">
            <a:avLst/>
          </a:prstGeom>
          <a:noFill/>
        </p:spPr>
        <p:txBody>
          <a:bodyPr wrap="square" rtlCol="0" anchor="ctr"/>
          <a:lstStyle/>
          <a:p>
            <a:pPr marL="0" indent="0">
              <a:buNone/>
            </a:pPr>
            <a:r>
              <a:rPr lang="en-US" sz="850" dirty="0">
                <a:solidFill>
                  <a:srgbClr val="0D1F15"/>
                </a:solidFill>
              </a:rPr>
              <a:t>• First NSSF revenue statement</a:t>
            </a:r>
            <a:endParaRPr lang="en-US" sz="850" dirty="0"/>
          </a:p>
        </p:txBody>
      </p:sp>
      <p:sp>
        <p:nvSpPr>
          <p:cNvPr id="39" name="Shape 37"/>
          <p:cNvSpPr/>
          <p:nvPr/>
        </p:nvSpPr>
        <p:spPr>
          <a:xfrm>
            <a:off x="3749040" y="4462272"/>
            <a:ext cx="1609344" cy="713232"/>
          </a:xfrm>
          <a:prstGeom prst="rect">
            <a:avLst/>
          </a:prstGeom>
          <a:solidFill>
            <a:srgbClr val="0F4D2B"/>
          </a:solidFill>
        </p:spPr>
      </p:sp>
      <p:sp>
        <p:nvSpPr>
          <p:cNvPr id="40" name="Text 38"/>
          <p:cNvSpPr/>
          <p:nvPr/>
        </p:nvSpPr>
        <p:spPr>
          <a:xfrm>
            <a:off x="3822192" y="4480560"/>
            <a:ext cx="1463040" cy="676656"/>
          </a:xfrm>
          <a:prstGeom prst="rect">
            <a:avLst/>
          </a:prstGeom>
          <a:noFill/>
        </p:spPr>
        <p:txBody>
          <a:bodyPr wrap="square" rtlCol="0" anchor="t"/>
          <a:lstStyle/>
          <a:p>
            <a:pPr marL="0" indent="0">
              <a:buNone/>
            </a:pPr>
            <a:r>
              <a:rPr lang="en-US" sz="750" dirty="0">
                <a:solidFill>
                  <a:srgbClr val="C17F00"/>
                </a:solidFill>
              </a:rPr>
              <a:t>🎯  30,000 users · 6 asset classes · UGX 366M NSSF revenue run-rate</a:t>
            </a:r>
            <a:endParaRPr lang="en-US" sz="750" dirty="0"/>
          </a:p>
        </p:txBody>
      </p:sp>
      <p:sp>
        <p:nvSpPr>
          <p:cNvPr id="41" name="Shape 39"/>
          <p:cNvSpPr/>
          <p:nvPr/>
        </p:nvSpPr>
        <p:spPr>
          <a:xfrm>
            <a:off x="5486400" y="1371600"/>
            <a:ext cx="1609344" cy="548640"/>
          </a:xfrm>
          <a:prstGeom prst="rect">
            <a:avLst/>
          </a:prstGeom>
          <a:solidFill>
            <a:srgbClr val="C17F00"/>
          </a:solidFill>
        </p:spPr>
      </p:sp>
      <p:sp>
        <p:nvSpPr>
          <p:cNvPr id="42" name="Text 40"/>
          <p:cNvSpPr/>
          <p:nvPr/>
        </p:nvSpPr>
        <p:spPr>
          <a:xfrm>
            <a:off x="5577840" y="1389888"/>
            <a:ext cx="1417320" cy="256032"/>
          </a:xfrm>
          <a:prstGeom prst="rect">
            <a:avLst/>
          </a:prstGeom>
          <a:noFill/>
        </p:spPr>
        <p:txBody>
          <a:bodyPr wrap="square" rtlCol="0" anchor="ctr"/>
          <a:lstStyle/>
          <a:p>
            <a:pPr marL="0" indent="0">
              <a:buNone/>
            </a:pPr>
            <a:r>
              <a:rPr lang="en-US" sz="1100" b="1" dirty="0">
                <a:solidFill>
                  <a:srgbClr val="FFFFFF"/>
                </a:solidFill>
              </a:rPr>
              <a:t>Phase 3</a:t>
            </a:r>
            <a:endParaRPr lang="en-US" sz="1100" dirty="0"/>
          </a:p>
        </p:txBody>
      </p:sp>
      <p:sp>
        <p:nvSpPr>
          <p:cNvPr id="43" name="Text 41"/>
          <p:cNvSpPr/>
          <p:nvPr/>
        </p:nvSpPr>
        <p:spPr>
          <a:xfrm>
            <a:off x="5577840" y="1645920"/>
            <a:ext cx="1417320" cy="201168"/>
          </a:xfrm>
          <a:prstGeom prst="rect">
            <a:avLst/>
          </a:prstGeom>
          <a:noFill/>
        </p:spPr>
        <p:txBody>
          <a:bodyPr wrap="square" rtlCol="0" anchor="ctr"/>
          <a:lstStyle/>
          <a:p>
            <a:pPr marL="0" indent="0">
              <a:buNone/>
            </a:pPr>
            <a:r>
              <a:rPr lang="en-US" sz="850" dirty="0">
                <a:solidFill>
                  <a:srgbClr val="FFFFFF"/>
                </a:solidFill>
              </a:rPr>
              <a:t>Months 12–18</a:t>
            </a:r>
            <a:endParaRPr lang="en-US" sz="850" dirty="0"/>
          </a:p>
        </p:txBody>
      </p:sp>
      <p:sp>
        <p:nvSpPr>
          <p:cNvPr id="44" name="Shape 42"/>
          <p:cNvSpPr/>
          <p:nvPr/>
        </p:nvSpPr>
        <p:spPr>
          <a:xfrm>
            <a:off x="5486400" y="1920240"/>
            <a:ext cx="1609344" cy="2514600"/>
          </a:xfrm>
          <a:prstGeom prst="rect">
            <a:avLst/>
          </a:prstGeom>
          <a:solidFill>
            <a:srgbClr val="FFFFFF"/>
          </a:solidFill>
          <a:effectLst>
            <a:outerShdw blurRad="101600" dist="38100" dir="8100000" algn="bl" rotWithShape="0">
              <a:srgbClr val="000000">
                <a:alpha val="12000"/>
              </a:srgbClr>
            </a:outerShdw>
          </a:effectLst>
        </p:spPr>
      </p:sp>
      <p:sp>
        <p:nvSpPr>
          <p:cNvPr id="45" name="Text 43"/>
          <p:cNvSpPr/>
          <p:nvPr/>
        </p:nvSpPr>
        <p:spPr>
          <a:xfrm>
            <a:off x="5577840" y="1965960"/>
            <a:ext cx="1417320" cy="292608"/>
          </a:xfrm>
          <a:prstGeom prst="rect">
            <a:avLst/>
          </a:prstGeom>
          <a:noFill/>
        </p:spPr>
        <p:txBody>
          <a:bodyPr wrap="square" rtlCol="0" anchor="ctr"/>
          <a:lstStyle/>
          <a:p>
            <a:pPr marL="0" indent="0">
              <a:buNone/>
            </a:pPr>
            <a:r>
              <a:rPr lang="en-US" sz="1000" b="1" dirty="0">
                <a:solidFill>
                  <a:srgbClr val="C17F00"/>
                </a:solidFill>
              </a:rPr>
              <a:t>National Scale</a:t>
            </a:r>
            <a:endParaRPr lang="en-US" sz="1000" dirty="0"/>
          </a:p>
        </p:txBody>
      </p:sp>
      <p:sp>
        <p:nvSpPr>
          <p:cNvPr id="46" name="Text 44"/>
          <p:cNvSpPr/>
          <p:nvPr/>
        </p:nvSpPr>
        <p:spPr>
          <a:xfrm>
            <a:off x="5577840" y="2304288"/>
            <a:ext cx="1417320" cy="365760"/>
          </a:xfrm>
          <a:prstGeom prst="rect">
            <a:avLst/>
          </a:prstGeom>
          <a:noFill/>
        </p:spPr>
        <p:txBody>
          <a:bodyPr wrap="square" rtlCol="0" anchor="ctr"/>
          <a:lstStyle/>
          <a:p>
            <a:pPr marL="0" indent="0">
              <a:buNone/>
            </a:pPr>
            <a:r>
              <a:rPr lang="en-US" sz="850" dirty="0">
                <a:solidFill>
                  <a:srgbClr val="0D1F15"/>
                </a:solidFill>
              </a:rPr>
              <a:t>• Foreign stocks + SME equity + open class live</a:t>
            </a:r>
            <a:endParaRPr lang="en-US" sz="850" dirty="0"/>
          </a:p>
        </p:txBody>
      </p:sp>
      <p:sp>
        <p:nvSpPr>
          <p:cNvPr id="47" name="Text 45"/>
          <p:cNvSpPr/>
          <p:nvPr/>
        </p:nvSpPr>
        <p:spPr>
          <a:xfrm>
            <a:off x="5577840" y="2706624"/>
            <a:ext cx="1417320" cy="365760"/>
          </a:xfrm>
          <a:prstGeom prst="rect">
            <a:avLst/>
          </a:prstGeom>
          <a:noFill/>
        </p:spPr>
        <p:txBody>
          <a:bodyPr wrap="square" rtlCol="0" anchor="ctr"/>
          <a:lstStyle/>
          <a:p>
            <a:pPr marL="0" indent="0">
              <a:buNone/>
            </a:pPr>
            <a:r>
              <a:rPr lang="en-US" sz="850" dirty="0">
                <a:solidFill>
                  <a:srgbClr val="0D1F15"/>
                </a:solidFill>
              </a:rPr>
              <a:t>• National marketing campaign</a:t>
            </a:r>
            <a:endParaRPr lang="en-US" sz="850" dirty="0"/>
          </a:p>
        </p:txBody>
      </p:sp>
      <p:sp>
        <p:nvSpPr>
          <p:cNvPr id="48" name="Text 46"/>
          <p:cNvSpPr/>
          <p:nvPr/>
        </p:nvSpPr>
        <p:spPr>
          <a:xfrm>
            <a:off x="5577840" y="3108960"/>
            <a:ext cx="1417320" cy="365760"/>
          </a:xfrm>
          <a:prstGeom prst="rect">
            <a:avLst/>
          </a:prstGeom>
          <a:noFill/>
        </p:spPr>
        <p:txBody>
          <a:bodyPr wrap="square" rtlCol="0" anchor="ctr"/>
          <a:lstStyle/>
          <a:p>
            <a:pPr marL="0" indent="0">
              <a:buNone/>
            </a:pPr>
            <a:r>
              <a:rPr lang="en-US" sz="850" dirty="0">
                <a:solidFill>
                  <a:srgbClr val="0D1F15"/>
                </a:solidFill>
              </a:rPr>
              <a:t>• Rural agent integration</a:t>
            </a:r>
            <a:endParaRPr lang="en-US" sz="850" dirty="0"/>
          </a:p>
        </p:txBody>
      </p:sp>
      <p:sp>
        <p:nvSpPr>
          <p:cNvPr id="49" name="Text 47"/>
          <p:cNvSpPr/>
          <p:nvPr/>
        </p:nvSpPr>
        <p:spPr>
          <a:xfrm>
            <a:off x="5577840" y="3511296"/>
            <a:ext cx="1417320" cy="365760"/>
          </a:xfrm>
          <a:prstGeom prst="rect">
            <a:avLst/>
          </a:prstGeom>
          <a:noFill/>
        </p:spPr>
        <p:txBody>
          <a:bodyPr wrap="square" rtlCol="0" anchor="ctr"/>
          <a:lstStyle/>
          <a:p>
            <a:pPr marL="0" indent="0">
              <a:buNone/>
            </a:pPr>
            <a:r>
              <a:rPr lang="en-US" sz="850" dirty="0">
                <a:solidFill>
                  <a:srgbClr val="0D1F15"/>
                </a:solidFill>
              </a:rPr>
              <a:t>• NSSF voluntary sweep feature</a:t>
            </a:r>
            <a:endParaRPr lang="en-US" sz="850" dirty="0"/>
          </a:p>
        </p:txBody>
      </p:sp>
      <p:sp>
        <p:nvSpPr>
          <p:cNvPr id="50" name="Text 48"/>
          <p:cNvSpPr/>
          <p:nvPr/>
        </p:nvSpPr>
        <p:spPr>
          <a:xfrm>
            <a:off x="5577840" y="3913632"/>
            <a:ext cx="1417320" cy="365760"/>
          </a:xfrm>
          <a:prstGeom prst="rect">
            <a:avLst/>
          </a:prstGeom>
          <a:noFill/>
        </p:spPr>
        <p:txBody>
          <a:bodyPr wrap="square" rtlCol="0" anchor="ctr"/>
          <a:lstStyle/>
          <a:p>
            <a:pPr marL="0" indent="0">
              <a:buNone/>
            </a:pPr>
            <a:r>
              <a:rPr lang="en-US" sz="850" dirty="0">
                <a:solidFill>
                  <a:srgbClr val="0D1F15"/>
                </a:solidFill>
              </a:rPr>
              <a:t>• 200 active listings</a:t>
            </a:r>
            <a:endParaRPr lang="en-US" sz="850" dirty="0"/>
          </a:p>
        </p:txBody>
      </p:sp>
      <p:sp>
        <p:nvSpPr>
          <p:cNvPr id="51" name="Shape 49"/>
          <p:cNvSpPr/>
          <p:nvPr/>
        </p:nvSpPr>
        <p:spPr>
          <a:xfrm>
            <a:off x="5486400" y="4462272"/>
            <a:ext cx="1609344" cy="713232"/>
          </a:xfrm>
          <a:prstGeom prst="rect">
            <a:avLst/>
          </a:prstGeom>
          <a:solidFill>
            <a:srgbClr val="0F4D2B"/>
          </a:solidFill>
        </p:spPr>
      </p:sp>
      <p:sp>
        <p:nvSpPr>
          <p:cNvPr id="52" name="Text 50"/>
          <p:cNvSpPr/>
          <p:nvPr/>
        </p:nvSpPr>
        <p:spPr>
          <a:xfrm>
            <a:off x="5559552" y="4480560"/>
            <a:ext cx="1463040" cy="676656"/>
          </a:xfrm>
          <a:prstGeom prst="rect">
            <a:avLst/>
          </a:prstGeom>
          <a:noFill/>
        </p:spPr>
        <p:txBody>
          <a:bodyPr wrap="square" rtlCol="0" anchor="t"/>
          <a:lstStyle/>
          <a:p>
            <a:pPr marL="0" indent="0">
              <a:buNone/>
            </a:pPr>
            <a:r>
              <a:rPr lang="en-US" sz="750" dirty="0">
                <a:solidFill>
                  <a:srgbClr val="C17F00"/>
                </a:solidFill>
              </a:rPr>
              <a:t>🎯  100,000 users · All 10 classes live · UGX 1B+ NSSF annual revenue</a:t>
            </a:r>
            <a:endParaRPr lang="en-US" sz="750" dirty="0"/>
          </a:p>
        </p:txBody>
      </p:sp>
      <p:sp>
        <p:nvSpPr>
          <p:cNvPr id="53" name="Shape 51"/>
          <p:cNvSpPr/>
          <p:nvPr/>
        </p:nvSpPr>
        <p:spPr>
          <a:xfrm>
            <a:off x="7223760" y="1371600"/>
            <a:ext cx="1609344" cy="548640"/>
          </a:xfrm>
          <a:prstGeom prst="rect">
            <a:avLst/>
          </a:prstGeom>
          <a:solidFill>
            <a:srgbClr val="B45309"/>
          </a:solidFill>
        </p:spPr>
      </p:sp>
      <p:sp>
        <p:nvSpPr>
          <p:cNvPr id="54" name="Text 52"/>
          <p:cNvSpPr/>
          <p:nvPr/>
        </p:nvSpPr>
        <p:spPr>
          <a:xfrm>
            <a:off x="7315200" y="1389888"/>
            <a:ext cx="1417320" cy="256032"/>
          </a:xfrm>
          <a:prstGeom prst="rect">
            <a:avLst/>
          </a:prstGeom>
          <a:noFill/>
        </p:spPr>
        <p:txBody>
          <a:bodyPr wrap="square" rtlCol="0" anchor="ctr"/>
          <a:lstStyle/>
          <a:p>
            <a:pPr marL="0" indent="0">
              <a:buNone/>
            </a:pPr>
            <a:r>
              <a:rPr lang="en-US" sz="1100" b="1" dirty="0">
                <a:solidFill>
                  <a:srgbClr val="FFFFFF"/>
                </a:solidFill>
              </a:rPr>
              <a:t>Phase 4</a:t>
            </a:r>
            <a:endParaRPr lang="en-US" sz="1100" dirty="0"/>
          </a:p>
        </p:txBody>
      </p:sp>
      <p:sp>
        <p:nvSpPr>
          <p:cNvPr id="55" name="Text 53"/>
          <p:cNvSpPr/>
          <p:nvPr/>
        </p:nvSpPr>
        <p:spPr>
          <a:xfrm>
            <a:off x="7315200" y="1645920"/>
            <a:ext cx="1417320" cy="201168"/>
          </a:xfrm>
          <a:prstGeom prst="rect">
            <a:avLst/>
          </a:prstGeom>
          <a:noFill/>
        </p:spPr>
        <p:txBody>
          <a:bodyPr wrap="square" rtlCol="0" anchor="ctr"/>
          <a:lstStyle/>
          <a:p>
            <a:pPr marL="0" indent="0">
              <a:buNone/>
            </a:pPr>
            <a:r>
              <a:rPr lang="en-US" sz="850" dirty="0">
                <a:solidFill>
                  <a:srgbClr val="FFFFFF"/>
                </a:solidFill>
              </a:rPr>
              <a:t>Months 18–36</a:t>
            </a:r>
            <a:endParaRPr lang="en-US" sz="850" dirty="0"/>
          </a:p>
        </p:txBody>
      </p:sp>
      <p:sp>
        <p:nvSpPr>
          <p:cNvPr id="56" name="Shape 54"/>
          <p:cNvSpPr/>
          <p:nvPr/>
        </p:nvSpPr>
        <p:spPr>
          <a:xfrm>
            <a:off x="7223760" y="1920240"/>
            <a:ext cx="1609344" cy="2514600"/>
          </a:xfrm>
          <a:prstGeom prst="rect">
            <a:avLst/>
          </a:prstGeom>
          <a:solidFill>
            <a:srgbClr val="FFFFFF"/>
          </a:solidFill>
          <a:effectLst>
            <a:outerShdw blurRad="101600" dist="38100" dir="8100000" algn="bl" rotWithShape="0">
              <a:srgbClr val="000000">
                <a:alpha val="12000"/>
              </a:srgbClr>
            </a:outerShdw>
          </a:effectLst>
        </p:spPr>
      </p:sp>
      <p:sp>
        <p:nvSpPr>
          <p:cNvPr id="57" name="Text 55"/>
          <p:cNvSpPr/>
          <p:nvPr/>
        </p:nvSpPr>
        <p:spPr>
          <a:xfrm>
            <a:off x="7315200" y="1965960"/>
            <a:ext cx="1417320" cy="292608"/>
          </a:xfrm>
          <a:prstGeom prst="rect">
            <a:avLst/>
          </a:prstGeom>
          <a:noFill/>
        </p:spPr>
        <p:txBody>
          <a:bodyPr wrap="square" rtlCol="0" anchor="ctr"/>
          <a:lstStyle/>
          <a:p>
            <a:pPr marL="0" indent="0">
              <a:buNone/>
            </a:pPr>
            <a:r>
              <a:rPr lang="en-US" sz="1000" b="1" dirty="0">
                <a:solidFill>
                  <a:srgbClr val="B45309"/>
                </a:solidFill>
              </a:rPr>
              <a:t>Strategic JV</a:t>
            </a:r>
            <a:endParaRPr lang="en-US" sz="1000" dirty="0"/>
          </a:p>
        </p:txBody>
      </p:sp>
      <p:sp>
        <p:nvSpPr>
          <p:cNvPr id="58" name="Text 56"/>
          <p:cNvSpPr/>
          <p:nvPr/>
        </p:nvSpPr>
        <p:spPr>
          <a:xfrm>
            <a:off x="7315200" y="2304288"/>
            <a:ext cx="1417320" cy="365760"/>
          </a:xfrm>
          <a:prstGeom prst="rect">
            <a:avLst/>
          </a:prstGeom>
          <a:noFill/>
        </p:spPr>
        <p:txBody>
          <a:bodyPr wrap="square" rtlCol="0" anchor="ctr"/>
          <a:lstStyle/>
          <a:p>
            <a:pPr marL="0" indent="0">
              <a:buNone/>
            </a:pPr>
            <a:r>
              <a:rPr lang="en-US" sz="850" dirty="0">
                <a:solidFill>
                  <a:srgbClr val="0D1F15"/>
                </a:solidFill>
              </a:rPr>
              <a:t>• Tier 3 equity/JV negotiation</a:t>
            </a:r>
            <a:endParaRPr lang="en-US" sz="850" dirty="0"/>
          </a:p>
        </p:txBody>
      </p:sp>
      <p:sp>
        <p:nvSpPr>
          <p:cNvPr id="59" name="Text 57"/>
          <p:cNvSpPr/>
          <p:nvPr/>
        </p:nvSpPr>
        <p:spPr>
          <a:xfrm>
            <a:off x="7315200" y="2706624"/>
            <a:ext cx="1417320" cy="365760"/>
          </a:xfrm>
          <a:prstGeom prst="rect">
            <a:avLst/>
          </a:prstGeom>
          <a:noFill/>
        </p:spPr>
        <p:txBody>
          <a:bodyPr wrap="square" rtlCol="0" anchor="ctr"/>
          <a:lstStyle/>
          <a:p>
            <a:pPr marL="0" indent="0">
              <a:buNone/>
            </a:pPr>
            <a:r>
              <a:rPr lang="en-US" sz="850" dirty="0">
                <a:solidFill>
                  <a:srgbClr val="0D1F15"/>
                </a:solidFill>
              </a:rPr>
              <a:t>• NSSF portfolio listed on OwnIt</a:t>
            </a:r>
            <a:endParaRPr lang="en-US" sz="850" dirty="0"/>
          </a:p>
        </p:txBody>
      </p:sp>
      <p:sp>
        <p:nvSpPr>
          <p:cNvPr id="60" name="Text 58"/>
          <p:cNvSpPr/>
          <p:nvPr/>
        </p:nvSpPr>
        <p:spPr>
          <a:xfrm>
            <a:off x="7315200" y="3108960"/>
            <a:ext cx="1417320" cy="365760"/>
          </a:xfrm>
          <a:prstGeom prst="rect">
            <a:avLst/>
          </a:prstGeom>
          <a:noFill/>
        </p:spPr>
        <p:txBody>
          <a:bodyPr wrap="square" rtlCol="0" anchor="ctr"/>
          <a:lstStyle/>
          <a:p>
            <a:pPr marL="0" indent="0">
              <a:buNone/>
            </a:pPr>
            <a:r>
              <a:rPr lang="en-US" sz="850" dirty="0">
                <a:solidFill>
                  <a:srgbClr val="0D1F15"/>
                </a:solidFill>
              </a:rPr>
              <a:t>• East Africa expansion scoping</a:t>
            </a:r>
            <a:endParaRPr lang="en-US" sz="850" dirty="0"/>
          </a:p>
        </p:txBody>
      </p:sp>
      <p:sp>
        <p:nvSpPr>
          <p:cNvPr id="61" name="Text 59"/>
          <p:cNvSpPr/>
          <p:nvPr/>
        </p:nvSpPr>
        <p:spPr>
          <a:xfrm>
            <a:off x="7315200" y="3511296"/>
            <a:ext cx="1417320" cy="365760"/>
          </a:xfrm>
          <a:prstGeom prst="rect">
            <a:avLst/>
          </a:prstGeom>
          <a:noFill/>
        </p:spPr>
        <p:txBody>
          <a:bodyPr wrap="square" rtlCol="0" anchor="ctr"/>
          <a:lstStyle/>
          <a:p>
            <a:pPr marL="0" indent="0">
              <a:buNone/>
            </a:pPr>
            <a:r>
              <a:rPr lang="en-US" sz="850" dirty="0">
                <a:solidFill>
                  <a:srgbClr val="0D1F15"/>
                </a:solidFill>
              </a:rPr>
              <a:t>• Diaspora product</a:t>
            </a:r>
            <a:endParaRPr lang="en-US" sz="850" dirty="0"/>
          </a:p>
        </p:txBody>
      </p:sp>
      <p:sp>
        <p:nvSpPr>
          <p:cNvPr id="62" name="Text 60"/>
          <p:cNvSpPr/>
          <p:nvPr/>
        </p:nvSpPr>
        <p:spPr>
          <a:xfrm>
            <a:off x="7315200" y="3913632"/>
            <a:ext cx="1417320" cy="365760"/>
          </a:xfrm>
          <a:prstGeom prst="rect">
            <a:avLst/>
          </a:prstGeom>
          <a:noFill/>
        </p:spPr>
        <p:txBody>
          <a:bodyPr wrap="square" rtlCol="0" anchor="ctr"/>
          <a:lstStyle/>
          <a:p>
            <a:pPr marL="0" indent="0">
              <a:buNone/>
            </a:pPr>
            <a:r>
              <a:rPr lang="en-US" sz="850" dirty="0">
                <a:solidFill>
                  <a:srgbClr val="0D1F15"/>
                </a:solidFill>
              </a:rPr>
              <a:t>• URBRA framework submission</a:t>
            </a:r>
            <a:endParaRPr lang="en-US" sz="850" dirty="0"/>
          </a:p>
        </p:txBody>
      </p:sp>
      <p:sp>
        <p:nvSpPr>
          <p:cNvPr id="63" name="Shape 61"/>
          <p:cNvSpPr/>
          <p:nvPr/>
        </p:nvSpPr>
        <p:spPr>
          <a:xfrm>
            <a:off x="7223760" y="4462272"/>
            <a:ext cx="1609344" cy="713232"/>
          </a:xfrm>
          <a:prstGeom prst="rect">
            <a:avLst/>
          </a:prstGeom>
          <a:solidFill>
            <a:srgbClr val="0F4D2B"/>
          </a:solidFill>
        </p:spPr>
      </p:sp>
      <p:sp>
        <p:nvSpPr>
          <p:cNvPr id="64" name="Text 62"/>
          <p:cNvSpPr/>
          <p:nvPr/>
        </p:nvSpPr>
        <p:spPr>
          <a:xfrm>
            <a:off x="7296912" y="4480560"/>
            <a:ext cx="1463040" cy="676656"/>
          </a:xfrm>
          <a:prstGeom prst="rect">
            <a:avLst/>
          </a:prstGeom>
          <a:noFill/>
        </p:spPr>
        <p:txBody>
          <a:bodyPr wrap="square" rtlCol="0" anchor="t"/>
          <a:lstStyle/>
          <a:p>
            <a:pPr marL="0" indent="0">
              <a:buNone/>
            </a:pPr>
            <a:r>
              <a:rPr lang="en-US" sz="750" dirty="0">
                <a:solidFill>
                  <a:srgbClr val="C17F00"/>
                </a:solidFill>
              </a:rPr>
              <a:t>🎯  500,000+ users · NSSF equity stake · UGX 4B+ NSSF revenue · East Africa pilot</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RISK ANALYSIS &amp; MITIGATION</a:t>
            </a:r>
            <a:endParaRPr lang="en-US" sz="1100" dirty="0"/>
          </a:p>
        </p:txBody>
      </p:sp>
      <p:sp>
        <p:nvSpPr>
          <p:cNvPr id="4" name="Text 2"/>
          <p:cNvSpPr/>
          <p:nvPr/>
        </p:nvSpPr>
        <p:spPr>
          <a:xfrm>
            <a:off x="457200" y="749808"/>
            <a:ext cx="8229600" cy="475488"/>
          </a:xfrm>
          <a:prstGeom prst="rect">
            <a:avLst/>
          </a:prstGeom>
          <a:noFill/>
        </p:spPr>
        <p:txBody>
          <a:bodyPr wrap="square" rtlCol="0" anchor="ctr"/>
          <a:lstStyle/>
          <a:p>
            <a:pPr marL="0" indent="0">
              <a:buNone/>
            </a:pPr>
            <a:r>
              <a:rPr lang="en-US" sz="2400" b="1" dirty="0">
                <a:solidFill>
                  <a:srgbClr val="0D1F15"/>
                </a:solidFill>
                <a:latin typeface="Georgia" panose="02040502050405020303" pitchFamily="34" charset="0"/>
                <a:ea typeface="Georgia" panose="02040502050405020303" pitchFamily="34" charset="-122"/>
                <a:cs typeface="Georgia" panose="02040502050405020303" pitchFamily="34" charset="-120"/>
              </a:rPr>
              <a:t>Every risk is identified, quantified, and mitigated.</a:t>
            </a:r>
            <a:endParaRPr lang="en-US" sz="2400" dirty="0"/>
          </a:p>
        </p:txBody>
      </p:sp>
      <p:sp>
        <p:nvSpPr>
          <p:cNvPr id="5" name="Shape 3"/>
          <p:cNvSpPr/>
          <p:nvPr/>
        </p:nvSpPr>
        <p:spPr>
          <a:xfrm>
            <a:off x="347472" y="137160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6" name="Shape 4"/>
          <p:cNvSpPr/>
          <p:nvPr/>
        </p:nvSpPr>
        <p:spPr>
          <a:xfrm>
            <a:off x="347472" y="1371600"/>
            <a:ext cx="64008" cy="868680"/>
          </a:xfrm>
          <a:prstGeom prst="rect">
            <a:avLst/>
          </a:prstGeom>
          <a:solidFill>
            <a:srgbClr val="F59E0B"/>
          </a:solidFill>
        </p:spPr>
      </p:sp>
      <p:sp>
        <p:nvSpPr>
          <p:cNvPr id="7" name="Shape 5"/>
          <p:cNvSpPr/>
          <p:nvPr/>
        </p:nvSpPr>
        <p:spPr>
          <a:xfrm>
            <a:off x="3685032" y="1444752"/>
            <a:ext cx="731520" cy="219456"/>
          </a:xfrm>
          <a:prstGeom prst="rect">
            <a:avLst/>
          </a:prstGeom>
          <a:solidFill>
            <a:srgbClr val="F59E0B"/>
          </a:solidFill>
        </p:spPr>
      </p:sp>
      <p:sp>
        <p:nvSpPr>
          <p:cNvPr id="8" name="Text 6"/>
          <p:cNvSpPr/>
          <p:nvPr/>
        </p:nvSpPr>
        <p:spPr>
          <a:xfrm>
            <a:off x="3685032" y="1444752"/>
            <a:ext cx="731520" cy="219456"/>
          </a:xfrm>
          <a:prstGeom prst="rect">
            <a:avLst/>
          </a:prstGeom>
          <a:noFill/>
        </p:spPr>
        <p:txBody>
          <a:bodyPr wrap="square" rtlCol="0" anchor="ctr"/>
          <a:lstStyle/>
          <a:p>
            <a:pPr marL="0" indent="0" algn="ctr">
              <a:buNone/>
            </a:pPr>
            <a:r>
              <a:rPr lang="en-US" sz="850" b="1" dirty="0">
                <a:solidFill>
                  <a:srgbClr val="FFFFFF"/>
                </a:solidFill>
              </a:rPr>
              <a:t>Medium</a:t>
            </a:r>
            <a:endParaRPr lang="en-US" sz="850" dirty="0"/>
          </a:p>
        </p:txBody>
      </p:sp>
      <p:sp>
        <p:nvSpPr>
          <p:cNvPr id="9" name="Text 7"/>
          <p:cNvSpPr/>
          <p:nvPr/>
        </p:nvSpPr>
        <p:spPr>
          <a:xfrm>
            <a:off x="512064" y="1426464"/>
            <a:ext cx="3108960" cy="256032"/>
          </a:xfrm>
          <a:prstGeom prst="rect">
            <a:avLst/>
          </a:prstGeom>
          <a:noFill/>
        </p:spPr>
        <p:txBody>
          <a:bodyPr wrap="square" rtlCol="0" anchor="ctr"/>
          <a:lstStyle/>
          <a:p>
            <a:pPr marL="0" indent="0">
              <a:buNone/>
            </a:pPr>
            <a:r>
              <a:rPr lang="en-US" sz="1000" b="1" dirty="0">
                <a:solidFill>
                  <a:srgbClr val="0D1F15"/>
                </a:solidFill>
              </a:rPr>
              <a:t>Regulatory delay (CMA/URBRA/BoU)</a:t>
            </a:r>
            <a:endParaRPr lang="en-US" sz="1000" dirty="0"/>
          </a:p>
        </p:txBody>
      </p:sp>
      <p:sp>
        <p:nvSpPr>
          <p:cNvPr id="10" name="Text 8"/>
          <p:cNvSpPr/>
          <p:nvPr/>
        </p:nvSpPr>
        <p:spPr>
          <a:xfrm>
            <a:off x="512064" y="1719072"/>
            <a:ext cx="3840480" cy="457200"/>
          </a:xfrm>
          <a:prstGeom prst="rect">
            <a:avLst/>
          </a:prstGeom>
          <a:noFill/>
        </p:spPr>
        <p:txBody>
          <a:bodyPr wrap="square" rtlCol="0" anchor="ctr"/>
          <a:lstStyle/>
          <a:p>
            <a:pPr marL="0" indent="0">
              <a:buNone/>
            </a:pPr>
            <a:r>
              <a:rPr lang="en-US" sz="900" dirty="0">
                <a:solidFill>
                  <a:srgbClr val="5A7A68"/>
                </a:solidFill>
              </a:rPr>
              <a:t>✓  Early engagement from Phase 0; CIS/forex frameworks; NSSF co-sponsorship accelerates approvals significantly.</a:t>
            </a:r>
            <a:endParaRPr lang="en-US" sz="900" dirty="0"/>
          </a:p>
        </p:txBody>
      </p:sp>
      <p:sp>
        <p:nvSpPr>
          <p:cNvPr id="11" name="Shape 9"/>
          <p:cNvSpPr/>
          <p:nvPr/>
        </p:nvSpPr>
        <p:spPr>
          <a:xfrm>
            <a:off x="4718304" y="137160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12" name="Shape 10"/>
          <p:cNvSpPr/>
          <p:nvPr/>
        </p:nvSpPr>
        <p:spPr>
          <a:xfrm>
            <a:off x="4718304" y="1371600"/>
            <a:ext cx="64008" cy="868680"/>
          </a:xfrm>
          <a:prstGeom prst="rect">
            <a:avLst/>
          </a:prstGeom>
          <a:solidFill>
            <a:srgbClr val="F59E0B"/>
          </a:solidFill>
        </p:spPr>
      </p:sp>
      <p:sp>
        <p:nvSpPr>
          <p:cNvPr id="13" name="Shape 11"/>
          <p:cNvSpPr/>
          <p:nvPr/>
        </p:nvSpPr>
        <p:spPr>
          <a:xfrm>
            <a:off x="8055864" y="1444752"/>
            <a:ext cx="731520" cy="219456"/>
          </a:xfrm>
          <a:prstGeom prst="rect">
            <a:avLst/>
          </a:prstGeom>
          <a:solidFill>
            <a:srgbClr val="F59E0B"/>
          </a:solidFill>
        </p:spPr>
      </p:sp>
      <p:sp>
        <p:nvSpPr>
          <p:cNvPr id="14" name="Text 12"/>
          <p:cNvSpPr/>
          <p:nvPr/>
        </p:nvSpPr>
        <p:spPr>
          <a:xfrm>
            <a:off x="8055864" y="1444752"/>
            <a:ext cx="731520" cy="219456"/>
          </a:xfrm>
          <a:prstGeom prst="rect">
            <a:avLst/>
          </a:prstGeom>
          <a:noFill/>
        </p:spPr>
        <p:txBody>
          <a:bodyPr wrap="square" rtlCol="0" anchor="ctr"/>
          <a:lstStyle/>
          <a:p>
            <a:pPr marL="0" indent="0" algn="ctr">
              <a:buNone/>
            </a:pPr>
            <a:r>
              <a:rPr lang="en-US" sz="850" b="1" dirty="0">
                <a:solidFill>
                  <a:srgbClr val="FFFFFF"/>
                </a:solidFill>
              </a:rPr>
              <a:t>Medium</a:t>
            </a:r>
            <a:endParaRPr lang="en-US" sz="850" dirty="0"/>
          </a:p>
        </p:txBody>
      </p:sp>
      <p:sp>
        <p:nvSpPr>
          <p:cNvPr id="15" name="Text 13"/>
          <p:cNvSpPr/>
          <p:nvPr/>
        </p:nvSpPr>
        <p:spPr>
          <a:xfrm>
            <a:off x="4882896" y="1426464"/>
            <a:ext cx="3108960" cy="256032"/>
          </a:xfrm>
          <a:prstGeom prst="rect">
            <a:avLst/>
          </a:prstGeom>
          <a:noFill/>
        </p:spPr>
        <p:txBody>
          <a:bodyPr wrap="square" rtlCol="0" anchor="ctr"/>
          <a:lstStyle/>
          <a:p>
            <a:pPr marL="0" indent="0">
              <a:buNone/>
            </a:pPr>
            <a:r>
              <a:rPr lang="en-US" sz="1000" b="1" dirty="0">
                <a:solidFill>
                  <a:srgbClr val="0D1F15"/>
                </a:solidFill>
              </a:rPr>
              <a:t>Lister default or fraud</a:t>
            </a:r>
            <a:endParaRPr lang="en-US" sz="1000" dirty="0"/>
          </a:p>
        </p:txBody>
      </p:sp>
      <p:sp>
        <p:nvSpPr>
          <p:cNvPr id="16" name="Text 14"/>
          <p:cNvSpPr/>
          <p:nvPr/>
        </p:nvSpPr>
        <p:spPr>
          <a:xfrm>
            <a:off x="4882896" y="1719072"/>
            <a:ext cx="3840480" cy="457200"/>
          </a:xfrm>
          <a:prstGeom prst="rect">
            <a:avLst/>
          </a:prstGeom>
          <a:noFill/>
        </p:spPr>
        <p:txBody>
          <a:bodyPr wrap="square" rtlCol="0" anchor="ctr"/>
          <a:lstStyle/>
          <a:p>
            <a:pPr marL="0" indent="0">
              <a:buNone/>
            </a:pPr>
            <a:r>
              <a:rPr lang="en-US" sz="900" dirty="0">
                <a:solidFill>
                  <a:srgbClr val="5A7A68"/>
                </a:solidFill>
              </a:rPr>
              <a:t>✓  Escrow-based milestone release; mandatory lister insurance; NSSF co-review for high-value listings.</a:t>
            </a:r>
            <a:endParaRPr lang="en-US" sz="900" dirty="0"/>
          </a:p>
        </p:txBody>
      </p:sp>
      <p:sp>
        <p:nvSpPr>
          <p:cNvPr id="17" name="Shape 15"/>
          <p:cNvSpPr/>
          <p:nvPr/>
        </p:nvSpPr>
        <p:spPr>
          <a:xfrm>
            <a:off x="347472" y="233172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18" name="Shape 16"/>
          <p:cNvSpPr/>
          <p:nvPr/>
        </p:nvSpPr>
        <p:spPr>
          <a:xfrm>
            <a:off x="347472" y="2331720"/>
            <a:ext cx="64008" cy="868680"/>
          </a:xfrm>
          <a:prstGeom prst="rect">
            <a:avLst/>
          </a:prstGeom>
          <a:solidFill>
            <a:srgbClr val="F59E0B"/>
          </a:solidFill>
        </p:spPr>
      </p:sp>
      <p:sp>
        <p:nvSpPr>
          <p:cNvPr id="19" name="Shape 17"/>
          <p:cNvSpPr/>
          <p:nvPr/>
        </p:nvSpPr>
        <p:spPr>
          <a:xfrm>
            <a:off x="3685032" y="2404872"/>
            <a:ext cx="731520" cy="219456"/>
          </a:xfrm>
          <a:prstGeom prst="rect">
            <a:avLst/>
          </a:prstGeom>
          <a:solidFill>
            <a:srgbClr val="F59E0B"/>
          </a:solidFill>
        </p:spPr>
      </p:sp>
      <p:sp>
        <p:nvSpPr>
          <p:cNvPr id="20" name="Text 18"/>
          <p:cNvSpPr/>
          <p:nvPr/>
        </p:nvSpPr>
        <p:spPr>
          <a:xfrm>
            <a:off x="3685032" y="2404872"/>
            <a:ext cx="731520" cy="219456"/>
          </a:xfrm>
          <a:prstGeom prst="rect">
            <a:avLst/>
          </a:prstGeom>
          <a:noFill/>
        </p:spPr>
        <p:txBody>
          <a:bodyPr wrap="square" rtlCol="0" anchor="ctr"/>
          <a:lstStyle/>
          <a:p>
            <a:pPr marL="0" indent="0" algn="ctr">
              <a:buNone/>
            </a:pPr>
            <a:r>
              <a:rPr lang="en-US" sz="850" b="1" dirty="0">
                <a:solidFill>
                  <a:srgbClr val="FFFFFF"/>
                </a:solidFill>
              </a:rPr>
              <a:t>Medium</a:t>
            </a:r>
            <a:endParaRPr lang="en-US" sz="850" dirty="0"/>
          </a:p>
        </p:txBody>
      </p:sp>
      <p:sp>
        <p:nvSpPr>
          <p:cNvPr id="21" name="Text 19"/>
          <p:cNvSpPr/>
          <p:nvPr/>
        </p:nvSpPr>
        <p:spPr>
          <a:xfrm>
            <a:off x="512064" y="2386584"/>
            <a:ext cx="3108960" cy="256032"/>
          </a:xfrm>
          <a:prstGeom prst="rect">
            <a:avLst/>
          </a:prstGeom>
          <a:noFill/>
        </p:spPr>
        <p:txBody>
          <a:bodyPr wrap="square" rtlCol="0" anchor="ctr"/>
          <a:lstStyle/>
          <a:p>
            <a:pPr marL="0" indent="0">
              <a:buNone/>
            </a:pPr>
            <a:r>
              <a:rPr lang="en-US" sz="1000" b="1" dirty="0">
                <a:solidFill>
                  <a:srgbClr val="0D1F15"/>
                </a:solidFill>
              </a:rPr>
              <a:t>Commodity / FX price risk</a:t>
            </a:r>
            <a:endParaRPr lang="en-US" sz="1000" dirty="0"/>
          </a:p>
        </p:txBody>
      </p:sp>
      <p:sp>
        <p:nvSpPr>
          <p:cNvPr id="22" name="Text 20"/>
          <p:cNvSpPr/>
          <p:nvPr/>
        </p:nvSpPr>
        <p:spPr>
          <a:xfrm>
            <a:off x="512064" y="2679192"/>
            <a:ext cx="3840480" cy="457200"/>
          </a:xfrm>
          <a:prstGeom prst="rect">
            <a:avLst/>
          </a:prstGeom>
          <a:noFill/>
        </p:spPr>
        <p:txBody>
          <a:bodyPr wrap="square" rtlCol="0" anchor="ctr"/>
          <a:lstStyle/>
          <a:p>
            <a:pPr marL="0" indent="0">
              <a:buNone/>
            </a:pPr>
            <a:r>
              <a:rPr lang="en-US" sz="900" dirty="0">
                <a:solidFill>
                  <a:srgbClr val="5A7A68"/>
                </a:solidFill>
              </a:rPr>
              <a:t>✓  Short-cycle structures limit exposure; export-contracted assets preferred; conservative return projections published.</a:t>
            </a:r>
            <a:endParaRPr lang="en-US" sz="900" dirty="0"/>
          </a:p>
        </p:txBody>
      </p:sp>
      <p:sp>
        <p:nvSpPr>
          <p:cNvPr id="23" name="Shape 21"/>
          <p:cNvSpPr/>
          <p:nvPr/>
        </p:nvSpPr>
        <p:spPr>
          <a:xfrm>
            <a:off x="4718304" y="233172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24" name="Shape 22"/>
          <p:cNvSpPr/>
          <p:nvPr/>
        </p:nvSpPr>
        <p:spPr>
          <a:xfrm>
            <a:off x="4718304" y="2331720"/>
            <a:ext cx="64008" cy="868680"/>
          </a:xfrm>
          <a:prstGeom prst="rect">
            <a:avLst/>
          </a:prstGeom>
          <a:solidFill>
            <a:srgbClr val="F59E0B"/>
          </a:solidFill>
        </p:spPr>
      </p:sp>
      <p:sp>
        <p:nvSpPr>
          <p:cNvPr id="25" name="Shape 23"/>
          <p:cNvSpPr/>
          <p:nvPr/>
        </p:nvSpPr>
        <p:spPr>
          <a:xfrm>
            <a:off x="8055864" y="2404872"/>
            <a:ext cx="731520" cy="219456"/>
          </a:xfrm>
          <a:prstGeom prst="rect">
            <a:avLst/>
          </a:prstGeom>
          <a:solidFill>
            <a:srgbClr val="F59E0B"/>
          </a:solidFill>
        </p:spPr>
      </p:sp>
      <p:sp>
        <p:nvSpPr>
          <p:cNvPr id="26" name="Text 24"/>
          <p:cNvSpPr/>
          <p:nvPr/>
        </p:nvSpPr>
        <p:spPr>
          <a:xfrm>
            <a:off x="8055864" y="2404872"/>
            <a:ext cx="731520" cy="219456"/>
          </a:xfrm>
          <a:prstGeom prst="rect">
            <a:avLst/>
          </a:prstGeom>
          <a:noFill/>
        </p:spPr>
        <p:txBody>
          <a:bodyPr wrap="square" rtlCol="0" anchor="ctr"/>
          <a:lstStyle/>
          <a:p>
            <a:pPr marL="0" indent="0" algn="ctr">
              <a:buNone/>
            </a:pPr>
            <a:r>
              <a:rPr lang="en-US" sz="850" b="1" dirty="0">
                <a:solidFill>
                  <a:srgbClr val="FFFFFF"/>
                </a:solidFill>
              </a:rPr>
              <a:t>Medium</a:t>
            </a:r>
            <a:endParaRPr lang="en-US" sz="850" dirty="0"/>
          </a:p>
        </p:txBody>
      </p:sp>
      <p:sp>
        <p:nvSpPr>
          <p:cNvPr id="27" name="Text 25"/>
          <p:cNvSpPr/>
          <p:nvPr/>
        </p:nvSpPr>
        <p:spPr>
          <a:xfrm>
            <a:off x="4882896" y="2386584"/>
            <a:ext cx="3108960" cy="256032"/>
          </a:xfrm>
          <a:prstGeom prst="rect">
            <a:avLst/>
          </a:prstGeom>
          <a:noFill/>
        </p:spPr>
        <p:txBody>
          <a:bodyPr wrap="square" rtlCol="0" anchor="ctr"/>
          <a:lstStyle/>
          <a:p>
            <a:pPr marL="0" indent="0">
              <a:buNone/>
            </a:pPr>
            <a:r>
              <a:rPr lang="en-US" sz="1000" b="1" dirty="0">
                <a:solidFill>
                  <a:srgbClr val="0D1F15"/>
                </a:solidFill>
              </a:rPr>
              <a:t>Mineral certification fraud</a:t>
            </a:r>
            <a:endParaRPr lang="en-US" sz="1000" dirty="0"/>
          </a:p>
        </p:txBody>
      </p:sp>
      <p:sp>
        <p:nvSpPr>
          <p:cNvPr id="28" name="Text 26"/>
          <p:cNvSpPr/>
          <p:nvPr/>
        </p:nvSpPr>
        <p:spPr>
          <a:xfrm>
            <a:off x="4882896" y="2679192"/>
            <a:ext cx="3840480" cy="457200"/>
          </a:xfrm>
          <a:prstGeom prst="rect">
            <a:avLst/>
          </a:prstGeom>
          <a:noFill/>
        </p:spPr>
        <p:txBody>
          <a:bodyPr wrap="square" rtlCol="0" anchor="ctr"/>
          <a:lstStyle/>
          <a:p>
            <a:pPr marL="0" indent="0">
              <a:buNone/>
            </a:pPr>
            <a:r>
              <a:rPr lang="en-US" sz="900" dirty="0">
                <a:solidFill>
                  <a:srgbClr val="5A7A68"/>
                </a:solidFill>
              </a:rPr>
              <a:t>✓  DGSM verification required; ICGLR conflict-free cert mandatory; third-party assay before listing.</a:t>
            </a:r>
            <a:endParaRPr lang="en-US" sz="900" dirty="0"/>
          </a:p>
        </p:txBody>
      </p:sp>
      <p:sp>
        <p:nvSpPr>
          <p:cNvPr id="29" name="Shape 27"/>
          <p:cNvSpPr/>
          <p:nvPr/>
        </p:nvSpPr>
        <p:spPr>
          <a:xfrm>
            <a:off x="347472" y="329184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30" name="Shape 28"/>
          <p:cNvSpPr/>
          <p:nvPr/>
        </p:nvSpPr>
        <p:spPr>
          <a:xfrm>
            <a:off x="347472" y="3291840"/>
            <a:ext cx="64008" cy="868680"/>
          </a:xfrm>
          <a:prstGeom prst="rect">
            <a:avLst/>
          </a:prstGeom>
          <a:solidFill>
            <a:srgbClr val="F59E0B"/>
          </a:solidFill>
        </p:spPr>
      </p:sp>
      <p:sp>
        <p:nvSpPr>
          <p:cNvPr id="31" name="Shape 29"/>
          <p:cNvSpPr/>
          <p:nvPr/>
        </p:nvSpPr>
        <p:spPr>
          <a:xfrm>
            <a:off x="3685032" y="3364992"/>
            <a:ext cx="731520" cy="219456"/>
          </a:xfrm>
          <a:prstGeom prst="rect">
            <a:avLst/>
          </a:prstGeom>
          <a:solidFill>
            <a:srgbClr val="F59E0B"/>
          </a:solidFill>
        </p:spPr>
      </p:sp>
      <p:sp>
        <p:nvSpPr>
          <p:cNvPr id="32" name="Text 30"/>
          <p:cNvSpPr/>
          <p:nvPr/>
        </p:nvSpPr>
        <p:spPr>
          <a:xfrm>
            <a:off x="3685032" y="3364992"/>
            <a:ext cx="731520" cy="219456"/>
          </a:xfrm>
          <a:prstGeom prst="rect">
            <a:avLst/>
          </a:prstGeom>
          <a:noFill/>
        </p:spPr>
        <p:txBody>
          <a:bodyPr wrap="square" rtlCol="0" anchor="ctr"/>
          <a:lstStyle/>
          <a:p>
            <a:pPr marL="0" indent="0" algn="ctr">
              <a:buNone/>
            </a:pPr>
            <a:r>
              <a:rPr lang="en-US" sz="850" b="1" dirty="0">
                <a:solidFill>
                  <a:srgbClr val="FFFFFF"/>
                </a:solidFill>
              </a:rPr>
              <a:t>Medium</a:t>
            </a:r>
            <a:endParaRPr lang="en-US" sz="850" dirty="0"/>
          </a:p>
        </p:txBody>
      </p:sp>
      <p:sp>
        <p:nvSpPr>
          <p:cNvPr id="33" name="Text 31"/>
          <p:cNvSpPr/>
          <p:nvPr/>
        </p:nvSpPr>
        <p:spPr>
          <a:xfrm>
            <a:off x="512064" y="3346704"/>
            <a:ext cx="3108960" cy="256032"/>
          </a:xfrm>
          <a:prstGeom prst="rect">
            <a:avLst/>
          </a:prstGeom>
          <a:noFill/>
        </p:spPr>
        <p:txBody>
          <a:bodyPr wrap="square" rtlCol="0" anchor="ctr"/>
          <a:lstStyle/>
          <a:p>
            <a:pPr marL="0" indent="0">
              <a:buNone/>
            </a:pPr>
            <a:r>
              <a:rPr lang="en-US" sz="1000" b="1" dirty="0">
                <a:solidFill>
                  <a:srgbClr val="0D1F15"/>
                </a:solidFill>
              </a:rPr>
              <a:t>Low user trust (new platform)</a:t>
            </a:r>
            <a:endParaRPr lang="en-US" sz="1000" dirty="0"/>
          </a:p>
        </p:txBody>
      </p:sp>
      <p:sp>
        <p:nvSpPr>
          <p:cNvPr id="34" name="Text 32"/>
          <p:cNvSpPr/>
          <p:nvPr/>
        </p:nvSpPr>
        <p:spPr>
          <a:xfrm>
            <a:off x="512064" y="3639312"/>
            <a:ext cx="3840480" cy="457200"/>
          </a:xfrm>
          <a:prstGeom prst="rect">
            <a:avLst/>
          </a:prstGeom>
          <a:noFill/>
        </p:spPr>
        <p:txBody>
          <a:bodyPr wrap="square" rtlCol="0" anchor="ctr"/>
          <a:lstStyle/>
          <a:p>
            <a:pPr marL="0" indent="0">
              <a:buNone/>
            </a:pPr>
            <a:r>
              <a:rPr lang="en-US" sz="900" dirty="0">
                <a:solidFill>
                  <a:srgbClr val="5A7A68"/>
                </a:solidFill>
              </a:rPr>
              <a:t>✓  NSSF co-brand resolves primary trust barrier. Community agents, in-app education, live payout history transparent to all.</a:t>
            </a:r>
            <a:endParaRPr lang="en-US" sz="900" dirty="0"/>
          </a:p>
        </p:txBody>
      </p:sp>
      <p:sp>
        <p:nvSpPr>
          <p:cNvPr id="35" name="Shape 33"/>
          <p:cNvSpPr/>
          <p:nvPr/>
        </p:nvSpPr>
        <p:spPr>
          <a:xfrm>
            <a:off x="4718304" y="329184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36" name="Shape 34"/>
          <p:cNvSpPr/>
          <p:nvPr/>
        </p:nvSpPr>
        <p:spPr>
          <a:xfrm>
            <a:off x="4718304" y="3291840"/>
            <a:ext cx="64008" cy="868680"/>
          </a:xfrm>
          <a:prstGeom prst="rect">
            <a:avLst/>
          </a:prstGeom>
          <a:solidFill>
            <a:srgbClr val="1A7A45"/>
          </a:solidFill>
        </p:spPr>
      </p:sp>
      <p:sp>
        <p:nvSpPr>
          <p:cNvPr id="37" name="Shape 35"/>
          <p:cNvSpPr/>
          <p:nvPr/>
        </p:nvSpPr>
        <p:spPr>
          <a:xfrm>
            <a:off x="8055864" y="3364992"/>
            <a:ext cx="731520" cy="219456"/>
          </a:xfrm>
          <a:prstGeom prst="rect">
            <a:avLst/>
          </a:prstGeom>
          <a:solidFill>
            <a:srgbClr val="1A7A45"/>
          </a:solidFill>
        </p:spPr>
      </p:sp>
      <p:sp>
        <p:nvSpPr>
          <p:cNvPr id="38" name="Text 36"/>
          <p:cNvSpPr/>
          <p:nvPr/>
        </p:nvSpPr>
        <p:spPr>
          <a:xfrm>
            <a:off x="8055864" y="3364992"/>
            <a:ext cx="731520" cy="219456"/>
          </a:xfrm>
          <a:prstGeom prst="rect">
            <a:avLst/>
          </a:prstGeom>
          <a:noFill/>
        </p:spPr>
        <p:txBody>
          <a:bodyPr wrap="square" rtlCol="0" anchor="ctr"/>
          <a:lstStyle/>
          <a:p>
            <a:pPr marL="0" indent="0" algn="ctr">
              <a:buNone/>
            </a:pPr>
            <a:r>
              <a:rPr lang="en-US" sz="850" b="1" dirty="0">
                <a:solidFill>
                  <a:srgbClr val="FFFFFF"/>
                </a:solidFill>
              </a:rPr>
              <a:t>Low</a:t>
            </a:r>
            <a:endParaRPr lang="en-US" sz="850" dirty="0"/>
          </a:p>
        </p:txBody>
      </p:sp>
      <p:sp>
        <p:nvSpPr>
          <p:cNvPr id="39" name="Text 37"/>
          <p:cNvSpPr/>
          <p:nvPr/>
        </p:nvSpPr>
        <p:spPr>
          <a:xfrm>
            <a:off x="4882896" y="3346704"/>
            <a:ext cx="3108960" cy="256032"/>
          </a:xfrm>
          <a:prstGeom prst="rect">
            <a:avLst/>
          </a:prstGeom>
          <a:noFill/>
        </p:spPr>
        <p:txBody>
          <a:bodyPr wrap="square" rtlCol="0" anchor="ctr"/>
          <a:lstStyle/>
          <a:p>
            <a:pPr marL="0" indent="0">
              <a:buNone/>
            </a:pPr>
            <a:r>
              <a:rPr lang="en-US" sz="1000" b="1" dirty="0">
                <a:solidFill>
                  <a:srgbClr val="0D1F15"/>
                </a:solidFill>
              </a:rPr>
              <a:t>Mobile money downtime</a:t>
            </a:r>
            <a:endParaRPr lang="en-US" sz="1000" dirty="0"/>
          </a:p>
        </p:txBody>
      </p:sp>
      <p:sp>
        <p:nvSpPr>
          <p:cNvPr id="40" name="Text 38"/>
          <p:cNvSpPr/>
          <p:nvPr/>
        </p:nvSpPr>
        <p:spPr>
          <a:xfrm>
            <a:off x="4882896" y="3639312"/>
            <a:ext cx="3840480" cy="457200"/>
          </a:xfrm>
          <a:prstGeom prst="rect">
            <a:avLst/>
          </a:prstGeom>
          <a:noFill/>
        </p:spPr>
        <p:txBody>
          <a:bodyPr wrap="square" rtlCol="0" anchor="ctr"/>
          <a:lstStyle/>
          <a:p>
            <a:pPr marL="0" indent="0">
              <a:buNone/>
            </a:pPr>
            <a:r>
              <a:rPr lang="en-US" sz="900" dirty="0">
                <a:solidFill>
                  <a:srgbClr val="5A7A68"/>
                </a:solidFill>
              </a:rPr>
              <a:t>✓  Multi-PSP (MTN + Airtel + bank); automated retry; investor SMS notification; 48-hr payout SLA.</a:t>
            </a:r>
            <a:endParaRPr lang="en-US" sz="900" dirty="0"/>
          </a:p>
        </p:txBody>
      </p:sp>
      <p:sp>
        <p:nvSpPr>
          <p:cNvPr id="41" name="Shape 39"/>
          <p:cNvSpPr/>
          <p:nvPr/>
        </p:nvSpPr>
        <p:spPr>
          <a:xfrm>
            <a:off x="347472" y="425196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42" name="Shape 40"/>
          <p:cNvSpPr/>
          <p:nvPr/>
        </p:nvSpPr>
        <p:spPr>
          <a:xfrm>
            <a:off x="347472" y="4251960"/>
            <a:ext cx="64008" cy="868680"/>
          </a:xfrm>
          <a:prstGeom prst="rect">
            <a:avLst/>
          </a:prstGeom>
          <a:solidFill>
            <a:srgbClr val="028090"/>
          </a:solidFill>
        </p:spPr>
      </p:sp>
      <p:sp>
        <p:nvSpPr>
          <p:cNvPr id="43" name="Shape 41"/>
          <p:cNvSpPr/>
          <p:nvPr/>
        </p:nvSpPr>
        <p:spPr>
          <a:xfrm>
            <a:off x="3685032" y="4325112"/>
            <a:ext cx="731520" cy="219456"/>
          </a:xfrm>
          <a:prstGeom prst="rect">
            <a:avLst/>
          </a:prstGeom>
          <a:solidFill>
            <a:srgbClr val="028090"/>
          </a:solidFill>
        </p:spPr>
      </p:sp>
      <p:sp>
        <p:nvSpPr>
          <p:cNvPr id="44" name="Text 42"/>
          <p:cNvSpPr/>
          <p:nvPr/>
        </p:nvSpPr>
        <p:spPr>
          <a:xfrm>
            <a:off x="3685032" y="4325112"/>
            <a:ext cx="731520" cy="219456"/>
          </a:xfrm>
          <a:prstGeom prst="rect">
            <a:avLst/>
          </a:prstGeom>
          <a:noFill/>
        </p:spPr>
        <p:txBody>
          <a:bodyPr wrap="square" rtlCol="0" anchor="ctr"/>
          <a:lstStyle/>
          <a:p>
            <a:pPr marL="0" indent="0" algn="ctr">
              <a:buNone/>
            </a:pPr>
            <a:r>
              <a:rPr lang="en-US" sz="850" b="1" dirty="0">
                <a:solidFill>
                  <a:srgbClr val="FFFFFF"/>
                </a:solidFill>
              </a:rPr>
              <a:t>Low–Med</a:t>
            </a:r>
            <a:endParaRPr lang="en-US" sz="850" dirty="0"/>
          </a:p>
        </p:txBody>
      </p:sp>
      <p:sp>
        <p:nvSpPr>
          <p:cNvPr id="45" name="Text 43"/>
          <p:cNvSpPr/>
          <p:nvPr/>
        </p:nvSpPr>
        <p:spPr>
          <a:xfrm>
            <a:off x="512064" y="4306824"/>
            <a:ext cx="3108960" cy="256032"/>
          </a:xfrm>
          <a:prstGeom prst="rect">
            <a:avLst/>
          </a:prstGeom>
          <a:noFill/>
        </p:spPr>
        <p:txBody>
          <a:bodyPr wrap="square" rtlCol="0" anchor="ctr"/>
          <a:lstStyle/>
          <a:p>
            <a:pPr marL="0" indent="0">
              <a:buNone/>
            </a:pPr>
            <a:r>
              <a:rPr lang="en-US" sz="1000" b="1" dirty="0">
                <a:solidFill>
                  <a:srgbClr val="0D1F15"/>
                </a:solidFill>
              </a:rPr>
              <a:t>Competitive entry</a:t>
            </a:r>
            <a:endParaRPr lang="en-US" sz="1000" dirty="0"/>
          </a:p>
        </p:txBody>
      </p:sp>
      <p:sp>
        <p:nvSpPr>
          <p:cNvPr id="46" name="Text 44"/>
          <p:cNvSpPr/>
          <p:nvPr/>
        </p:nvSpPr>
        <p:spPr>
          <a:xfrm>
            <a:off x="512064" y="4599432"/>
            <a:ext cx="3840480" cy="457200"/>
          </a:xfrm>
          <a:prstGeom prst="rect">
            <a:avLst/>
          </a:prstGeom>
          <a:noFill/>
        </p:spPr>
        <p:txBody>
          <a:bodyPr wrap="square" rtlCol="0" anchor="ctr"/>
          <a:lstStyle/>
          <a:p>
            <a:pPr marL="0" indent="0">
              <a:buNone/>
            </a:pPr>
            <a:r>
              <a:rPr lang="en-US" sz="900" dirty="0">
                <a:solidFill>
                  <a:srgbClr val="5A7A68"/>
                </a:solidFill>
              </a:rPr>
              <a:t>✓  First-mover advantage; NSSF partnership as structural moat; exclusive lister agreements with key petroleum/agri partners.</a:t>
            </a:r>
            <a:endParaRPr lang="en-US" sz="900" dirty="0"/>
          </a:p>
        </p:txBody>
      </p:sp>
      <p:sp>
        <p:nvSpPr>
          <p:cNvPr id="47" name="Shape 45"/>
          <p:cNvSpPr/>
          <p:nvPr/>
        </p:nvSpPr>
        <p:spPr>
          <a:xfrm>
            <a:off x="4718304" y="4251960"/>
            <a:ext cx="4160520" cy="868680"/>
          </a:xfrm>
          <a:prstGeom prst="rect">
            <a:avLst/>
          </a:prstGeom>
          <a:solidFill>
            <a:srgbClr val="F4F9F5"/>
          </a:solidFill>
          <a:effectLst>
            <a:outerShdw blurRad="101600" dist="38100" dir="8100000" algn="bl" rotWithShape="0">
              <a:srgbClr val="000000">
                <a:alpha val="12000"/>
              </a:srgbClr>
            </a:outerShdw>
          </a:effectLst>
        </p:spPr>
      </p:sp>
      <p:sp>
        <p:nvSpPr>
          <p:cNvPr id="48" name="Shape 46"/>
          <p:cNvSpPr/>
          <p:nvPr/>
        </p:nvSpPr>
        <p:spPr>
          <a:xfrm>
            <a:off x="4718304" y="4251960"/>
            <a:ext cx="64008" cy="868680"/>
          </a:xfrm>
          <a:prstGeom prst="rect">
            <a:avLst/>
          </a:prstGeom>
          <a:solidFill>
            <a:srgbClr val="F59E0B"/>
          </a:solidFill>
        </p:spPr>
      </p:sp>
      <p:sp>
        <p:nvSpPr>
          <p:cNvPr id="49" name="Shape 47"/>
          <p:cNvSpPr/>
          <p:nvPr/>
        </p:nvSpPr>
        <p:spPr>
          <a:xfrm>
            <a:off x="8055864" y="4325112"/>
            <a:ext cx="731520" cy="219456"/>
          </a:xfrm>
          <a:prstGeom prst="rect">
            <a:avLst/>
          </a:prstGeom>
          <a:solidFill>
            <a:srgbClr val="F59E0B"/>
          </a:solidFill>
        </p:spPr>
      </p:sp>
      <p:sp>
        <p:nvSpPr>
          <p:cNvPr id="50" name="Text 48"/>
          <p:cNvSpPr/>
          <p:nvPr/>
        </p:nvSpPr>
        <p:spPr>
          <a:xfrm>
            <a:off x="8055864" y="4325112"/>
            <a:ext cx="731520" cy="219456"/>
          </a:xfrm>
          <a:prstGeom prst="rect">
            <a:avLst/>
          </a:prstGeom>
          <a:noFill/>
        </p:spPr>
        <p:txBody>
          <a:bodyPr wrap="square" rtlCol="0" anchor="ctr"/>
          <a:lstStyle/>
          <a:p>
            <a:pPr marL="0" indent="0" algn="ctr">
              <a:buNone/>
            </a:pPr>
            <a:r>
              <a:rPr lang="en-US" sz="850" b="1" dirty="0">
                <a:solidFill>
                  <a:srgbClr val="FFFFFF"/>
                </a:solidFill>
              </a:rPr>
              <a:t>Medium</a:t>
            </a:r>
            <a:endParaRPr lang="en-US" sz="850" dirty="0"/>
          </a:p>
        </p:txBody>
      </p:sp>
      <p:sp>
        <p:nvSpPr>
          <p:cNvPr id="51" name="Text 49"/>
          <p:cNvSpPr/>
          <p:nvPr/>
        </p:nvSpPr>
        <p:spPr>
          <a:xfrm>
            <a:off x="4882896" y="4306824"/>
            <a:ext cx="3108960" cy="256032"/>
          </a:xfrm>
          <a:prstGeom prst="rect">
            <a:avLst/>
          </a:prstGeom>
          <a:noFill/>
        </p:spPr>
        <p:txBody>
          <a:bodyPr wrap="square" rtlCol="0" anchor="ctr"/>
          <a:lstStyle/>
          <a:p>
            <a:pPr marL="0" indent="0">
              <a:buNone/>
            </a:pPr>
            <a:r>
              <a:rPr lang="en-US" sz="1000" b="1" dirty="0">
                <a:solidFill>
                  <a:srgbClr val="0D1F15"/>
                </a:solidFill>
              </a:rPr>
              <a:t>Currency risk (FX/foreign stocks)</a:t>
            </a:r>
            <a:endParaRPr lang="en-US" sz="1000" dirty="0"/>
          </a:p>
        </p:txBody>
      </p:sp>
      <p:sp>
        <p:nvSpPr>
          <p:cNvPr id="52" name="Text 50"/>
          <p:cNvSpPr/>
          <p:nvPr/>
        </p:nvSpPr>
        <p:spPr>
          <a:xfrm>
            <a:off x="4882896" y="4599432"/>
            <a:ext cx="3840480" cy="457200"/>
          </a:xfrm>
          <a:prstGeom prst="rect">
            <a:avLst/>
          </a:prstGeom>
          <a:noFill/>
        </p:spPr>
        <p:txBody>
          <a:bodyPr wrap="square" rtlCol="0" anchor="ctr"/>
          <a:lstStyle/>
          <a:p>
            <a:pPr marL="0" indent="0">
              <a:buNone/>
            </a:pPr>
            <a:r>
              <a:rPr lang="en-US" sz="900" dirty="0">
                <a:solidFill>
                  <a:srgbClr val="5A7A68"/>
                </a:solidFill>
              </a:rPr>
              <a:t>✓  UGX-denominated pooled vehicles with licensed FX hedge; position size limits; mandatory risk warnings on all FX listings.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7A45"/>
        </a:solidFill>
        <a:effectLst/>
      </p:bgPr>
    </p:bg>
    <p:spTree>
      <p:nvGrpSpPr>
        <p:cNvPr id="1" name=""/>
        <p:cNvGrpSpPr/>
        <p:nvPr/>
      </p:nvGrpSpPr>
      <p:grpSpPr>
        <a:xfrm>
          <a:off x="0" y="0"/>
          <a:ext cx="0" cy="0"/>
          <a:chOff x="0" y="0"/>
          <a:chExt cx="0" cy="0"/>
        </a:xfrm>
      </p:grpSpPr>
      <p:sp>
        <p:nvSpPr>
          <p:cNvPr id="2" name="Shape 0"/>
          <p:cNvSpPr/>
          <p:nvPr/>
        </p:nvSpPr>
        <p:spPr>
          <a:xfrm>
            <a:off x="5029200" y="-1828800"/>
            <a:ext cx="6858000" cy="6858000"/>
          </a:xfrm>
          <a:prstGeom prst="ellipse">
            <a:avLst/>
          </a:prstGeom>
          <a:solidFill>
            <a:srgbClr val="0F4D2B">
              <a:alpha val="45000"/>
            </a:srgbClr>
          </a:solidFill>
          <a:ln w="12700">
            <a:solidFill>
              <a:srgbClr val="0F4D2B">
                <a:alpha val="45000"/>
              </a:srgbClr>
            </a:solidFill>
            <a:prstDash val="solid"/>
          </a:ln>
        </p:spPr>
      </p:sp>
      <p:sp>
        <p:nvSpPr>
          <p:cNvPr id="3" name="Text 1"/>
          <p:cNvSpPr/>
          <p:nvPr/>
        </p:nvSpPr>
        <p:spPr>
          <a:xfrm>
            <a:off x="457200" y="256032"/>
            <a:ext cx="5486400" cy="320040"/>
          </a:xfrm>
          <a:prstGeom prst="rect">
            <a:avLst/>
          </a:prstGeom>
          <a:noFill/>
        </p:spPr>
        <p:txBody>
          <a:bodyPr wrap="square" rtlCol="0" anchor="ctr"/>
          <a:lstStyle/>
          <a:p>
            <a:pPr marL="0" indent="0">
              <a:buNone/>
            </a:pPr>
            <a:r>
              <a:rPr lang="en-US" sz="1100" b="1" kern="0" spc="400" dirty="0">
                <a:solidFill>
                  <a:srgbClr val="D4EFE0"/>
                </a:solidFill>
              </a:rPr>
              <a:t>THE ASK</a:t>
            </a:r>
            <a:endParaRPr lang="en-US" sz="1100" dirty="0"/>
          </a:p>
        </p:txBody>
      </p:sp>
      <p:sp>
        <p:nvSpPr>
          <p:cNvPr id="4" name="Text 2"/>
          <p:cNvSpPr/>
          <p:nvPr/>
        </p:nvSpPr>
        <p:spPr>
          <a:xfrm>
            <a:off x="457200" y="594360"/>
            <a:ext cx="5486400" cy="713232"/>
          </a:xfrm>
          <a:prstGeom prst="rect">
            <a:avLst/>
          </a:prstGeom>
          <a:noFill/>
        </p:spPr>
        <p:txBody>
          <a:bodyPr wrap="square" rtlCol="0" anchor="ctr"/>
          <a:lstStyle/>
          <a:p>
            <a:pPr marL="0" indent="0">
              <a:buNone/>
            </a:pPr>
            <a:r>
              <a:rPr lang="en-US" sz="4000" b="1" dirty="0">
                <a:solidFill>
                  <a:srgbClr val="FFFFFF"/>
                </a:solidFill>
                <a:latin typeface="Georgia" panose="02040502050405020303" pitchFamily="34" charset="0"/>
                <a:ea typeface="Georgia" panose="02040502050405020303" pitchFamily="34" charset="-122"/>
                <a:cs typeface="Georgia" panose="02040502050405020303" pitchFamily="34" charset="-120"/>
              </a:rPr>
              <a:t>Seed Round</a:t>
            </a:r>
            <a:endParaRPr lang="en-US" sz="4000" dirty="0"/>
          </a:p>
        </p:txBody>
      </p:sp>
      <p:sp>
        <p:nvSpPr>
          <p:cNvPr id="5" name="Text 3"/>
          <p:cNvSpPr/>
          <p:nvPr/>
        </p:nvSpPr>
        <p:spPr>
          <a:xfrm>
            <a:off x="457200" y="1298448"/>
            <a:ext cx="5486400" cy="502920"/>
          </a:xfrm>
          <a:prstGeom prst="rect">
            <a:avLst/>
          </a:prstGeom>
          <a:noFill/>
        </p:spPr>
        <p:txBody>
          <a:bodyPr wrap="square" rtlCol="0" anchor="ctr"/>
          <a:lstStyle/>
          <a:p>
            <a:pPr marL="0" indent="0">
              <a:buNone/>
            </a:pPr>
            <a:r>
              <a:rPr lang="en-US" sz="2000" b="1" dirty="0">
                <a:solidFill>
                  <a:srgbClr val="C17F00"/>
                </a:solidFill>
                <a:latin typeface="Georgia" panose="02040502050405020303" pitchFamily="34" charset="0"/>
                <a:ea typeface="Georgia" panose="02040502050405020303" pitchFamily="34" charset="-122"/>
                <a:cs typeface="Georgia" panose="02040502050405020303" pitchFamily="34" charset="-120"/>
              </a:rPr>
              <a:t>UGX 1.8 Billion  (~USD 480,000)</a:t>
            </a:r>
            <a:endParaRPr lang="en-US" sz="2000" dirty="0"/>
          </a:p>
        </p:txBody>
      </p:sp>
      <p:sp>
        <p:nvSpPr>
          <p:cNvPr id="6" name="Text 4"/>
          <p:cNvSpPr/>
          <p:nvPr/>
        </p:nvSpPr>
        <p:spPr>
          <a:xfrm>
            <a:off x="457200" y="1874520"/>
            <a:ext cx="5029200" cy="658368"/>
          </a:xfrm>
          <a:prstGeom prst="rect">
            <a:avLst/>
          </a:prstGeom>
          <a:noFill/>
        </p:spPr>
        <p:txBody>
          <a:bodyPr wrap="square" rtlCol="0" anchor="ctr"/>
          <a:lstStyle/>
          <a:p>
            <a:pPr marL="0" indent="0">
              <a:buNone/>
            </a:pPr>
            <a:r>
              <a:rPr lang="en-US" sz="1200" dirty="0">
                <a:solidFill>
                  <a:srgbClr val="D4EFE0"/>
                </a:solidFill>
              </a:rPr>
              <a:t>18-month runway to launch, license, and reach 5,000+ active investors across 5 asset classes — with NSSF auto-enrollment live from Day 1.</a:t>
            </a:r>
            <a:endParaRPr lang="en-US" sz="1200" dirty="0"/>
          </a:p>
        </p:txBody>
      </p:sp>
      <p:sp>
        <p:nvSpPr>
          <p:cNvPr id="7" name="Shape 5"/>
          <p:cNvSpPr/>
          <p:nvPr/>
        </p:nvSpPr>
        <p:spPr>
          <a:xfrm>
            <a:off x="457200" y="2670048"/>
            <a:ext cx="5029200" cy="347472"/>
          </a:xfrm>
          <a:prstGeom prst="rect">
            <a:avLst/>
          </a:prstGeom>
          <a:solidFill>
            <a:srgbClr val="0F4D2B"/>
          </a:solidFill>
        </p:spPr>
      </p:sp>
      <p:sp>
        <p:nvSpPr>
          <p:cNvPr id="8" name="Shape 6"/>
          <p:cNvSpPr/>
          <p:nvPr/>
        </p:nvSpPr>
        <p:spPr>
          <a:xfrm>
            <a:off x="457200" y="2670048"/>
            <a:ext cx="1760220" cy="347472"/>
          </a:xfrm>
          <a:prstGeom prst="rect">
            <a:avLst/>
          </a:prstGeom>
          <a:solidFill>
            <a:srgbClr val="C17F00">
              <a:alpha val="80000"/>
            </a:srgbClr>
          </a:solidFill>
        </p:spPr>
      </p:sp>
      <p:sp>
        <p:nvSpPr>
          <p:cNvPr id="9" name="Text 7"/>
          <p:cNvSpPr/>
          <p:nvPr/>
        </p:nvSpPr>
        <p:spPr>
          <a:xfrm>
            <a:off x="566928" y="2734056"/>
            <a:ext cx="4754880" cy="219456"/>
          </a:xfrm>
          <a:prstGeom prst="rect">
            <a:avLst/>
          </a:prstGeom>
          <a:noFill/>
        </p:spPr>
        <p:txBody>
          <a:bodyPr wrap="square" rtlCol="0" anchor="ctr"/>
          <a:lstStyle/>
          <a:p>
            <a:pPr marL="0" indent="0">
              <a:buNone/>
            </a:pPr>
            <a:r>
              <a:rPr lang="en-US" sz="900" dirty="0">
                <a:solidFill>
                  <a:srgbClr val="FFFFFF"/>
                </a:solidFill>
              </a:rPr>
              <a:t>35%  Tech &amp; Platform  —  Backend API, payment integrations, NSSF API, mobile app, security &amp; DevOps</a:t>
            </a:r>
            <a:endParaRPr lang="en-US" sz="900" dirty="0"/>
          </a:p>
        </p:txBody>
      </p:sp>
      <p:sp>
        <p:nvSpPr>
          <p:cNvPr id="10" name="Shape 8"/>
          <p:cNvSpPr/>
          <p:nvPr/>
        </p:nvSpPr>
        <p:spPr>
          <a:xfrm>
            <a:off x="457200" y="3090672"/>
            <a:ext cx="5029200" cy="347472"/>
          </a:xfrm>
          <a:prstGeom prst="rect">
            <a:avLst/>
          </a:prstGeom>
          <a:solidFill>
            <a:srgbClr val="0F4D2B"/>
          </a:solidFill>
        </p:spPr>
      </p:sp>
      <p:sp>
        <p:nvSpPr>
          <p:cNvPr id="11" name="Shape 9"/>
          <p:cNvSpPr/>
          <p:nvPr/>
        </p:nvSpPr>
        <p:spPr>
          <a:xfrm>
            <a:off x="457200" y="3090672"/>
            <a:ext cx="1106424" cy="347472"/>
          </a:xfrm>
          <a:prstGeom prst="rect">
            <a:avLst/>
          </a:prstGeom>
          <a:solidFill>
            <a:srgbClr val="028090">
              <a:alpha val="80000"/>
            </a:srgbClr>
          </a:solidFill>
        </p:spPr>
      </p:sp>
      <p:sp>
        <p:nvSpPr>
          <p:cNvPr id="12" name="Text 10"/>
          <p:cNvSpPr/>
          <p:nvPr/>
        </p:nvSpPr>
        <p:spPr>
          <a:xfrm>
            <a:off x="566928" y="3154680"/>
            <a:ext cx="4754880" cy="219456"/>
          </a:xfrm>
          <a:prstGeom prst="rect">
            <a:avLst/>
          </a:prstGeom>
          <a:noFill/>
        </p:spPr>
        <p:txBody>
          <a:bodyPr wrap="square" rtlCol="0" anchor="ctr"/>
          <a:lstStyle/>
          <a:p>
            <a:pPr marL="0" indent="0">
              <a:buNone/>
            </a:pPr>
            <a:r>
              <a:rPr lang="en-US" sz="900" dirty="0">
                <a:solidFill>
                  <a:srgbClr val="FFFFFF"/>
                </a:solidFill>
              </a:rPr>
              <a:t>22%  Regulatory &amp; Legal  —  CMA licence, BoU/URBRA/NSSF engagement, SPV legal structures, compliance</a:t>
            </a:r>
            <a:endParaRPr lang="en-US" sz="900" dirty="0"/>
          </a:p>
        </p:txBody>
      </p:sp>
      <p:sp>
        <p:nvSpPr>
          <p:cNvPr id="13" name="Shape 11"/>
          <p:cNvSpPr/>
          <p:nvPr/>
        </p:nvSpPr>
        <p:spPr>
          <a:xfrm>
            <a:off x="457200" y="3511296"/>
            <a:ext cx="5029200" cy="347472"/>
          </a:xfrm>
          <a:prstGeom prst="rect">
            <a:avLst/>
          </a:prstGeom>
          <a:solidFill>
            <a:srgbClr val="0F4D2B"/>
          </a:solidFill>
        </p:spPr>
      </p:sp>
      <p:sp>
        <p:nvSpPr>
          <p:cNvPr id="14" name="Shape 12"/>
          <p:cNvSpPr/>
          <p:nvPr/>
        </p:nvSpPr>
        <p:spPr>
          <a:xfrm>
            <a:off x="457200" y="3511296"/>
            <a:ext cx="1005840" cy="347472"/>
          </a:xfrm>
          <a:prstGeom prst="rect">
            <a:avLst/>
          </a:prstGeom>
          <a:solidFill>
            <a:srgbClr val="F59E0B">
              <a:alpha val="80000"/>
            </a:srgbClr>
          </a:solidFill>
        </p:spPr>
      </p:sp>
      <p:sp>
        <p:nvSpPr>
          <p:cNvPr id="15" name="Text 13"/>
          <p:cNvSpPr/>
          <p:nvPr/>
        </p:nvSpPr>
        <p:spPr>
          <a:xfrm>
            <a:off x="566928" y="3575304"/>
            <a:ext cx="4754880" cy="219456"/>
          </a:xfrm>
          <a:prstGeom prst="rect">
            <a:avLst/>
          </a:prstGeom>
          <a:noFill/>
        </p:spPr>
        <p:txBody>
          <a:bodyPr wrap="square" rtlCol="0" anchor="ctr"/>
          <a:lstStyle/>
          <a:p>
            <a:pPr marL="0" indent="0">
              <a:buNone/>
            </a:pPr>
            <a:r>
              <a:rPr lang="en-US" sz="900" dirty="0">
                <a:solidFill>
                  <a:srgbClr val="FFFFFF"/>
                </a:solidFill>
              </a:rPr>
              <a:t>20%  Marketing &amp; GTM  —  Digital campaigns, referral system, SACCO/employer/NSSF channel partnerships</a:t>
            </a:r>
            <a:endParaRPr lang="en-US" sz="900" dirty="0"/>
          </a:p>
        </p:txBody>
      </p:sp>
      <p:sp>
        <p:nvSpPr>
          <p:cNvPr id="16" name="Shape 14"/>
          <p:cNvSpPr/>
          <p:nvPr/>
        </p:nvSpPr>
        <p:spPr>
          <a:xfrm>
            <a:off x="457200" y="3931920"/>
            <a:ext cx="5029200" cy="347472"/>
          </a:xfrm>
          <a:prstGeom prst="rect">
            <a:avLst/>
          </a:prstGeom>
          <a:solidFill>
            <a:srgbClr val="0F4D2B"/>
          </a:solidFill>
        </p:spPr>
      </p:sp>
      <p:sp>
        <p:nvSpPr>
          <p:cNvPr id="17" name="Shape 15"/>
          <p:cNvSpPr/>
          <p:nvPr/>
        </p:nvSpPr>
        <p:spPr>
          <a:xfrm>
            <a:off x="457200" y="3931920"/>
            <a:ext cx="653796" cy="347472"/>
          </a:xfrm>
          <a:prstGeom prst="rect">
            <a:avLst/>
          </a:prstGeom>
          <a:solidFill>
            <a:srgbClr val="1E2761">
              <a:alpha val="80000"/>
            </a:srgbClr>
          </a:solidFill>
        </p:spPr>
      </p:sp>
      <p:sp>
        <p:nvSpPr>
          <p:cNvPr id="18" name="Text 16"/>
          <p:cNvSpPr/>
          <p:nvPr/>
        </p:nvSpPr>
        <p:spPr>
          <a:xfrm>
            <a:off x="566928" y="3995928"/>
            <a:ext cx="4754880" cy="219456"/>
          </a:xfrm>
          <a:prstGeom prst="rect">
            <a:avLst/>
          </a:prstGeom>
          <a:noFill/>
        </p:spPr>
        <p:txBody>
          <a:bodyPr wrap="square" rtlCol="0" anchor="ctr"/>
          <a:lstStyle/>
          <a:p>
            <a:pPr marL="0" indent="0">
              <a:buNone/>
            </a:pPr>
            <a:r>
              <a:rPr lang="en-US" sz="900" dirty="0">
                <a:solidFill>
                  <a:srgbClr val="FFFFFF"/>
                </a:solidFill>
              </a:rPr>
              <a:t>13%  Operations &amp; Team  —  CTO, compliance officer, asset managers, lister onboarding team</a:t>
            </a:r>
            <a:endParaRPr lang="en-US" sz="900" dirty="0"/>
          </a:p>
        </p:txBody>
      </p:sp>
      <p:sp>
        <p:nvSpPr>
          <p:cNvPr id="19" name="Shape 17"/>
          <p:cNvSpPr/>
          <p:nvPr/>
        </p:nvSpPr>
        <p:spPr>
          <a:xfrm>
            <a:off x="457200" y="4352544"/>
            <a:ext cx="5029200" cy="347472"/>
          </a:xfrm>
          <a:prstGeom prst="rect">
            <a:avLst/>
          </a:prstGeom>
          <a:solidFill>
            <a:srgbClr val="0F4D2B"/>
          </a:solidFill>
        </p:spPr>
      </p:sp>
      <p:sp>
        <p:nvSpPr>
          <p:cNvPr id="20" name="Shape 18"/>
          <p:cNvSpPr/>
          <p:nvPr/>
        </p:nvSpPr>
        <p:spPr>
          <a:xfrm>
            <a:off x="457200" y="4352544"/>
            <a:ext cx="502920" cy="347472"/>
          </a:xfrm>
          <a:prstGeom prst="rect">
            <a:avLst/>
          </a:prstGeom>
          <a:solidFill>
            <a:srgbClr val="5A2D82">
              <a:alpha val="80000"/>
            </a:srgbClr>
          </a:solidFill>
        </p:spPr>
      </p:sp>
      <p:sp>
        <p:nvSpPr>
          <p:cNvPr id="21" name="Text 19"/>
          <p:cNvSpPr/>
          <p:nvPr/>
        </p:nvSpPr>
        <p:spPr>
          <a:xfrm>
            <a:off x="566928" y="4416552"/>
            <a:ext cx="4754880" cy="219456"/>
          </a:xfrm>
          <a:prstGeom prst="rect">
            <a:avLst/>
          </a:prstGeom>
          <a:noFill/>
        </p:spPr>
        <p:txBody>
          <a:bodyPr wrap="square" rtlCol="0" anchor="ctr"/>
          <a:lstStyle/>
          <a:p>
            <a:pPr marL="0" indent="0">
              <a:buNone/>
            </a:pPr>
            <a:r>
              <a:rPr lang="en-US" sz="900" dirty="0">
                <a:solidFill>
                  <a:srgbClr val="FFFFFF"/>
                </a:solidFill>
              </a:rPr>
              <a:t>10%  Reserve &amp; Float  —  Escrow seeding, MoMo float management, contingency runway</a:t>
            </a:r>
            <a:endParaRPr lang="en-US" sz="900" dirty="0"/>
          </a:p>
        </p:txBody>
      </p:sp>
      <p:sp>
        <p:nvSpPr>
          <p:cNvPr id="22" name="Shape 20"/>
          <p:cNvSpPr/>
          <p:nvPr/>
        </p:nvSpPr>
        <p:spPr>
          <a:xfrm>
            <a:off x="5669280" y="1371600"/>
            <a:ext cx="3246120" cy="3127248"/>
          </a:xfrm>
          <a:prstGeom prst="rect">
            <a:avLst/>
          </a:prstGeom>
          <a:solidFill>
            <a:srgbClr val="0F4D2B"/>
          </a:solidFill>
          <a:effectLst>
            <a:outerShdw blurRad="101600" dist="38100" dir="8100000" algn="bl" rotWithShape="0">
              <a:srgbClr val="000000">
                <a:alpha val="12000"/>
              </a:srgbClr>
            </a:outerShdw>
          </a:effectLst>
        </p:spPr>
      </p:sp>
      <p:sp>
        <p:nvSpPr>
          <p:cNvPr id="23" name="Text 21"/>
          <p:cNvSpPr/>
          <p:nvPr/>
        </p:nvSpPr>
        <p:spPr>
          <a:xfrm>
            <a:off x="5833872" y="1508760"/>
            <a:ext cx="2926080" cy="219456"/>
          </a:xfrm>
          <a:prstGeom prst="rect">
            <a:avLst/>
          </a:prstGeom>
          <a:noFill/>
        </p:spPr>
        <p:txBody>
          <a:bodyPr wrap="square" rtlCol="0" anchor="ctr"/>
          <a:lstStyle/>
          <a:p>
            <a:pPr marL="0" indent="0">
              <a:buNone/>
            </a:pPr>
            <a:r>
              <a:rPr lang="en-US" sz="1000" b="1" dirty="0">
                <a:solidFill>
                  <a:srgbClr val="D4EFE0"/>
                </a:solidFill>
              </a:rPr>
              <a:t>Round Type</a:t>
            </a:r>
            <a:endParaRPr lang="en-US" sz="1000" dirty="0"/>
          </a:p>
        </p:txBody>
      </p:sp>
      <p:sp>
        <p:nvSpPr>
          <p:cNvPr id="24" name="Text 22"/>
          <p:cNvSpPr/>
          <p:nvPr/>
        </p:nvSpPr>
        <p:spPr>
          <a:xfrm>
            <a:off x="5833872" y="1764792"/>
            <a:ext cx="2926080" cy="256032"/>
          </a:xfrm>
          <a:prstGeom prst="rect">
            <a:avLst/>
          </a:prstGeom>
          <a:noFill/>
        </p:spPr>
        <p:txBody>
          <a:bodyPr wrap="square" rtlCol="0" anchor="ctr"/>
          <a:lstStyle/>
          <a:p>
            <a:pPr marL="0" indent="0">
              <a:buNone/>
            </a:pPr>
            <a:r>
              <a:rPr lang="en-US" sz="1400" b="1" dirty="0">
                <a:solidFill>
                  <a:srgbClr val="FFFFFF"/>
                </a:solidFill>
              </a:rPr>
              <a:t>Convertible Note / SAFE</a:t>
            </a:r>
            <a:endParaRPr lang="en-US" sz="1400" dirty="0"/>
          </a:p>
        </p:txBody>
      </p:sp>
      <p:sp>
        <p:nvSpPr>
          <p:cNvPr id="25" name="Text 23"/>
          <p:cNvSpPr/>
          <p:nvPr/>
        </p:nvSpPr>
        <p:spPr>
          <a:xfrm>
            <a:off x="5833872" y="2075688"/>
            <a:ext cx="2926080" cy="219456"/>
          </a:xfrm>
          <a:prstGeom prst="rect">
            <a:avLst/>
          </a:prstGeom>
          <a:noFill/>
        </p:spPr>
        <p:txBody>
          <a:bodyPr wrap="square" rtlCol="0" anchor="ctr"/>
          <a:lstStyle/>
          <a:p>
            <a:pPr marL="0" indent="0">
              <a:buNone/>
            </a:pPr>
            <a:r>
              <a:rPr lang="en-US" sz="1000" b="1" dirty="0">
                <a:solidFill>
                  <a:srgbClr val="D4EFE0"/>
                </a:solidFill>
              </a:rPr>
              <a:t>Valuation Cap</a:t>
            </a:r>
            <a:endParaRPr lang="en-US" sz="1000" dirty="0"/>
          </a:p>
        </p:txBody>
      </p:sp>
      <p:sp>
        <p:nvSpPr>
          <p:cNvPr id="26" name="Text 24"/>
          <p:cNvSpPr/>
          <p:nvPr/>
        </p:nvSpPr>
        <p:spPr>
          <a:xfrm>
            <a:off x="5833872" y="2331720"/>
            <a:ext cx="2926080" cy="256032"/>
          </a:xfrm>
          <a:prstGeom prst="rect">
            <a:avLst/>
          </a:prstGeom>
          <a:noFill/>
        </p:spPr>
        <p:txBody>
          <a:bodyPr wrap="square" rtlCol="0" anchor="ctr"/>
          <a:lstStyle/>
          <a:p>
            <a:pPr marL="0" indent="0">
              <a:buNone/>
            </a:pPr>
            <a:r>
              <a:rPr lang="en-US" sz="1400" b="1" dirty="0">
                <a:solidFill>
                  <a:srgbClr val="FFFFFF"/>
                </a:solidFill>
              </a:rPr>
              <a:t>UGX 9B  (~USD 2.4M)</a:t>
            </a:r>
            <a:endParaRPr lang="en-US" sz="1400" dirty="0"/>
          </a:p>
        </p:txBody>
      </p:sp>
      <p:sp>
        <p:nvSpPr>
          <p:cNvPr id="27" name="Text 25"/>
          <p:cNvSpPr/>
          <p:nvPr/>
        </p:nvSpPr>
        <p:spPr>
          <a:xfrm>
            <a:off x="5833872" y="2642616"/>
            <a:ext cx="2926080" cy="219456"/>
          </a:xfrm>
          <a:prstGeom prst="rect">
            <a:avLst/>
          </a:prstGeom>
          <a:noFill/>
        </p:spPr>
        <p:txBody>
          <a:bodyPr wrap="square" rtlCol="0" anchor="ctr"/>
          <a:lstStyle/>
          <a:p>
            <a:pPr marL="0" indent="0">
              <a:buNone/>
            </a:pPr>
            <a:r>
              <a:rPr lang="en-US" sz="1000" b="1" dirty="0">
                <a:solidFill>
                  <a:srgbClr val="D4EFE0"/>
                </a:solidFill>
              </a:rPr>
              <a:t>Discount</a:t>
            </a:r>
            <a:endParaRPr lang="en-US" sz="1000" dirty="0"/>
          </a:p>
        </p:txBody>
      </p:sp>
      <p:sp>
        <p:nvSpPr>
          <p:cNvPr id="28" name="Text 26"/>
          <p:cNvSpPr/>
          <p:nvPr/>
        </p:nvSpPr>
        <p:spPr>
          <a:xfrm>
            <a:off x="5833872" y="2898648"/>
            <a:ext cx="2926080" cy="256032"/>
          </a:xfrm>
          <a:prstGeom prst="rect">
            <a:avLst/>
          </a:prstGeom>
          <a:noFill/>
        </p:spPr>
        <p:txBody>
          <a:bodyPr wrap="square" rtlCol="0" anchor="ctr"/>
          <a:lstStyle/>
          <a:p>
            <a:pPr marL="0" indent="0">
              <a:buNone/>
            </a:pPr>
            <a:r>
              <a:rPr lang="en-US" sz="1400" b="1" dirty="0">
                <a:solidFill>
                  <a:srgbClr val="FFFFFF"/>
                </a:solidFill>
              </a:rPr>
              <a:t>20% at Series A</a:t>
            </a:r>
            <a:endParaRPr lang="en-US" sz="1400" dirty="0"/>
          </a:p>
        </p:txBody>
      </p:sp>
      <p:sp>
        <p:nvSpPr>
          <p:cNvPr id="29" name="Text 27"/>
          <p:cNvSpPr/>
          <p:nvPr/>
        </p:nvSpPr>
        <p:spPr>
          <a:xfrm>
            <a:off x="5833872" y="3209544"/>
            <a:ext cx="2926080" cy="219456"/>
          </a:xfrm>
          <a:prstGeom prst="rect">
            <a:avLst/>
          </a:prstGeom>
          <a:noFill/>
        </p:spPr>
        <p:txBody>
          <a:bodyPr wrap="square" rtlCol="0" anchor="ctr"/>
          <a:lstStyle/>
          <a:p>
            <a:pPr marL="0" indent="0">
              <a:buNone/>
            </a:pPr>
            <a:r>
              <a:rPr lang="en-US" sz="1000" b="1" dirty="0">
                <a:solidFill>
                  <a:srgbClr val="D4EFE0"/>
                </a:solidFill>
              </a:rPr>
              <a:t>Use of Funds</a:t>
            </a:r>
            <a:endParaRPr lang="en-US" sz="1000" dirty="0"/>
          </a:p>
        </p:txBody>
      </p:sp>
      <p:sp>
        <p:nvSpPr>
          <p:cNvPr id="30" name="Text 28"/>
          <p:cNvSpPr/>
          <p:nvPr/>
        </p:nvSpPr>
        <p:spPr>
          <a:xfrm>
            <a:off x="5833872" y="3465576"/>
            <a:ext cx="2926080" cy="256032"/>
          </a:xfrm>
          <a:prstGeom prst="rect">
            <a:avLst/>
          </a:prstGeom>
          <a:noFill/>
        </p:spPr>
        <p:txBody>
          <a:bodyPr wrap="square" rtlCol="0" anchor="ctr"/>
          <a:lstStyle/>
          <a:p>
            <a:pPr marL="0" indent="0">
              <a:buNone/>
            </a:pPr>
            <a:r>
              <a:rPr lang="en-US" sz="1400" b="1" dirty="0">
                <a:solidFill>
                  <a:srgbClr val="FFFFFF"/>
                </a:solidFill>
              </a:rPr>
              <a:t>18-month runway</a:t>
            </a:r>
            <a:endParaRPr lang="en-US" sz="1400" dirty="0"/>
          </a:p>
        </p:txBody>
      </p:sp>
      <p:sp>
        <p:nvSpPr>
          <p:cNvPr id="31" name="Text 29"/>
          <p:cNvSpPr/>
          <p:nvPr/>
        </p:nvSpPr>
        <p:spPr>
          <a:xfrm>
            <a:off x="5833872" y="3776472"/>
            <a:ext cx="2926080" cy="219456"/>
          </a:xfrm>
          <a:prstGeom prst="rect">
            <a:avLst/>
          </a:prstGeom>
          <a:noFill/>
        </p:spPr>
        <p:txBody>
          <a:bodyPr wrap="square" rtlCol="0" anchor="ctr"/>
          <a:lstStyle/>
          <a:p>
            <a:pPr marL="0" indent="0">
              <a:buNone/>
            </a:pPr>
            <a:r>
              <a:rPr lang="en-US" sz="1000" b="1" dirty="0">
                <a:solidFill>
                  <a:srgbClr val="D4EFE0"/>
                </a:solidFill>
              </a:rPr>
              <a:t>Lead Close</a:t>
            </a:r>
            <a:endParaRPr lang="en-US" sz="1000" dirty="0"/>
          </a:p>
        </p:txBody>
      </p:sp>
      <p:sp>
        <p:nvSpPr>
          <p:cNvPr id="32" name="Text 30"/>
          <p:cNvSpPr/>
          <p:nvPr/>
        </p:nvSpPr>
        <p:spPr>
          <a:xfrm>
            <a:off x="5833872" y="4032504"/>
            <a:ext cx="2926080" cy="256032"/>
          </a:xfrm>
          <a:prstGeom prst="rect">
            <a:avLst/>
          </a:prstGeom>
          <a:noFill/>
        </p:spPr>
        <p:txBody>
          <a:bodyPr wrap="square" rtlCol="0" anchor="ctr"/>
          <a:lstStyle/>
          <a:p>
            <a:pPr marL="0" indent="0">
              <a:buNone/>
            </a:pPr>
            <a:r>
              <a:rPr lang="en-US" sz="1400" b="1" dirty="0">
                <a:solidFill>
                  <a:srgbClr val="FFFFFF"/>
                </a:solidFill>
              </a:rPr>
              <a:t>Q3 2026</a:t>
            </a:r>
            <a:endParaRPr lang="en-US" sz="1400" dirty="0"/>
          </a:p>
        </p:txBody>
      </p:sp>
      <p:sp>
        <p:nvSpPr>
          <p:cNvPr id="33" name="Shape 31"/>
          <p:cNvSpPr/>
          <p:nvPr/>
        </p:nvSpPr>
        <p:spPr>
          <a:xfrm>
            <a:off x="5669280" y="4617720"/>
            <a:ext cx="3246120" cy="502920"/>
          </a:xfrm>
          <a:prstGeom prst="rect">
            <a:avLst/>
          </a:prstGeom>
          <a:solidFill>
            <a:srgbClr val="C17F00"/>
          </a:solidFill>
        </p:spPr>
      </p:sp>
      <p:sp>
        <p:nvSpPr>
          <p:cNvPr id="34" name="Text 32"/>
          <p:cNvSpPr/>
          <p:nvPr/>
        </p:nvSpPr>
        <p:spPr>
          <a:xfrm>
            <a:off x="5760720" y="4617720"/>
            <a:ext cx="3090672" cy="502920"/>
          </a:xfrm>
          <a:prstGeom prst="rect">
            <a:avLst/>
          </a:prstGeom>
          <a:noFill/>
        </p:spPr>
        <p:txBody>
          <a:bodyPr wrap="square" rtlCol="0" anchor="ctr"/>
          <a:lstStyle/>
          <a:p>
            <a:pPr marL="0" indent="0">
              <a:buNone/>
            </a:pPr>
            <a:r>
              <a:rPr lang="en-US" sz="1000" b="1" dirty="0">
                <a:solidFill>
                  <a:srgbClr val="FFFFFF"/>
                </a:solidFill>
              </a:rPr>
              <a:t>NSSF Tier 1 Partnership requires ZERO capital from NSSF. Revenue flows from Day 1.</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PROPOSED NEXT STEPS</a:t>
            </a:r>
            <a:endParaRPr lang="en-US" sz="1100" dirty="0"/>
          </a:p>
        </p:txBody>
      </p:sp>
      <p:sp>
        <p:nvSpPr>
          <p:cNvPr id="4" name="Text 2"/>
          <p:cNvSpPr/>
          <p:nvPr/>
        </p:nvSpPr>
        <p:spPr>
          <a:xfrm>
            <a:off x="457200" y="749808"/>
            <a:ext cx="8229600" cy="502920"/>
          </a:xfrm>
          <a:prstGeom prst="rect">
            <a:avLst/>
          </a:prstGeom>
          <a:noFill/>
        </p:spPr>
        <p:txBody>
          <a:bodyPr wrap="square" rtlCol="0" anchor="ctr"/>
          <a:lstStyle/>
          <a:p>
            <a:pPr marL="0" indent="0">
              <a:buNone/>
            </a:pPr>
            <a:r>
              <a:rPr lang="en-US" sz="2400" b="1" dirty="0">
                <a:solidFill>
                  <a:srgbClr val="0D1F15"/>
                </a:solidFill>
                <a:latin typeface="Georgia" panose="02040502050405020303" pitchFamily="34" charset="0"/>
                <a:ea typeface="Georgia" panose="02040502050405020303" pitchFamily="34" charset="-122"/>
                <a:cs typeface="Georgia" panose="02040502050405020303" pitchFamily="34" charset="-120"/>
              </a:rPr>
              <a:t>From this meeting to beta launch in 6 months.</a:t>
            </a:r>
            <a:endParaRPr lang="en-US" sz="2400" dirty="0"/>
          </a:p>
        </p:txBody>
      </p:sp>
      <p:sp>
        <p:nvSpPr>
          <p:cNvPr id="5" name="Shape 3"/>
          <p:cNvSpPr/>
          <p:nvPr/>
        </p:nvSpPr>
        <p:spPr>
          <a:xfrm>
            <a:off x="347472" y="1371600"/>
            <a:ext cx="8449056" cy="466344"/>
          </a:xfrm>
          <a:prstGeom prst="rect">
            <a:avLst/>
          </a:prstGeom>
          <a:solidFill>
            <a:srgbClr val="FFFFFF"/>
          </a:solidFill>
        </p:spPr>
      </p:sp>
      <p:sp>
        <p:nvSpPr>
          <p:cNvPr id="6" name="Shape 4"/>
          <p:cNvSpPr/>
          <p:nvPr/>
        </p:nvSpPr>
        <p:spPr>
          <a:xfrm>
            <a:off x="384048" y="1453896"/>
            <a:ext cx="310896" cy="310896"/>
          </a:xfrm>
          <a:prstGeom prst="ellipse">
            <a:avLst/>
          </a:prstGeom>
          <a:solidFill>
            <a:srgbClr val="1A7A45"/>
          </a:solidFill>
        </p:spPr>
      </p:sp>
      <p:sp>
        <p:nvSpPr>
          <p:cNvPr id="7" name="Text 5"/>
          <p:cNvSpPr/>
          <p:nvPr/>
        </p:nvSpPr>
        <p:spPr>
          <a:xfrm>
            <a:off x="384048" y="1453896"/>
            <a:ext cx="310896" cy="310896"/>
          </a:xfrm>
          <a:prstGeom prst="rect">
            <a:avLst/>
          </a:prstGeom>
          <a:noFill/>
        </p:spPr>
        <p:txBody>
          <a:bodyPr wrap="square" rtlCol="0" anchor="ctr"/>
          <a:lstStyle/>
          <a:p>
            <a:pPr marL="0" indent="0" algn="ctr">
              <a:buNone/>
            </a:pPr>
            <a:r>
              <a:rPr lang="en-US" sz="1000" b="1" dirty="0">
                <a:solidFill>
                  <a:srgbClr val="FFFFFF"/>
                </a:solidFill>
              </a:rPr>
              <a:t>1</a:t>
            </a:r>
            <a:endParaRPr lang="en-US" sz="1000" dirty="0"/>
          </a:p>
        </p:txBody>
      </p:sp>
      <p:sp>
        <p:nvSpPr>
          <p:cNvPr id="8" name="Text 6"/>
          <p:cNvSpPr/>
          <p:nvPr/>
        </p:nvSpPr>
        <p:spPr>
          <a:xfrm>
            <a:off x="822960" y="1408176"/>
            <a:ext cx="5303520" cy="237744"/>
          </a:xfrm>
          <a:prstGeom prst="rect">
            <a:avLst/>
          </a:prstGeom>
          <a:noFill/>
        </p:spPr>
        <p:txBody>
          <a:bodyPr wrap="square" rtlCol="0" anchor="ctr"/>
          <a:lstStyle/>
          <a:p>
            <a:pPr marL="0" indent="0">
              <a:buNone/>
            </a:pPr>
            <a:r>
              <a:rPr lang="en-US" sz="1100" b="1" dirty="0">
                <a:solidFill>
                  <a:srgbClr val="0D1F15"/>
                </a:solidFill>
              </a:rPr>
              <a:t>Live OwnIt Uganda product demonstration</a:t>
            </a:r>
            <a:endParaRPr lang="en-US" sz="1100" dirty="0"/>
          </a:p>
        </p:txBody>
      </p:sp>
      <p:sp>
        <p:nvSpPr>
          <p:cNvPr id="9" name="Text 7"/>
          <p:cNvSpPr/>
          <p:nvPr/>
        </p:nvSpPr>
        <p:spPr>
          <a:xfrm>
            <a:off x="822960" y="1645920"/>
            <a:ext cx="5303520" cy="164592"/>
          </a:xfrm>
          <a:prstGeom prst="rect">
            <a:avLst/>
          </a:prstGeom>
          <a:noFill/>
        </p:spPr>
        <p:txBody>
          <a:bodyPr wrap="square" rtlCol="0" anchor="ctr"/>
          <a:lstStyle/>
          <a:p>
            <a:pPr marL="0" indent="0">
              <a:buNone/>
            </a:pPr>
            <a:r>
              <a:rPr lang="en-US" sz="900" dirty="0">
                <a:solidFill>
                  <a:srgbClr val="5A7A68"/>
                </a:solidFill>
              </a:rPr>
              <a:t>OwnIt → NSSF digital, strategy &amp; product teams</a:t>
            </a:r>
            <a:endParaRPr lang="en-US" sz="900" dirty="0"/>
          </a:p>
        </p:txBody>
      </p:sp>
      <p:sp>
        <p:nvSpPr>
          <p:cNvPr id="10" name="Shape 8"/>
          <p:cNvSpPr/>
          <p:nvPr/>
        </p:nvSpPr>
        <p:spPr>
          <a:xfrm>
            <a:off x="6172200" y="1463040"/>
            <a:ext cx="1371600" cy="274320"/>
          </a:xfrm>
          <a:prstGeom prst="rect">
            <a:avLst/>
          </a:prstGeom>
          <a:solidFill>
            <a:srgbClr val="D4EFE0"/>
          </a:solidFill>
        </p:spPr>
      </p:sp>
      <p:sp>
        <p:nvSpPr>
          <p:cNvPr id="11" name="Text 9"/>
          <p:cNvSpPr/>
          <p:nvPr/>
        </p:nvSpPr>
        <p:spPr>
          <a:xfrm>
            <a:off x="6172200" y="1463040"/>
            <a:ext cx="1371600" cy="274320"/>
          </a:xfrm>
          <a:prstGeom prst="rect">
            <a:avLst/>
          </a:prstGeom>
          <a:noFill/>
        </p:spPr>
        <p:txBody>
          <a:bodyPr wrap="square" rtlCol="0" anchor="ctr"/>
          <a:lstStyle/>
          <a:p>
            <a:pPr marL="0" indent="0" algn="ctr">
              <a:buNone/>
            </a:pPr>
            <a:r>
              <a:rPr lang="en-US" sz="950" b="1" dirty="0">
                <a:solidFill>
                  <a:srgbClr val="0F4D2B"/>
                </a:solidFill>
              </a:rPr>
              <a:t>Week 1–2</a:t>
            </a:r>
            <a:endParaRPr lang="en-US" sz="950" dirty="0"/>
          </a:p>
        </p:txBody>
      </p:sp>
      <p:sp>
        <p:nvSpPr>
          <p:cNvPr id="12" name="Shape 10"/>
          <p:cNvSpPr/>
          <p:nvPr/>
        </p:nvSpPr>
        <p:spPr>
          <a:xfrm>
            <a:off x="347472" y="1892808"/>
            <a:ext cx="8449056" cy="466344"/>
          </a:xfrm>
          <a:prstGeom prst="rect">
            <a:avLst/>
          </a:prstGeom>
          <a:solidFill>
            <a:srgbClr val="F4F9F5"/>
          </a:solidFill>
        </p:spPr>
      </p:sp>
      <p:sp>
        <p:nvSpPr>
          <p:cNvPr id="13" name="Shape 11"/>
          <p:cNvSpPr/>
          <p:nvPr/>
        </p:nvSpPr>
        <p:spPr>
          <a:xfrm>
            <a:off x="384048" y="1975104"/>
            <a:ext cx="310896" cy="310896"/>
          </a:xfrm>
          <a:prstGeom prst="ellipse">
            <a:avLst/>
          </a:prstGeom>
          <a:solidFill>
            <a:srgbClr val="1A7A45"/>
          </a:solidFill>
        </p:spPr>
      </p:sp>
      <p:sp>
        <p:nvSpPr>
          <p:cNvPr id="14" name="Text 12"/>
          <p:cNvSpPr/>
          <p:nvPr/>
        </p:nvSpPr>
        <p:spPr>
          <a:xfrm>
            <a:off x="384048" y="1975104"/>
            <a:ext cx="310896" cy="310896"/>
          </a:xfrm>
          <a:prstGeom prst="rect">
            <a:avLst/>
          </a:prstGeom>
          <a:noFill/>
        </p:spPr>
        <p:txBody>
          <a:bodyPr wrap="square" rtlCol="0" anchor="ctr"/>
          <a:lstStyle/>
          <a:p>
            <a:pPr marL="0" indent="0" algn="ctr">
              <a:buNone/>
            </a:pPr>
            <a:r>
              <a:rPr lang="en-US" sz="1000" b="1" dirty="0">
                <a:solidFill>
                  <a:srgbClr val="FFFFFF"/>
                </a:solidFill>
              </a:rPr>
              <a:t>2</a:t>
            </a:r>
            <a:endParaRPr lang="en-US" sz="1000" dirty="0"/>
          </a:p>
        </p:txBody>
      </p:sp>
      <p:sp>
        <p:nvSpPr>
          <p:cNvPr id="15" name="Text 13"/>
          <p:cNvSpPr/>
          <p:nvPr/>
        </p:nvSpPr>
        <p:spPr>
          <a:xfrm>
            <a:off x="822960" y="1929384"/>
            <a:ext cx="5303520" cy="237744"/>
          </a:xfrm>
          <a:prstGeom prst="rect">
            <a:avLst/>
          </a:prstGeom>
          <a:noFill/>
        </p:spPr>
        <p:txBody>
          <a:bodyPr wrap="square" rtlCol="0" anchor="ctr"/>
          <a:lstStyle/>
          <a:p>
            <a:pPr marL="0" indent="0">
              <a:buNone/>
            </a:pPr>
            <a:r>
              <a:rPr lang="en-US" sz="1100" b="1" dirty="0">
                <a:solidFill>
                  <a:srgbClr val="0D1F15"/>
                </a:solidFill>
              </a:rPr>
              <a:t>Joint Working Group: 2 NSSF + 2 OwnIt representatives</a:t>
            </a:r>
            <a:endParaRPr lang="en-US" sz="1100" dirty="0"/>
          </a:p>
        </p:txBody>
      </p:sp>
      <p:sp>
        <p:nvSpPr>
          <p:cNvPr id="16" name="Text 14"/>
          <p:cNvSpPr/>
          <p:nvPr/>
        </p:nvSpPr>
        <p:spPr>
          <a:xfrm>
            <a:off x="822960" y="2167128"/>
            <a:ext cx="5303520" cy="164592"/>
          </a:xfrm>
          <a:prstGeom prst="rect">
            <a:avLst/>
          </a:prstGeom>
          <a:noFill/>
        </p:spPr>
        <p:txBody>
          <a:bodyPr wrap="square" rtlCol="0" anchor="ctr"/>
          <a:lstStyle/>
          <a:p>
            <a:pPr marL="0" indent="0">
              <a:buNone/>
            </a:pPr>
            <a:r>
              <a:rPr lang="en-US" sz="900" dirty="0">
                <a:solidFill>
                  <a:srgbClr val="5A7A68"/>
                </a:solidFill>
              </a:rPr>
              <a:t>Review partnership terms, API scope, legal structure</a:t>
            </a:r>
            <a:endParaRPr lang="en-US" sz="900" dirty="0"/>
          </a:p>
        </p:txBody>
      </p:sp>
      <p:sp>
        <p:nvSpPr>
          <p:cNvPr id="17" name="Shape 15"/>
          <p:cNvSpPr/>
          <p:nvPr/>
        </p:nvSpPr>
        <p:spPr>
          <a:xfrm>
            <a:off x="6172200" y="1984248"/>
            <a:ext cx="1371600" cy="274320"/>
          </a:xfrm>
          <a:prstGeom prst="rect">
            <a:avLst/>
          </a:prstGeom>
          <a:solidFill>
            <a:srgbClr val="D4EFE0"/>
          </a:solidFill>
        </p:spPr>
      </p:sp>
      <p:sp>
        <p:nvSpPr>
          <p:cNvPr id="18" name="Text 16"/>
          <p:cNvSpPr/>
          <p:nvPr/>
        </p:nvSpPr>
        <p:spPr>
          <a:xfrm>
            <a:off x="6172200" y="1984248"/>
            <a:ext cx="1371600" cy="274320"/>
          </a:xfrm>
          <a:prstGeom prst="rect">
            <a:avLst/>
          </a:prstGeom>
          <a:noFill/>
        </p:spPr>
        <p:txBody>
          <a:bodyPr wrap="square" rtlCol="0" anchor="ctr"/>
          <a:lstStyle/>
          <a:p>
            <a:pPr marL="0" indent="0" algn="ctr">
              <a:buNone/>
            </a:pPr>
            <a:r>
              <a:rPr lang="en-US" sz="950" b="1" dirty="0">
                <a:solidFill>
                  <a:srgbClr val="0F4D2B"/>
                </a:solidFill>
              </a:rPr>
              <a:t>Week 2–6</a:t>
            </a:r>
            <a:endParaRPr lang="en-US" sz="950" dirty="0"/>
          </a:p>
        </p:txBody>
      </p:sp>
      <p:sp>
        <p:nvSpPr>
          <p:cNvPr id="19" name="Shape 17"/>
          <p:cNvSpPr/>
          <p:nvPr/>
        </p:nvSpPr>
        <p:spPr>
          <a:xfrm>
            <a:off x="347472" y="2414016"/>
            <a:ext cx="8449056" cy="466344"/>
          </a:xfrm>
          <a:prstGeom prst="rect">
            <a:avLst/>
          </a:prstGeom>
          <a:solidFill>
            <a:srgbClr val="FFFFFF"/>
          </a:solidFill>
        </p:spPr>
      </p:sp>
      <p:sp>
        <p:nvSpPr>
          <p:cNvPr id="20" name="Shape 18"/>
          <p:cNvSpPr/>
          <p:nvPr/>
        </p:nvSpPr>
        <p:spPr>
          <a:xfrm>
            <a:off x="384048" y="2496312"/>
            <a:ext cx="310896" cy="310896"/>
          </a:xfrm>
          <a:prstGeom prst="ellipse">
            <a:avLst/>
          </a:prstGeom>
          <a:solidFill>
            <a:srgbClr val="1A7A45"/>
          </a:solidFill>
        </p:spPr>
      </p:sp>
      <p:sp>
        <p:nvSpPr>
          <p:cNvPr id="21" name="Text 19"/>
          <p:cNvSpPr/>
          <p:nvPr/>
        </p:nvSpPr>
        <p:spPr>
          <a:xfrm>
            <a:off x="384048" y="2496312"/>
            <a:ext cx="310896" cy="310896"/>
          </a:xfrm>
          <a:prstGeom prst="rect">
            <a:avLst/>
          </a:prstGeom>
          <a:noFill/>
        </p:spPr>
        <p:txBody>
          <a:bodyPr wrap="square" rtlCol="0" anchor="ctr"/>
          <a:lstStyle/>
          <a:p>
            <a:pPr marL="0" indent="0" algn="ctr">
              <a:buNone/>
            </a:pPr>
            <a:r>
              <a:rPr lang="en-US" sz="1000" b="1" dirty="0">
                <a:solidFill>
                  <a:srgbClr val="FFFFFF"/>
                </a:solidFill>
              </a:rPr>
              <a:t>3</a:t>
            </a:r>
            <a:endParaRPr lang="en-US" sz="1000" dirty="0"/>
          </a:p>
        </p:txBody>
      </p:sp>
      <p:sp>
        <p:nvSpPr>
          <p:cNvPr id="22" name="Text 20"/>
          <p:cNvSpPr/>
          <p:nvPr/>
        </p:nvSpPr>
        <p:spPr>
          <a:xfrm>
            <a:off x="822960" y="2450592"/>
            <a:ext cx="5303520" cy="237744"/>
          </a:xfrm>
          <a:prstGeom prst="rect">
            <a:avLst/>
          </a:prstGeom>
          <a:noFill/>
        </p:spPr>
        <p:txBody>
          <a:bodyPr wrap="square" rtlCol="0" anchor="ctr"/>
          <a:lstStyle/>
          <a:p>
            <a:pPr marL="0" indent="0">
              <a:buNone/>
            </a:pPr>
            <a:r>
              <a:rPr lang="en-US" sz="1100" b="1" dirty="0">
                <a:solidFill>
                  <a:srgbClr val="0D1F15"/>
                </a:solidFill>
              </a:rPr>
              <a:t>Joint regulatory pre-consultation (CMA, URBRA, BoU)</a:t>
            </a:r>
            <a:endParaRPr lang="en-US" sz="1100" dirty="0"/>
          </a:p>
        </p:txBody>
      </p:sp>
      <p:sp>
        <p:nvSpPr>
          <p:cNvPr id="23" name="Text 21"/>
          <p:cNvSpPr/>
          <p:nvPr/>
        </p:nvSpPr>
        <p:spPr>
          <a:xfrm>
            <a:off x="822960" y="2688336"/>
            <a:ext cx="5303520" cy="164592"/>
          </a:xfrm>
          <a:prstGeom prst="rect">
            <a:avLst/>
          </a:prstGeom>
          <a:noFill/>
        </p:spPr>
        <p:txBody>
          <a:bodyPr wrap="square" rtlCol="0" anchor="ctr"/>
          <a:lstStyle/>
          <a:p>
            <a:pPr marL="0" indent="0">
              <a:buNone/>
            </a:pPr>
            <a:r>
              <a:rPr lang="en-US" sz="900" dirty="0">
                <a:solidFill>
                  <a:srgbClr val="5A7A68"/>
                </a:solidFill>
              </a:rPr>
              <a:t>Product classification across all 9 asset classes</a:t>
            </a:r>
            <a:endParaRPr lang="en-US" sz="900" dirty="0"/>
          </a:p>
        </p:txBody>
      </p:sp>
      <p:sp>
        <p:nvSpPr>
          <p:cNvPr id="24" name="Shape 22"/>
          <p:cNvSpPr/>
          <p:nvPr/>
        </p:nvSpPr>
        <p:spPr>
          <a:xfrm>
            <a:off x="6172200" y="2505456"/>
            <a:ext cx="1371600" cy="274320"/>
          </a:xfrm>
          <a:prstGeom prst="rect">
            <a:avLst/>
          </a:prstGeom>
          <a:solidFill>
            <a:srgbClr val="D4EFE0"/>
          </a:solidFill>
        </p:spPr>
      </p:sp>
      <p:sp>
        <p:nvSpPr>
          <p:cNvPr id="25" name="Text 23"/>
          <p:cNvSpPr/>
          <p:nvPr/>
        </p:nvSpPr>
        <p:spPr>
          <a:xfrm>
            <a:off x="6172200" y="2505456"/>
            <a:ext cx="1371600" cy="274320"/>
          </a:xfrm>
          <a:prstGeom prst="rect">
            <a:avLst/>
          </a:prstGeom>
          <a:noFill/>
        </p:spPr>
        <p:txBody>
          <a:bodyPr wrap="square" rtlCol="0" anchor="ctr"/>
          <a:lstStyle/>
          <a:p>
            <a:pPr marL="0" indent="0" algn="ctr">
              <a:buNone/>
            </a:pPr>
            <a:r>
              <a:rPr lang="en-US" sz="950" b="1" dirty="0">
                <a:solidFill>
                  <a:srgbClr val="0F4D2B"/>
                </a:solidFill>
              </a:rPr>
              <a:t>Week 3–8</a:t>
            </a:r>
            <a:endParaRPr lang="en-US" sz="950" dirty="0"/>
          </a:p>
        </p:txBody>
      </p:sp>
      <p:sp>
        <p:nvSpPr>
          <p:cNvPr id="26" name="Shape 24"/>
          <p:cNvSpPr/>
          <p:nvPr/>
        </p:nvSpPr>
        <p:spPr>
          <a:xfrm>
            <a:off x="347472" y="2935224"/>
            <a:ext cx="8449056" cy="466344"/>
          </a:xfrm>
          <a:prstGeom prst="rect">
            <a:avLst/>
          </a:prstGeom>
          <a:solidFill>
            <a:srgbClr val="F4F9F5"/>
          </a:solidFill>
        </p:spPr>
      </p:sp>
      <p:sp>
        <p:nvSpPr>
          <p:cNvPr id="27" name="Shape 25"/>
          <p:cNvSpPr/>
          <p:nvPr/>
        </p:nvSpPr>
        <p:spPr>
          <a:xfrm>
            <a:off x="384048" y="3017520"/>
            <a:ext cx="310896" cy="310896"/>
          </a:xfrm>
          <a:prstGeom prst="ellipse">
            <a:avLst/>
          </a:prstGeom>
          <a:solidFill>
            <a:srgbClr val="1A7A45"/>
          </a:solidFill>
        </p:spPr>
      </p:sp>
      <p:sp>
        <p:nvSpPr>
          <p:cNvPr id="28" name="Text 26"/>
          <p:cNvSpPr/>
          <p:nvPr/>
        </p:nvSpPr>
        <p:spPr>
          <a:xfrm>
            <a:off x="384048" y="3017520"/>
            <a:ext cx="310896" cy="310896"/>
          </a:xfrm>
          <a:prstGeom prst="rect">
            <a:avLst/>
          </a:prstGeom>
          <a:noFill/>
        </p:spPr>
        <p:txBody>
          <a:bodyPr wrap="square" rtlCol="0" anchor="ctr"/>
          <a:lstStyle/>
          <a:p>
            <a:pPr marL="0" indent="0" algn="ctr">
              <a:buNone/>
            </a:pPr>
            <a:r>
              <a:rPr lang="en-US" sz="1000" b="1" dirty="0">
                <a:solidFill>
                  <a:srgbClr val="FFFFFF"/>
                </a:solidFill>
              </a:rPr>
              <a:t>4</a:t>
            </a:r>
            <a:endParaRPr lang="en-US" sz="1000" dirty="0"/>
          </a:p>
        </p:txBody>
      </p:sp>
      <p:sp>
        <p:nvSpPr>
          <p:cNvPr id="29" name="Text 27"/>
          <p:cNvSpPr/>
          <p:nvPr/>
        </p:nvSpPr>
        <p:spPr>
          <a:xfrm>
            <a:off x="822960" y="2971800"/>
            <a:ext cx="5303520" cy="237744"/>
          </a:xfrm>
          <a:prstGeom prst="rect">
            <a:avLst/>
          </a:prstGeom>
          <a:noFill/>
        </p:spPr>
        <p:txBody>
          <a:bodyPr wrap="square" rtlCol="0" anchor="ctr"/>
          <a:lstStyle/>
          <a:p>
            <a:pPr marL="0" indent="0">
              <a:buNone/>
            </a:pPr>
            <a:r>
              <a:rPr lang="en-US" sz="1100" b="1" dirty="0">
                <a:solidFill>
                  <a:srgbClr val="0D1F15"/>
                </a:solidFill>
              </a:rPr>
              <a:t>Secure first 3 lister partners</a:t>
            </a:r>
            <a:endParaRPr lang="en-US" sz="1100" dirty="0"/>
          </a:p>
        </p:txBody>
      </p:sp>
      <p:sp>
        <p:nvSpPr>
          <p:cNvPr id="30" name="Text 28"/>
          <p:cNvSpPr/>
          <p:nvPr/>
        </p:nvSpPr>
        <p:spPr>
          <a:xfrm>
            <a:off x="822960" y="3209544"/>
            <a:ext cx="5303520" cy="164592"/>
          </a:xfrm>
          <a:prstGeom prst="rect">
            <a:avLst/>
          </a:prstGeom>
          <a:noFill/>
        </p:spPr>
        <p:txBody>
          <a:bodyPr wrap="square" rtlCol="0" anchor="ctr"/>
          <a:lstStyle/>
          <a:p>
            <a:pPr marL="0" indent="0">
              <a:buNone/>
            </a:pPr>
            <a:r>
              <a:rPr lang="en-US" sz="900" dirty="0">
                <a:solidFill>
                  <a:srgbClr val="5A7A68"/>
                </a:solidFill>
              </a:rPr>
              <a:t>1 petroleum distributor · 1 agri-exporter · 1 real estate developer</a:t>
            </a:r>
            <a:endParaRPr lang="en-US" sz="900" dirty="0"/>
          </a:p>
        </p:txBody>
      </p:sp>
      <p:sp>
        <p:nvSpPr>
          <p:cNvPr id="31" name="Shape 29"/>
          <p:cNvSpPr/>
          <p:nvPr/>
        </p:nvSpPr>
        <p:spPr>
          <a:xfrm>
            <a:off x="6172200" y="3026664"/>
            <a:ext cx="1371600" cy="274320"/>
          </a:xfrm>
          <a:prstGeom prst="rect">
            <a:avLst/>
          </a:prstGeom>
          <a:solidFill>
            <a:srgbClr val="D4EFE0"/>
          </a:solidFill>
        </p:spPr>
      </p:sp>
      <p:sp>
        <p:nvSpPr>
          <p:cNvPr id="32" name="Text 30"/>
          <p:cNvSpPr/>
          <p:nvPr/>
        </p:nvSpPr>
        <p:spPr>
          <a:xfrm>
            <a:off x="6172200" y="3026664"/>
            <a:ext cx="1371600" cy="274320"/>
          </a:xfrm>
          <a:prstGeom prst="rect">
            <a:avLst/>
          </a:prstGeom>
          <a:noFill/>
        </p:spPr>
        <p:txBody>
          <a:bodyPr wrap="square" rtlCol="0" anchor="ctr"/>
          <a:lstStyle/>
          <a:p>
            <a:pPr marL="0" indent="0" algn="ctr">
              <a:buNone/>
            </a:pPr>
            <a:r>
              <a:rPr lang="en-US" sz="950" b="1" dirty="0">
                <a:solidFill>
                  <a:srgbClr val="0F4D2B"/>
                </a:solidFill>
              </a:rPr>
              <a:t>Week 3–6</a:t>
            </a:r>
            <a:endParaRPr lang="en-US" sz="950" dirty="0"/>
          </a:p>
        </p:txBody>
      </p:sp>
      <p:sp>
        <p:nvSpPr>
          <p:cNvPr id="33" name="Shape 31"/>
          <p:cNvSpPr/>
          <p:nvPr/>
        </p:nvSpPr>
        <p:spPr>
          <a:xfrm>
            <a:off x="347472" y="3456432"/>
            <a:ext cx="8449056" cy="466344"/>
          </a:xfrm>
          <a:prstGeom prst="rect">
            <a:avLst/>
          </a:prstGeom>
          <a:solidFill>
            <a:srgbClr val="FFFFFF"/>
          </a:solidFill>
        </p:spPr>
      </p:sp>
      <p:sp>
        <p:nvSpPr>
          <p:cNvPr id="34" name="Shape 32"/>
          <p:cNvSpPr/>
          <p:nvPr/>
        </p:nvSpPr>
        <p:spPr>
          <a:xfrm>
            <a:off x="384048" y="3538728"/>
            <a:ext cx="310896" cy="310896"/>
          </a:xfrm>
          <a:prstGeom prst="ellipse">
            <a:avLst/>
          </a:prstGeom>
          <a:solidFill>
            <a:srgbClr val="1A7A45"/>
          </a:solidFill>
        </p:spPr>
      </p:sp>
      <p:sp>
        <p:nvSpPr>
          <p:cNvPr id="35" name="Text 33"/>
          <p:cNvSpPr/>
          <p:nvPr/>
        </p:nvSpPr>
        <p:spPr>
          <a:xfrm>
            <a:off x="384048" y="3538728"/>
            <a:ext cx="310896" cy="310896"/>
          </a:xfrm>
          <a:prstGeom prst="rect">
            <a:avLst/>
          </a:prstGeom>
          <a:noFill/>
        </p:spPr>
        <p:txBody>
          <a:bodyPr wrap="square" rtlCol="0" anchor="ctr"/>
          <a:lstStyle/>
          <a:p>
            <a:pPr marL="0" indent="0" algn="ctr">
              <a:buNone/>
            </a:pPr>
            <a:r>
              <a:rPr lang="en-US" sz="1000" b="1" dirty="0">
                <a:solidFill>
                  <a:srgbClr val="FFFFFF"/>
                </a:solidFill>
              </a:rPr>
              <a:t>5</a:t>
            </a:r>
            <a:endParaRPr lang="en-US" sz="1000" dirty="0"/>
          </a:p>
        </p:txBody>
      </p:sp>
      <p:sp>
        <p:nvSpPr>
          <p:cNvPr id="36" name="Text 34"/>
          <p:cNvSpPr/>
          <p:nvPr/>
        </p:nvSpPr>
        <p:spPr>
          <a:xfrm>
            <a:off x="822960" y="3493008"/>
            <a:ext cx="5303520" cy="237744"/>
          </a:xfrm>
          <a:prstGeom prst="rect">
            <a:avLst/>
          </a:prstGeom>
          <a:noFill/>
        </p:spPr>
        <p:txBody>
          <a:bodyPr wrap="square" rtlCol="0" anchor="ctr"/>
          <a:lstStyle/>
          <a:p>
            <a:pPr marL="0" indent="0">
              <a:buNone/>
            </a:pPr>
            <a:r>
              <a:rPr lang="en-US" sz="1100" b="1" dirty="0">
                <a:solidFill>
                  <a:srgbClr val="0D1F15"/>
                </a:solidFill>
              </a:rPr>
              <a:t>OwnIt delivers full NIN auto-enrollment API technical spec</a:t>
            </a:r>
            <a:endParaRPr lang="en-US" sz="1100" dirty="0"/>
          </a:p>
        </p:txBody>
      </p:sp>
      <p:sp>
        <p:nvSpPr>
          <p:cNvPr id="37" name="Text 35"/>
          <p:cNvSpPr/>
          <p:nvPr/>
        </p:nvSpPr>
        <p:spPr>
          <a:xfrm>
            <a:off x="822960" y="3730752"/>
            <a:ext cx="5303520" cy="164592"/>
          </a:xfrm>
          <a:prstGeom prst="rect">
            <a:avLst/>
          </a:prstGeom>
          <a:noFill/>
        </p:spPr>
        <p:txBody>
          <a:bodyPr wrap="square" rtlCol="0" anchor="ctr"/>
          <a:lstStyle/>
          <a:p>
            <a:pPr marL="0" indent="0">
              <a:buNone/>
            </a:pPr>
            <a:r>
              <a:rPr lang="en-US" sz="900" dirty="0">
                <a:solidFill>
                  <a:srgbClr val="5A7A68"/>
                </a:solidFill>
              </a:rPr>
              <a:t>OwnIt Tech Team → NSSF IT &amp; Registry</a:t>
            </a:r>
            <a:endParaRPr lang="en-US" sz="900" dirty="0"/>
          </a:p>
        </p:txBody>
      </p:sp>
      <p:sp>
        <p:nvSpPr>
          <p:cNvPr id="38" name="Shape 36"/>
          <p:cNvSpPr/>
          <p:nvPr/>
        </p:nvSpPr>
        <p:spPr>
          <a:xfrm>
            <a:off x="6172200" y="3547872"/>
            <a:ext cx="1371600" cy="274320"/>
          </a:xfrm>
          <a:prstGeom prst="rect">
            <a:avLst/>
          </a:prstGeom>
          <a:solidFill>
            <a:srgbClr val="D4EFE0"/>
          </a:solidFill>
        </p:spPr>
      </p:sp>
      <p:sp>
        <p:nvSpPr>
          <p:cNvPr id="39" name="Text 37"/>
          <p:cNvSpPr/>
          <p:nvPr/>
        </p:nvSpPr>
        <p:spPr>
          <a:xfrm>
            <a:off x="6172200" y="3547872"/>
            <a:ext cx="1371600" cy="274320"/>
          </a:xfrm>
          <a:prstGeom prst="rect">
            <a:avLst/>
          </a:prstGeom>
          <a:noFill/>
        </p:spPr>
        <p:txBody>
          <a:bodyPr wrap="square" rtlCol="0" anchor="ctr"/>
          <a:lstStyle/>
          <a:p>
            <a:pPr marL="0" indent="0" algn="ctr">
              <a:buNone/>
            </a:pPr>
            <a:r>
              <a:rPr lang="en-US" sz="950" b="1" dirty="0">
                <a:solidFill>
                  <a:srgbClr val="0F4D2B"/>
                </a:solidFill>
              </a:rPr>
              <a:t>Week 4–6</a:t>
            </a:r>
            <a:endParaRPr lang="en-US" sz="950" dirty="0"/>
          </a:p>
        </p:txBody>
      </p:sp>
      <p:sp>
        <p:nvSpPr>
          <p:cNvPr id="40" name="Shape 38"/>
          <p:cNvSpPr/>
          <p:nvPr/>
        </p:nvSpPr>
        <p:spPr>
          <a:xfrm>
            <a:off x="347472" y="3977640"/>
            <a:ext cx="8449056" cy="466344"/>
          </a:xfrm>
          <a:prstGeom prst="rect">
            <a:avLst/>
          </a:prstGeom>
          <a:solidFill>
            <a:srgbClr val="F4F9F5"/>
          </a:solidFill>
        </p:spPr>
      </p:sp>
      <p:sp>
        <p:nvSpPr>
          <p:cNvPr id="41" name="Shape 39"/>
          <p:cNvSpPr/>
          <p:nvPr/>
        </p:nvSpPr>
        <p:spPr>
          <a:xfrm>
            <a:off x="384048" y="4059936"/>
            <a:ext cx="310896" cy="310896"/>
          </a:xfrm>
          <a:prstGeom prst="ellipse">
            <a:avLst/>
          </a:prstGeom>
          <a:solidFill>
            <a:srgbClr val="1A7A45"/>
          </a:solidFill>
        </p:spPr>
      </p:sp>
      <p:sp>
        <p:nvSpPr>
          <p:cNvPr id="42" name="Text 40"/>
          <p:cNvSpPr/>
          <p:nvPr/>
        </p:nvSpPr>
        <p:spPr>
          <a:xfrm>
            <a:off x="384048" y="4059936"/>
            <a:ext cx="310896" cy="310896"/>
          </a:xfrm>
          <a:prstGeom prst="rect">
            <a:avLst/>
          </a:prstGeom>
          <a:noFill/>
        </p:spPr>
        <p:txBody>
          <a:bodyPr wrap="square" rtlCol="0" anchor="ctr"/>
          <a:lstStyle/>
          <a:p>
            <a:pPr marL="0" indent="0" algn="ctr">
              <a:buNone/>
            </a:pPr>
            <a:r>
              <a:rPr lang="en-US" sz="1000" b="1" dirty="0">
                <a:solidFill>
                  <a:srgbClr val="FFFFFF"/>
                </a:solidFill>
              </a:rPr>
              <a:t>6</a:t>
            </a:r>
            <a:endParaRPr lang="en-US" sz="1000" dirty="0"/>
          </a:p>
        </p:txBody>
      </p:sp>
      <p:sp>
        <p:nvSpPr>
          <p:cNvPr id="43" name="Text 41"/>
          <p:cNvSpPr/>
          <p:nvPr/>
        </p:nvSpPr>
        <p:spPr>
          <a:xfrm>
            <a:off x="822960" y="4014216"/>
            <a:ext cx="5303520" cy="237744"/>
          </a:xfrm>
          <a:prstGeom prst="rect">
            <a:avLst/>
          </a:prstGeom>
          <a:noFill/>
        </p:spPr>
        <p:txBody>
          <a:bodyPr wrap="square" rtlCol="0" anchor="ctr"/>
          <a:lstStyle/>
          <a:p>
            <a:pPr marL="0" indent="0">
              <a:buNone/>
            </a:pPr>
            <a:r>
              <a:rPr lang="en-US" sz="1100" b="1" dirty="0">
                <a:solidFill>
                  <a:srgbClr val="0D1F15"/>
                </a:solidFill>
              </a:rPr>
              <a:t>Sign non-binding MOU — Tier 1 partnership terms</a:t>
            </a:r>
            <a:endParaRPr lang="en-US" sz="1100" dirty="0"/>
          </a:p>
        </p:txBody>
      </p:sp>
      <p:sp>
        <p:nvSpPr>
          <p:cNvPr id="44" name="Text 42"/>
          <p:cNvSpPr/>
          <p:nvPr/>
        </p:nvSpPr>
        <p:spPr>
          <a:xfrm>
            <a:off x="822960" y="4251960"/>
            <a:ext cx="5303520" cy="164592"/>
          </a:xfrm>
          <a:prstGeom prst="rect">
            <a:avLst/>
          </a:prstGeom>
          <a:noFill/>
        </p:spPr>
        <p:txBody>
          <a:bodyPr wrap="square" rtlCol="0" anchor="ctr"/>
          <a:lstStyle/>
          <a:p>
            <a:pPr marL="0" indent="0">
              <a:buNone/>
            </a:pPr>
            <a:r>
              <a:rPr lang="en-US" sz="900" dirty="0">
                <a:solidFill>
                  <a:srgbClr val="5A7A68"/>
                </a:solidFill>
              </a:rPr>
              <a:t>OwnIt Uganda Ltd. + NSSF Uganda</a:t>
            </a:r>
            <a:endParaRPr lang="en-US" sz="900" dirty="0"/>
          </a:p>
        </p:txBody>
      </p:sp>
      <p:sp>
        <p:nvSpPr>
          <p:cNvPr id="45" name="Shape 43"/>
          <p:cNvSpPr/>
          <p:nvPr/>
        </p:nvSpPr>
        <p:spPr>
          <a:xfrm>
            <a:off x="6172200" y="4069080"/>
            <a:ext cx="1371600" cy="274320"/>
          </a:xfrm>
          <a:prstGeom prst="rect">
            <a:avLst/>
          </a:prstGeom>
          <a:solidFill>
            <a:srgbClr val="D4EFE0"/>
          </a:solidFill>
        </p:spPr>
      </p:sp>
      <p:sp>
        <p:nvSpPr>
          <p:cNvPr id="46" name="Text 44"/>
          <p:cNvSpPr/>
          <p:nvPr/>
        </p:nvSpPr>
        <p:spPr>
          <a:xfrm>
            <a:off x="6172200" y="4069080"/>
            <a:ext cx="1371600" cy="274320"/>
          </a:xfrm>
          <a:prstGeom prst="rect">
            <a:avLst/>
          </a:prstGeom>
          <a:noFill/>
        </p:spPr>
        <p:txBody>
          <a:bodyPr wrap="square" rtlCol="0" anchor="ctr"/>
          <a:lstStyle/>
          <a:p>
            <a:pPr marL="0" indent="0" algn="ctr">
              <a:buNone/>
            </a:pPr>
            <a:r>
              <a:rPr lang="en-US" sz="950" b="1" dirty="0">
                <a:solidFill>
                  <a:srgbClr val="0F4D2B"/>
                </a:solidFill>
              </a:rPr>
              <a:t>Week 6–10</a:t>
            </a:r>
            <a:endParaRPr lang="en-US" sz="950" dirty="0"/>
          </a:p>
        </p:txBody>
      </p:sp>
      <p:sp>
        <p:nvSpPr>
          <p:cNvPr id="47" name="Shape 45"/>
          <p:cNvSpPr/>
          <p:nvPr/>
        </p:nvSpPr>
        <p:spPr>
          <a:xfrm>
            <a:off x="347472" y="4498848"/>
            <a:ext cx="8449056" cy="466344"/>
          </a:xfrm>
          <a:prstGeom prst="rect">
            <a:avLst/>
          </a:prstGeom>
          <a:solidFill>
            <a:srgbClr val="1A7A45"/>
          </a:solidFill>
          <a:effectLst>
            <a:outerShdw blurRad="101600" dist="38100" dir="8100000" algn="bl" rotWithShape="0">
              <a:srgbClr val="000000">
                <a:alpha val="12000"/>
              </a:srgbClr>
            </a:outerShdw>
          </a:effectLst>
        </p:spPr>
      </p:sp>
      <p:sp>
        <p:nvSpPr>
          <p:cNvPr id="48" name="Shape 46"/>
          <p:cNvSpPr/>
          <p:nvPr/>
        </p:nvSpPr>
        <p:spPr>
          <a:xfrm>
            <a:off x="384048" y="4581144"/>
            <a:ext cx="310896" cy="310896"/>
          </a:xfrm>
          <a:prstGeom prst="ellipse">
            <a:avLst/>
          </a:prstGeom>
          <a:solidFill>
            <a:srgbClr val="C17F00"/>
          </a:solidFill>
        </p:spPr>
      </p:sp>
      <p:sp>
        <p:nvSpPr>
          <p:cNvPr id="49" name="Text 47"/>
          <p:cNvSpPr/>
          <p:nvPr/>
        </p:nvSpPr>
        <p:spPr>
          <a:xfrm>
            <a:off x="384048" y="4581144"/>
            <a:ext cx="310896" cy="310896"/>
          </a:xfrm>
          <a:prstGeom prst="rect">
            <a:avLst/>
          </a:prstGeom>
          <a:noFill/>
        </p:spPr>
        <p:txBody>
          <a:bodyPr wrap="square" rtlCol="0" anchor="ctr"/>
          <a:lstStyle/>
          <a:p>
            <a:pPr marL="0" indent="0" algn="ctr">
              <a:buNone/>
            </a:pPr>
            <a:r>
              <a:rPr lang="en-US" sz="1000" b="1" dirty="0">
                <a:solidFill>
                  <a:srgbClr val="FFFFFF"/>
                </a:solidFill>
              </a:rPr>
              <a:t>7</a:t>
            </a:r>
            <a:endParaRPr lang="en-US" sz="1000" dirty="0"/>
          </a:p>
        </p:txBody>
      </p:sp>
      <p:sp>
        <p:nvSpPr>
          <p:cNvPr id="50" name="Text 48"/>
          <p:cNvSpPr/>
          <p:nvPr/>
        </p:nvSpPr>
        <p:spPr>
          <a:xfrm>
            <a:off x="822960" y="4535424"/>
            <a:ext cx="5303520" cy="237744"/>
          </a:xfrm>
          <a:prstGeom prst="rect">
            <a:avLst/>
          </a:prstGeom>
          <a:noFill/>
        </p:spPr>
        <p:txBody>
          <a:bodyPr wrap="square" rtlCol="0" anchor="ctr"/>
          <a:lstStyle/>
          <a:p>
            <a:pPr marL="0" indent="0">
              <a:buNone/>
            </a:pPr>
            <a:r>
              <a:rPr lang="en-US" sz="1100" b="1" dirty="0">
                <a:solidFill>
                  <a:srgbClr val="FFFFFF"/>
                </a:solidFill>
              </a:rPr>
              <a:t>Beta platform launch: NSSF co-brand + auto-enrollment live + first 3 assets</a:t>
            </a:r>
            <a:endParaRPr lang="en-US" sz="1100" dirty="0"/>
          </a:p>
        </p:txBody>
      </p:sp>
      <p:sp>
        <p:nvSpPr>
          <p:cNvPr id="51" name="Text 49"/>
          <p:cNvSpPr/>
          <p:nvPr/>
        </p:nvSpPr>
        <p:spPr>
          <a:xfrm>
            <a:off x="822960" y="4773168"/>
            <a:ext cx="5303520" cy="164592"/>
          </a:xfrm>
          <a:prstGeom prst="rect">
            <a:avLst/>
          </a:prstGeom>
          <a:noFill/>
        </p:spPr>
        <p:txBody>
          <a:bodyPr wrap="square" rtlCol="0" anchor="ctr"/>
          <a:lstStyle/>
          <a:p>
            <a:pPr marL="0" indent="0">
              <a:buNone/>
            </a:pPr>
            <a:r>
              <a:rPr lang="en-US" sz="900" dirty="0">
                <a:solidFill>
                  <a:srgbClr val="D4EFE0"/>
                </a:solidFill>
              </a:rPr>
              <a:t>Go-live milestone: 5,000 users, first payouts, NSSF revenue begins</a:t>
            </a:r>
            <a:endParaRPr lang="en-US" sz="900" dirty="0"/>
          </a:p>
        </p:txBody>
      </p:sp>
      <p:sp>
        <p:nvSpPr>
          <p:cNvPr id="52" name="Shape 50"/>
          <p:cNvSpPr/>
          <p:nvPr/>
        </p:nvSpPr>
        <p:spPr>
          <a:xfrm>
            <a:off x="6172200" y="4590288"/>
            <a:ext cx="1371600" cy="274320"/>
          </a:xfrm>
          <a:prstGeom prst="rect">
            <a:avLst/>
          </a:prstGeom>
          <a:solidFill>
            <a:srgbClr val="C17F00"/>
          </a:solidFill>
        </p:spPr>
      </p:sp>
      <p:sp>
        <p:nvSpPr>
          <p:cNvPr id="53" name="Text 51"/>
          <p:cNvSpPr/>
          <p:nvPr/>
        </p:nvSpPr>
        <p:spPr>
          <a:xfrm>
            <a:off x="6172200" y="4590288"/>
            <a:ext cx="1371600" cy="274320"/>
          </a:xfrm>
          <a:prstGeom prst="rect">
            <a:avLst/>
          </a:prstGeom>
          <a:noFill/>
        </p:spPr>
        <p:txBody>
          <a:bodyPr wrap="square" rtlCol="0" anchor="ctr"/>
          <a:lstStyle/>
          <a:p>
            <a:pPr marL="0" indent="0" algn="ctr">
              <a:buNone/>
            </a:pPr>
            <a:r>
              <a:rPr lang="en-US" sz="950" b="1" dirty="0">
                <a:solidFill>
                  <a:srgbClr val="FFFFFF"/>
                </a:solidFill>
              </a:rPr>
              <a:t>Month 4–6</a:t>
            </a:r>
            <a:endParaRPr lang="en-US" sz="950" dirty="0"/>
          </a:p>
        </p:txBody>
      </p:sp>
      <p:sp>
        <p:nvSpPr>
          <p:cNvPr id="54" name="Shape 52"/>
          <p:cNvSpPr/>
          <p:nvPr/>
        </p:nvSpPr>
        <p:spPr>
          <a:xfrm>
            <a:off x="347472" y="5047488"/>
            <a:ext cx="8449056" cy="320040"/>
          </a:xfrm>
          <a:prstGeom prst="rect">
            <a:avLst/>
          </a:prstGeom>
          <a:solidFill>
            <a:srgbClr val="D4EFE0"/>
          </a:solidFill>
        </p:spPr>
      </p:sp>
      <p:sp>
        <p:nvSpPr>
          <p:cNvPr id="55" name="Text 53"/>
          <p:cNvSpPr/>
          <p:nvPr/>
        </p:nvSpPr>
        <p:spPr>
          <a:xfrm>
            <a:off x="457200" y="5047488"/>
            <a:ext cx="8321040" cy="320040"/>
          </a:xfrm>
          <a:prstGeom prst="rect">
            <a:avLst/>
          </a:prstGeom>
          <a:noFill/>
        </p:spPr>
        <p:txBody>
          <a:bodyPr wrap="square" rtlCol="0" anchor="ctr"/>
          <a:lstStyle/>
          <a:p>
            <a:pPr marL="0" indent="0">
              <a:buNone/>
            </a:pPr>
            <a:r>
              <a:rPr lang="en-US" sz="1050" b="1" i="1" dirty="0">
                <a:solidFill>
                  <a:srgbClr val="0F4D2B"/>
                </a:solidFill>
              </a:rPr>
              <a:t>Every month of delay is 40,000+ potential auto-enrolled NSSF members — each building a pension pot — foregone.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7A45"/>
        </a:solidFill>
        <a:effectLst/>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F4D2B">
              <a:alpha val="45000"/>
            </a:srgbClr>
          </a:solidFill>
          <a:ln w="12700">
            <a:solidFill>
              <a:srgbClr val="0F4D2B">
                <a:alpha val="45000"/>
              </a:srgbClr>
            </a:solidFill>
            <a:prstDash val="solid"/>
          </a:ln>
        </p:spPr>
      </p:sp>
      <p:sp>
        <p:nvSpPr>
          <p:cNvPr id="3" name="Text 1"/>
          <p:cNvSpPr/>
          <p:nvPr/>
        </p:nvSpPr>
        <p:spPr>
          <a:xfrm>
            <a:off x="457200" y="228600"/>
            <a:ext cx="8229600" cy="320040"/>
          </a:xfrm>
          <a:prstGeom prst="rect">
            <a:avLst/>
          </a:prstGeom>
          <a:noFill/>
        </p:spPr>
        <p:txBody>
          <a:bodyPr wrap="square" rtlCol="0" anchor="ctr"/>
          <a:lstStyle/>
          <a:p>
            <a:pPr marL="0" indent="0">
              <a:buNone/>
            </a:pPr>
            <a:r>
              <a:rPr lang="en-US" sz="1100" b="1" kern="0" spc="400" dirty="0">
                <a:solidFill>
                  <a:srgbClr val="D4EFE0"/>
                </a:solidFill>
              </a:rPr>
              <a:t>WHY NOW</a:t>
            </a:r>
            <a:endParaRPr lang="en-US" sz="1100" dirty="0"/>
          </a:p>
        </p:txBody>
      </p:sp>
      <p:sp>
        <p:nvSpPr>
          <p:cNvPr id="4" name="Text 2"/>
          <p:cNvSpPr/>
          <p:nvPr/>
        </p:nvSpPr>
        <p:spPr>
          <a:xfrm>
            <a:off x="457200" y="594360"/>
            <a:ext cx="6858000" cy="658368"/>
          </a:xfrm>
          <a:prstGeom prst="rect">
            <a:avLst/>
          </a:prstGeom>
          <a:noFill/>
        </p:spPr>
        <p:txBody>
          <a:bodyPr wrap="square" rtlCol="0" anchor="ctr"/>
          <a:lstStyle/>
          <a:p>
            <a:pPr marL="0" indent="0">
              <a:buNone/>
            </a:pPr>
            <a:r>
              <a:rPr lang="en-US" sz="2600" b="1" dirty="0">
                <a:solidFill>
                  <a:srgbClr val="FFFFFF"/>
                </a:solidFill>
                <a:latin typeface="Georgia" panose="02040502050405020303" pitchFamily="34" charset="0"/>
                <a:ea typeface="Georgia" panose="02040502050405020303" pitchFamily="34" charset="-122"/>
                <a:cs typeface="Georgia" panose="02040502050405020303" pitchFamily="34" charset="-120"/>
              </a:rPr>
              <a:t>Four forces converging. One window. One partner.</a:t>
            </a:r>
            <a:endParaRPr lang="en-US" sz="2600" dirty="0"/>
          </a:p>
        </p:txBody>
      </p:sp>
      <p:sp>
        <p:nvSpPr>
          <p:cNvPr id="5" name="Shape 3"/>
          <p:cNvSpPr/>
          <p:nvPr/>
        </p:nvSpPr>
        <p:spPr>
          <a:xfrm>
            <a:off x="320040" y="1417320"/>
            <a:ext cx="4160520" cy="1664208"/>
          </a:xfrm>
          <a:prstGeom prst="rect">
            <a:avLst/>
          </a:prstGeom>
          <a:solidFill>
            <a:srgbClr val="0F4D2B"/>
          </a:solidFill>
          <a:effectLst>
            <a:outerShdw blurRad="101600" dist="38100" dir="8100000" algn="bl" rotWithShape="0">
              <a:srgbClr val="000000">
                <a:alpha val="12000"/>
              </a:srgbClr>
            </a:outerShdw>
          </a:effectLst>
        </p:spPr>
      </p:sp>
      <p:sp>
        <p:nvSpPr>
          <p:cNvPr id="6" name="Shape 4"/>
          <p:cNvSpPr/>
          <p:nvPr/>
        </p:nvSpPr>
        <p:spPr>
          <a:xfrm>
            <a:off x="320040" y="1417320"/>
            <a:ext cx="4160520" cy="64008"/>
          </a:xfrm>
          <a:prstGeom prst="rect">
            <a:avLst/>
          </a:prstGeom>
          <a:solidFill>
            <a:srgbClr val="990011"/>
          </a:solidFill>
        </p:spPr>
      </p:sp>
      <p:sp>
        <p:nvSpPr>
          <p:cNvPr id="7" name="Text 5"/>
          <p:cNvSpPr/>
          <p:nvPr/>
        </p:nvSpPr>
        <p:spPr>
          <a:xfrm>
            <a:off x="457200" y="1545336"/>
            <a:ext cx="502920" cy="45720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8" name="Shape 6"/>
          <p:cNvSpPr/>
          <p:nvPr/>
        </p:nvSpPr>
        <p:spPr>
          <a:xfrm>
            <a:off x="1069848" y="1545336"/>
            <a:ext cx="841248" cy="237744"/>
          </a:xfrm>
          <a:prstGeom prst="rect">
            <a:avLst/>
          </a:prstGeom>
          <a:solidFill>
            <a:srgbClr val="990011"/>
          </a:solidFill>
        </p:spPr>
      </p:sp>
      <p:sp>
        <p:nvSpPr>
          <p:cNvPr id="9" name="Text 7"/>
          <p:cNvSpPr/>
          <p:nvPr/>
        </p:nvSpPr>
        <p:spPr>
          <a:xfrm>
            <a:off x="1069848" y="1545336"/>
            <a:ext cx="841248" cy="237744"/>
          </a:xfrm>
          <a:prstGeom prst="rect">
            <a:avLst/>
          </a:prstGeom>
          <a:noFill/>
        </p:spPr>
        <p:txBody>
          <a:bodyPr wrap="square" rtlCol="0" anchor="ctr"/>
          <a:lstStyle/>
          <a:p>
            <a:pPr marL="0" indent="0" algn="ctr">
              <a:buNone/>
            </a:pPr>
            <a:r>
              <a:rPr lang="en-US" sz="900" b="1" dirty="0">
                <a:solidFill>
                  <a:srgbClr val="FFFFFF"/>
                </a:solidFill>
              </a:rPr>
              <a:t>Force 1</a:t>
            </a:r>
            <a:endParaRPr lang="en-US" sz="900" dirty="0"/>
          </a:p>
        </p:txBody>
      </p:sp>
      <p:sp>
        <p:nvSpPr>
          <p:cNvPr id="10" name="Text 8"/>
          <p:cNvSpPr/>
          <p:nvPr/>
        </p:nvSpPr>
        <p:spPr>
          <a:xfrm>
            <a:off x="457200" y="1856232"/>
            <a:ext cx="3913632" cy="347472"/>
          </a:xfrm>
          <a:prstGeom prst="rect">
            <a:avLst/>
          </a:prstGeom>
          <a:noFill/>
        </p:spPr>
        <p:txBody>
          <a:bodyPr wrap="square" rtlCol="0" anchor="ctr"/>
          <a:lstStyle/>
          <a:p>
            <a:pPr marL="0" indent="0">
              <a:buNone/>
            </a:pPr>
            <a:r>
              <a:rPr lang="en-US" sz="1100" b="1" dirty="0">
                <a:solidFill>
                  <a:srgbClr val="FFFFFF"/>
                </a:solidFill>
              </a:rPr>
              <a:t>Gen Z's Wealth Gap Is Widening by the Day</a:t>
            </a:r>
            <a:endParaRPr lang="en-US" sz="1100" dirty="0"/>
          </a:p>
        </p:txBody>
      </p:sp>
      <p:sp>
        <p:nvSpPr>
          <p:cNvPr id="11" name="Text 9"/>
          <p:cNvSpPr/>
          <p:nvPr/>
        </p:nvSpPr>
        <p:spPr>
          <a:xfrm>
            <a:off x="457200" y="2240280"/>
            <a:ext cx="3913632" cy="749808"/>
          </a:xfrm>
          <a:prstGeom prst="rect">
            <a:avLst/>
          </a:prstGeom>
          <a:noFill/>
        </p:spPr>
        <p:txBody>
          <a:bodyPr wrap="square" rtlCol="0" anchor="ctr"/>
          <a:lstStyle/>
          <a:p>
            <a:pPr marL="0" indent="0">
              <a:buNone/>
            </a:pPr>
            <a:r>
              <a:rPr lang="en-US" sz="850" dirty="0">
                <a:solidFill>
                  <a:srgbClr val="D4EFE0"/>
                </a:solidFill>
              </a:rPr>
              <a:t>Uganda's youth face their worst economic environment in a generation. Without accessible, near-term, mobile-first investment products, this generation will build financial habits around informal mechanisms — betting, chamas, informal lending — that build no long-term wealth. Financial habits formed at 22 last a lifetime. NSSF's window to capture this demographic is closing.</a:t>
            </a:r>
            <a:endParaRPr lang="en-US" sz="850" dirty="0"/>
          </a:p>
        </p:txBody>
      </p:sp>
      <p:sp>
        <p:nvSpPr>
          <p:cNvPr id="12" name="Shape 10"/>
          <p:cNvSpPr/>
          <p:nvPr/>
        </p:nvSpPr>
        <p:spPr>
          <a:xfrm>
            <a:off x="4690872" y="1417320"/>
            <a:ext cx="4160520" cy="1664208"/>
          </a:xfrm>
          <a:prstGeom prst="rect">
            <a:avLst/>
          </a:prstGeom>
          <a:solidFill>
            <a:srgbClr val="0F4D2B"/>
          </a:solidFill>
          <a:effectLst>
            <a:outerShdw blurRad="101600" dist="38100" dir="8100000" algn="bl" rotWithShape="0">
              <a:srgbClr val="000000">
                <a:alpha val="12000"/>
              </a:srgbClr>
            </a:outerShdw>
          </a:effectLst>
        </p:spPr>
      </p:sp>
      <p:sp>
        <p:nvSpPr>
          <p:cNvPr id="13" name="Shape 11"/>
          <p:cNvSpPr/>
          <p:nvPr/>
        </p:nvSpPr>
        <p:spPr>
          <a:xfrm>
            <a:off x="4690872" y="1417320"/>
            <a:ext cx="4160520" cy="64008"/>
          </a:xfrm>
          <a:prstGeom prst="rect">
            <a:avLst/>
          </a:prstGeom>
          <a:solidFill>
            <a:srgbClr val="028090"/>
          </a:solidFill>
        </p:spPr>
      </p:sp>
      <p:sp>
        <p:nvSpPr>
          <p:cNvPr id="14" name="Text 12"/>
          <p:cNvSpPr/>
          <p:nvPr/>
        </p:nvSpPr>
        <p:spPr>
          <a:xfrm>
            <a:off x="4828032" y="1545336"/>
            <a:ext cx="502920" cy="45720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15" name="Shape 13"/>
          <p:cNvSpPr/>
          <p:nvPr/>
        </p:nvSpPr>
        <p:spPr>
          <a:xfrm>
            <a:off x="5440680" y="1545336"/>
            <a:ext cx="841248" cy="237744"/>
          </a:xfrm>
          <a:prstGeom prst="rect">
            <a:avLst/>
          </a:prstGeom>
          <a:solidFill>
            <a:srgbClr val="028090"/>
          </a:solidFill>
        </p:spPr>
      </p:sp>
      <p:sp>
        <p:nvSpPr>
          <p:cNvPr id="16" name="Text 14"/>
          <p:cNvSpPr/>
          <p:nvPr/>
        </p:nvSpPr>
        <p:spPr>
          <a:xfrm>
            <a:off x="5440680" y="1545336"/>
            <a:ext cx="841248" cy="237744"/>
          </a:xfrm>
          <a:prstGeom prst="rect">
            <a:avLst/>
          </a:prstGeom>
          <a:noFill/>
        </p:spPr>
        <p:txBody>
          <a:bodyPr wrap="square" rtlCol="0" anchor="ctr"/>
          <a:lstStyle/>
          <a:p>
            <a:pPr marL="0" indent="0" algn="ctr">
              <a:buNone/>
            </a:pPr>
            <a:r>
              <a:rPr lang="en-US" sz="900" b="1" dirty="0">
                <a:solidFill>
                  <a:srgbClr val="FFFFFF"/>
                </a:solidFill>
              </a:rPr>
              <a:t>Force 2</a:t>
            </a:r>
            <a:endParaRPr lang="en-US" sz="900" dirty="0"/>
          </a:p>
        </p:txBody>
      </p:sp>
      <p:sp>
        <p:nvSpPr>
          <p:cNvPr id="17" name="Text 15"/>
          <p:cNvSpPr/>
          <p:nvPr/>
        </p:nvSpPr>
        <p:spPr>
          <a:xfrm>
            <a:off x="4828032" y="1856232"/>
            <a:ext cx="3913632" cy="347472"/>
          </a:xfrm>
          <a:prstGeom prst="rect">
            <a:avLst/>
          </a:prstGeom>
          <a:noFill/>
        </p:spPr>
        <p:txBody>
          <a:bodyPr wrap="square" rtlCol="0" anchor="ctr"/>
          <a:lstStyle/>
          <a:p>
            <a:pPr marL="0" indent="0">
              <a:buNone/>
            </a:pPr>
            <a:r>
              <a:rPr lang="en-US" sz="1100" b="1" dirty="0">
                <a:solidFill>
                  <a:srgbClr val="FFFFFF"/>
                </a:solidFill>
              </a:rPr>
              <a:t>Mobile Money Enables What Was Previously Impossible</a:t>
            </a:r>
            <a:endParaRPr lang="en-US" sz="1100" dirty="0"/>
          </a:p>
        </p:txBody>
      </p:sp>
      <p:sp>
        <p:nvSpPr>
          <p:cNvPr id="18" name="Text 16"/>
          <p:cNvSpPr/>
          <p:nvPr/>
        </p:nvSpPr>
        <p:spPr>
          <a:xfrm>
            <a:off x="4828032" y="2240280"/>
            <a:ext cx="3913632" cy="749808"/>
          </a:xfrm>
          <a:prstGeom prst="rect">
            <a:avLst/>
          </a:prstGeom>
          <a:noFill/>
        </p:spPr>
        <p:txBody>
          <a:bodyPr wrap="square" rtlCol="0" anchor="ctr"/>
          <a:lstStyle/>
          <a:p>
            <a:pPr marL="0" indent="0">
              <a:buNone/>
            </a:pPr>
            <a:r>
              <a:rPr lang="en-US" sz="850" dirty="0">
                <a:solidFill>
                  <a:srgbClr val="D4EFE0"/>
                </a:solidFill>
              </a:rPr>
              <a:t>Uganda now has 30M+ mobile money accounts. MTN MoMo and Airtel Money process UGX 200T+ annually. The distributed payment infrastructure that makes crowd-investment work at scale, for informal workers, in rural areas, exists today. It did not exist 10 years ago. OwnIt is built on infrastructure that is already in every Ugandan's pocket.</a:t>
            </a:r>
            <a:endParaRPr lang="en-US" sz="850" dirty="0"/>
          </a:p>
        </p:txBody>
      </p:sp>
      <p:sp>
        <p:nvSpPr>
          <p:cNvPr id="19" name="Shape 17"/>
          <p:cNvSpPr/>
          <p:nvPr/>
        </p:nvSpPr>
        <p:spPr>
          <a:xfrm>
            <a:off x="320040" y="3246120"/>
            <a:ext cx="4160520" cy="1664208"/>
          </a:xfrm>
          <a:prstGeom prst="rect">
            <a:avLst/>
          </a:prstGeom>
          <a:solidFill>
            <a:srgbClr val="0F4D2B"/>
          </a:solidFill>
          <a:effectLst>
            <a:outerShdw blurRad="101600" dist="38100" dir="8100000" algn="bl" rotWithShape="0">
              <a:srgbClr val="000000">
                <a:alpha val="12000"/>
              </a:srgbClr>
            </a:outerShdw>
          </a:effectLst>
        </p:spPr>
      </p:sp>
      <p:sp>
        <p:nvSpPr>
          <p:cNvPr id="20" name="Shape 18"/>
          <p:cNvSpPr/>
          <p:nvPr/>
        </p:nvSpPr>
        <p:spPr>
          <a:xfrm>
            <a:off x="320040" y="3246120"/>
            <a:ext cx="4160520" cy="64008"/>
          </a:xfrm>
          <a:prstGeom prst="rect">
            <a:avLst/>
          </a:prstGeom>
          <a:solidFill>
            <a:srgbClr val="C17F00"/>
          </a:solidFill>
        </p:spPr>
      </p:sp>
      <p:sp>
        <p:nvSpPr>
          <p:cNvPr id="21" name="Text 19"/>
          <p:cNvSpPr/>
          <p:nvPr/>
        </p:nvSpPr>
        <p:spPr>
          <a:xfrm>
            <a:off x="457200" y="3374136"/>
            <a:ext cx="502920" cy="45720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2" name="Shape 20"/>
          <p:cNvSpPr/>
          <p:nvPr/>
        </p:nvSpPr>
        <p:spPr>
          <a:xfrm>
            <a:off x="1069848" y="3374136"/>
            <a:ext cx="841248" cy="237744"/>
          </a:xfrm>
          <a:prstGeom prst="rect">
            <a:avLst/>
          </a:prstGeom>
          <a:solidFill>
            <a:srgbClr val="C17F00"/>
          </a:solidFill>
        </p:spPr>
      </p:sp>
      <p:sp>
        <p:nvSpPr>
          <p:cNvPr id="23" name="Text 21"/>
          <p:cNvSpPr/>
          <p:nvPr/>
        </p:nvSpPr>
        <p:spPr>
          <a:xfrm>
            <a:off x="1069848" y="3374136"/>
            <a:ext cx="841248" cy="237744"/>
          </a:xfrm>
          <a:prstGeom prst="rect">
            <a:avLst/>
          </a:prstGeom>
          <a:noFill/>
        </p:spPr>
        <p:txBody>
          <a:bodyPr wrap="square" rtlCol="0" anchor="ctr"/>
          <a:lstStyle/>
          <a:p>
            <a:pPr marL="0" indent="0" algn="ctr">
              <a:buNone/>
            </a:pPr>
            <a:r>
              <a:rPr lang="en-US" sz="900" b="1" dirty="0">
                <a:solidFill>
                  <a:srgbClr val="FFFFFF"/>
                </a:solidFill>
              </a:rPr>
              <a:t>Force 3</a:t>
            </a:r>
            <a:endParaRPr lang="en-US" sz="900" dirty="0"/>
          </a:p>
        </p:txBody>
      </p:sp>
      <p:sp>
        <p:nvSpPr>
          <p:cNvPr id="24" name="Text 22"/>
          <p:cNvSpPr/>
          <p:nvPr/>
        </p:nvSpPr>
        <p:spPr>
          <a:xfrm>
            <a:off x="457200" y="3685032"/>
            <a:ext cx="3913632" cy="347472"/>
          </a:xfrm>
          <a:prstGeom prst="rect">
            <a:avLst/>
          </a:prstGeom>
          <a:noFill/>
        </p:spPr>
        <p:txBody>
          <a:bodyPr wrap="square" rtlCol="0" anchor="ctr"/>
          <a:lstStyle/>
          <a:p>
            <a:pPr marL="0" indent="0">
              <a:buNone/>
            </a:pPr>
            <a:r>
              <a:rPr lang="en-US" sz="1100" b="1" dirty="0">
                <a:solidFill>
                  <a:srgbClr val="FFFFFF"/>
                </a:solidFill>
              </a:rPr>
              <a:t>Uganda's Asset Markets Are Booming but Inaccessible</a:t>
            </a:r>
            <a:endParaRPr lang="en-US" sz="1100" dirty="0"/>
          </a:p>
        </p:txBody>
      </p:sp>
      <p:sp>
        <p:nvSpPr>
          <p:cNvPr id="25" name="Text 23"/>
          <p:cNvSpPr/>
          <p:nvPr/>
        </p:nvSpPr>
        <p:spPr>
          <a:xfrm>
            <a:off x="457200" y="4069080"/>
            <a:ext cx="3913632" cy="749808"/>
          </a:xfrm>
          <a:prstGeom prst="rect">
            <a:avLst/>
          </a:prstGeom>
          <a:noFill/>
        </p:spPr>
        <p:txBody>
          <a:bodyPr wrap="square" rtlCol="0" anchor="ctr"/>
          <a:lstStyle/>
          <a:p>
            <a:pPr marL="0" indent="0">
              <a:buNone/>
            </a:pPr>
            <a:r>
              <a:rPr lang="en-US" sz="850" dirty="0">
                <a:solidFill>
                  <a:srgbClr val="D4EFE0"/>
                </a:solidFill>
              </a:rPr>
              <a:t>Government bond yields at 16–18%, agricultural export margins at 25–45%, mineral exports at $700M and growing, the Kampala property boom, and a resurgent USE — Uganda's asset markets are generating exceptional returns. But these returns flow to institutions and the wealthy. OwnIt democratises access for the 80% currently excluded.</a:t>
            </a:r>
            <a:endParaRPr lang="en-US" sz="850" dirty="0"/>
          </a:p>
        </p:txBody>
      </p:sp>
      <p:sp>
        <p:nvSpPr>
          <p:cNvPr id="26" name="Shape 24"/>
          <p:cNvSpPr/>
          <p:nvPr/>
        </p:nvSpPr>
        <p:spPr>
          <a:xfrm>
            <a:off x="4690872" y="3246120"/>
            <a:ext cx="4160520" cy="1664208"/>
          </a:xfrm>
          <a:prstGeom prst="rect">
            <a:avLst/>
          </a:prstGeom>
          <a:solidFill>
            <a:srgbClr val="0F4D2B"/>
          </a:solidFill>
          <a:effectLst>
            <a:outerShdw blurRad="101600" dist="38100" dir="8100000" algn="bl" rotWithShape="0">
              <a:srgbClr val="000000">
                <a:alpha val="12000"/>
              </a:srgbClr>
            </a:outerShdw>
          </a:effectLst>
        </p:spPr>
      </p:sp>
      <p:sp>
        <p:nvSpPr>
          <p:cNvPr id="27" name="Shape 25"/>
          <p:cNvSpPr/>
          <p:nvPr/>
        </p:nvSpPr>
        <p:spPr>
          <a:xfrm>
            <a:off x="4690872" y="3246120"/>
            <a:ext cx="4160520" cy="64008"/>
          </a:xfrm>
          <a:prstGeom prst="rect">
            <a:avLst/>
          </a:prstGeom>
          <a:solidFill>
            <a:srgbClr val="F59E0B"/>
          </a:solidFill>
        </p:spPr>
      </p:sp>
      <p:sp>
        <p:nvSpPr>
          <p:cNvPr id="28" name="Text 26"/>
          <p:cNvSpPr/>
          <p:nvPr/>
        </p:nvSpPr>
        <p:spPr>
          <a:xfrm>
            <a:off x="4828032" y="3374136"/>
            <a:ext cx="502920" cy="457200"/>
          </a:xfrm>
          <a:prstGeom prst="rect">
            <a:avLst/>
          </a:prstGeom>
          <a:noFill/>
        </p:spPr>
        <p:txBody>
          <a:bodyPr wrap="square" rtlCol="0" anchor="ctr"/>
          <a:lstStyle/>
          <a:p>
            <a:pPr marL="0" indent="0">
              <a:buNone/>
            </a:pPr>
            <a:r>
              <a:rPr lang="en-US" sz="2200" dirty="0">
                <a:solidFill>
                  <a:srgbClr val="000000"/>
                </a:solidFill>
              </a:rPr>
              <a:t>⏰</a:t>
            </a:r>
            <a:endParaRPr lang="en-US" sz="2200" dirty="0"/>
          </a:p>
        </p:txBody>
      </p:sp>
      <p:sp>
        <p:nvSpPr>
          <p:cNvPr id="29" name="Shape 27"/>
          <p:cNvSpPr/>
          <p:nvPr/>
        </p:nvSpPr>
        <p:spPr>
          <a:xfrm>
            <a:off x="5440680" y="3374136"/>
            <a:ext cx="841248" cy="237744"/>
          </a:xfrm>
          <a:prstGeom prst="rect">
            <a:avLst/>
          </a:prstGeom>
          <a:solidFill>
            <a:srgbClr val="F59E0B"/>
          </a:solidFill>
        </p:spPr>
      </p:sp>
      <p:sp>
        <p:nvSpPr>
          <p:cNvPr id="30" name="Text 28"/>
          <p:cNvSpPr/>
          <p:nvPr/>
        </p:nvSpPr>
        <p:spPr>
          <a:xfrm>
            <a:off x="5440680" y="3374136"/>
            <a:ext cx="841248" cy="237744"/>
          </a:xfrm>
          <a:prstGeom prst="rect">
            <a:avLst/>
          </a:prstGeom>
          <a:noFill/>
        </p:spPr>
        <p:txBody>
          <a:bodyPr wrap="square" rtlCol="0" anchor="ctr"/>
          <a:lstStyle/>
          <a:p>
            <a:pPr marL="0" indent="0" algn="ctr">
              <a:buNone/>
            </a:pPr>
            <a:r>
              <a:rPr lang="en-US" sz="900" b="1" dirty="0">
                <a:solidFill>
                  <a:srgbClr val="FFFFFF"/>
                </a:solidFill>
              </a:rPr>
              <a:t>Force 4</a:t>
            </a:r>
            <a:endParaRPr lang="en-US" sz="900" dirty="0"/>
          </a:p>
        </p:txBody>
      </p:sp>
      <p:sp>
        <p:nvSpPr>
          <p:cNvPr id="31" name="Text 29"/>
          <p:cNvSpPr/>
          <p:nvPr/>
        </p:nvSpPr>
        <p:spPr>
          <a:xfrm>
            <a:off x="4828032" y="3685032"/>
            <a:ext cx="3913632" cy="347472"/>
          </a:xfrm>
          <a:prstGeom prst="rect">
            <a:avLst/>
          </a:prstGeom>
          <a:noFill/>
        </p:spPr>
        <p:txBody>
          <a:bodyPr wrap="square" rtlCol="0" anchor="ctr"/>
          <a:lstStyle/>
          <a:p>
            <a:pPr marL="0" indent="0">
              <a:buNone/>
            </a:pPr>
            <a:r>
              <a:rPr lang="en-US" sz="1100" b="1" dirty="0">
                <a:solidFill>
                  <a:srgbClr val="FFFFFF"/>
                </a:solidFill>
              </a:rPr>
              <a:t>NSSF's 2035 Clock Is Running</a:t>
            </a:r>
            <a:endParaRPr lang="en-US" sz="1100" dirty="0"/>
          </a:p>
        </p:txBody>
      </p:sp>
      <p:sp>
        <p:nvSpPr>
          <p:cNvPr id="32" name="Text 30"/>
          <p:cNvSpPr/>
          <p:nvPr/>
        </p:nvSpPr>
        <p:spPr>
          <a:xfrm>
            <a:off x="4828032" y="4069080"/>
            <a:ext cx="3913632" cy="749808"/>
          </a:xfrm>
          <a:prstGeom prst="rect">
            <a:avLst/>
          </a:prstGeom>
          <a:noFill/>
        </p:spPr>
        <p:txBody>
          <a:bodyPr wrap="square" rtlCol="0" anchor="ctr"/>
          <a:lstStyle/>
          <a:p>
            <a:pPr marL="0" indent="0">
              <a:buNone/>
            </a:pPr>
            <a:r>
              <a:rPr lang="en-US" sz="850" dirty="0">
                <a:solidFill>
                  <a:srgbClr val="D4EFE0"/>
                </a:solidFill>
              </a:rPr>
              <a:t>NSSF needs 300,000 new members per year for nine consecutive years. Organic growth will not deliver this. OwnIt can be operational within six months of MOU signing. Every month of delay is 40,000+ potential auto-enrolled members foregone — each of whom would have been building a pension pot via the 2% levy from their very first payout.</a:t>
            </a:r>
            <a:endParaRPr lang="en-US" sz="850" dirty="0"/>
          </a:p>
        </p:txBody>
      </p:sp>
      <p:sp>
        <p:nvSpPr>
          <p:cNvPr id="33" name="Shape 31"/>
          <p:cNvSpPr/>
          <p:nvPr/>
        </p:nvSpPr>
        <p:spPr>
          <a:xfrm>
            <a:off x="320040" y="5120640"/>
            <a:ext cx="8503920" cy="292608"/>
          </a:xfrm>
          <a:prstGeom prst="rect">
            <a:avLst/>
          </a:prstGeom>
          <a:solidFill>
            <a:srgbClr val="C17F00"/>
          </a:solidFill>
        </p:spPr>
      </p:sp>
      <p:sp>
        <p:nvSpPr>
          <p:cNvPr id="34" name="Text 32"/>
          <p:cNvSpPr/>
          <p:nvPr/>
        </p:nvSpPr>
        <p:spPr>
          <a:xfrm>
            <a:off x="411480" y="5120640"/>
            <a:ext cx="8339328" cy="292608"/>
          </a:xfrm>
          <a:prstGeom prst="rect">
            <a:avLst/>
          </a:prstGeom>
          <a:noFill/>
        </p:spPr>
        <p:txBody>
          <a:bodyPr wrap="square" rtlCol="0" anchor="ctr"/>
          <a:lstStyle/>
          <a:p>
            <a:pPr marL="0" indent="0">
              <a:buNone/>
            </a:pPr>
            <a:r>
              <a:rPr lang="en-US" sz="1000" i="1" dirty="0">
                <a:solidFill>
                  <a:srgbClr val="FFFFFF"/>
                </a:solidFill>
              </a:rPr>
              <a:t>"The question is not whether a crowd-investment platform like OwnIt Uganda will be built. The question is whether NSSF will be a founding partner — or watching from the outside as a competitor does it instead."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4D2B"/>
          </a:solidFill>
        </p:spPr>
      </p:sp>
      <p:sp>
        <p:nvSpPr>
          <p:cNvPr id="3" name="Text 1"/>
          <p:cNvSpPr/>
          <p:nvPr/>
        </p:nvSpPr>
        <p:spPr>
          <a:xfrm>
            <a:off x="365760" y="0"/>
            <a:ext cx="8229600" cy="640080"/>
          </a:xfrm>
          <a:prstGeom prst="rect">
            <a:avLst/>
          </a:prstGeom>
          <a:noFill/>
        </p:spPr>
        <p:txBody>
          <a:bodyPr wrap="square" rtlCol="0" anchor="ctr"/>
          <a:lstStyle/>
          <a:p>
            <a:pPr marL="0" indent="0">
              <a:buNone/>
            </a:pPr>
            <a:r>
              <a:rPr lang="en-US" sz="1100" b="1" kern="0" spc="400" dirty="0">
                <a:solidFill>
                  <a:srgbClr val="D4EFE0"/>
                </a:solidFill>
              </a:rPr>
              <a:t>WHAT NSSF CONTRIBUTES — WHAT NSSF RECEIVES</a:t>
            </a:r>
            <a:endParaRPr lang="en-US" sz="1100" dirty="0"/>
          </a:p>
        </p:txBody>
      </p:sp>
      <p:sp>
        <p:nvSpPr>
          <p:cNvPr id="4" name="Text 2"/>
          <p:cNvSpPr/>
          <p:nvPr/>
        </p:nvSpPr>
        <p:spPr>
          <a:xfrm>
            <a:off x="457200" y="749808"/>
            <a:ext cx="8229600" cy="530352"/>
          </a:xfrm>
          <a:prstGeom prst="rect">
            <a:avLst/>
          </a:prstGeom>
          <a:noFill/>
        </p:spPr>
        <p:txBody>
          <a:bodyPr wrap="square" rtlCol="0" anchor="ctr"/>
          <a:lstStyle/>
          <a:p>
            <a:pPr marL="0" indent="0">
              <a:buNone/>
            </a:pPr>
            <a:r>
              <a:rPr lang="en-US" sz="2400" b="1" dirty="0">
                <a:solidFill>
                  <a:srgbClr val="0D1F15"/>
                </a:solidFill>
                <a:latin typeface="Georgia" panose="02040502050405020303" pitchFamily="34" charset="0"/>
                <a:ea typeface="Georgia" panose="02040502050405020303" pitchFamily="34" charset="-122"/>
                <a:cs typeface="Georgia" panose="02040502050405020303" pitchFamily="34" charset="-120"/>
              </a:rPr>
              <a:t>The most asymmetric partnership in Uganda's financial sector.</a:t>
            </a:r>
            <a:endParaRPr lang="en-US" sz="2400" dirty="0"/>
          </a:p>
        </p:txBody>
      </p:sp>
      <p:sp>
        <p:nvSpPr>
          <p:cNvPr id="5" name="Shape 3"/>
          <p:cNvSpPr/>
          <p:nvPr/>
        </p:nvSpPr>
        <p:spPr>
          <a:xfrm>
            <a:off x="320040" y="1417320"/>
            <a:ext cx="4160520" cy="384048"/>
          </a:xfrm>
          <a:prstGeom prst="rect">
            <a:avLst/>
          </a:prstGeom>
          <a:solidFill>
            <a:srgbClr val="5A7A68"/>
          </a:solidFill>
        </p:spPr>
      </p:sp>
      <p:sp>
        <p:nvSpPr>
          <p:cNvPr id="6" name="Text 4"/>
          <p:cNvSpPr/>
          <p:nvPr/>
        </p:nvSpPr>
        <p:spPr>
          <a:xfrm>
            <a:off x="411480" y="1417320"/>
            <a:ext cx="3977640" cy="384048"/>
          </a:xfrm>
          <a:prstGeom prst="rect">
            <a:avLst/>
          </a:prstGeom>
          <a:noFill/>
        </p:spPr>
        <p:txBody>
          <a:bodyPr wrap="square" rtlCol="0" anchor="ctr"/>
          <a:lstStyle/>
          <a:p>
            <a:pPr marL="0" indent="0">
              <a:buNone/>
            </a:pPr>
            <a:r>
              <a:rPr lang="en-US" sz="1300" b="1" dirty="0">
                <a:solidFill>
                  <a:srgbClr val="FFFFFF"/>
                </a:solidFill>
              </a:rPr>
              <a:t>What NSSF Contributes</a:t>
            </a:r>
            <a:endParaRPr lang="en-US" sz="1300" dirty="0"/>
          </a:p>
        </p:txBody>
      </p:sp>
      <p:sp>
        <p:nvSpPr>
          <p:cNvPr id="7" name="Shape 5"/>
          <p:cNvSpPr/>
          <p:nvPr/>
        </p:nvSpPr>
        <p:spPr>
          <a:xfrm>
            <a:off x="320040" y="1856232"/>
            <a:ext cx="4160520" cy="420624"/>
          </a:xfrm>
          <a:prstGeom prst="rect">
            <a:avLst/>
          </a:prstGeom>
          <a:solidFill>
            <a:srgbClr val="F4F9F5"/>
          </a:solidFill>
        </p:spPr>
      </p:sp>
      <p:sp>
        <p:nvSpPr>
          <p:cNvPr id="8" name="Shape 6"/>
          <p:cNvSpPr/>
          <p:nvPr/>
        </p:nvSpPr>
        <p:spPr>
          <a:xfrm>
            <a:off x="320040" y="1856232"/>
            <a:ext cx="64008" cy="420624"/>
          </a:xfrm>
          <a:prstGeom prst="rect">
            <a:avLst/>
          </a:prstGeom>
          <a:solidFill>
            <a:srgbClr val="5A7A68"/>
          </a:solidFill>
        </p:spPr>
      </p:sp>
      <p:sp>
        <p:nvSpPr>
          <p:cNvPr id="9" name="Text 7"/>
          <p:cNvSpPr/>
          <p:nvPr/>
        </p:nvSpPr>
        <p:spPr>
          <a:xfrm>
            <a:off x="457200" y="1901952"/>
            <a:ext cx="3913632" cy="329184"/>
          </a:xfrm>
          <a:prstGeom prst="rect">
            <a:avLst/>
          </a:prstGeom>
          <a:noFill/>
        </p:spPr>
        <p:txBody>
          <a:bodyPr wrap="square" rtlCol="0" anchor="ctr"/>
          <a:lstStyle/>
          <a:p>
            <a:pPr marL="0" indent="0">
              <a:buNone/>
            </a:pPr>
            <a:r>
              <a:rPr lang="en-US" sz="1000" dirty="0">
                <a:solidFill>
                  <a:srgbClr val="0D1F15"/>
                </a:solidFill>
              </a:rPr>
              <a:t>→  Brand endorsement &amp; co-marketing (institutional trust signal)</a:t>
            </a:r>
            <a:endParaRPr lang="en-US" sz="1000" dirty="0"/>
          </a:p>
        </p:txBody>
      </p:sp>
      <p:sp>
        <p:nvSpPr>
          <p:cNvPr id="10" name="Shape 8"/>
          <p:cNvSpPr/>
          <p:nvPr/>
        </p:nvSpPr>
        <p:spPr>
          <a:xfrm>
            <a:off x="320040" y="2331720"/>
            <a:ext cx="4160520" cy="420624"/>
          </a:xfrm>
          <a:prstGeom prst="rect">
            <a:avLst/>
          </a:prstGeom>
          <a:solidFill>
            <a:srgbClr val="FFFFFF"/>
          </a:solidFill>
        </p:spPr>
      </p:sp>
      <p:sp>
        <p:nvSpPr>
          <p:cNvPr id="11" name="Shape 9"/>
          <p:cNvSpPr/>
          <p:nvPr/>
        </p:nvSpPr>
        <p:spPr>
          <a:xfrm>
            <a:off x="320040" y="2331720"/>
            <a:ext cx="64008" cy="420624"/>
          </a:xfrm>
          <a:prstGeom prst="rect">
            <a:avLst/>
          </a:prstGeom>
          <a:solidFill>
            <a:srgbClr val="5A7A68"/>
          </a:solidFill>
        </p:spPr>
      </p:sp>
      <p:sp>
        <p:nvSpPr>
          <p:cNvPr id="12" name="Text 10"/>
          <p:cNvSpPr/>
          <p:nvPr/>
        </p:nvSpPr>
        <p:spPr>
          <a:xfrm>
            <a:off x="457200" y="2377440"/>
            <a:ext cx="3913632" cy="329184"/>
          </a:xfrm>
          <a:prstGeom prst="rect">
            <a:avLst/>
          </a:prstGeom>
          <a:noFill/>
        </p:spPr>
        <p:txBody>
          <a:bodyPr wrap="square" rtlCol="0" anchor="ctr"/>
          <a:lstStyle/>
          <a:p>
            <a:pPr marL="0" indent="0">
              <a:buNone/>
            </a:pPr>
            <a:r>
              <a:rPr lang="en-US" sz="1000" dirty="0">
                <a:solidFill>
                  <a:srgbClr val="0D1F15"/>
                </a:solidFill>
              </a:rPr>
              <a:t>→  Registry API access for NIN-based auto-enrollment</a:t>
            </a:r>
            <a:endParaRPr lang="en-US" sz="1000" dirty="0"/>
          </a:p>
        </p:txBody>
      </p:sp>
      <p:sp>
        <p:nvSpPr>
          <p:cNvPr id="13" name="Shape 11"/>
          <p:cNvSpPr/>
          <p:nvPr/>
        </p:nvSpPr>
        <p:spPr>
          <a:xfrm>
            <a:off x="320040" y="2807208"/>
            <a:ext cx="4160520" cy="420624"/>
          </a:xfrm>
          <a:prstGeom prst="rect">
            <a:avLst/>
          </a:prstGeom>
          <a:solidFill>
            <a:srgbClr val="F4F9F5"/>
          </a:solidFill>
        </p:spPr>
      </p:sp>
      <p:sp>
        <p:nvSpPr>
          <p:cNvPr id="14" name="Shape 12"/>
          <p:cNvSpPr/>
          <p:nvPr/>
        </p:nvSpPr>
        <p:spPr>
          <a:xfrm>
            <a:off x="320040" y="2807208"/>
            <a:ext cx="64008" cy="420624"/>
          </a:xfrm>
          <a:prstGeom prst="rect">
            <a:avLst/>
          </a:prstGeom>
          <a:solidFill>
            <a:srgbClr val="5A7A68"/>
          </a:solidFill>
        </p:spPr>
      </p:sp>
      <p:sp>
        <p:nvSpPr>
          <p:cNvPr id="15" name="Text 13"/>
          <p:cNvSpPr/>
          <p:nvPr/>
        </p:nvSpPr>
        <p:spPr>
          <a:xfrm>
            <a:off x="457200" y="2852928"/>
            <a:ext cx="3913632" cy="329184"/>
          </a:xfrm>
          <a:prstGeom prst="rect">
            <a:avLst/>
          </a:prstGeom>
          <a:noFill/>
        </p:spPr>
        <p:txBody>
          <a:bodyPr wrap="square" rtlCol="0" anchor="ctr"/>
          <a:lstStyle/>
          <a:p>
            <a:pPr marL="0" indent="0">
              <a:buNone/>
            </a:pPr>
            <a:r>
              <a:rPr lang="en-US" sz="1000" dirty="0">
                <a:solidFill>
                  <a:srgbClr val="0D1F15"/>
                </a:solidFill>
              </a:rPr>
              <a:t>→  Asset Admissions Committee seat (1 NSSF nominee)</a:t>
            </a:r>
            <a:endParaRPr lang="en-US" sz="1000" dirty="0"/>
          </a:p>
        </p:txBody>
      </p:sp>
      <p:sp>
        <p:nvSpPr>
          <p:cNvPr id="16" name="Shape 14"/>
          <p:cNvSpPr/>
          <p:nvPr/>
        </p:nvSpPr>
        <p:spPr>
          <a:xfrm>
            <a:off x="320040" y="3282696"/>
            <a:ext cx="4160520" cy="420624"/>
          </a:xfrm>
          <a:prstGeom prst="rect">
            <a:avLst/>
          </a:prstGeom>
          <a:solidFill>
            <a:srgbClr val="FFFFFF"/>
          </a:solidFill>
        </p:spPr>
      </p:sp>
      <p:sp>
        <p:nvSpPr>
          <p:cNvPr id="17" name="Shape 15"/>
          <p:cNvSpPr/>
          <p:nvPr/>
        </p:nvSpPr>
        <p:spPr>
          <a:xfrm>
            <a:off x="320040" y="3282696"/>
            <a:ext cx="64008" cy="420624"/>
          </a:xfrm>
          <a:prstGeom prst="rect">
            <a:avLst/>
          </a:prstGeom>
          <a:solidFill>
            <a:srgbClr val="5A7A68"/>
          </a:solidFill>
        </p:spPr>
      </p:sp>
      <p:sp>
        <p:nvSpPr>
          <p:cNvPr id="18" name="Text 16"/>
          <p:cNvSpPr/>
          <p:nvPr/>
        </p:nvSpPr>
        <p:spPr>
          <a:xfrm>
            <a:off x="457200" y="3328416"/>
            <a:ext cx="3913632" cy="329184"/>
          </a:xfrm>
          <a:prstGeom prst="rect">
            <a:avLst/>
          </a:prstGeom>
          <a:noFill/>
        </p:spPr>
        <p:txBody>
          <a:bodyPr wrap="square" rtlCol="0" anchor="ctr"/>
          <a:lstStyle/>
          <a:p>
            <a:pPr marL="0" indent="0">
              <a:buNone/>
            </a:pPr>
            <a:r>
              <a:rPr lang="en-US" sz="1000" dirty="0">
                <a:solidFill>
                  <a:srgbClr val="0D1F15"/>
                </a:solidFill>
              </a:rPr>
              <a:t>→  Regulatory facilitation &amp; institutional relationships (CMA, URBRA, BoU, PAU, DGSM)</a:t>
            </a:r>
            <a:endParaRPr lang="en-US" sz="1000" dirty="0"/>
          </a:p>
        </p:txBody>
      </p:sp>
      <p:sp>
        <p:nvSpPr>
          <p:cNvPr id="19" name="Shape 17"/>
          <p:cNvSpPr/>
          <p:nvPr/>
        </p:nvSpPr>
        <p:spPr>
          <a:xfrm>
            <a:off x="320040" y="3758184"/>
            <a:ext cx="4160520" cy="420624"/>
          </a:xfrm>
          <a:prstGeom prst="rect">
            <a:avLst/>
          </a:prstGeom>
          <a:solidFill>
            <a:srgbClr val="F4F9F5"/>
          </a:solidFill>
        </p:spPr>
      </p:sp>
      <p:sp>
        <p:nvSpPr>
          <p:cNvPr id="20" name="Shape 18"/>
          <p:cNvSpPr/>
          <p:nvPr/>
        </p:nvSpPr>
        <p:spPr>
          <a:xfrm>
            <a:off x="320040" y="3758184"/>
            <a:ext cx="64008" cy="420624"/>
          </a:xfrm>
          <a:prstGeom prst="rect">
            <a:avLst/>
          </a:prstGeom>
          <a:solidFill>
            <a:srgbClr val="5A7A68"/>
          </a:solidFill>
        </p:spPr>
      </p:sp>
      <p:sp>
        <p:nvSpPr>
          <p:cNvPr id="21" name="Text 19"/>
          <p:cNvSpPr/>
          <p:nvPr/>
        </p:nvSpPr>
        <p:spPr>
          <a:xfrm>
            <a:off x="457200" y="3803904"/>
            <a:ext cx="3913632" cy="329184"/>
          </a:xfrm>
          <a:prstGeom prst="rect">
            <a:avLst/>
          </a:prstGeom>
          <a:noFill/>
        </p:spPr>
        <p:txBody>
          <a:bodyPr wrap="square" rtlCol="0" anchor="ctr"/>
          <a:lstStyle/>
          <a:p>
            <a:pPr marL="0" indent="0">
              <a:buNone/>
            </a:pPr>
            <a:r>
              <a:rPr lang="en-US" sz="1000" dirty="0">
                <a:solidFill>
                  <a:srgbClr val="0D1F15"/>
                </a:solidFill>
              </a:rPr>
              <a:t>→  Optional: NSSF property &amp; bond portfolio listings on platform</a:t>
            </a:r>
            <a:endParaRPr lang="en-US" sz="1000" dirty="0"/>
          </a:p>
        </p:txBody>
      </p:sp>
      <p:sp>
        <p:nvSpPr>
          <p:cNvPr id="22" name="Shape 20"/>
          <p:cNvSpPr/>
          <p:nvPr/>
        </p:nvSpPr>
        <p:spPr>
          <a:xfrm>
            <a:off x="320040" y="4233672"/>
            <a:ext cx="4160520" cy="420624"/>
          </a:xfrm>
          <a:prstGeom prst="rect">
            <a:avLst/>
          </a:prstGeom>
          <a:solidFill>
            <a:srgbClr val="FFFFFF"/>
          </a:solidFill>
        </p:spPr>
      </p:sp>
      <p:sp>
        <p:nvSpPr>
          <p:cNvPr id="23" name="Shape 21"/>
          <p:cNvSpPr/>
          <p:nvPr/>
        </p:nvSpPr>
        <p:spPr>
          <a:xfrm>
            <a:off x="320040" y="4233672"/>
            <a:ext cx="64008" cy="420624"/>
          </a:xfrm>
          <a:prstGeom prst="rect">
            <a:avLst/>
          </a:prstGeom>
          <a:solidFill>
            <a:srgbClr val="5A7A68"/>
          </a:solidFill>
        </p:spPr>
      </p:sp>
      <p:sp>
        <p:nvSpPr>
          <p:cNvPr id="24" name="Text 22"/>
          <p:cNvSpPr/>
          <p:nvPr/>
        </p:nvSpPr>
        <p:spPr>
          <a:xfrm>
            <a:off x="457200" y="4279392"/>
            <a:ext cx="3913632" cy="329184"/>
          </a:xfrm>
          <a:prstGeom prst="rect">
            <a:avLst/>
          </a:prstGeom>
          <a:noFill/>
        </p:spPr>
        <p:txBody>
          <a:bodyPr wrap="square" rtlCol="0" anchor="ctr"/>
          <a:lstStyle/>
          <a:p>
            <a:pPr marL="0" indent="0">
              <a:buNone/>
            </a:pPr>
            <a:r>
              <a:rPr lang="en-US" sz="1000" dirty="0">
                <a:solidFill>
                  <a:srgbClr val="0D1F15"/>
                </a:solidFill>
              </a:rPr>
              <a:t>→  No capital required at Tier 1 or Tier 2</a:t>
            </a:r>
            <a:endParaRPr lang="en-US" sz="1000" dirty="0"/>
          </a:p>
        </p:txBody>
      </p:sp>
      <p:sp>
        <p:nvSpPr>
          <p:cNvPr id="25" name="Shape 23"/>
          <p:cNvSpPr/>
          <p:nvPr/>
        </p:nvSpPr>
        <p:spPr>
          <a:xfrm>
            <a:off x="4663440" y="1417320"/>
            <a:ext cx="4160520" cy="384048"/>
          </a:xfrm>
          <a:prstGeom prst="rect">
            <a:avLst/>
          </a:prstGeom>
          <a:solidFill>
            <a:srgbClr val="1A7A45"/>
          </a:solidFill>
        </p:spPr>
      </p:sp>
      <p:sp>
        <p:nvSpPr>
          <p:cNvPr id="26" name="Text 24"/>
          <p:cNvSpPr/>
          <p:nvPr/>
        </p:nvSpPr>
        <p:spPr>
          <a:xfrm>
            <a:off x="4754880" y="1417320"/>
            <a:ext cx="3977640" cy="384048"/>
          </a:xfrm>
          <a:prstGeom prst="rect">
            <a:avLst/>
          </a:prstGeom>
          <a:noFill/>
        </p:spPr>
        <p:txBody>
          <a:bodyPr wrap="square" rtlCol="0" anchor="ctr"/>
          <a:lstStyle/>
          <a:p>
            <a:pPr marL="0" indent="0">
              <a:buNone/>
            </a:pPr>
            <a:r>
              <a:rPr lang="en-US" sz="1300" b="1" dirty="0">
                <a:solidFill>
                  <a:srgbClr val="FFFFFF"/>
                </a:solidFill>
              </a:rPr>
              <a:t>What NSSF Receives</a:t>
            </a:r>
            <a:endParaRPr lang="en-US" sz="1300" dirty="0"/>
          </a:p>
        </p:txBody>
      </p:sp>
      <p:sp>
        <p:nvSpPr>
          <p:cNvPr id="27" name="Shape 25"/>
          <p:cNvSpPr/>
          <p:nvPr/>
        </p:nvSpPr>
        <p:spPr>
          <a:xfrm>
            <a:off x="4663440" y="1856232"/>
            <a:ext cx="4160520" cy="420624"/>
          </a:xfrm>
          <a:prstGeom prst="rect">
            <a:avLst/>
          </a:prstGeom>
          <a:solidFill>
            <a:srgbClr val="F4F9F5"/>
          </a:solidFill>
        </p:spPr>
      </p:sp>
      <p:sp>
        <p:nvSpPr>
          <p:cNvPr id="28" name="Shape 26"/>
          <p:cNvSpPr/>
          <p:nvPr/>
        </p:nvSpPr>
        <p:spPr>
          <a:xfrm>
            <a:off x="4663440" y="1856232"/>
            <a:ext cx="64008" cy="420624"/>
          </a:xfrm>
          <a:prstGeom prst="rect">
            <a:avLst/>
          </a:prstGeom>
          <a:solidFill>
            <a:srgbClr val="1A7A45"/>
          </a:solidFill>
        </p:spPr>
      </p:sp>
      <p:sp>
        <p:nvSpPr>
          <p:cNvPr id="29" name="Text 27"/>
          <p:cNvSpPr/>
          <p:nvPr/>
        </p:nvSpPr>
        <p:spPr>
          <a:xfrm>
            <a:off x="4800600" y="1883664"/>
            <a:ext cx="3913632" cy="219456"/>
          </a:xfrm>
          <a:prstGeom prst="rect">
            <a:avLst/>
          </a:prstGeom>
          <a:noFill/>
        </p:spPr>
        <p:txBody>
          <a:bodyPr wrap="square" rtlCol="0" anchor="ctr"/>
          <a:lstStyle/>
          <a:p>
            <a:pPr marL="0" indent="0">
              <a:buNone/>
            </a:pPr>
            <a:r>
              <a:rPr lang="en-US" sz="1000" b="1" dirty="0">
                <a:solidFill>
                  <a:srgbClr val="1A7A45"/>
                </a:solidFill>
              </a:rPr>
              <a:t>✓  500,000+ new NSSF members by 2031</a:t>
            </a:r>
            <a:endParaRPr lang="en-US" sz="1000" dirty="0"/>
          </a:p>
        </p:txBody>
      </p:sp>
      <p:sp>
        <p:nvSpPr>
          <p:cNvPr id="30" name="Text 28"/>
          <p:cNvSpPr/>
          <p:nvPr/>
        </p:nvSpPr>
        <p:spPr>
          <a:xfrm>
            <a:off x="4800600" y="2103120"/>
            <a:ext cx="3913632" cy="164592"/>
          </a:xfrm>
          <a:prstGeom prst="rect">
            <a:avLst/>
          </a:prstGeom>
          <a:noFill/>
        </p:spPr>
        <p:txBody>
          <a:bodyPr wrap="square" rtlCol="0" anchor="ctr"/>
          <a:lstStyle/>
          <a:p>
            <a:pPr marL="0" indent="0">
              <a:buNone/>
            </a:pPr>
            <a:r>
              <a:rPr lang="en-US" sz="900" dirty="0">
                <a:solidFill>
                  <a:srgbClr val="5A7A68"/>
                </a:solidFill>
              </a:rPr>
              <a:t>     Zero acquisition cost to NSSF</a:t>
            </a:r>
            <a:endParaRPr lang="en-US" sz="900" dirty="0"/>
          </a:p>
        </p:txBody>
      </p:sp>
      <p:sp>
        <p:nvSpPr>
          <p:cNvPr id="31" name="Shape 29"/>
          <p:cNvSpPr/>
          <p:nvPr/>
        </p:nvSpPr>
        <p:spPr>
          <a:xfrm>
            <a:off x="4663440" y="2331720"/>
            <a:ext cx="4160520" cy="420624"/>
          </a:xfrm>
          <a:prstGeom prst="rect">
            <a:avLst/>
          </a:prstGeom>
          <a:solidFill>
            <a:srgbClr val="FFFFFF"/>
          </a:solidFill>
        </p:spPr>
      </p:sp>
      <p:sp>
        <p:nvSpPr>
          <p:cNvPr id="32" name="Shape 30"/>
          <p:cNvSpPr/>
          <p:nvPr/>
        </p:nvSpPr>
        <p:spPr>
          <a:xfrm>
            <a:off x="4663440" y="2331720"/>
            <a:ext cx="64008" cy="420624"/>
          </a:xfrm>
          <a:prstGeom prst="rect">
            <a:avLst/>
          </a:prstGeom>
          <a:solidFill>
            <a:srgbClr val="1A7A45"/>
          </a:solidFill>
        </p:spPr>
      </p:sp>
      <p:sp>
        <p:nvSpPr>
          <p:cNvPr id="33" name="Text 31"/>
          <p:cNvSpPr/>
          <p:nvPr/>
        </p:nvSpPr>
        <p:spPr>
          <a:xfrm>
            <a:off x="4800600" y="2359152"/>
            <a:ext cx="3913632" cy="219456"/>
          </a:xfrm>
          <a:prstGeom prst="rect">
            <a:avLst/>
          </a:prstGeom>
          <a:noFill/>
        </p:spPr>
        <p:txBody>
          <a:bodyPr wrap="square" rtlCol="0" anchor="ctr"/>
          <a:lstStyle/>
          <a:p>
            <a:pPr marL="0" indent="0">
              <a:buNone/>
            </a:pPr>
            <a:r>
              <a:rPr lang="en-US" sz="1000" b="1" dirty="0">
                <a:solidFill>
                  <a:srgbClr val="1A7A45"/>
                </a:solidFill>
              </a:rPr>
              <a:t>✓  UGX 4B+ in annual operating revenue by Year 5</a:t>
            </a:r>
            <a:endParaRPr lang="en-US" sz="1000" dirty="0"/>
          </a:p>
        </p:txBody>
      </p:sp>
      <p:sp>
        <p:nvSpPr>
          <p:cNvPr id="34" name="Text 32"/>
          <p:cNvSpPr/>
          <p:nvPr/>
        </p:nvSpPr>
        <p:spPr>
          <a:xfrm>
            <a:off x="4800600" y="2578608"/>
            <a:ext cx="3913632" cy="164592"/>
          </a:xfrm>
          <a:prstGeom prst="rect">
            <a:avLst/>
          </a:prstGeom>
          <a:noFill/>
        </p:spPr>
        <p:txBody>
          <a:bodyPr wrap="square" rtlCol="0" anchor="ctr"/>
          <a:lstStyle/>
          <a:p>
            <a:pPr marL="0" indent="0">
              <a:buNone/>
            </a:pPr>
            <a:r>
              <a:rPr lang="en-US" sz="900" dirty="0">
                <a:solidFill>
                  <a:srgbClr val="5A7A68"/>
                </a:solidFill>
              </a:rPr>
              <a:t>     60% of 3% service charge — both investor &amp; lister sides</a:t>
            </a:r>
            <a:endParaRPr lang="en-US" sz="900" dirty="0"/>
          </a:p>
        </p:txBody>
      </p:sp>
      <p:sp>
        <p:nvSpPr>
          <p:cNvPr id="35" name="Shape 33"/>
          <p:cNvSpPr/>
          <p:nvPr/>
        </p:nvSpPr>
        <p:spPr>
          <a:xfrm>
            <a:off x="4663440" y="2807208"/>
            <a:ext cx="4160520" cy="420624"/>
          </a:xfrm>
          <a:prstGeom prst="rect">
            <a:avLst/>
          </a:prstGeom>
          <a:solidFill>
            <a:srgbClr val="F4F9F5"/>
          </a:solidFill>
        </p:spPr>
      </p:sp>
      <p:sp>
        <p:nvSpPr>
          <p:cNvPr id="36" name="Shape 34"/>
          <p:cNvSpPr/>
          <p:nvPr/>
        </p:nvSpPr>
        <p:spPr>
          <a:xfrm>
            <a:off x="4663440" y="2807208"/>
            <a:ext cx="64008" cy="420624"/>
          </a:xfrm>
          <a:prstGeom prst="rect">
            <a:avLst/>
          </a:prstGeom>
          <a:solidFill>
            <a:srgbClr val="1A7A45"/>
          </a:solidFill>
        </p:spPr>
      </p:sp>
      <p:sp>
        <p:nvSpPr>
          <p:cNvPr id="37" name="Text 35"/>
          <p:cNvSpPr/>
          <p:nvPr/>
        </p:nvSpPr>
        <p:spPr>
          <a:xfrm>
            <a:off x="4800600" y="2834640"/>
            <a:ext cx="3913632" cy="219456"/>
          </a:xfrm>
          <a:prstGeom prst="rect">
            <a:avLst/>
          </a:prstGeom>
          <a:noFill/>
        </p:spPr>
        <p:txBody>
          <a:bodyPr wrap="square" rtlCol="0" anchor="ctr"/>
          <a:lstStyle/>
          <a:p>
            <a:pPr marL="0" indent="0">
              <a:buNone/>
            </a:pPr>
            <a:r>
              <a:rPr lang="en-US" sz="1000" b="1" dirty="0">
                <a:solidFill>
                  <a:srgbClr val="1A7A45"/>
                </a:solidFill>
              </a:rPr>
              <a:t>✓  UGX 1.2B+ in new AUM annually by Year 5</a:t>
            </a:r>
            <a:endParaRPr lang="en-US" sz="1000" dirty="0"/>
          </a:p>
        </p:txBody>
      </p:sp>
      <p:sp>
        <p:nvSpPr>
          <p:cNvPr id="38" name="Text 36"/>
          <p:cNvSpPr/>
          <p:nvPr/>
        </p:nvSpPr>
        <p:spPr>
          <a:xfrm>
            <a:off x="4800600" y="3054096"/>
            <a:ext cx="3913632" cy="164592"/>
          </a:xfrm>
          <a:prstGeom prst="rect">
            <a:avLst/>
          </a:prstGeom>
          <a:noFill/>
        </p:spPr>
        <p:txBody>
          <a:bodyPr wrap="square" rtlCol="0" anchor="ctr"/>
          <a:lstStyle/>
          <a:p>
            <a:pPr marL="0" indent="0">
              <a:buNone/>
            </a:pPr>
            <a:r>
              <a:rPr lang="en-US" sz="900" dirty="0">
                <a:solidFill>
                  <a:srgbClr val="5A7A68"/>
                </a:solidFill>
              </a:rPr>
              <a:t>     2% pension levy invested for members, payable at 55</a:t>
            </a:r>
            <a:endParaRPr lang="en-US" sz="900" dirty="0"/>
          </a:p>
        </p:txBody>
      </p:sp>
      <p:sp>
        <p:nvSpPr>
          <p:cNvPr id="39" name="Shape 37"/>
          <p:cNvSpPr/>
          <p:nvPr/>
        </p:nvSpPr>
        <p:spPr>
          <a:xfrm>
            <a:off x="4663440" y="3282696"/>
            <a:ext cx="4160520" cy="420624"/>
          </a:xfrm>
          <a:prstGeom prst="rect">
            <a:avLst/>
          </a:prstGeom>
          <a:solidFill>
            <a:srgbClr val="FFFFFF"/>
          </a:solidFill>
        </p:spPr>
      </p:sp>
      <p:sp>
        <p:nvSpPr>
          <p:cNvPr id="40" name="Shape 38"/>
          <p:cNvSpPr/>
          <p:nvPr/>
        </p:nvSpPr>
        <p:spPr>
          <a:xfrm>
            <a:off x="4663440" y="3282696"/>
            <a:ext cx="64008" cy="420624"/>
          </a:xfrm>
          <a:prstGeom prst="rect">
            <a:avLst/>
          </a:prstGeom>
          <a:solidFill>
            <a:srgbClr val="1A7A45"/>
          </a:solidFill>
        </p:spPr>
      </p:sp>
      <p:sp>
        <p:nvSpPr>
          <p:cNvPr id="41" name="Text 39"/>
          <p:cNvSpPr/>
          <p:nvPr/>
        </p:nvSpPr>
        <p:spPr>
          <a:xfrm>
            <a:off x="4800600" y="3310128"/>
            <a:ext cx="3913632" cy="219456"/>
          </a:xfrm>
          <a:prstGeom prst="rect">
            <a:avLst/>
          </a:prstGeom>
          <a:noFill/>
        </p:spPr>
        <p:txBody>
          <a:bodyPr wrap="square" rtlCol="0" anchor="ctr"/>
          <a:lstStyle/>
          <a:p>
            <a:pPr marL="0" indent="0">
              <a:buNone/>
            </a:pPr>
            <a:r>
              <a:rPr lang="en-US" sz="1000" b="1" dirty="0">
                <a:solidFill>
                  <a:srgbClr val="1A7A45"/>
                </a:solidFill>
              </a:rPr>
              <a:t>✓  30% of all listing fees across 9 asset classes</a:t>
            </a:r>
            <a:endParaRPr lang="en-US" sz="1000" dirty="0"/>
          </a:p>
        </p:txBody>
      </p:sp>
      <p:sp>
        <p:nvSpPr>
          <p:cNvPr id="42" name="Text 40"/>
          <p:cNvSpPr/>
          <p:nvPr/>
        </p:nvSpPr>
        <p:spPr>
          <a:xfrm>
            <a:off x="4800600" y="3529584"/>
            <a:ext cx="3913632" cy="164592"/>
          </a:xfrm>
          <a:prstGeom prst="rect">
            <a:avLst/>
          </a:prstGeom>
          <a:noFill/>
        </p:spPr>
        <p:txBody>
          <a:bodyPr wrap="square" rtlCol="0" anchor="ctr"/>
          <a:lstStyle/>
          <a:p>
            <a:pPr marL="0" indent="0">
              <a:buNone/>
            </a:pPr>
            <a:r>
              <a:rPr lang="en-US" sz="900" dirty="0">
                <a:solidFill>
                  <a:srgbClr val="5A7A68"/>
                </a:solidFill>
              </a:rPr>
              <a:t>     Upfront, listing-independent revenue stream</a:t>
            </a:r>
            <a:endParaRPr lang="en-US" sz="900" dirty="0"/>
          </a:p>
        </p:txBody>
      </p:sp>
      <p:sp>
        <p:nvSpPr>
          <p:cNvPr id="43" name="Shape 41"/>
          <p:cNvSpPr/>
          <p:nvPr/>
        </p:nvSpPr>
        <p:spPr>
          <a:xfrm>
            <a:off x="4663440" y="3758184"/>
            <a:ext cx="4160520" cy="420624"/>
          </a:xfrm>
          <a:prstGeom prst="rect">
            <a:avLst/>
          </a:prstGeom>
          <a:solidFill>
            <a:srgbClr val="F4F9F5"/>
          </a:solidFill>
        </p:spPr>
      </p:sp>
      <p:sp>
        <p:nvSpPr>
          <p:cNvPr id="44" name="Shape 42"/>
          <p:cNvSpPr/>
          <p:nvPr/>
        </p:nvSpPr>
        <p:spPr>
          <a:xfrm>
            <a:off x="4663440" y="3758184"/>
            <a:ext cx="64008" cy="420624"/>
          </a:xfrm>
          <a:prstGeom prst="rect">
            <a:avLst/>
          </a:prstGeom>
          <a:solidFill>
            <a:srgbClr val="1A7A45"/>
          </a:solidFill>
        </p:spPr>
      </p:sp>
      <p:sp>
        <p:nvSpPr>
          <p:cNvPr id="45" name="Text 43"/>
          <p:cNvSpPr/>
          <p:nvPr/>
        </p:nvSpPr>
        <p:spPr>
          <a:xfrm>
            <a:off x="4800600" y="3785616"/>
            <a:ext cx="3913632" cy="219456"/>
          </a:xfrm>
          <a:prstGeom prst="rect">
            <a:avLst/>
          </a:prstGeom>
          <a:noFill/>
        </p:spPr>
        <p:txBody>
          <a:bodyPr wrap="square" rtlCol="0" anchor="ctr"/>
          <a:lstStyle/>
          <a:p>
            <a:pPr marL="0" indent="0">
              <a:buNone/>
            </a:pPr>
            <a:r>
              <a:rPr lang="en-US" sz="1000" b="1" dirty="0">
                <a:solidFill>
                  <a:srgbClr val="1A7A45"/>
                </a:solidFill>
              </a:rPr>
              <a:t>✓  A compelling Gen Z product at zero dev cost</a:t>
            </a:r>
            <a:endParaRPr lang="en-US" sz="1000" dirty="0"/>
          </a:p>
        </p:txBody>
      </p:sp>
      <p:sp>
        <p:nvSpPr>
          <p:cNvPr id="46" name="Text 44"/>
          <p:cNvSpPr/>
          <p:nvPr/>
        </p:nvSpPr>
        <p:spPr>
          <a:xfrm>
            <a:off x="4800600" y="4005072"/>
            <a:ext cx="3913632" cy="164592"/>
          </a:xfrm>
          <a:prstGeom prst="rect">
            <a:avLst/>
          </a:prstGeom>
          <a:noFill/>
        </p:spPr>
        <p:txBody>
          <a:bodyPr wrap="square" rtlCol="0" anchor="ctr"/>
          <a:lstStyle/>
          <a:p>
            <a:pPr marL="0" indent="0">
              <a:buNone/>
            </a:pPr>
            <a:r>
              <a:rPr lang="en-US" sz="900" dirty="0">
                <a:solidFill>
                  <a:srgbClr val="5A7A68"/>
                </a:solidFill>
              </a:rPr>
              <a:t>     Solves the structural NSSF-Gen Z mismatch</a:t>
            </a:r>
            <a:endParaRPr lang="en-US" sz="900" dirty="0"/>
          </a:p>
        </p:txBody>
      </p:sp>
      <p:sp>
        <p:nvSpPr>
          <p:cNvPr id="47" name="Shape 45"/>
          <p:cNvSpPr/>
          <p:nvPr/>
        </p:nvSpPr>
        <p:spPr>
          <a:xfrm>
            <a:off x="4663440" y="4233672"/>
            <a:ext cx="4160520" cy="420624"/>
          </a:xfrm>
          <a:prstGeom prst="rect">
            <a:avLst/>
          </a:prstGeom>
          <a:solidFill>
            <a:srgbClr val="FFFFFF"/>
          </a:solidFill>
        </p:spPr>
      </p:sp>
      <p:sp>
        <p:nvSpPr>
          <p:cNvPr id="48" name="Shape 46"/>
          <p:cNvSpPr/>
          <p:nvPr/>
        </p:nvSpPr>
        <p:spPr>
          <a:xfrm>
            <a:off x="4663440" y="4233672"/>
            <a:ext cx="64008" cy="420624"/>
          </a:xfrm>
          <a:prstGeom prst="rect">
            <a:avLst/>
          </a:prstGeom>
          <a:solidFill>
            <a:srgbClr val="1A7A45"/>
          </a:solidFill>
        </p:spPr>
      </p:sp>
      <p:sp>
        <p:nvSpPr>
          <p:cNvPr id="49" name="Text 47"/>
          <p:cNvSpPr/>
          <p:nvPr/>
        </p:nvSpPr>
        <p:spPr>
          <a:xfrm>
            <a:off x="4800600" y="4261104"/>
            <a:ext cx="3913632" cy="219456"/>
          </a:xfrm>
          <a:prstGeom prst="rect">
            <a:avLst/>
          </a:prstGeom>
          <a:noFill/>
        </p:spPr>
        <p:txBody>
          <a:bodyPr wrap="square" rtlCol="0" anchor="ctr"/>
          <a:lstStyle/>
          <a:p>
            <a:pPr marL="0" indent="0">
              <a:buNone/>
            </a:pPr>
            <a:r>
              <a:rPr lang="en-US" sz="1000" b="1" dirty="0">
                <a:solidFill>
                  <a:srgbClr val="1A7A45"/>
                </a:solidFill>
              </a:rPr>
              <a:t>✓  Position as East Africa's most innovative pension institution</a:t>
            </a:r>
            <a:endParaRPr lang="en-US" sz="1000" dirty="0"/>
          </a:p>
        </p:txBody>
      </p:sp>
      <p:sp>
        <p:nvSpPr>
          <p:cNvPr id="50" name="Text 48"/>
          <p:cNvSpPr/>
          <p:nvPr/>
        </p:nvSpPr>
        <p:spPr>
          <a:xfrm>
            <a:off x="4800600" y="4480560"/>
            <a:ext cx="3913632" cy="164592"/>
          </a:xfrm>
          <a:prstGeom prst="rect">
            <a:avLst/>
          </a:prstGeom>
          <a:noFill/>
        </p:spPr>
        <p:txBody>
          <a:bodyPr wrap="square" rtlCol="0" anchor="ctr"/>
          <a:lstStyle/>
          <a:p>
            <a:pPr marL="0" indent="0">
              <a:buNone/>
            </a:pPr>
            <a:r>
              <a:rPr lang="en-US" sz="900" dirty="0">
                <a:solidFill>
                  <a:srgbClr val="5A7A68"/>
                </a:solidFill>
              </a:rPr>
              <a:t>     First pension fund globally to embed crowd-investment</a:t>
            </a:r>
            <a:endParaRPr lang="en-US" sz="900" dirty="0"/>
          </a:p>
        </p:txBody>
      </p:sp>
      <p:sp>
        <p:nvSpPr>
          <p:cNvPr id="51" name="Shape 49"/>
          <p:cNvSpPr/>
          <p:nvPr/>
        </p:nvSpPr>
        <p:spPr>
          <a:xfrm>
            <a:off x="320040" y="4773168"/>
            <a:ext cx="8503920" cy="566928"/>
          </a:xfrm>
          <a:prstGeom prst="rect">
            <a:avLst/>
          </a:prstGeom>
          <a:solidFill>
            <a:srgbClr val="0F4D2B"/>
          </a:solidFill>
          <a:effectLst>
            <a:outerShdw blurRad="101600" dist="38100" dir="8100000" algn="bl" rotWithShape="0">
              <a:srgbClr val="000000">
                <a:alpha val="12000"/>
              </a:srgbClr>
            </a:outerShdw>
          </a:effectLst>
        </p:spPr>
      </p:sp>
      <p:sp>
        <p:nvSpPr>
          <p:cNvPr id="52" name="Text 50"/>
          <p:cNvSpPr/>
          <p:nvPr/>
        </p:nvSpPr>
        <p:spPr>
          <a:xfrm>
            <a:off x="438912" y="4773168"/>
            <a:ext cx="8321040" cy="566928"/>
          </a:xfrm>
          <a:prstGeom prst="rect">
            <a:avLst/>
          </a:prstGeom>
          <a:noFill/>
        </p:spPr>
        <p:txBody>
          <a:bodyPr wrap="square" rtlCol="0" anchor="ctr"/>
          <a:lstStyle/>
          <a:p>
            <a:pPr marL="0" indent="0">
              <a:buNone/>
            </a:pPr>
            <a:r>
              <a:rPr lang="en-US" sz="1100" dirty="0">
                <a:solidFill>
                  <a:srgbClr val="D4EFE0"/>
                </a:solidFill>
              </a:rPr>
              <a:t>The asymmetry is stark:  </a:t>
            </a:r>
            <a:r>
              <a:rPr lang="en-US" sz="1100" b="1" dirty="0">
                <a:solidFill>
                  <a:srgbClr val="FFFFFF"/>
                </a:solidFill>
              </a:rPr>
              <a:t>NSSF contributes trust and an API.  </a:t>
            </a:r>
            <a:r>
              <a:rPr lang="en-US" sz="1100" dirty="0">
                <a:solidFill>
                  <a:srgbClr val="D4EFE0"/>
                </a:solidFill>
              </a:rPr>
              <a:t>NSSF receives  </a:t>
            </a:r>
            <a:r>
              <a:rPr lang="en-US" sz="1100" b="1" dirty="0">
                <a:solidFill>
                  <a:srgbClr val="C17F00"/>
                </a:solidFill>
              </a:rPr>
              <a:t>500,000 new members + UGX 4B annual revenue + UGX 1.2B new AUM + East Africa's most innovative pension brand.</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4D2B"/>
        </a:solidFill>
        <a:effectLst/>
      </p:bgPr>
    </p:bg>
    <p:spTree>
      <p:nvGrpSpPr>
        <p:cNvPr id="1" name=""/>
        <p:cNvGrpSpPr/>
        <p:nvPr/>
      </p:nvGrpSpPr>
      <p:grpSpPr>
        <a:xfrm>
          <a:off x="0" y="0"/>
          <a:ext cx="0" cy="0"/>
          <a:chOff x="0" y="0"/>
          <a:chExt cx="0" cy="0"/>
        </a:xfrm>
      </p:grpSpPr>
      <p:sp>
        <p:nvSpPr>
          <p:cNvPr id="2" name="Shape 0"/>
          <p:cNvSpPr/>
          <p:nvPr/>
        </p:nvSpPr>
        <p:spPr>
          <a:xfrm>
            <a:off x="4389120" y="-1828800"/>
            <a:ext cx="7315200" cy="7315200"/>
          </a:xfrm>
          <a:prstGeom prst="ellipse">
            <a:avLst/>
          </a:prstGeom>
          <a:solidFill>
            <a:srgbClr val="1A7A45">
              <a:alpha val="40000"/>
            </a:srgbClr>
          </a:solidFill>
          <a:ln w="12700">
            <a:solidFill>
              <a:srgbClr val="1A7A45">
                <a:alpha val="40000"/>
              </a:srgbClr>
            </a:solidFill>
            <a:prstDash val="solid"/>
          </a:ln>
        </p:spPr>
      </p:sp>
      <p:sp>
        <p:nvSpPr>
          <p:cNvPr id="3" name="Shape 1"/>
          <p:cNvSpPr/>
          <p:nvPr/>
        </p:nvSpPr>
        <p:spPr>
          <a:xfrm>
            <a:off x="-1097280" y="3474720"/>
            <a:ext cx="4572000" cy="4572000"/>
          </a:xfrm>
          <a:prstGeom prst="ellipse">
            <a:avLst/>
          </a:prstGeom>
          <a:solidFill>
            <a:srgbClr val="FFFFFF">
              <a:alpha val="7000"/>
            </a:srgbClr>
          </a:solidFill>
          <a:ln w="12700">
            <a:solidFill>
              <a:srgbClr val="FFFFFF">
                <a:alpha val="7000"/>
              </a:srgbClr>
            </a:solidFill>
            <a:prstDash val="solid"/>
          </a:ln>
        </p:spPr>
      </p:sp>
      <p:sp>
        <p:nvSpPr>
          <p:cNvPr id="4" name="Text 2"/>
          <p:cNvSpPr/>
          <p:nvPr/>
        </p:nvSpPr>
        <p:spPr>
          <a:xfrm>
            <a:off x="548640" y="347472"/>
            <a:ext cx="4572000" cy="914400"/>
          </a:xfrm>
          <a:prstGeom prst="rect">
            <a:avLst/>
          </a:prstGeom>
          <a:noFill/>
        </p:spPr>
        <p:txBody>
          <a:bodyPr wrap="square" rtlCol="0" anchor="ctr"/>
          <a:lstStyle/>
          <a:p>
            <a:pPr marL="0" indent="0">
              <a:buNone/>
            </a:pPr>
            <a:r>
              <a:rPr lang="en-US" sz="5600" b="1" dirty="0">
                <a:solidFill>
                  <a:srgbClr val="FFFFFF"/>
                </a:solidFill>
                <a:latin typeface="Georgia" panose="02040502050405020303" pitchFamily="34" charset="0"/>
                <a:ea typeface="Georgia" panose="02040502050405020303" pitchFamily="34" charset="-122"/>
                <a:cs typeface="Georgia" panose="02040502050405020303" pitchFamily="34" charset="-120"/>
              </a:rPr>
              <a:t>OwnIt</a:t>
            </a:r>
            <a:endParaRPr lang="en-US" sz="5600" dirty="0"/>
          </a:p>
        </p:txBody>
      </p:sp>
      <p:sp>
        <p:nvSpPr>
          <p:cNvPr id="5" name="Text 3"/>
          <p:cNvSpPr/>
          <p:nvPr/>
        </p:nvSpPr>
        <p:spPr>
          <a:xfrm>
            <a:off x="548640" y="1234440"/>
            <a:ext cx="4572000" cy="365760"/>
          </a:xfrm>
          <a:prstGeom prst="rect">
            <a:avLst/>
          </a:prstGeom>
          <a:noFill/>
        </p:spPr>
        <p:txBody>
          <a:bodyPr wrap="square" rtlCol="0" anchor="ctr"/>
          <a:lstStyle/>
          <a:p>
            <a:pPr marL="0" indent="0">
              <a:buNone/>
            </a:pPr>
            <a:r>
              <a:rPr lang="en-US" sz="1400" b="1" kern="0" spc="600" dirty="0">
                <a:solidFill>
                  <a:srgbClr val="D4EFE0"/>
                </a:solidFill>
              </a:rPr>
              <a:t>UGANDA</a:t>
            </a:r>
            <a:endParaRPr lang="en-US" sz="1400" dirty="0"/>
          </a:p>
        </p:txBody>
      </p:sp>
      <p:sp>
        <p:nvSpPr>
          <p:cNvPr id="6" name="Text 4"/>
          <p:cNvSpPr/>
          <p:nvPr/>
        </p:nvSpPr>
        <p:spPr>
          <a:xfrm>
            <a:off x="548640" y="1783080"/>
            <a:ext cx="5029200" cy="914400"/>
          </a:xfrm>
          <a:prstGeom prst="rect">
            <a:avLst/>
          </a:prstGeom>
          <a:noFill/>
        </p:spPr>
        <p:txBody>
          <a:bodyPr wrap="square"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Own a piece of everything.</a:t>
            </a:r>
            <a:endParaRPr lang="en-US" sz="2200" dirty="0"/>
          </a:p>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Start with UGX 50,000.</a:t>
            </a:r>
            <a:endParaRPr lang="en-US" sz="2200" dirty="0"/>
          </a:p>
        </p:txBody>
      </p:sp>
      <p:sp>
        <p:nvSpPr>
          <p:cNvPr id="7" name="Text 5"/>
          <p:cNvSpPr/>
          <p:nvPr/>
        </p:nvSpPr>
        <p:spPr>
          <a:xfrm>
            <a:off x="548640" y="2788920"/>
            <a:ext cx="5029200" cy="1051560"/>
          </a:xfrm>
          <a:prstGeom prst="rect">
            <a:avLst/>
          </a:prstGeom>
          <a:noFill/>
        </p:spPr>
        <p:txBody>
          <a:bodyPr wrap="square" rtlCol="0" anchor="ctr"/>
          <a:lstStyle/>
          <a:p>
            <a:pPr marL="0" indent="0">
              <a:buNone/>
            </a:pPr>
            <a:r>
              <a:rPr lang="en-US" sz="1200" i="1" dirty="0">
                <a:solidFill>
                  <a:srgbClr val="D4EFE0"/>
                </a:solidFill>
              </a:rPr>
              <a:t>"What NSSF contributes is brand trust and an API. What NSSF receives is 500,000 new members, UGX 4B+ in annual revenue, and 1M Ugandans building retirement wealth — through a product Gen Z actually wants to use."</a:t>
            </a:r>
            <a:endParaRPr lang="en-US" sz="1200" dirty="0"/>
          </a:p>
        </p:txBody>
      </p:sp>
      <p:sp>
        <p:nvSpPr>
          <p:cNvPr id="8" name="Text 6"/>
          <p:cNvSpPr/>
          <p:nvPr/>
        </p:nvSpPr>
        <p:spPr>
          <a:xfrm>
            <a:off x="548640" y="3913632"/>
            <a:ext cx="5029200" cy="329184"/>
          </a:xfrm>
          <a:prstGeom prst="rect">
            <a:avLst/>
          </a:prstGeom>
          <a:noFill/>
        </p:spPr>
        <p:txBody>
          <a:bodyPr wrap="square" rtlCol="0" anchor="ctr"/>
          <a:lstStyle/>
          <a:p>
            <a:pPr marL="0" indent="0">
              <a:buNone/>
            </a:pPr>
            <a:r>
              <a:rPr lang="en-US" sz="1300" dirty="0">
                <a:solidFill>
                  <a:srgbClr val="D4EFE0"/>
                </a:solidFill>
              </a:rPr>
              <a:t>📧  invest@ownituganda.com</a:t>
            </a:r>
            <a:endParaRPr lang="en-US" sz="1300" dirty="0"/>
          </a:p>
        </p:txBody>
      </p:sp>
      <p:sp>
        <p:nvSpPr>
          <p:cNvPr id="9" name="Text 7"/>
          <p:cNvSpPr/>
          <p:nvPr/>
        </p:nvSpPr>
        <p:spPr>
          <a:xfrm>
            <a:off x="548640" y="4279392"/>
            <a:ext cx="5029200" cy="329184"/>
          </a:xfrm>
          <a:prstGeom prst="rect">
            <a:avLst/>
          </a:prstGeom>
          <a:noFill/>
        </p:spPr>
        <p:txBody>
          <a:bodyPr wrap="square" rtlCol="0" anchor="ctr"/>
          <a:lstStyle/>
          <a:p>
            <a:pPr marL="0" indent="0">
              <a:buNone/>
            </a:pPr>
            <a:r>
              <a:rPr lang="en-US" sz="1300" dirty="0">
                <a:solidFill>
                  <a:srgbClr val="D4EFE0"/>
                </a:solidFill>
              </a:rPr>
              <a:t>🌐  www.ownituganda.com</a:t>
            </a:r>
            <a:endParaRPr lang="en-US" sz="1300" dirty="0"/>
          </a:p>
        </p:txBody>
      </p:sp>
      <p:sp>
        <p:nvSpPr>
          <p:cNvPr id="10" name="Text 8"/>
          <p:cNvSpPr/>
          <p:nvPr/>
        </p:nvSpPr>
        <p:spPr>
          <a:xfrm>
            <a:off x="548640" y="4645152"/>
            <a:ext cx="5029200" cy="329184"/>
          </a:xfrm>
          <a:prstGeom prst="rect">
            <a:avLst/>
          </a:prstGeom>
          <a:noFill/>
        </p:spPr>
        <p:txBody>
          <a:bodyPr wrap="square" rtlCol="0" anchor="ctr"/>
          <a:lstStyle/>
          <a:p>
            <a:pPr marL="0" indent="0">
              <a:buNone/>
            </a:pPr>
            <a:r>
              <a:rPr lang="en-US" sz="1300" dirty="0">
                <a:solidFill>
                  <a:srgbClr val="D4EFE0"/>
                </a:solidFill>
              </a:rPr>
              <a:t>📍  Kampala, Uganda</a:t>
            </a:r>
            <a:endParaRPr lang="en-US" sz="1300" dirty="0"/>
          </a:p>
        </p:txBody>
      </p:sp>
      <p:sp>
        <p:nvSpPr>
          <p:cNvPr id="11" name="Text 9"/>
          <p:cNvSpPr/>
          <p:nvPr/>
        </p:nvSpPr>
        <p:spPr>
          <a:xfrm>
            <a:off x="548640" y="5010912"/>
            <a:ext cx="5029200" cy="329184"/>
          </a:xfrm>
          <a:prstGeom prst="rect">
            <a:avLst/>
          </a:prstGeom>
          <a:noFill/>
        </p:spPr>
        <p:txBody>
          <a:bodyPr wrap="square" rtlCol="0" anchor="ctr"/>
          <a:lstStyle/>
          <a:p>
            <a:pPr marL="0" indent="0">
              <a:buNone/>
            </a:pPr>
            <a:r>
              <a:rPr lang="en-US" sz="1300" dirty="0">
                <a:solidFill>
                  <a:srgbClr val="D4EFE0"/>
                </a:solidFill>
              </a:rPr>
              <a:t>📱  +256 700 000 000</a:t>
            </a:r>
            <a:endParaRPr lang="en-US" sz="1300" dirty="0"/>
          </a:p>
        </p:txBody>
      </p:sp>
      <p:sp>
        <p:nvSpPr>
          <p:cNvPr id="12" name="Shape 10"/>
          <p:cNvSpPr/>
          <p:nvPr/>
        </p:nvSpPr>
        <p:spPr>
          <a:xfrm>
            <a:off x="548640" y="5358384"/>
            <a:ext cx="3474720" cy="502920"/>
          </a:xfrm>
          <a:prstGeom prst="rect">
            <a:avLst/>
          </a:prstGeom>
          <a:solidFill>
            <a:srgbClr val="C17F00"/>
          </a:solidFill>
          <a:effectLst>
            <a:outerShdw blurRad="101600" dist="38100" dir="8100000" algn="bl" rotWithShape="0">
              <a:srgbClr val="000000">
                <a:alpha val="12000"/>
              </a:srgbClr>
            </a:outerShdw>
          </a:effectLst>
        </p:spPr>
      </p:sp>
      <p:sp>
        <p:nvSpPr>
          <p:cNvPr id="13" name="Shape 11"/>
          <p:cNvSpPr/>
          <p:nvPr/>
        </p:nvSpPr>
        <p:spPr>
          <a:xfrm>
            <a:off x="548640" y="4507992"/>
            <a:ext cx="0" cy="0"/>
          </a:xfrm>
          <a:prstGeom prst="rect">
            <a:avLst/>
          </a:prstGeom>
          <a:noFill/>
        </p:spPr>
      </p:sp>
      <p:sp>
        <p:nvSpPr>
          <p:cNvPr id="14" name="Shape 12"/>
          <p:cNvSpPr/>
          <p:nvPr/>
        </p:nvSpPr>
        <p:spPr>
          <a:xfrm>
            <a:off x="5852160" y="1280160"/>
            <a:ext cx="1508760" cy="1353312"/>
          </a:xfrm>
          <a:prstGeom prst="rect">
            <a:avLst/>
          </a:prstGeom>
          <a:solidFill>
            <a:srgbClr val="1A7A45"/>
          </a:solidFill>
          <a:effectLst>
            <a:outerShdw blurRad="101600" dist="38100" dir="8100000" algn="bl" rotWithShape="0">
              <a:srgbClr val="000000">
                <a:alpha val="12000"/>
              </a:srgbClr>
            </a:outerShdw>
          </a:effectLst>
        </p:spPr>
      </p:sp>
      <p:sp>
        <p:nvSpPr>
          <p:cNvPr id="15" name="Text 13"/>
          <p:cNvSpPr/>
          <p:nvPr/>
        </p:nvSpPr>
        <p:spPr>
          <a:xfrm>
            <a:off x="5852160" y="1444752"/>
            <a:ext cx="1508760" cy="594360"/>
          </a:xfrm>
          <a:prstGeom prst="rect">
            <a:avLst/>
          </a:prstGeom>
          <a:noFill/>
        </p:spPr>
        <p:txBody>
          <a:bodyPr wrap="square" rtlCol="0" anchor="ctr"/>
          <a:lstStyle/>
          <a:p>
            <a:pPr marL="0" indent="0" algn="ctr">
              <a:buNone/>
            </a:pPr>
            <a:r>
              <a:rPr lang="en-US" sz="2400" b="1" dirty="0">
                <a:solidFill>
                  <a:srgbClr val="C17F00"/>
                </a:solidFill>
                <a:latin typeface="Georgia" panose="02040502050405020303" pitchFamily="34" charset="0"/>
                <a:ea typeface="Georgia" panose="02040502050405020303" pitchFamily="34" charset="-122"/>
                <a:cs typeface="Georgia" panose="02040502050405020303" pitchFamily="34" charset="-120"/>
              </a:rPr>
              <a:t>10</a:t>
            </a:r>
            <a:endParaRPr lang="en-US" sz="2400" dirty="0"/>
          </a:p>
        </p:txBody>
      </p:sp>
      <p:sp>
        <p:nvSpPr>
          <p:cNvPr id="16" name="Text 14"/>
          <p:cNvSpPr/>
          <p:nvPr/>
        </p:nvSpPr>
        <p:spPr>
          <a:xfrm>
            <a:off x="5852160" y="2103120"/>
            <a:ext cx="1508760" cy="438912"/>
          </a:xfrm>
          <a:prstGeom prst="rect">
            <a:avLst/>
          </a:prstGeom>
          <a:noFill/>
        </p:spPr>
        <p:txBody>
          <a:bodyPr wrap="square" rtlCol="0" anchor="ctr"/>
          <a:lstStyle/>
          <a:p>
            <a:pPr marL="0" indent="0" algn="ctr">
              <a:buNone/>
            </a:pPr>
            <a:r>
              <a:rPr lang="en-US" sz="1000" dirty="0">
                <a:solidFill>
                  <a:srgbClr val="D4EFE0"/>
                </a:solidFill>
              </a:rPr>
              <a:t>Asset Classes</a:t>
            </a:r>
            <a:endParaRPr lang="en-US" sz="1000" dirty="0"/>
          </a:p>
        </p:txBody>
      </p:sp>
      <p:sp>
        <p:nvSpPr>
          <p:cNvPr id="17" name="Shape 15"/>
          <p:cNvSpPr/>
          <p:nvPr/>
        </p:nvSpPr>
        <p:spPr>
          <a:xfrm>
            <a:off x="7479792" y="1280160"/>
            <a:ext cx="1508760" cy="1353312"/>
          </a:xfrm>
          <a:prstGeom prst="rect">
            <a:avLst/>
          </a:prstGeom>
          <a:solidFill>
            <a:srgbClr val="1A7A45"/>
          </a:solidFill>
          <a:effectLst>
            <a:outerShdw blurRad="101600" dist="38100" dir="8100000" algn="bl" rotWithShape="0">
              <a:srgbClr val="000000">
                <a:alpha val="12000"/>
              </a:srgbClr>
            </a:outerShdw>
          </a:effectLst>
        </p:spPr>
      </p:sp>
      <p:sp>
        <p:nvSpPr>
          <p:cNvPr id="18" name="Text 16"/>
          <p:cNvSpPr/>
          <p:nvPr/>
        </p:nvSpPr>
        <p:spPr>
          <a:xfrm>
            <a:off x="7479792" y="1444752"/>
            <a:ext cx="1508760" cy="594360"/>
          </a:xfrm>
          <a:prstGeom prst="rect">
            <a:avLst/>
          </a:prstGeom>
          <a:noFill/>
        </p:spPr>
        <p:txBody>
          <a:bodyPr wrap="square" rtlCol="0" anchor="ctr"/>
          <a:lstStyle/>
          <a:p>
            <a:pPr marL="0" indent="0" algn="ctr">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500K</a:t>
            </a:r>
            <a:endParaRPr lang="en-US" sz="2400" dirty="0"/>
          </a:p>
        </p:txBody>
      </p:sp>
      <p:sp>
        <p:nvSpPr>
          <p:cNvPr id="19" name="Text 17"/>
          <p:cNvSpPr/>
          <p:nvPr/>
        </p:nvSpPr>
        <p:spPr>
          <a:xfrm>
            <a:off x="7479792" y="2103120"/>
            <a:ext cx="1508760" cy="438912"/>
          </a:xfrm>
          <a:prstGeom prst="rect">
            <a:avLst/>
          </a:prstGeom>
          <a:noFill/>
        </p:spPr>
        <p:txBody>
          <a:bodyPr wrap="square" rtlCol="0" anchor="ctr"/>
          <a:lstStyle/>
          <a:p>
            <a:pPr marL="0" indent="0" algn="ctr">
              <a:buNone/>
            </a:pPr>
            <a:r>
              <a:rPr lang="en-US" sz="1000" dirty="0">
                <a:solidFill>
                  <a:srgbClr val="D4EFE0"/>
                </a:solidFill>
              </a:rPr>
              <a:t>NSSF Members 2031</a:t>
            </a:r>
            <a:endParaRPr lang="en-US" sz="1000" dirty="0"/>
          </a:p>
        </p:txBody>
      </p:sp>
      <p:sp>
        <p:nvSpPr>
          <p:cNvPr id="20" name="Shape 18"/>
          <p:cNvSpPr/>
          <p:nvPr/>
        </p:nvSpPr>
        <p:spPr>
          <a:xfrm>
            <a:off x="5852160" y="2788920"/>
            <a:ext cx="1508760" cy="1353312"/>
          </a:xfrm>
          <a:prstGeom prst="rect">
            <a:avLst/>
          </a:prstGeom>
          <a:solidFill>
            <a:srgbClr val="1A7A45"/>
          </a:solidFill>
          <a:effectLst>
            <a:outerShdw blurRad="101600" dist="38100" dir="8100000" algn="bl" rotWithShape="0">
              <a:srgbClr val="000000">
                <a:alpha val="12000"/>
              </a:srgbClr>
            </a:outerShdw>
          </a:effectLst>
        </p:spPr>
      </p:sp>
      <p:sp>
        <p:nvSpPr>
          <p:cNvPr id="21" name="Text 19"/>
          <p:cNvSpPr/>
          <p:nvPr/>
        </p:nvSpPr>
        <p:spPr>
          <a:xfrm>
            <a:off x="5852160" y="2953512"/>
            <a:ext cx="1508760" cy="594360"/>
          </a:xfrm>
          <a:prstGeom prst="rect">
            <a:avLst/>
          </a:prstGeom>
          <a:noFill/>
        </p:spPr>
        <p:txBody>
          <a:bodyPr wrap="square" rtlCol="0" anchor="ctr"/>
          <a:lstStyle/>
          <a:p>
            <a:pPr marL="0" indent="0" algn="ctr">
              <a:buNone/>
            </a:pPr>
            <a:r>
              <a:rPr lang="en-US" sz="2400" b="1" dirty="0">
                <a:solidFill>
                  <a:srgbClr val="D4EFE0"/>
                </a:solidFill>
                <a:latin typeface="Georgia" panose="02040502050405020303" pitchFamily="34" charset="0"/>
                <a:ea typeface="Georgia" panose="02040502050405020303" pitchFamily="34" charset="-122"/>
                <a:cs typeface="Georgia" panose="02040502050405020303" pitchFamily="34" charset="-120"/>
              </a:rPr>
              <a:t>UGX 4B+</a:t>
            </a:r>
            <a:endParaRPr lang="en-US" sz="2400" dirty="0"/>
          </a:p>
        </p:txBody>
      </p:sp>
      <p:sp>
        <p:nvSpPr>
          <p:cNvPr id="22" name="Text 20"/>
          <p:cNvSpPr/>
          <p:nvPr/>
        </p:nvSpPr>
        <p:spPr>
          <a:xfrm>
            <a:off x="5852160" y="3611880"/>
            <a:ext cx="1508760" cy="438912"/>
          </a:xfrm>
          <a:prstGeom prst="rect">
            <a:avLst/>
          </a:prstGeom>
          <a:noFill/>
        </p:spPr>
        <p:txBody>
          <a:bodyPr wrap="square" rtlCol="0" anchor="ctr"/>
          <a:lstStyle/>
          <a:p>
            <a:pPr marL="0" indent="0" algn="ctr">
              <a:buNone/>
            </a:pPr>
            <a:r>
              <a:rPr lang="en-US" sz="1000" dirty="0">
                <a:solidFill>
                  <a:srgbClr val="D4EFE0"/>
                </a:solidFill>
              </a:rPr>
              <a:t>NSSF Revenue Yr5</a:t>
            </a:r>
            <a:endParaRPr lang="en-US" sz="1000" dirty="0"/>
          </a:p>
        </p:txBody>
      </p:sp>
      <p:sp>
        <p:nvSpPr>
          <p:cNvPr id="23" name="Shape 21"/>
          <p:cNvSpPr/>
          <p:nvPr/>
        </p:nvSpPr>
        <p:spPr>
          <a:xfrm>
            <a:off x="7479792" y="2788920"/>
            <a:ext cx="1508760" cy="1353312"/>
          </a:xfrm>
          <a:prstGeom prst="rect">
            <a:avLst/>
          </a:prstGeom>
          <a:solidFill>
            <a:srgbClr val="1A7A45"/>
          </a:solidFill>
          <a:effectLst>
            <a:outerShdw blurRad="101600" dist="38100" dir="8100000" algn="bl" rotWithShape="0">
              <a:srgbClr val="000000">
                <a:alpha val="12000"/>
              </a:srgbClr>
            </a:outerShdw>
          </a:effectLst>
        </p:spPr>
      </p:sp>
      <p:sp>
        <p:nvSpPr>
          <p:cNvPr id="24" name="Text 22"/>
          <p:cNvSpPr/>
          <p:nvPr/>
        </p:nvSpPr>
        <p:spPr>
          <a:xfrm>
            <a:off x="7479792" y="2953512"/>
            <a:ext cx="1508760" cy="594360"/>
          </a:xfrm>
          <a:prstGeom prst="rect">
            <a:avLst/>
          </a:prstGeom>
          <a:noFill/>
        </p:spPr>
        <p:txBody>
          <a:bodyPr wrap="square" rtlCol="0" anchor="ctr"/>
          <a:lstStyle/>
          <a:p>
            <a:pPr marL="0" indent="0" algn="ctr">
              <a:buNone/>
            </a:pPr>
            <a:r>
              <a:rPr lang="en-US" sz="2400" b="1" dirty="0">
                <a:solidFill>
                  <a:srgbClr val="F59E0B"/>
                </a:solidFill>
                <a:latin typeface="Georgia" panose="02040502050405020303" pitchFamily="34" charset="0"/>
                <a:ea typeface="Georgia" panose="02040502050405020303" pitchFamily="34" charset="-122"/>
                <a:cs typeface="Georgia" panose="02040502050405020303" pitchFamily="34" charset="-120"/>
              </a:rPr>
              <a:t>2027</a:t>
            </a:r>
            <a:endParaRPr lang="en-US" sz="2400" dirty="0"/>
          </a:p>
        </p:txBody>
      </p:sp>
      <p:sp>
        <p:nvSpPr>
          <p:cNvPr id="25" name="Text 23"/>
          <p:cNvSpPr/>
          <p:nvPr/>
        </p:nvSpPr>
        <p:spPr>
          <a:xfrm>
            <a:off x="7479792" y="3611880"/>
            <a:ext cx="1508760" cy="438912"/>
          </a:xfrm>
          <a:prstGeom prst="rect">
            <a:avLst/>
          </a:prstGeom>
          <a:noFill/>
        </p:spPr>
        <p:txBody>
          <a:bodyPr wrap="square" rtlCol="0" anchor="ctr"/>
          <a:lstStyle/>
          <a:p>
            <a:pPr marL="0" indent="0" algn="ctr">
              <a:buNone/>
            </a:pPr>
            <a:r>
              <a:rPr lang="en-US" sz="1000" dirty="0">
                <a:solidFill>
                  <a:srgbClr val="D4EFE0"/>
                </a:solidFill>
              </a:rPr>
              <a:t>Path to Profit</a:t>
            </a:r>
            <a:endParaRPr lang="en-US" sz="1000" dirty="0"/>
          </a:p>
        </p:txBody>
      </p:sp>
      <p:sp>
        <p:nvSpPr>
          <p:cNvPr id="26" name="Shape 24"/>
          <p:cNvSpPr/>
          <p:nvPr/>
        </p:nvSpPr>
        <p:spPr>
          <a:xfrm>
            <a:off x="5852160" y="4370832"/>
            <a:ext cx="3154680" cy="548640"/>
          </a:xfrm>
          <a:prstGeom prst="rect">
            <a:avLst/>
          </a:prstGeom>
          <a:solidFill>
            <a:srgbClr val="C17F00"/>
          </a:solidFill>
          <a:effectLst>
            <a:outerShdw blurRad="101600" dist="38100" dir="8100000" algn="bl" rotWithShape="0">
              <a:srgbClr val="000000">
                <a:alpha val="12000"/>
              </a:srgbClr>
            </a:outerShdw>
          </a:effectLst>
        </p:spPr>
      </p:sp>
      <p:sp>
        <p:nvSpPr>
          <p:cNvPr id="27" name="Text 25"/>
          <p:cNvSpPr/>
          <p:nvPr/>
        </p:nvSpPr>
        <p:spPr>
          <a:xfrm>
            <a:off x="5852160" y="4370832"/>
            <a:ext cx="3154680" cy="548640"/>
          </a:xfrm>
          <a:prstGeom prst="rect">
            <a:avLst/>
          </a:prstGeom>
          <a:noFill/>
        </p:spPr>
        <p:txBody>
          <a:bodyPr wrap="square" rtlCol="0" anchor="ctr"/>
          <a:lstStyle/>
          <a:p>
            <a:pPr marL="0" indent="0" algn="ctr">
              <a:buNone/>
            </a:pPr>
            <a:r>
              <a:rPr lang="en-US" sz="1100" b="1" dirty="0">
                <a:solidFill>
                  <a:srgbClr val="FFFFFF"/>
                </a:solidFill>
              </a:rPr>
              <a:t>Book a Product Demo &amp; Partnership Call →</a:t>
            </a:r>
            <a:endParaRPr lang="en-US" sz="1100" dirty="0"/>
          </a:p>
        </p:txBody>
      </p:sp>
      <p:sp>
        <p:nvSpPr>
          <p:cNvPr id="28" name="Text 26"/>
          <p:cNvSpPr/>
          <p:nvPr/>
        </p:nvSpPr>
        <p:spPr>
          <a:xfrm>
            <a:off x="548640" y="4919472"/>
            <a:ext cx="8229600" cy="182880"/>
          </a:xfrm>
          <a:prstGeom prst="rect">
            <a:avLst/>
          </a:prstGeom>
          <a:noFill/>
        </p:spPr>
        <p:txBody>
          <a:bodyPr wrap="square" rtlCol="0" anchor="ctr"/>
          <a:lstStyle/>
          <a:p>
            <a:pPr marL="0" indent="0" algn="ctr">
              <a:buNone/>
            </a:pPr>
            <a:r>
              <a:rPr lang="en-US" sz="800" dirty="0">
                <a:solidFill>
                  <a:srgbClr val="5A7A68"/>
                </a:solidFill>
              </a:rPr>
              <a:t>STRICTLY CONFIDENTIAL  ·  OwnIt Uganda Ltd. © 2026  ·  For NSSF &amp; Investor Review Only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34655</Words>
  <Application>WPS Presentation</Application>
  <PresentationFormat>On-screen Show (16:9)</PresentationFormat>
  <Paragraphs>1913</Paragraphs>
  <Slides>28</Slides>
  <Notes>28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28</vt:i4>
      </vt:variant>
    </vt:vector>
  </HeadingPairs>
  <TitlesOfParts>
    <vt:vector size="39" baseType="lpstr">
      <vt:lpstr>Arial</vt:lpstr>
      <vt:lpstr>SimSun</vt:lpstr>
      <vt:lpstr>Wingdings</vt:lpstr>
      <vt:lpstr>Georgia</vt:lpstr>
      <vt:lpstr>Georgia</vt:lpstr>
      <vt:lpstr>Georgia</vt:lpstr>
      <vt:lpstr>Calibri</vt:lpstr>
      <vt:lpstr>Microsoft YaHei</vt:lpstr>
      <vt:lpstr>Arial Unicode MS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OwnIt Uganda – Investor &amp; NSSF Pitch Deck 2026</dc:title>
  <dc:creator>PptxGenJS</dc:creator>
  <dc:subject>PptxGenJS Presentation</dc:subject>
  <cp:lastModifiedBy>BEST</cp:lastModifiedBy>
  <cp:revision>5</cp:revision>
  <dcterms:created xsi:type="dcterms:W3CDTF">2026-05-28T09:49:00Z</dcterms:created>
  <dcterms:modified xsi:type="dcterms:W3CDTF">2026-05-28T10:49:26Z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A5A2A67515B64417B621A8E7C3CF2BCC_12</vt:lpwstr>
  </property>
  <property fmtid="{D5CDD505-2E9C-101B-9397-08002B2CF9AE}" pid="3" name="KSOProductBuildVer">
    <vt:lpwstr>1033-12.1.0.26372</vt:lpwstr>
  </property>
</Properties>
</file>